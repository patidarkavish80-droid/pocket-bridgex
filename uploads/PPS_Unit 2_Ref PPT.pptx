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65"/>
  </p:notesMasterIdLst>
  <p:sldIdLst>
    <p:sldId id="256" r:id="rId2"/>
    <p:sldId id="352" r:id="rId3"/>
    <p:sldId id="257" r:id="rId4"/>
    <p:sldId id="322" r:id="rId5"/>
    <p:sldId id="416" r:id="rId6"/>
    <p:sldId id="417" r:id="rId7"/>
    <p:sldId id="410" r:id="rId8"/>
    <p:sldId id="411" r:id="rId9"/>
    <p:sldId id="413" r:id="rId10"/>
    <p:sldId id="414" r:id="rId11"/>
    <p:sldId id="415" r:id="rId12"/>
    <p:sldId id="418" r:id="rId13"/>
    <p:sldId id="327" r:id="rId14"/>
    <p:sldId id="328" r:id="rId15"/>
    <p:sldId id="258" r:id="rId16"/>
    <p:sldId id="259" r:id="rId17"/>
    <p:sldId id="260" r:id="rId18"/>
    <p:sldId id="261" r:id="rId19"/>
    <p:sldId id="263" r:id="rId20"/>
    <p:sldId id="262" r:id="rId21"/>
    <p:sldId id="264" r:id="rId22"/>
    <p:sldId id="271" r:id="rId23"/>
    <p:sldId id="272" r:id="rId24"/>
    <p:sldId id="270" r:id="rId25"/>
    <p:sldId id="273" r:id="rId26"/>
    <p:sldId id="274" r:id="rId27"/>
    <p:sldId id="329" r:id="rId28"/>
    <p:sldId id="265" r:id="rId29"/>
    <p:sldId id="266" r:id="rId30"/>
    <p:sldId id="330" r:id="rId31"/>
    <p:sldId id="335" r:id="rId32"/>
    <p:sldId id="268" r:id="rId33"/>
    <p:sldId id="267" r:id="rId34"/>
    <p:sldId id="331" r:id="rId35"/>
    <p:sldId id="332" r:id="rId36"/>
    <p:sldId id="276" r:id="rId37"/>
    <p:sldId id="334" r:id="rId38"/>
    <p:sldId id="333" r:id="rId39"/>
    <p:sldId id="283" r:id="rId40"/>
    <p:sldId id="284" r:id="rId41"/>
    <p:sldId id="285" r:id="rId42"/>
    <p:sldId id="286" r:id="rId43"/>
    <p:sldId id="287" r:id="rId44"/>
    <p:sldId id="297" r:id="rId45"/>
    <p:sldId id="298" r:id="rId46"/>
    <p:sldId id="299" r:id="rId47"/>
    <p:sldId id="300" r:id="rId48"/>
    <p:sldId id="301" r:id="rId49"/>
    <p:sldId id="336" r:id="rId50"/>
    <p:sldId id="303" r:id="rId51"/>
    <p:sldId id="304" r:id="rId52"/>
    <p:sldId id="305" r:id="rId53"/>
    <p:sldId id="337" r:id="rId54"/>
    <p:sldId id="338" r:id="rId55"/>
    <p:sldId id="312" r:id="rId56"/>
    <p:sldId id="313" r:id="rId57"/>
    <p:sldId id="314" r:id="rId58"/>
    <p:sldId id="342" r:id="rId59"/>
    <p:sldId id="341" r:id="rId60"/>
    <p:sldId id="340" r:id="rId61"/>
    <p:sldId id="339" r:id="rId62"/>
    <p:sldId id="343" r:id="rId63"/>
    <p:sldId id="344" r:id="rId64"/>
    <p:sldId id="315" r:id="rId65"/>
    <p:sldId id="318" r:id="rId66"/>
    <p:sldId id="345" r:id="rId67"/>
    <p:sldId id="346" r:id="rId68"/>
    <p:sldId id="347" r:id="rId69"/>
    <p:sldId id="348" r:id="rId70"/>
    <p:sldId id="351" r:id="rId71"/>
    <p:sldId id="350" r:id="rId72"/>
    <p:sldId id="349" r:id="rId73"/>
    <p:sldId id="321" r:id="rId74"/>
    <p:sldId id="353" r:id="rId75"/>
    <p:sldId id="354" r:id="rId76"/>
    <p:sldId id="355" r:id="rId77"/>
    <p:sldId id="356" r:id="rId78"/>
    <p:sldId id="357" r:id="rId79"/>
    <p:sldId id="358" r:id="rId80"/>
    <p:sldId id="359" r:id="rId81"/>
    <p:sldId id="419" r:id="rId82"/>
    <p:sldId id="423" r:id="rId83"/>
    <p:sldId id="420" r:id="rId84"/>
    <p:sldId id="421" r:id="rId85"/>
    <p:sldId id="424" r:id="rId86"/>
    <p:sldId id="422" r:id="rId87"/>
    <p:sldId id="361" r:id="rId88"/>
    <p:sldId id="362" r:id="rId89"/>
    <p:sldId id="363" r:id="rId90"/>
    <p:sldId id="364" r:id="rId91"/>
    <p:sldId id="365" r:id="rId92"/>
    <p:sldId id="269" r:id="rId93"/>
    <p:sldId id="366" r:id="rId94"/>
    <p:sldId id="367" r:id="rId95"/>
    <p:sldId id="368" r:id="rId96"/>
    <p:sldId id="369" r:id="rId97"/>
    <p:sldId id="370" r:id="rId98"/>
    <p:sldId id="275" r:id="rId99"/>
    <p:sldId id="371" r:id="rId100"/>
    <p:sldId id="277" r:id="rId101"/>
    <p:sldId id="278" r:id="rId102"/>
    <p:sldId id="279" r:id="rId103"/>
    <p:sldId id="280" r:id="rId104"/>
    <p:sldId id="281" r:id="rId105"/>
    <p:sldId id="282" r:id="rId106"/>
    <p:sldId id="372" r:id="rId107"/>
    <p:sldId id="373" r:id="rId108"/>
    <p:sldId id="374" r:id="rId109"/>
    <p:sldId id="375" r:id="rId110"/>
    <p:sldId id="376" r:id="rId111"/>
    <p:sldId id="288" r:id="rId112"/>
    <p:sldId id="289" r:id="rId113"/>
    <p:sldId id="290" r:id="rId114"/>
    <p:sldId id="291" r:id="rId115"/>
    <p:sldId id="292" r:id="rId116"/>
    <p:sldId id="293" r:id="rId117"/>
    <p:sldId id="294" r:id="rId118"/>
    <p:sldId id="295" r:id="rId119"/>
    <p:sldId id="296" r:id="rId120"/>
    <p:sldId id="377" r:id="rId121"/>
    <p:sldId id="378" r:id="rId122"/>
    <p:sldId id="379" r:id="rId123"/>
    <p:sldId id="380" r:id="rId124"/>
    <p:sldId id="381" r:id="rId125"/>
    <p:sldId id="302" r:id="rId126"/>
    <p:sldId id="382" r:id="rId127"/>
    <p:sldId id="383" r:id="rId128"/>
    <p:sldId id="384" r:id="rId129"/>
    <p:sldId id="306" r:id="rId130"/>
    <p:sldId id="307" r:id="rId131"/>
    <p:sldId id="308" r:id="rId132"/>
    <p:sldId id="309" r:id="rId133"/>
    <p:sldId id="310" r:id="rId134"/>
    <p:sldId id="311" r:id="rId135"/>
    <p:sldId id="385" r:id="rId136"/>
    <p:sldId id="386" r:id="rId137"/>
    <p:sldId id="387" r:id="rId138"/>
    <p:sldId id="388" r:id="rId139"/>
    <p:sldId id="316" r:id="rId140"/>
    <p:sldId id="317" r:id="rId141"/>
    <p:sldId id="389" r:id="rId142"/>
    <p:sldId id="319" r:id="rId143"/>
    <p:sldId id="320" r:id="rId144"/>
    <p:sldId id="390" r:id="rId145"/>
    <p:sldId id="391" r:id="rId146"/>
    <p:sldId id="392" r:id="rId147"/>
    <p:sldId id="393" r:id="rId148"/>
    <p:sldId id="394" r:id="rId149"/>
    <p:sldId id="395" r:id="rId150"/>
    <p:sldId id="396" r:id="rId151"/>
    <p:sldId id="397" r:id="rId152"/>
    <p:sldId id="398" r:id="rId153"/>
    <p:sldId id="399" r:id="rId154"/>
    <p:sldId id="400" r:id="rId155"/>
    <p:sldId id="401" r:id="rId156"/>
    <p:sldId id="402" r:id="rId157"/>
    <p:sldId id="403" r:id="rId158"/>
    <p:sldId id="404" r:id="rId159"/>
    <p:sldId id="405" r:id="rId160"/>
    <p:sldId id="406" r:id="rId161"/>
    <p:sldId id="407" r:id="rId162"/>
    <p:sldId id="408" r:id="rId163"/>
    <p:sldId id="409" r:id="rId1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E99243-FF83-47A4-B3F0-92D34921A57F}" v="11" dt="2026-10-05T00:04:26.695"/>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458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microsoft.com/office/2015/10/relationships/revisionInfo" Target="revisionInfo.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a srinivasan" userId="a750d2d6bc879722" providerId="LiveId" clId="{B70E0F07-CB2C-489E-9CBA-79328908C1A9}"/>
    <pc:docChg chg="undo custSel addSld delSld modSld sldOrd">
      <pc:chgData name="Praveena srinivasan" userId="a750d2d6bc879722" providerId="LiveId" clId="{B70E0F07-CB2C-489E-9CBA-79328908C1A9}" dt="2026-10-05T02:17:17.162" v="736" actId="1036"/>
      <pc:docMkLst>
        <pc:docMk/>
      </pc:docMkLst>
      <pc:sldChg chg="modSp mod">
        <pc:chgData name="Praveena srinivasan" userId="a750d2d6bc879722" providerId="LiveId" clId="{B70E0F07-CB2C-489E-9CBA-79328908C1A9}" dt="2026-09-23T04:11:55.223" v="544" actId="1076"/>
        <pc:sldMkLst>
          <pc:docMk/>
          <pc:sldMk cId="3882423592" sldId="258"/>
        </pc:sldMkLst>
        <pc:spChg chg="mod">
          <ac:chgData name="Praveena srinivasan" userId="a750d2d6bc879722" providerId="LiveId" clId="{B70E0F07-CB2C-489E-9CBA-79328908C1A9}" dt="2026-09-23T04:11:55.223" v="544" actId="1076"/>
          <ac:spMkLst>
            <pc:docMk/>
            <pc:sldMk cId="3882423592" sldId="258"/>
            <ac:spMk id="2" creationId="{38A0B65D-EE18-5BAB-4DFF-4EF2047D63B2}"/>
          </ac:spMkLst>
        </pc:spChg>
      </pc:sldChg>
      <pc:sldChg chg="modSp mod">
        <pc:chgData name="Praveena srinivasan" userId="a750d2d6bc879722" providerId="LiveId" clId="{B70E0F07-CB2C-489E-9CBA-79328908C1A9}" dt="2026-09-23T03:50:11.401" v="343" actId="20577"/>
        <pc:sldMkLst>
          <pc:docMk/>
          <pc:sldMk cId="1906872475" sldId="259"/>
        </pc:sldMkLst>
        <pc:spChg chg="mod">
          <ac:chgData name="Praveena srinivasan" userId="a750d2d6bc879722" providerId="LiveId" clId="{B70E0F07-CB2C-489E-9CBA-79328908C1A9}" dt="2026-09-23T03:50:05.206" v="339" actId="14100"/>
          <ac:spMkLst>
            <pc:docMk/>
            <pc:sldMk cId="1906872475" sldId="259"/>
            <ac:spMk id="2" creationId="{47C510F8-990E-8C25-6E0B-B473A307175C}"/>
          </ac:spMkLst>
        </pc:spChg>
        <pc:spChg chg="mod">
          <ac:chgData name="Praveena srinivasan" userId="a750d2d6bc879722" providerId="LiveId" clId="{B70E0F07-CB2C-489E-9CBA-79328908C1A9}" dt="2026-09-23T03:50:11.401" v="343" actId="20577"/>
          <ac:spMkLst>
            <pc:docMk/>
            <pc:sldMk cId="1906872475" sldId="259"/>
            <ac:spMk id="3" creationId="{F3808868-6232-A434-F486-ABE7A05CBB25}"/>
          </ac:spMkLst>
        </pc:spChg>
      </pc:sldChg>
      <pc:sldChg chg="modSp mod">
        <pc:chgData name="Praveena srinivasan" userId="a750d2d6bc879722" providerId="LiveId" clId="{B70E0F07-CB2C-489E-9CBA-79328908C1A9}" dt="2026-09-23T03:50:43.134" v="353" actId="20577"/>
        <pc:sldMkLst>
          <pc:docMk/>
          <pc:sldMk cId="1274802973" sldId="260"/>
        </pc:sldMkLst>
        <pc:spChg chg="mod">
          <ac:chgData name="Praveena srinivasan" userId="a750d2d6bc879722" providerId="LiveId" clId="{B70E0F07-CB2C-489E-9CBA-79328908C1A9}" dt="2026-09-23T03:50:43.134" v="353" actId="20577"/>
          <ac:spMkLst>
            <pc:docMk/>
            <pc:sldMk cId="1274802973" sldId="260"/>
            <ac:spMk id="2" creationId="{EA5B9357-44A7-90B7-DF2C-C5A21CB27307}"/>
          </ac:spMkLst>
        </pc:spChg>
        <pc:spChg chg="mod">
          <ac:chgData name="Praveena srinivasan" userId="a750d2d6bc879722" providerId="LiveId" clId="{B70E0F07-CB2C-489E-9CBA-79328908C1A9}" dt="2026-09-23T00:03:15.848" v="3" actId="20577"/>
          <ac:spMkLst>
            <pc:docMk/>
            <pc:sldMk cId="1274802973" sldId="260"/>
            <ac:spMk id="3" creationId="{B9D2B0C3-96BF-688E-8A18-181DAF8E92D8}"/>
          </ac:spMkLst>
        </pc:spChg>
      </pc:sldChg>
      <pc:sldChg chg="modSp mod">
        <pc:chgData name="Praveena srinivasan" userId="a750d2d6bc879722" providerId="LiveId" clId="{B70E0F07-CB2C-489E-9CBA-79328908C1A9}" dt="2026-09-23T03:50:53.953" v="354" actId="14100"/>
        <pc:sldMkLst>
          <pc:docMk/>
          <pc:sldMk cId="3761871845" sldId="263"/>
        </pc:sldMkLst>
        <pc:spChg chg="mod">
          <ac:chgData name="Praveena srinivasan" userId="a750d2d6bc879722" providerId="LiveId" clId="{B70E0F07-CB2C-489E-9CBA-79328908C1A9}" dt="2026-09-23T03:50:53.953" v="354" actId="14100"/>
          <ac:spMkLst>
            <pc:docMk/>
            <pc:sldMk cId="3761871845" sldId="263"/>
            <ac:spMk id="3" creationId="{E449C17A-0750-468D-8FB2-32DC746D9BA3}"/>
          </ac:spMkLst>
        </pc:spChg>
      </pc:sldChg>
      <pc:sldChg chg="modSp mod">
        <pc:chgData name="Praveena srinivasan" userId="a750d2d6bc879722" providerId="LiveId" clId="{B70E0F07-CB2C-489E-9CBA-79328908C1A9}" dt="2026-09-23T00:05:28.706" v="11" actId="20577"/>
        <pc:sldMkLst>
          <pc:docMk/>
          <pc:sldMk cId="697839195" sldId="264"/>
        </pc:sldMkLst>
        <pc:spChg chg="mod">
          <ac:chgData name="Praveena srinivasan" userId="a750d2d6bc879722" providerId="LiveId" clId="{B70E0F07-CB2C-489E-9CBA-79328908C1A9}" dt="2026-09-23T00:05:28.706" v="11" actId="20577"/>
          <ac:spMkLst>
            <pc:docMk/>
            <pc:sldMk cId="697839195" sldId="264"/>
            <ac:spMk id="3" creationId="{3CC1CD26-CDF8-AEB8-DBF1-7B458AE41C54}"/>
          </ac:spMkLst>
        </pc:spChg>
      </pc:sldChg>
      <pc:sldChg chg="add">
        <pc:chgData name="Praveena srinivasan" userId="a750d2d6bc879722" providerId="LiveId" clId="{B70E0F07-CB2C-489E-9CBA-79328908C1A9}" dt="2026-09-23T04:01:37.829" v="492"/>
        <pc:sldMkLst>
          <pc:docMk/>
          <pc:sldMk cId="2529635786" sldId="327"/>
        </pc:sldMkLst>
      </pc:sldChg>
      <pc:sldChg chg="modSp mod">
        <pc:chgData name="Praveena srinivasan" userId="a750d2d6bc879722" providerId="LiveId" clId="{B70E0F07-CB2C-489E-9CBA-79328908C1A9}" dt="2026-09-23T03:58:17.090" v="406" actId="27636"/>
        <pc:sldMkLst>
          <pc:docMk/>
          <pc:sldMk cId="3904887574" sldId="328"/>
        </pc:sldMkLst>
        <pc:spChg chg="mod">
          <ac:chgData name="Praveena srinivasan" userId="a750d2d6bc879722" providerId="LiveId" clId="{B70E0F07-CB2C-489E-9CBA-79328908C1A9}" dt="2026-09-23T03:49:29.633" v="300" actId="20577"/>
          <ac:spMkLst>
            <pc:docMk/>
            <pc:sldMk cId="3904887574" sldId="328"/>
            <ac:spMk id="2" creationId="{FEC763F9-D950-F004-6E52-453C1B54585A}"/>
          </ac:spMkLst>
        </pc:spChg>
        <pc:spChg chg="mod">
          <ac:chgData name="Praveena srinivasan" userId="a750d2d6bc879722" providerId="LiveId" clId="{B70E0F07-CB2C-489E-9CBA-79328908C1A9}" dt="2026-09-23T03:58:17.090" v="406" actId="27636"/>
          <ac:spMkLst>
            <pc:docMk/>
            <pc:sldMk cId="3904887574" sldId="328"/>
            <ac:spMk id="3" creationId="{AC053CCC-CD3E-42C4-5E90-A9BF80FF2430}"/>
          </ac:spMkLst>
        </pc:spChg>
      </pc:sldChg>
      <pc:sldChg chg="modSp mod">
        <pc:chgData name="Praveena srinivasan" userId="a750d2d6bc879722" providerId="LiveId" clId="{B70E0F07-CB2C-489E-9CBA-79328908C1A9}" dt="2026-10-04T21:39:17.253" v="545" actId="1076"/>
        <pc:sldMkLst>
          <pc:docMk/>
          <pc:sldMk cId="1914875537" sldId="356"/>
        </pc:sldMkLst>
        <pc:spChg chg="mod">
          <ac:chgData name="Praveena srinivasan" userId="a750d2d6bc879722" providerId="LiveId" clId="{B70E0F07-CB2C-489E-9CBA-79328908C1A9}" dt="2026-10-04T21:39:17.253" v="545" actId="1076"/>
          <ac:spMkLst>
            <pc:docMk/>
            <pc:sldMk cId="1914875537" sldId="356"/>
            <ac:spMk id="10" creationId="{BBC1BA9B-3D9A-EBB3-7C18-462D8FD2D395}"/>
          </ac:spMkLst>
        </pc:spChg>
      </pc:sldChg>
      <pc:sldChg chg="modSp mod">
        <pc:chgData name="Praveena srinivasan" userId="a750d2d6bc879722" providerId="LiveId" clId="{B70E0F07-CB2C-489E-9CBA-79328908C1A9}" dt="2026-10-04T21:50:35.106" v="548" actId="14100"/>
        <pc:sldMkLst>
          <pc:docMk/>
          <pc:sldMk cId="3527792007" sldId="357"/>
        </pc:sldMkLst>
        <pc:cxnChg chg="mod">
          <ac:chgData name="Praveena srinivasan" userId="a750d2d6bc879722" providerId="LiveId" clId="{B70E0F07-CB2C-489E-9CBA-79328908C1A9}" dt="2026-10-04T21:50:35.106" v="548" actId="14100"/>
          <ac:cxnSpMkLst>
            <pc:docMk/>
            <pc:sldMk cId="3527792007" sldId="357"/>
            <ac:cxnSpMk id="14" creationId="{B003AFD2-89A9-4340-1EA5-0C1AD68D3A83}"/>
          </ac:cxnSpMkLst>
        </pc:cxnChg>
      </pc:sldChg>
      <pc:sldChg chg="modSp del mod">
        <pc:chgData name="Praveena srinivasan" userId="a750d2d6bc879722" providerId="LiveId" clId="{B70E0F07-CB2C-489E-9CBA-79328908C1A9}" dt="2026-10-04T21:59:08.876" v="576" actId="47"/>
        <pc:sldMkLst>
          <pc:docMk/>
          <pc:sldMk cId="4213401331" sldId="360"/>
        </pc:sldMkLst>
        <pc:cxnChg chg="mod">
          <ac:chgData name="Praveena srinivasan" userId="a750d2d6bc879722" providerId="LiveId" clId="{B70E0F07-CB2C-489E-9CBA-79328908C1A9}" dt="2026-10-04T21:39:53.792" v="546" actId="1076"/>
          <ac:cxnSpMkLst>
            <pc:docMk/>
            <pc:sldMk cId="4213401331" sldId="360"/>
            <ac:cxnSpMk id="14" creationId="{90B8E40F-C020-214F-0C85-B16195DADE30}"/>
          </ac:cxnSpMkLst>
        </pc:cxnChg>
      </pc:sldChg>
      <pc:sldChg chg="addSp delSp modSp new mod">
        <pc:chgData name="Praveena srinivasan" userId="a750d2d6bc879722" providerId="LiveId" clId="{B70E0F07-CB2C-489E-9CBA-79328908C1A9}" dt="2026-09-23T03:07:08.235" v="72" actId="20577"/>
        <pc:sldMkLst>
          <pc:docMk/>
          <pc:sldMk cId="1814791278" sldId="410"/>
        </pc:sldMkLst>
        <pc:spChg chg="mod">
          <ac:chgData name="Praveena srinivasan" userId="a750d2d6bc879722" providerId="LiveId" clId="{B70E0F07-CB2C-489E-9CBA-79328908C1A9}" dt="2026-09-23T03:07:08.235" v="72" actId="20577"/>
          <ac:spMkLst>
            <pc:docMk/>
            <pc:sldMk cId="1814791278" sldId="410"/>
            <ac:spMk id="2" creationId="{5AE126CC-AE6E-74F2-8F1E-D40FF0D314AE}"/>
          </ac:spMkLst>
        </pc:spChg>
        <pc:spChg chg="add mod">
          <ac:chgData name="Praveena srinivasan" userId="a750d2d6bc879722" providerId="LiveId" clId="{B70E0F07-CB2C-489E-9CBA-79328908C1A9}" dt="2026-09-23T03:06:10.760" v="50" actId="20577"/>
          <ac:spMkLst>
            <pc:docMk/>
            <pc:sldMk cId="1814791278" sldId="410"/>
            <ac:spMk id="5" creationId="{0FE1F8A2-BA7C-2E30-97ED-D61E5B53ABDE}"/>
          </ac:spMkLst>
        </pc:spChg>
        <pc:spChg chg="add mod">
          <ac:chgData name="Praveena srinivasan" userId="a750d2d6bc879722" providerId="LiveId" clId="{B70E0F07-CB2C-489E-9CBA-79328908C1A9}" dt="2026-09-23T03:06:52.476" v="54" actId="113"/>
          <ac:spMkLst>
            <pc:docMk/>
            <pc:sldMk cId="1814791278" sldId="410"/>
            <ac:spMk id="7" creationId="{71A1F191-C06F-C61E-C9E1-0B816596E986}"/>
          </ac:spMkLst>
        </pc:spChg>
      </pc:sldChg>
      <pc:sldChg chg="addSp delSp modSp new mod">
        <pc:chgData name="Praveena srinivasan" userId="a750d2d6bc879722" providerId="LiveId" clId="{B70E0F07-CB2C-489E-9CBA-79328908C1A9}" dt="2026-09-23T03:36:14.994" v="124" actId="313"/>
        <pc:sldMkLst>
          <pc:docMk/>
          <pc:sldMk cId="2549894302" sldId="411"/>
        </pc:sldMkLst>
        <pc:spChg chg="mod">
          <ac:chgData name="Praveena srinivasan" userId="a750d2d6bc879722" providerId="LiveId" clId="{B70E0F07-CB2C-489E-9CBA-79328908C1A9}" dt="2026-09-23T03:36:14.994" v="124" actId="313"/>
          <ac:spMkLst>
            <pc:docMk/>
            <pc:sldMk cId="2549894302" sldId="411"/>
            <ac:spMk id="2" creationId="{41B8AAE5-CD71-4F45-595A-D721C6E4D73E}"/>
          </ac:spMkLst>
        </pc:spChg>
        <pc:spChg chg="add mod">
          <ac:chgData name="Praveena srinivasan" userId="a750d2d6bc879722" providerId="LiveId" clId="{B70E0F07-CB2C-489E-9CBA-79328908C1A9}" dt="2026-09-23T03:35:44.978" v="83" actId="1076"/>
          <ac:spMkLst>
            <pc:docMk/>
            <pc:sldMk cId="2549894302" sldId="411"/>
            <ac:spMk id="5" creationId="{DBBF40C3-D129-B1DE-1CD0-86BE43D11A26}"/>
          </ac:spMkLst>
        </pc:spChg>
      </pc:sldChg>
      <pc:sldChg chg="addSp delSp modSp new mod">
        <pc:chgData name="Praveena srinivasan" userId="a750d2d6bc879722" providerId="LiveId" clId="{B70E0F07-CB2C-489E-9CBA-79328908C1A9}" dt="2026-09-23T03:53:21.222" v="402" actId="113"/>
        <pc:sldMkLst>
          <pc:docMk/>
          <pc:sldMk cId="660514218" sldId="413"/>
        </pc:sldMkLst>
        <pc:spChg chg="add mod">
          <ac:chgData name="Praveena srinivasan" userId="a750d2d6bc879722" providerId="LiveId" clId="{B70E0F07-CB2C-489E-9CBA-79328908C1A9}" dt="2026-09-23T03:52:39.490" v="398" actId="20577"/>
          <ac:spMkLst>
            <pc:docMk/>
            <pc:sldMk cId="660514218" sldId="413"/>
            <ac:spMk id="5" creationId="{61184ABC-FA58-F06C-D568-D1AE47604E7E}"/>
          </ac:spMkLst>
        </pc:spChg>
        <pc:spChg chg="add mod">
          <ac:chgData name="Praveena srinivasan" userId="a750d2d6bc879722" providerId="LiveId" clId="{B70E0F07-CB2C-489E-9CBA-79328908C1A9}" dt="2026-09-23T03:53:21.222" v="402" actId="113"/>
          <ac:spMkLst>
            <pc:docMk/>
            <pc:sldMk cId="660514218" sldId="413"/>
            <ac:spMk id="7" creationId="{6530C894-F2E8-EC62-F184-2A7F1EB1B8AD}"/>
          </ac:spMkLst>
        </pc:spChg>
        <pc:spChg chg="add mod">
          <ac:chgData name="Praveena srinivasan" userId="a750d2d6bc879722" providerId="LiveId" clId="{B70E0F07-CB2C-489E-9CBA-79328908C1A9}" dt="2026-09-23T03:53:17.902" v="401" actId="207"/>
          <ac:spMkLst>
            <pc:docMk/>
            <pc:sldMk cId="660514218" sldId="413"/>
            <ac:spMk id="9" creationId="{B507C843-BB22-8F53-F5AC-1F0305608B06}"/>
          </ac:spMkLst>
        </pc:spChg>
        <pc:spChg chg="add mod">
          <ac:chgData name="Praveena srinivasan" userId="a750d2d6bc879722" providerId="LiveId" clId="{B70E0F07-CB2C-489E-9CBA-79328908C1A9}" dt="2026-09-23T03:42:51.287" v="201" actId="1076"/>
          <ac:spMkLst>
            <pc:docMk/>
            <pc:sldMk cId="660514218" sldId="413"/>
            <ac:spMk id="11" creationId="{B0742EEF-4114-734E-C8D5-BD07AA4437D7}"/>
          </ac:spMkLst>
        </pc:spChg>
        <pc:spChg chg="add mod">
          <ac:chgData name="Praveena srinivasan" userId="a750d2d6bc879722" providerId="LiveId" clId="{B70E0F07-CB2C-489E-9CBA-79328908C1A9}" dt="2026-09-23T03:42:53.485" v="202" actId="1076"/>
          <ac:spMkLst>
            <pc:docMk/>
            <pc:sldMk cId="660514218" sldId="413"/>
            <ac:spMk id="13" creationId="{BF92301F-62BC-609C-0F6B-58569AD2056E}"/>
          </ac:spMkLst>
        </pc:spChg>
      </pc:sldChg>
      <pc:sldChg chg="addSp delSp modSp new mod">
        <pc:chgData name="Praveena srinivasan" userId="a750d2d6bc879722" providerId="LiveId" clId="{B70E0F07-CB2C-489E-9CBA-79328908C1A9}" dt="2026-09-23T03:53:27.726" v="403" actId="1076"/>
        <pc:sldMkLst>
          <pc:docMk/>
          <pc:sldMk cId="2357881934" sldId="414"/>
        </pc:sldMkLst>
        <pc:spChg chg="add mod">
          <ac:chgData name="Praveena srinivasan" userId="a750d2d6bc879722" providerId="LiveId" clId="{B70E0F07-CB2C-489E-9CBA-79328908C1A9}" dt="2026-09-23T03:45:25.623" v="221" actId="20577"/>
          <ac:spMkLst>
            <pc:docMk/>
            <pc:sldMk cId="2357881934" sldId="414"/>
            <ac:spMk id="5" creationId="{A8C3FFE2-5561-33D0-6BEE-B56F70AAAB66}"/>
          </ac:spMkLst>
        </pc:spChg>
        <pc:spChg chg="add mod">
          <ac:chgData name="Praveena srinivasan" userId="a750d2d6bc879722" providerId="LiveId" clId="{B70E0F07-CB2C-489E-9CBA-79328908C1A9}" dt="2026-09-23T03:53:27.726" v="403" actId="1076"/>
          <ac:spMkLst>
            <pc:docMk/>
            <pc:sldMk cId="2357881934" sldId="414"/>
            <ac:spMk id="7" creationId="{51ECD105-268C-9BEC-616E-A88AF1EEA9BC}"/>
          </ac:spMkLst>
        </pc:spChg>
      </pc:sldChg>
      <pc:sldChg chg="addSp delSp modSp new mod">
        <pc:chgData name="Praveena srinivasan" userId="a750d2d6bc879722" providerId="LiveId" clId="{B70E0F07-CB2C-489E-9CBA-79328908C1A9}" dt="2026-09-23T03:47:28.724" v="244" actId="115"/>
        <pc:sldMkLst>
          <pc:docMk/>
          <pc:sldMk cId="3651784943" sldId="415"/>
        </pc:sldMkLst>
        <pc:spChg chg="add">
          <ac:chgData name="Praveena srinivasan" userId="a750d2d6bc879722" providerId="LiveId" clId="{B70E0F07-CB2C-489E-9CBA-79328908C1A9}" dt="2026-09-23T03:46:26.684" v="231" actId="22"/>
          <ac:spMkLst>
            <pc:docMk/>
            <pc:sldMk cId="3651784943" sldId="415"/>
            <ac:spMk id="5" creationId="{6D36837C-3914-AE18-304D-1F79E84B7907}"/>
          </ac:spMkLst>
        </pc:spChg>
        <pc:spChg chg="add mod">
          <ac:chgData name="Praveena srinivasan" userId="a750d2d6bc879722" providerId="LiveId" clId="{B70E0F07-CB2C-489E-9CBA-79328908C1A9}" dt="2026-09-23T03:47:28.724" v="244" actId="115"/>
          <ac:spMkLst>
            <pc:docMk/>
            <pc:sldMk cId="3651784943" sldId="415"/>
            <ac:spMk id="7" creationId="{90A0A170-ECA8-7B3C-5DED-4190EAE3DB76}"/>
          </ac:spMkLst>
        </pc:spChg>
      </pc:sldChg>
      <pc:sldChg chg="delSp modSp new mod ord">
        <pc:chgData name="Praveena srinivasan" userId="a750d2d6bc879722" providerId="LiveId" clId="{B70E0F07-CB2C-489E-9CBA-79328908C1A9}" dt="2026-09-23T04:00:31.367" v="488"/>
        <pc:sldMkLst>
          <pc:docMk/>
          <pc:sldMk cId="2944699265" sldId="416"/>
        </pc:sldMkLst>
        <pc:spChg chg="mod">
          <ac:chgData name="Praveena srinivasan" userId="a750d2d6bc879722" providerId="LiveId" clId="{B70E0F07-CB2C-489E-9CBA-79328908C1A9}" dt="2026-09-23T03:58:57.653" v="418" actId="20577"/>
          <ac:spMkLst>
            <pc:docMk/>
            <pc:sldMk cId="2944699265" sldId="416"/>
            <ac:spMk id="2" creationId="{8F5BFC33-52A3-6D16-24DC-05D0A52ADC28}"/>
          </ac:spMkLst>
        </pc:spChg>
      </pc:sldChg>
      <pc:sldChg chg="addSp delSp modSp new mod ord">
        <pc:chgData name="Praveena srinivasan" userId="a750d2d6bc879722" providerId="LiveId" clId="{B70E0F07-CB2C-489E-9CBA-79328908C1A9}" dt="2026-09-23T04:00:46.855" v="490"/>
        <pc:sldMkLst>
          <pc:docMk/>
          <pc:sldMk cId="1472797543" sldId="417"/>
        </pc:sldMkLst>
        <pc:spChg chg="add mod">
          <ac:chgData name="Praveena srinivasan" userId="a750d2d6bc879722" providerId="LiveId" clId="{B70E0F07-CB2C-489E-9CBA-79328908C1A9}" dt="2026-09-23T03:59:37.607" v="481" actId="20577"/>
          <ac:spMkLst>
            <pc:docMk/>
            <pc:sldMk cId="1472797543" sldId="417"/>
            <ac:spMk id="5" creationId="{30C79B51-2B14-88A2-BEEE-E43E3F0C89EE}"/>
          </ac:spMkLst>
        </pc:spChg>
        <pc:spChg chg="add mod">
          <ac:chgData name="Praveena srinivasan" userId="a750d2d6bc879722" providerId="LiveId" clId="{B70E0F07-CB2C-489E-9CBA-79328908C1A9}" dt="2026-09-23T04:00:05.970" v="484" actId="14100"/>
          <ac:spMkLst>
            <pc:docMk/>
            <pc:sldMk cId="1472797543" sldId="417"/>
            <ac:spMk id="7" creationId="{D74382FC-650D-F619-74F8-A50602914894}"/>
          </ac:spMkLst>
        </pc:spChg>
        <pc:spChg chg="add mod">
          <ac:chgData name="Praveena srinivasan" userId="a750d2d6bc879722" providerId="LiveId" clId="{B70E0F07-CB2C-489E-9CBA-79328908C1A9}" dt="2026-09-23T04:00:17.385" v="486" actId="1076"/>
          <ac:spMkLst>
            <pc:docMk/>
            <pc:sldMk cId="1472797543" sldId="417"/>
            <ac:spMk id="9" creationId="{BC9A598D-D9E0-CD52-A1D1-D0968F605102}"/>
          </ac:spMkLst>
        </pc:spChg>
      </pc:sldChg>
      <pc:sldChg chg="delSp modSp new mod">
        <pc:chgData name="Praveena srinivasan" userId="a750d2d6bc879722" providerId="LiveId" clId="{B70E0F07-CB2C-489E-9CBA-79328908C1A9}" dt="2026-09-23T04:02:46.210" v="534" actId="207"/>
        <pc:sldMkLst>
          <pc:docMk/>
          <pc:sldMk cId="1832667703" sldId="418"/>
        </pc:sldMkLst>
        <pc:spChg chg="mod">
          <ac:chgData name="Praveena srinivasan" userId="a750d2d6bc879722" providerId="LiveId" clId="{B70E0F07-CB2C-489E-9CBA-79328908C1A9}" dt="2026-09-23T04:02:46.210" v="534" actId="207"/>
          <ac:spMkLst>
            <pc:docMk/>
            <pc:sldMk cId="1832667703" sldId="418"/>
            <ac:spMk id="2" creationId="{5AD36424-08FC-A5A0-D9A7-266481064358}"/>
          </ac:spMkLst>
        </pc:spChg>
      </pc:sldChg>
      <pc:sldChg chg="addSp delSp modSp new mod">
        <pc:chgData name="Praveena srinivasan" userId="a750d2d6bc879722" providerId="LiveId" clId="{B70E0F07-CB2C-489E-9CBA-79328908C1A9}" dt="2026-10-04T22:02:05.372" v="601" actId="1076"/>
        <pc:sldMkLst>
          <pc:docMk/>
          <pc:sldMk cId="3279609352" sldId="419"/>
        </pc:sldMkLst>
        <pc:spChg chg="mod">
          <ac:chgData name="Praveena srinivasan" userId="a750d2d6bc879722" providerId="LiveId" clId="{B70E0F07-CB2C-489E-9CBA-79328908C1A9}" dt="2026-10-04T21:58:49.211" v="573"/>
          <ac:spMkLst>
            <pc:docMk/>
            <pc:sldMk cId="3279609352" sldId="419"/>
            <ac:spMk id="2" creationId="{8F719B02-677B-B3C7-2778-1E22DC209C7E}"/>
          </ac:spMkLst>
        </pc:spChg>
        <pc:spChg chg="del">
          <ac:chgData name="Praveena srinivasan" userId="a750d2d6bc879722" providerId="LiveId" clId="{B70E0F07-CB2C-489E-9CBA-79328908C1A9}" dt="2026-10-04T21:58:31.597" v="568" actId="478"/>
          <ac:spMkLst>
            <pc:docMk/>
            <pc:sldMk cId="3279609352" sldId="419"/>
            <ac:spMk id="3" creationId="{F1506455-6A23-2D44-09D1-071226901108}"/>
          </ac:spMkLst>
        </pc:spChg>
        <pc:spChg chg="add mod">
          <ac:chgData name="Praveena srinivasan" userId="a750d2d6bc879722" providerId="LiveId" clId="{B70E0F07-CB2C-489E-9CBA-79328908C1A9}" dt="2026-10-04T21:59:23.124" v="580" actId="207"/>
          <ac:spMkLst>
            <pc:docMk/>
            <pc:sldMk cId="3279609352" sldId="419"/>
            <ac:spMk id="5" creationId="{9161FDF5-CC4B-B43A-A39B-F7D72E26902C}"/>
          </ac:spMkLst>
        </pc:spChg>
        <pc:spChg chg="add del mod">
          <ac:chgData name="Praveena srinivasan" userId="a750d2d6bc879722" providerId="LiveId" clId="{B70E0F07-CB2C-489E-9CBA-79328908C1A9}" dt="2026-10-04T22:01:24.611" v="583" actId="478"/>
          <ac:spMkLst>
            <pc:docMk/>
            <pc:sldMk cId="3279609352" sldId="419"/>
            <ac:spMk id="7" creationId="{ECEC6696-DA3F-7417-5827-CBF0BFCC3A03}"/>
          </ac:spMkLst>
        </pc:spChg>
        <pc:spChg chg="add mod">
          <ac:chgData name="Praveena srinivasan" userId="a750d2d6bc879722" providerId="LiveId" clId="{B70E0F07-CB2C-489E-9CBA-79328908C1A9}" dt="2026-10-04T22:01:37.412" v="595" actId="20577"/>
          <ac:spMkLst>
            <pc:docMk/>
            <pc:sldMk cId="3279609352" sldId="419"/>
            <ac:spMk id="9" creationId="{9FC98855-EB6F-7A95-6A59-E623B589F990}"/>
          </ac:spMkLst>
        </pc:spChg>
        <pc:graphicFrameChg chg="add mod modGraphic">
          <ac:chgData name="Praveena srinivasan" userId="a750d2d6bc879722" providerId="LiveId" clId="{B70E0F07-CB2C-489E-9CBA-79328908C1A9}" dt="2026-10-04T22:02:05.372" v="601" actId="1076"/>
          <ac:graphicFrameMkLst>
            <pc:docMk/>
            <pc:sldMk cId="3279609352" sldId="419"/>
            <ac:graphicFrameMk id="10" creationId="{C60BDAE3-7FBA-BCF2-81DB-91A4E036371B}"/>
          </ac:graphicFrameMkLst>
        </pc:graphicFrameChg>
      </pc:sldChg>
      <pc:sldChg chg="addSp delSp modSp new mod">
        <pc:chgData name="Praveena srinivasan" userId="a750d2d6bc879722" providerId="LiveId" clId="{B70E0F07-CB2C-489E-9CBA-79328908C1A9}" dt="2026-10-05T00:03:04.294" v="701" actId="20577"/>
        <pc:sldMkLst>
          <pc:docMk/>
          <pc:sldMk cId="4078425743" sldId="420"/>
        </pc:sldMkLst>
        <pc:spChg chg="mod">
          <ac:chgData name="Praveena srinivasan" userId="a750d2d6bc879722" providerId="LiveId" clId="{B70E0F07-CB2C-489E-9CBA-79328908C1A9}" dt="2026-10-05T00:03:04.294" v="701" actId="20577"/>
          <ac:spMkLst>
            <pc:docMk/>
            <pc:sldMk cId="4078425743" sldId="420"/>
            <ac:spMk id="2" creationId="{861ADBBD-8243-AB4A-183E-9849C5B78FEA}"/>
          </ac:spMkLst>
        </pc:spChg>
        <pc:spChg chg="del">
          <ac:chgData name="Praveena srinivasan" userId="a750d2d6bc879722" providerId="LiveId" clId="{B70E0F07-CB2C-489E-9CBA-79328908C1A9}" dt="2026-10-04T22:02:35.465" v="608" actId="478"/>
          <ac:spMkLst>
            <pc:docMk/>
            <pc:sldMk cId="4078425743" sldId="420"/>
            <ac:spMk id="3" creationId="{FDE3F479-7671-9BC2-65F3-A9EEC47A0ABB}"/>
          </ac:spMkLst>
        </pc:spChg>
        <pc:spChg chg="add mod">
          <ac:chgData name="Praveena srinivasan" userId="a750d2d6bc879722" providerId="LiveId" clId="{B70E0F07-CB2C-489E-9CBA-79328908C1A9}" dt="2026-10-04T22:02:49.728" v="614" actId="1076"/>
          <ac:spMkLst>
            <pc:docMk/>
            <pc:sldMk cId="4078425743" sldId="420"/>
            <ac:spMk id="5" creationId="{41560EBC-0421-E6DA-1918-CA6B0ABF44E8}"/>
          </ac:spMkLst>
        </pc:spChg>
        <pc:spChg chg="add mod">
          <ac:chgData name="Praveena srinivasan" userId="a750d2d6bc879722" providerId="LiveId" clId="{B70E0F07-CB2C-489E-9CBA-79328908C1A9}" dt="2026-10-04T22:03:02.560" v="616" actId="1076"/>
          <ac:spMkLst>
            <pc:docMk/>
            <pc:sldMk cId="4078425743" sldId="420"/>
            <ac:spMk id="7" creationId="{7DD1DEA6-DF94-5497-A44B-C0C34F6B5691}"/>
          </ac:spMkLst>
        </pc:spChg>
        <pc:spChg chg="add mod">
          <ac:chgData name="Praveena srinivasan" userId="a750d2d6bc879722" providerId="LiveId" clId="{B70E0F07-CB2C-489E-9CBA-79328908C1A9}" dt="2026-10-04T22:03:56.966" v="619" actId="14100"/>
          <ac:spMkLst>
            <pc:docMk/>
            <pc:sldMk cId="4078425743" sldId="420"/>
            <ac:spMk id="9" creationId="{48CA2785-2CD5-3888-FA5D-07C72F4571B6}"/>
          </ac:spMkLst>
        </pc:spChg>
      </pc:sldChg>
      <pc:sldChg chg="addSp delSp modSp new mod">
        <pc:chgData name="Praveena srinivasan" userId="a750d2d6bc879722" providerId="LiveId" clId="{B70E0F07-CB2C-489E-9CBA-79328908C1A9}" dt="2026-10-05T02:17:17.162" v="736" actId="1036"/>
        <pc:sldMkLst>
          <pc:docMk/>
          <pc:sldMk cId="2533800048" sldId="421"/>
        </pc:sldMkLst>
        <pc:spChg chg="mod">
          <ac:chgData name="Praveena srinivasan" userId="a750d2d6bc879722" providerId="LiveId" clId="{B70E0F07-CB2C-489E-9CBA-79328908C1A9}" dt="2026-10-04T22:05:34.363" v="628" actId="1076"/>
          <ac:spMkLst>
            <pc:docMk/>
            <pc:sldMk cId="2533800048" sldId="421"/>
            <ac:spMk id="2" creationId="{3D150361-A5D4-5DF3-7859-444FB9145A0C}"/>
          </ac:spMkLst>
        </pc:spChg>
        <pc:spChg chg="del">
          <ac:chgData name="Praveena srinivasan" userId="a750d2d6bc879722" providerId="LiveId" clId="{B70E0F07-CB2C-489E-9CBA-79328908C1A9}" dt="2026-10-04T22:05:28.961" v="626" actId="478"/>
          <ac:spMkLst>
            <pc:docMk/>
            <pc:sldMk cId="2533800048" sldId="421"/>
            <ac:spMk id="3" creationId="{126BF494-9359-C1B1-B8C1-4134989317DC}"/>
          </ac:spMkLst>
        </pc:spChg>
        <pc:spChg chg="add mod">
          <ac:chgData name="Praveena srinivasan" userId="a750d2d6bc879722" providerId="LiveId" clId="{B70E0F07-CB2C-489E-9CBA-79328908C1A9}" dt="2026-10-05T02:17:17.162" v="736" actId="1036"/>
          <ac:spMkLst>
            <pc:docMk/>
            <pc:sldMk cId="2533800048" sldId="421"/>
            <ac:spMk id="5" creationId="{EFDC8680-A8B3-A2EE-FEF2-98E7EE380853}"/>
          </ac:spMkLst>
        </pc:spChg>
        <pc:spChg chg="add mod">
          <ac:chgData name="Praveena srinivasan" userId="a750d2d6bc879722" providerId="LiveId" clId="{B70E0F07-CB2C-489E-9CBA-79328908C1A9}" dt="2026-10-04T22:06:02.636" v="635" actId="1076"/>
          <ac:spMkLst>
            <pc:docMk/>
            <pc:sldMk cId="2533800048" sldId="421"/>
            <ac:spMk id="7" creationId="{98A6FE26-69DF-BF55-60B6-F609822134F4}"/>
          </ac:spMkLst>
        </pc:spChg>
        <pc:graphicFrameChg chg="add mod modGraphic">
          <ac:chgData name="Praveena srinivasan" userId="a750d2d6bc879722" providerId="LiveId" clId="{B70E0F07-CB2C-489E-9CBA-79328908C1A9}" dt="2026-10-04T22:07:45.736" v="640" actId="1076"/>
          <ac:graphicFrameMkLst>
            <pc:docMk/>
            <pc:sldMk cId="2533800048" sldId="421"/>
            <ac:graphicFrameMk id="8" creationId="{E479A434-09FA-11F9-0F56-2611DC542B6C}"/>
          </ac:graphicFrameMkLst>
        </pc:graphicFrameChg>
      </pc:sldChg>
      <pc:sldChg chg="addSp delSp modSp new mod">
        <pc:chgData name="Praveena srinivasan" userId="a750d2d6bc879722" providerId="LiveId" clId="{B70E0F07-CB2C-489E-9CBA-79328908C1A9}" dt="2026-10-04T22:12:30.255" v="659" actId="113"/>
        <pc:sldMkLst>
          <pc:docMk/>
          <pc:sldMk cId="1601564975" sldId="422"/>
        </pc:sldMkLst>
        <pc:spChg chg="mod">
          <ac:chgData name="Praveena srinivasan" userId="a750d2d6bc879722" providerId="LiveId" clId="{B70E0F07-CB2C-489E-9CBA-79328908C1A9}" dt="2026-10-04T22:08:57.696" v="643" actId="1076"/>
          <ac:spMkLst>
            <pc:docMk/>
            <pc:sldMk cId="1601564975" sldId="422"/>
            <ac:spMk id="2" creationId="{8E71E493-5EB6-1723-067B-CD381B47FCB6}"/>
          </ac:spMkLst>
        </pc:spChg>
        <pc:spChg chg="del mod">
          <ac:chgData name="Praveena srinivasan" userId="a750d2d6bc879722" providerId="LiveId" clId="{B70E0F07-CB2C-489E-9CBA-79328908C1A9}" dt="2026-10-04T22:10:21.469" v="645" actId="478"/>
          <ac:spMkLst>
            <pc:docMk/>
            <pc:sldMk cId="1601564975" sldId="422"/>
            <ac:spMk id="3" creationId="{5E191AD5-A706-A2E3-59E2-F31CBEF3735E}"/>
          </ac:spMkLst>
        </pc:spChg>
        <pc:spChg chg="add mod">
          <ac:chgData name="Praveena srinivasan" userId="a750d2d6bc879722" providerId="LiveId" clId="{B70E0F07-CB2C-489E-9CBA-79328908C1A9}" dt="2026-10-04T22:10:26.709" v="647" actId="1076"/>
          <ac:spMkLst>
            <pc:docMk/>
            <pc:sldMk cId="1601564975" sldId="422"/>
            <ac:spMk id="5" creationId="{83B1FF45-C747-FED1-91B9-F7947ADEF7E4}"/>
          </ac:spMkLst>
        </pc:spChg>
        <pc:spChg chg="add mod">
          <ac:chgData name="Praveena srinivasan" userId="a750d2d6bc879722" providerId="LiveId" clId="{B70E0F07-CB2C-489E-9CBA-79328908C1A9}" dt="2026-10-04T22:11:24.823" v="649" actId="1076"/>
          <ac:spMkLst>
            <pc:docMk/>
            <pc:sldMk cId="1601564975" sldId="422"/>
            <ac:spMk id="7" creationId="{460AE814-84C9-4E0C-3D53-0F1E544A3D42}"/>
          </ac:spMkLst>
        </pc:spChg>
        <pc:spChg chg="add mod">
          <ac:chgData name="Praveena srinivasan" userId="a750d2d6bc879722" providerId="LiveId" clId="{B70E0F07-CB2C-489E-9CBA-79328908C1A9}" dt="2026-10-04T22:11:52.016" v="651" actId="1076"/>
          <ac:spMkLst>
            <pc:docMk/>
            <pc:sldMk cId="1601564975" sldId="422"/>
            <ac:spMk id="9" creationId="{97F0DAA7-B9E7-163E-BFC9-CC523192E86E}"/>
          </ac:spMkLst>
        </pc:spChg>
        <pc:spChg chg="add mod">
          <ac:chgData name="Praveena srinivasan" userId="a750d2d6bc879722" providerId="LiveId" clId="{B70E0F07-CB2C-489E-9CBA-79328908C1A9}" dt="2026-10-04T22:12:30.255" v="659" actId="113"/>
          <ac:spMkLst>
            <pc:docMk/>
            <pc:sldMk cId="1601564975" sldId="422"/>
            <ac:spMk id="12" creationId="{285B7DDA-F8FB-28CD-686F-7C164BA7BD18}"/>
          </ac:spMkLst>
        </pc:spChg>
        <pc:graphicFrameChg chg="add mod modGraphic">
          <ac:chgData name="Praveena srinivasan" userId="a750d2d6bc879722" providerId="LiveId" clId="{B70E0F07-CB2C-489E-9CBA-79328908C1A9}" dt="2026-10-04T22:12:06.528" v="654" actId="1076"/>
          <ac:graphicFrameMkLst>
            <pc:docMk/>
            <pc:sldMk cId="1601564975" sldId="422"/>
            <ac:graphicFrameMk id="10" creationId="{23912C2D-8542-D4C2-3A1B-82649C9E813A}"/>
          </ac:graphicFrameMkLst>
        </pc:graphicFrameChg>
      </pc:sldChg>
      <pc:sldChg chg="addSp delSp modSp new mod">
        <pc:chgData name="Praveena srinivasan" userId="a750d2d6bc879722" providerId="LiveId" clId="{B70E0F07-CB2C-489E-9CBA-79328908C1A9}" dt="2026-10-05T00:02:52.312" v="699" actId="1076"/>
        <pc:sldMkLst>
          <pc:docMk/>
          <pc:sldMk cId="3410317665" sldId="423"/>
        </pc:sldMkLst>
        <pc:spChg chg="del">
          <ac:chgData name="Praveena srinivasan" userId="a750d2d6bc879722" providerId="LiveId" clId="{B70E0F07-CB2C-489E-9CBA-79328908C1A9}" dt="2026-10-05T00:01:46.686" v="668" actId="478"/>
          <ac:spMkLst>
            <pc:docMk/>
            <pc:sldMk cId="3410317665" sldId="423"/>
            <ac:spMk id="2" creationId="{DF7D7AD0-9527-5093-8B9C-74345789F2CC}"/>
          </ac:spMkLst>
        </pc:spChg>
        <pc:spChg chg="del mod">
          <ac:chgData name="Praveena srinivasan" userId="a750d2d6bc879722" providerId="LiveId" clId="{B70E0F07-CB2C-489E-9CBA-79328908C1A9}" dt="2026-10-05T00:01:38.794" v="665" actId="478"/>
          <ac:spMkLst>
            <pc:docMk/>
            <pc:sldMk cId="3410317665" sldId="423"/>
            <ac:spMk id="3" creationId="{16ED3D30-559D-A74B-35AC-FC991E08094B}"/>
          </ac:spMkLst>
        </pc:spChg>
        <pc:spChg chg="add mod">
          <ac:chgData name="Praveena srinivasan" userId="a750d2d6bc879722" providerId="LiveId" clId="{B70E0F07-CB2C-489E-9CBA-79328908C1A9}" dt="2026-10-05T00:02:48.527" v="698" actId="207"/>
          <ac:spMkLst>
            <pc:docMk/>
            <pc:sldMk cId="3410317665" sldId="423"/>
            <ac:spMk id="5" creationId="{00E8DDF9-338C-C212-A657-912B44DDA35A}"/>
          </ac:spMkLst>
        </pc:spChg>
        <pc:spChg chg="add mod">
          <ac:chgData name="Praveena srinivasan" userId="a750d2d6bc879722" providerId="LiveId" clId="{B70E0F07-CB2C-489E-9CBA-79328908C1A9}" dt="2026-10-05T00:02:52.312" v="699" actId="1076"/>
          <ac:spMkLst>
            <pc:docMk/>
            <pc:sldMk cId="3410317665" sldId="423"/>
            <ac:spMk id="6" creationId="{207F3425-8E9C-3BD5-3380-AB19C55662A3}"/>
          </ac:spMkLst>
        </pc:spChg>
      </pc:sldChg>
      <pc:sldChg chg="addSp delSp modSp new mod">
        <pc:chgData name="Praveena srinivasan" userId="a750d2d6bc879722" providerId="LiveId" clId="{B70E0F07-CB2C-489E-9CBA-79328908C1A9}" dt="2026-10-05T00:05:19.175" v="733" actId="207"/>
        <pc:sldMkLst>
          <pc:docMk/>
          <pc:sldMk cId="3333158339" sldId="424"/>
        </pc:sldMkLst>
        <pc:spChg chg="mod">
          <ac:chgData name="Praveena srinivasan" userId="a750d2d6bc879722" providerId="LiveId" clId="{B70E0F07-CB2C-489E-9CBA-79328908C1A9}" dt="2026-10-05T00:05:13.453" v="732" actId="20577"/>
          <ac:spMkLst>
            <pc:docMk/>
            <pc:sldMk cId="3333158339" sldId="424"/>
            <ac:spMk id="2" creationId="{EFB9B065-729B-6748-282F-4606EF1408F3}"/>
          </ac:spMkLst>
        </pc:spChg>
        <pc:spChg chg="del mod">
          <ac:chgData name="Praveena srinivasan" userId="a750d2d6bc879722" providerId="LiveId" clId="{B70E0F07-CB2C-489E-9CBA-79328908C1A9}" dt="2026-10-05T00:04:33.916" v="707" actId="478"/>
          <ac:spMkLst>
            <pc:docMk/>
            <pc:sldMk cId="3333158339" sldId="424"/>
            <ac:spMk id="3" creationId="{40534E21-E8CA-9558-5BDB-9AC3E851D1E6}"/>
          </ac:spMkLst>
        </pc:spChg>
        <pc:spChg chg="add mod">
          <ac:chgData name="Praveena srinivasan" userId="a750d2d6bc879722" providerId="LiveId" clId="{B70E0F07-CB2C-489E-9CBA-79328908C1A9}" dt="2026-10-05T00:05:19.175" v="733" actId="207"/>
          <ac:spMkLst>
            <pc:docMk/>
            <pc:sldMk cId="3333158339" sldId="424"/>
            <ac:spMk id="5" creationId="{E1052F86-2F30-4057-0120-ED49859D3E07}"/>
          </ac:spMkLst>
        </pc:spChg>
      </pc:sldChg>
      <pc:sldChg chg="new del">
        <pc:chgData name="Praveena srinivasan" userId="a750d2d6bc879722" providerId="LiveId" clId="{B70E0F07-CB2C-489E-9CBA-79328908C1A9}" dt="2026-10-05T02:17:05.343" v="735" actId="47"/>
        <pc:sldMkLst>
          <pc:docMk/>
          <pc:sldMk cId="1508474959" sldId="425"/>
        </pc:sldMkLst>
      </pc:sldChg>
    </pc:docChg>
  </pc:docChgLst>
  <pc:docChgLst>
    <pc:chgData name="Jackulin A 101370" userId="2a32bf0e-21b4-44ed-b242-946a1916d410" providerId="ADAL" clId="{61D3EE2A-BC80-4E42-9FC1-C9EA994DE82D}"/>
    <pc:docChg chg="undo custSel modSld">
      <pc:chgData name="Jackulin A 101370" userId="2a32bf0e-21b4-44ed-b242-946a1916d410" providerId="ADAL" clId="{61D3EE2A-BC80-4E42-9FC1-C9EA994DE82D}" dt="2026-09-11T07:09:05.721" v="271" actId="20577"/>
      <pc:docMkLst>
        <pc:docMk/>
      </pc:docMkLst>
      <pc:sldChg chg="addSp modSp mod">
        <pc:chgData name="Jackulin A 101370" userId="2a32bf0e-21b4-44ed-b242-946a1916d410" providerId="ADAL" clId="{61D3EE2A-BC80-4E42-9FC1-C9EA994DE82D}" dt="2026-09-11T06:53:12.175" v="9"/>
        <pc:sldMkLst>
          <pc:docMk/>
          <pc:sldMk cId="3882423592" sldId="258"/>
        </pc:sldMkLst>
        <pc:spChg chg="add mod">
          <ac:chgData name="Jackulin A 101370" userId="2a32bf0e-21b4-44ed-b242-946a1916d410" providerId="ADAL" clId="{61D3EE2A-BC80-4E42-9FC1-C9EA994DE82D}" dt="2026-09-11T06:53:12.175" v="9"/>
          <ac:spMkLst>
            <pc:docMk/>
            <pc:sldMk cId="3882423592" sldId="258"/>
            <ac:spMk id="2" creationId="{38A0B65D-EE18-5BAB-4DFF-4EF2047D63B2}"/>
          </ac:spMkLst>
        </pc:spChg>
        <pc:spChg chg="mod">
          <ac:chgData name="Jackulin A 101370" userId="2a32bf0e-21b4-44ed-b242-946a1916d410" providerId="ADAL" clId="{61D3EE2A-BC80-4E42-9FC1-C9EA994DE82D}" dt="2026-09-11T06:52:58.843" v="8" actId="1076"/>
          <ac:spMkLst>
            <pc:docMk/>
            <pc:sldMk cId="3882423592" sldId="258"/>
            <ac:spMk id="3" creationId="{AF8E2CC8-B552-AB93-837E-3C268846789E}"/>
          </ac:spMkLst>
        </pc:spChg>
      </pc:sldChg>
      <pc:sldChg chg="addSp modSp mod">
        <pc:chgData name="Jackulin A 101370" userId="2a32bf0e-21b4-44ed-b242-946a1916d410" providerId="ADAL" clId="{61D3EE2A-BC80-4E42-9FC1-C9EA994DE82D}" dt="2026-09-11T06:54:25.052" v="17" actId="14100"/>
        <pc:sldMkLst>
          <pc:docMk/>
          <pc:sldMk cId="1274802973" sldId="260"/>
        </pc:sldMkLst>
        <pc:spChg chg="add mod">
          <ac:chgData name="Jackulin A 101370" userId="2a32bf0e-21b4-44ed-b242-946a1916d410" providerId="ADAL" clId="{61D3EE2A-BC80-4E42-9FC1-C9EA994DE82D}" dt="2026-09-11T06:54:20.604" v="16" actId="1076"/>
          <ac:spMkLst>
            <pc:docMk/>
            <pc:sldMk cId="1274802973" sldId="260"/>
            <ac:spMk id="2" creationId="{EA5B9357-44A7-90B7-DF2C-C5A21CB27307}"/>
          </ac:spMkLst>
        </pc:spChg>
        <pc:spChg chg="mod">
          <ac:chgData name="Jackulin A 101370" userId="2a32bf0e-21b4-44ed-b242-946a1916d410" providerId="ADAL" clId="{61D3EE2A-BC80-4E42-9FC1-C9EA994DE82D}" dt="2026-09-11T06:54:25.052" v="17" actId="14100"/>
          <ac:spMkLst>
            <pc:docMk/>
            <pc:sldMk cId="1274802973" sldId="260"/>
            <ac:spMk id="3" creationId="{B9D2B0C3-96BF-688E-8A18-181DAF8E92D8}"/>
          </ac:spMkLst>
        </pc:spChg>
      </pc:sldChg>
      <pc:sldChg chg="modSp mod">
        <pc:chgData name="Jackulin A 101370" userId="2a32bf0e-21b4-44ed-b242-946a1916d410" providerId="ADAL" clId="{61D3EE2A-BC80-4E42-9FC1-C9EA994DE82D}" dt="2026-09-11T06:54:37.255" v="18" actId="14100"/>
        <pc:sldMkLst>
          <pc:docMk/>
          <pc:sldMk cId="1757515326" sldId="261"/>
        </pc:sldMkLst>
        <pc:spChg chg="mod">
          <ac:chgData name="Jackulin A 101370" userId="2a32bf0e-21b4-44ed-b242-946a1916d410" providerId="ADAL" clId="{61D3EE2A-BC80-4E42-9FC1-C9EA994DE82D}" dt="2026-09-11T06:54:37.255" v="18" actId="14100"/>
          <ac:spMkLst>
            <pc:docMk/>
            <pc:sldMk cId="1757515326" sldId="261"/>
            <ac:spMk id="2" creationId="{B1B080C4-7EE3-38B2-1537-A10B475E24AB}"/>
          </ac:spMkLst>
        </pc:spChg>
      </pc:sldChg>
      <pc:sldChg chg="modSp mod">
        <pc:chgData name="Jackulin A 101370" userId="2a32bf0e-21b4-44ed-b242-946a1916d410" providerId="ADAL" clId="{61D3EE2A-BC80-4E42-9FC1-C9EA994DE82D}" dt="2026-09-11T06:55:36.481" v="26" actId="1076"/>
        <pc:sldMkLst>
          <pc:docMk/>
          <pc:sldMk cId="2244395375" sldId="262"/>
        </pc:sldMkLst>
        <pc:spChg chg="mod">
          <ac:chgData name="Jackulin A 101370" userId="2a32bf0e-21b4-44ed-b242-946a1916d410" providerId="ADAL" clId="{61D3EE2A-BC80-4E42-9FC1-C9EA994DE82D}" dt="2026-09-11T06:55:36.481" v="26" actId="1076"/>
          <ac:spMkLst>
            <pc:docMk/>
            <pc:sldMk cId="2244395375" sldId="262"/>
            <ac:spMk id="2" creationId="{C97FD606-2113-BAAD-3450-60C2864386F7}"/>
          </ac:spMkLst>
        </pc:spChg>
      </pc:sldChg>
      <pc:sldChg chg="addSp modSp mod">
        <pc:chgData name="Jackulin A 101370" userId="2a32bf0e-21b4-44ed-b242-946a1916d410" providerId="ADAL" clId="{61D3EE2A-BC80-4E42-9FC1-C9EA994DE82D}" dt="2026-09-11T06:55:11.708" v="22" actId="14100"/>
        <pc:sldMkLst>
          <pc:docMk/>
          <pc:sldMk cId="3761871845" sldId="263"/>
        </pc:sldMkLst>
        <pc:spChg chg="add mod">
          <ac:chgData name="Jackulin A 101370" userId="2a32bf0e-21b4-44ed-b242-946a1916d410" providerId="ADAL" clId="{61D3EE2A-BC80-4E42-9FC1-C9EA994DE82D}" dt="2026-09-11T06:54:50.850" v="19"/>
          <ac:spMkLst>
            <pc:docMk/>
            <pc:sldMk cId="3761871845" sldId="263"/>
            <ac:spMk id="2" creationId="{3CFBE822-778A-8494-870E-503FBBC13B64}"/>
          </ac:spMkLst>
        </pc:spChg>
        <pc:spChg chg="mod">
          <ac:chgData name="Jackulin A 101370" userId="2a32bf0e-21b4-44ed-b242-946a1916d410" providerId="ADAL" clId="{61D3EE2A-BC80-4E42-9FC1-C9EA994DE82D}" dt="2026-09-11T06:55:11.708" v="22" actId="14100"/>
          <ac:spMkLst>
            <pc:docMk/>
            <pc:sldMk cId="3761871845" sldId="263"/>
            <ac:spMk id="3" creationId="{E449C17A-0750-468D-8FB2-32DC746D9BA3}"/>
          </ac:spMkLst>
        </pc:spChg>
      </pc:sldChg>
      <pc:sldChg chg="addSp modSp mod">
        <pc:chgData name="Jackulin A 101370" userId="2a32bf0e-21b4-44ed-b242-946a1916d410" providerId="ADAL" clId="{61D3EE2A-BC80-4E42-9FC1-C9EA994DE82D}" dt="2026-09-11T06:58:30.115" v="42"/>
        <pc:sldMkLst>
          <pc:docMk/>
          <pc:sldMk cId="697839195" sldId="264"/>
        </pc:sldMkLst>
        <pc:spChg chg="add mod">
          <ac:chgData name="Jackulin A 101370" userId="2a32bf0e-21b4-44ed-b242-946a1916d410" providerId="ADAL" clId="{61D3EE2A-BC80-4E42-9FC1-C9EA994DE82D}" dt="2026-09-11T06:58:30.115" v="42"/>
          <ac:spMkLst>
            <pc:docMk/>
            <pc:sldMk cId="697839195" sldId="264"/>
            <ac:spMk id="2" creationId="{2543765B-57D8-784E-BE0A-B7980153BA6F}"/>
          </ac:spMkLst>
        </pc:spChg>
        <pc:spChg chg="mod">
          <ac:chgData name="Jackulin A 101370" userId="2a32bf0e-21b4-44ed-b242-946a1916d410" providerId="ADAL" clId="{61D3EE2A-BC80-4E42-9FC1-C9EA994DE82D}" dt="2026-09-11T06:58:20.476" v="41" actId="1076"/>
          <ac:spMkLst>
            <pc:docMk/>
            <pc:sldMk cId="697839195" sldId="264"/>
            <ac:spMk id="3" creationId="{3CC1CD26-CDF8-AEB8-DBF1-7B458AE41C54}"/>
          </ac:spMkLst>
        </pc:spChg>
      </pc:sldChg>
      <pc:sldChg chg="modSp mod">
        <pc:chgData name="Jackulin A 101370" userId="2a32bf0e-21b4-44ed-b242-946a1916d410" providerId="ADAL" clId="{61D3EE2A-BC80-4E42-9FC1-C9EA994DE82D}" dt="2026-09-11T07:02:11.174" v="75" actId="20577"/>
        <pc:sldMkLst>
          <pc:docMk/>
          <pc:sldMk cId="2111988828" sldId="266"/>
        </pc:sldMkLst>
        <pc:spChg chg="mod">
          <ac:chgData name="Jackulin A 101370" userId="2a32bf0e-21b4-44ed-b242-946a1916d410" providerId="ADAL" clId="{61D3EE2A-BC80-4E42-9FC1-C9EA994DE82D}" dt="2026-09-11T07:02:11.174" v="75" actId="20577"/>
          <ac:spMkLst>
            <pc:docMk/>
            <pc:sldMk cId="2111988828" sldId="266"/>
            <ac:spMk id="3" creationId="{D447D65B-161B-23C9-7B80-E631ADBBB1E8}"/>
          </ac:spMkLst>
        </pc:spChg>
      </pc:sldChg>
      <pc:sldChg chg="modSp mod">
        <pc:chgData name="Jackulin A 101370" userId="2a32bf0e-21b4-44ed-b242-946a1916d410" providerId="ADAL" clId="{61D3EE2A-BC80-4E42-9FC1-C9EA994DE82D}" dt="2026-09-11T07:03:13.637" v="175" actId="20577"/>
        <pc:sldMkLst>
          <pc:docMk/>
          <pc:sldMk cId="1848385782" sldId="267"/>
        </pc:sldMkLst>
        <pc:spChg chg="mod">
          <ac:chgData name="Jackulin A 101370" userId="2a32bf0e-21b4-44ed-b242-946a1916d410" providerId="ADAL" clId="{61D3EE2A-BC80-4E42-9FC1-C9EA994DE82D}" dt="2026-09-11T07:03:13.637" v="175" actId="20577"/>
          <ac:spMkLst>
            <pc:docMk/>
            <pc:sldMk cId="1848385782" sldId="267"/>
            <ac:spMk id="3" creationId="{34B6747F-E694-A0AF-A277-9CA485B68B8D}"/>
          </ac:spMkLst>
        </pc:spChg>
      </pc:sldChg>
      <pc:sldChg chg="modSp mod">
        <pc:chgData name="Jackulin A 101370" userId="2a32bf0e-21b4-44ed-b242-946a1916d410" providerId="ADAL" clId="{61D3EE2A-BC80-4E42-9FC1-C9EA994DE82D}" dt="2026-09-11T06:58:50.239" v="43" actId="12"/>
        <pc:sldMkLst>
          <pc:docMk/>
          <pc:sldMk cId="3096140449" sldId="271"/>
        </pc:sldMkLst>
        <pc:spChg chg="mod">
          <ac:chgData name="Jackulin A 101370" userId="2a32bf0e-21b4-44ed-b242-946a1916d410" providerId="ADAL" clId="{61D3EE2A-BC80-4E42-9FC1-C9EA994DE82D}" dt="2026-09-11T06:58:50.239" v="43" actId="12"/>
          <ac:spMkLst>
            <pc:docMk/>
            <pc:sldMk cId="3096140449" sldId="271"/>
            <ac:spMk id="3" creationId="{413CA085-9160-8F9E-5CD4-633486072AE1}"/>
          </ac:spMkLst>
        </pc:spChg>
      </pc:sldChg>
      <pc:sldChg chg="modSp mod">
        <pc:chgData name="Jackulin A 101370" userId="2a32bf0e-21b4-44ed-b242-946a1916d410" providerId="ADAL" clId="{61D3EE2A-BC80-4E42-9FC1-C9EA994DE82D}" dt="2026-09-11T07:09:05.721" v="271" actId="20577"/>
        <pc:sldMkLst>
          <pc:docMk/>
          <pc:sldMk cId="1574892149" sldId="278"/>
        </pc:sldMkLst>
        <pc:spChg chg="mod">
          <ac:chgData name="Jackulin A 101370" userId="2a32bf0e-21b4-44ed-b242-946a1916d410" providerId="ADAL" clId="{61D3EE2A-BC80-4E42-9FC1-C9EA994DE82D}" dt="2026-09-11T07:08:55.422" v="259" actId="14100"/>
          <ac:spMkLst>
            <pc:docMk/>
            <pc:sldMk cId="1574892149" sldId="278"/>
            <ac:spMk id="2" creationId="{AB61E24E-DB83-505F-9ACE-91D8BBB5C9C2}"/>
          </ac:spMkLst>
        </pc:spChg>
        <pc:spChg chg="mod">
          <ac:chgData name="Jackulin A 101370" userId="2a32bf0e-21b4-44ed-b242-946a1916d410" providerId="ADAL" clId="{61D3EE2A-BC80-4E42-9FC1-C9EA994DE82D}" dt="2026-09-11T07:09:05.721" v="271" actId="20577"/>
          <ac:spMkLst>
            <pc:docMk/>
            <pc:sldMk cId="1574892149" sldId="278"/>
            <ac:spMk id="3" creationId="{3E294C62-D49B-4883-4945-A98CAB95E19D}"/>
          </ac:spMkLst>
        </pc:spChg>
      </pc:sldChg>
      <pc:sldChg chg="addSp modSp mod">
        <pc:chgData name="Jackulin A 101370" userId="2a32bf0e-21b4-44ed-b242-946a1916d410" providerId="ADAL" clId="{61D3EE2A-BC80-4E42-9FC1-C9EA994DE82D}" dt="2026-09-11T06:52:06.542" v="4"/>
        <pc:sldMkLst>
          <pc:docMk/>
          <pc:sldMk cId="2660259314" sldId="322"/>
        </pc:sldMkLst>
        <pc:spChg chg="add mod">
          <ac:chgData name="Jackulin A 101370" userId="2a32bf0e-21b4-44ed-b242-946a1916d410" providerId="ADAL" clId="{61D3EE2A-BC80-4E42-9FC1-C9EA994DE82D}" dt="2026-09-11T06:52:06.542" v="4"/>
          <ac:spMkLst>
            <pc:docMk/>
            <pc:sldMk cId="2660259314" sldId="322"/>
            <ac:spMk id="2" creationId="{4AD08CDA-47B1-4DD3-7AC4-0FE344C5F641}"/>
          </ac:spMkLst>
        </pc:spChg>
        <pc:spChg chg="mod">
          <ac:chgData name="Jackulin A 101370" userId="2a32bf0e-21b4-44ed-b242-946a1916d410" providerId="ADAL" clId="{61D3EE2A-BC80-4E42-9FC1-C9EA994DE82D}" dt="2026-09-11T06:51:53.979" v="3" actId="113"/>
          <ac:spMkLst>
            <pc:docMk/>
            <pc:sldMk cId="2660259314" sldId="322"/>
            <ac:spMk id="3" creationId="{13041E3B-CFFE-95CB-02A2-6CBB5AB0D314}"/>
          </ac:spMkLst>
        </pc:spChg>
      </pc:sldChg>
      <pc:sldChg chg="modSp mod">
        <pc:chgData name="Jackulin A 101370" userId="2a32bf0e-21b4-44ed-b242-946a1916d410" providerId="ADAL" clId="{61D3EE2A-BC80-4E42-9FC1-C9EA994DE82D}" dt="2026-09-11T06:52:17.860" v="5" actId="20577"/>
        <pc:sldMkLst>
          <pc:docMk/>
          <pc:sldMk cId="3904887574" sldId="328"/>
        </pc:sldMkLst>
        <pc:spChg chg="mod">
          <ac:chgData name="Jackulin A 101370" userId="2a32bf0e-21b4-44ed-b242-946a1916d410" providerId="ADAL" clId="{61D3EE2A-BC80-4E42-9FC1-C9EA994DE82D}" dt="2026-09-11T06:52:17.860" v="5" actId="20577"/>
          <ac:spMkLst>
            <pc:docMk/>
            <pc:sldMk cId="3904887574" sldId="328"/>
            <ac:spMk id="3" creationId="{AC053CCC-CD3E-42C4-5E90-A9BF80FF2430}"/>
          </ac:spMkLst>
        </pc:spChg>
      </pc:sldChg>
      <pc:sldChg chg="addSp modSp mod">
        <pc:chgData name="Jackulin A 101370" userId="2a32bf0e-21b4-44ed-b242-946a1916d410" providerId="ADAL" clId="{61D3EE2A-BC80-4E42-9FC1-C9EA994DE82D}" dt="2026-09-11T07:02:04.796" v="66" actId="20577"/>
        <pc:sldMkLst>
          <pc:docMk/>
          <pc:sldMk cId="3419892590" sldId="330"/>
        </pc:sldMkLst>
        <pc:spChg chg="mod">
          <ac:chgData name="Jackulin A 101370" userId="2a32bf0e-21b4-44ed-b242-946a1916d410" providerId="ADAL" clId="{61D3EE2A-BC80-4E42-9FC1-C9EA994DE82D}" dt="2026-09-11T07:01:38.372" v="52" actId="1076"/>
          <ac:spMkLst>
            <pc:docMk/>
            <pc:sldMk cId="3419892590" sldId="330"/>
            <ac:spMk id="3" creationId="{F8FC4F64-F4BD-6D12-68E9-AF26B074FCAC}"/>
          </ac:spMkLst>
        </pc:spChg>
        <pc:spChg chg="add mod">
          <ac:chgData name="Jackulin A 101370" userId="2a32bf0e-21b4-44ed-b242-946a1916d410" providerId="ADAL" clId="{61D3EE2A-BC80-4E42-9FC1-C9EA994DE82D}" dt="2026-09-11T07:02:04.796" v="66" actId="20577"/>
          <ac:spMkLst>
            <pc:docMk/>
            <pc:sldMk cId="3419892590" sldId="330"/>
            <ac:spMk id="4" creationId="{1EC16EF8-81E9-17D6-93EA-23444ABA6D4C}"/>
          </ac:spMkLst>
        </pc:spChg>
      </pc:sldChg>
      <pc:sldChg chg="modSp mod">
        <pc:chgData name="Jackulin A 101370" userId="2a32bf0e-21b4-44ed-b242-946a1916d410" providerId="ADAL" clId="{61D3EE2A-BC80-4E42-9FC1-C9EA994DE82D}" dt="2026-09-11T07:03:37.472" v="180" actId="1076"/>
        <pc:sldMkLst>
          <pc:docMk/>
          <pc:sldMk cId="744455238" sldId="331"/>
        </pc:sldMkLst>
        <pc:spChg chg="mod">
          <ac:chgData name="Jackulin A 101370" userId="2a32bf0e-21b4-44ed-b242-946a1916d410" providerId="ADAL" clId="{61D3EE2A-BC80-4E42-9FC1-C9EA994DE82D}" dt="2026-09-11T07:03:37.472" v="180" actId="1076"/>
          <ac:spMkLst>
            <pc:docMk/>
            <pc:sldMk cId="744455238" sldId="331"/>
            <ac:spMk id="3" creationId="{FA054C84-C7C8-CDB0-668D-FA5E8DB8FF17}"/>
          </ac:spMkLst>
        </pc:spChg>
      </pc:sldChg>
      <pc:sldChg chg="modSp mod">
        <pc:chgData name="Jackulin A 101370" userId="2a32bf0e-21b4-44ed-b242-946a1916d410" providerId="ADAL" clId="{61D3EE2A-BC80-4E42-9FC1-C9EA994DE82D}" dt="2026-09-11T07:03:47.879" v="184" actId="20577"/>
        <pc:sldMkLst>
          <pc:docMk/>
          <pc:sldMk cId="1402084577" sldId="332"/>
        </pc:sldMkLst>
        <pc:spChg chg="mod">
          <ac:chgData name="Jackulin A 101370" userId="2a32bf0e-21b4-44ed-b242-946a1916d410" providerId="ADAL" clId="{61D3EE2A-BC80-4E42-9FC1-C9EA994DE82D}" dt="2026-09-11T07:03:47.879" v="184" actId="20577"/>
          <ac:spMkLst>
            <pc:docMk/>
            <pc:sldMk cId="1402084577" sldId="332"/>
            <ac:spMk id="3" creationId="{3A34835F-12A4-5FD4-023C-BCBAFE5E2CEE}"/>
          </ac:spMkLst>
        </pc:spChg>
      </pc:sldChg>
      <pc:sldChg chg="modSp mod">
        <pc:chgData name="Jackulin A 101370" userId="2a32bf0e-21b4-44ed-b242-946a1916d410" providerId="ADAL" clId="{61D3EE2A-BC80-4E42-9FC1-C9EA994DE82D}" dt="2026-09-11T07:05:03.469" v="257" actId="20577"/>
        <pc:sldMkLst>
          <pc:docMk/>
          <pc:sldMk cId="1216885357" sldId="333"/>
        </pc:sldMkLst>
        <pc:spChg chg="mod">
          <ac:chgData name="Jackulin A 101370" userId="2a32bf0e-21b4-44ed-b242-946a1916d410" providerId="ADAL" clId="{61D3EE2A-BC80-4E42-9FC1-C9EA994DE82D}" dt="2026-09-11T07:05:03.469" v="257" actId="20577"/>
          <ac:spMkLst>
            <pc:docMk/>
            <pc:sldMk cId="1216885357" sldId="333"/>
            <ac:spMk id="2" creationId="{3C6E40BC-2663-7119-D1CA-168E20B5F8A3}"/>
          </ac:spMkLst>
        </pc:spChg>
      </pc:sldChg>
      <pc:sldChg chg="modSp mod">
        <pc:chgData name="Jackulin A 101370" userId="2a32bf0e-21b4-44ed-b242-946a1916d410" providerId="ADAL" clId="{61D3EE2A-BC80-4E42-9FC1-C9EA994DE82D}" dt="2026-09-11T07:04:45.503" v="216" actId="20577"/>
        <pc:sldMkLst>
          <pc:docMk/>
          <pc:sldMk cId="4293457616" sldId="334"/>
        </pc:sldMkLst>
        <pc:spChg chg="mod">
          <ac:chgData name="Jackulin A 101370" userId="2a32bf0e-21b4-44ed-b242-946a1916d410" providerId="ADAL" clId="{61D3EE2A-BC80-4E42-9FC1-C9EA994DE82D}" dt="2026-09-11T07:04:45.503" v="216" actId="20577"/>
          <ac:spMkLst>
            <pc:docMk/>
            <pc:sldMk cId="4293457616" sldId="334"/>
            <ac:spMk id="2" creationId="{215F6C51-F686-7BD2-9B38-A8290F45E3AD}"/>
          </ac:spMkLst>
        </pc:spChg>
      </pc:sldChg>
      <pc:sldChg chg="modSp mod">
        <pc:chgData name="Jackulin A 101370" userId="2a32bf0e-21b4-44ed-b242-946a1916d410" providerId="ADAL" clId="{61D3EE2A-BC80-4E42-9FC1-C9EA994DE82D}" dt="2026-09-11T07:02:33.944" v="152" actId="14100"/>
        <pc:sldMkLst>
          <pc:docMk/>
          <pc:sldMk cId="1759621387" sldId="335"/>
        </pc:sldMkLst>
        <pc:spChg chg="mod">
          <ac:chgData name="Jackulin A 101370" userId="2a32bf0e-21b4-44ed-b242-946a1916d410" providerId="ADAL" clId="{61D3EE2A-BC80-4E42-9FC1-C9EA994DE82D}" dt="2026-09-11T07:02:33.944" v="152" actId="14100"/>
          <ac:spMkLst>
            <pc:docMk/>
            <pc:sldMk cId="1759621387" sldId="335"/>
            <ac:spMk id="2" creationId="{0798B5C4-FE9C-32F1-0E65-3D86E2A17D5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4:13.975"/>
    </inkml:context>
    <inkml:brush xml:id="br0">
      <inkml:brushProperty name="width" value="0.05" units="cm"/>
      <inkml:brushProperty name="height" value="0.05" units="cm"/>
      <inkml:brushProperty name="color" value="#004F8B"/>
    </inkml:brush>
  </inkml:definitions>
  <inkml:trace contextRef="#ctx0" brushRef="#br0">1 0 24575,'18'3'0,"17"8"0,18 8 0,11 6 0,-4 0 0,-12-6 0,-14-8 0,-8-4 0,-4-5 0,2-2 0,-1 0 0,2 0 0,0 0 0,-2-2 0,0-1 0,0-2 0,-2 1 0,-3 2 0,-3 2 0,-6 0 0,-2 0 0,-2 0 0,0 0 0,-2 0 0,1 0 0,-1 0 0,-1 2 0,0 2 0,-2 5 0,0 3 0,-2 2 0,0 2 0,0 0 0,-2 3 0,1-1 0,-5 3 0,-3 4 0,-2 7 0,-1 3 0,1 2 0,0-3 0,0-6 0,-2-2 0,1-4 0,0-4 0,1-3 0,5-5 0,2-3 0,3-3 0,0 1 0,1 6 0,0 6 0,2 4 0,0 1 0,0-3 0,0-5 0,0-4 0,0-3 0,0-3 0,0-2 0,0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4:23.775"/>
    </inkml:context>
    <inkml:brush xml:id="br0">
      <inkml:brushProperty name="width" value="0.05" units="cm"/>
      <inkml:brushProperty name="height" value="0.05" units="cm"/>
      <inkml:brushProperty name="color" value="#004F8B"/>
    </inkml:brush>
  </inkml:definitions>
  <inkml:trace contextRef="#ctx0" brushRef="#br0">147 587 24575,'0'-8'0,"0"0"0,-2-6 0,0-2 0,0-3 0,0 0 0,2 0 0,0-1 0,0-2 0,-1 1 0,-3 2 0,-5 1 0,-4-1 0,-2 1 0,3 3 0,4 5 0,2 2 0,-1-2 0,-1-6 0,-5-8 0,-1-2 0,2 3 0,4 6 0,3 8 0,2 3 0,2 5 0,5 0 0,12-3 0,21-5 0,22-6 0,17-6 0,5 0 0,-7 1 0,-14 1 0,-15 4 0,-14 3 0,-9 5 0,-5 3 0,-1 2 0,0 0 0,-1-1 0,-1-1 0,0-2 0,-3 2 0,0-1 0,-2 1 0,-2 2 0,-3 1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4.392"/>
    </inkml:context>
    <inkml:brush xml:id="br0">
      <inkml:brushProperty name="width" value="0.05" units="cm"/>
      <inkml:brushProperty name="height" value="0.05" units="cm"/>
      <inkml:brushProperty name="color" value="#004F8B"/>
    </inkml:brush>
  </inkml:definitions>
  <inkml:trace contextRef="#ctx0" brushRef="#br0">1 352 24575,'28'-11'0,"32"-22"0,-18 9 0,3-2 0,2-3 0,0 0 0,-3 2 0,-2 1 0,16-10 0,-15 8 0,-11 6 0,-6 4 0,-4 5 0,-2 3 0,1 2 0,-2 2 0,-2 2 0,-9 2 0,-1 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5.658"/>
    </inkml:context>
    <inkml:brush xml:id="br0">
      <inkml:brushProperty name="width" value="0.05" units="cm"/>
      <inkml:brushProperty name="height" value="0.05" units="cm"/>
      <inkml:brushProperty name="color" value="#004F8B"/>
    </inkml:brush>
  </inkml:definitions>
  <inkml:trace contextRef="#ctx0" brushRef="#br0">0 507 24575,'15'-16'0,"16"-17"0,26-24 0,-19 19 0,3-2 0,5-3 0,1-1 0,-2 3 0,-3 2 0,30-26 0,-19 21 0,-19 18 0,-13 13 0,-11 8 0,-6 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6.942"/>
    </inkml:context>
    <inkml:brush xml:id="br0">
      <inkml:brushProperty name="width" value="0.05" units="cm"/>
      <inkml:brushProperty name="height" value="0.05" units="cm"/>
      <inkml:brushProperty name="color" value="#004F8B"/>
    </inkml:brush>
  </inkml:definitions>
  <inkml:trace contextRef="#ctx0" brushRef="#br0">1 256 24575,'22'-13'0,"9"-8"0,17-12 0,18-11 0,5-2 0,-6 6 0,-13 12 0,-20 12 0,-11 8 0,-11 4 0,-4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8.558"/>
    </inkml:context>
    <inkml:brush xml:id="br0">
      <inkml:brushProperty name="width" value="0.05" units="cm"/>
      <inkml:brushProperty name="height" value="0.05" units="cm"/>
      <inkml:brushProperty name="color" value="#004F8B"/>
    </inkml:brush>
  </inkml:definitions>
  <inkml:trace contextRef="#ctx0" brushRef="#br0">0 454 24575,'44'-6'0,"7"-9"0,21-16 0,8-11 0,-5-2 0,-13 6 0,-21 11 0,-17 10 0,-7 9 0,-4 3 0,6-3 0,6-6 0,14-7 0,4-3 0,-1 2 0,-6 2 0,-9 3 0,-6 6 0,-8 5 0,-3 4 0,-5 1 0,-3 0 0,2-1 0,1-2 0,6-4 0,6-4 0,4-2 0,3-1 0,-5 4 0,-8 7 0,-5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9.743"/>
    </inkml:context>
    <inkml:brush xml:id="br0">
      <inkml:brushProperty name="width" value="0.05" units="cm"/>
      <inkml:brushProperty name="height" value="0.05" units="cm"/>
      <inkml:brushProperty name="color" value="#004F8B"/>
    </inkml:brush>
  </inkml:definitions>
  <inkml:trace contextRef="#ctx0" brushRef="#br0">0 1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0.725"/>
    </inkml:context>
    <inkml:brush xml:id="br0">
      <inkml:brushProperty name="width" value="0.05" units="cm"/>
      <inkml:brushProperty name="height" value="0.05" units="cm"/>
      <inkml:brushProperty name="color" value="#004F8B"/>
    </inkml:brush>
  </inkml:definitions>
  <inkml:trace contextRef="#ctx0" brushRef="#br0">0 1 24575,'27'0'0,"21"0"0,26 3 0,17 13 0,0 13 0,-19 9 0,-17-1 0,-19-9 0,-13-8 0,-8-6 0,-6-6 0,-1-3 0,3-2 0,7 2 0,10 4 0,10 4 0,2 2 0,-3 0 0,-8-1 0,-8-5 0,-5-2 0,-7-4 0,-4-2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1.810"/>
    </inkml:context>
    <inkml:brush xml:id="br0">
      <inkml:brushProperty name="width" value="0.05" units="cm"/>
      <inkml:brushProperty name="height" value="0.05" units="cm"/>
      <inkml:brushProperty name="color" value="#004F8B"/>
    </inkml:brush>
  </inkml:definitions>
  <inkml:trace contextRef="#ctx0" brushRef="#br0">1 0 24575,'75'0'0,"9"3"0,-22 5 0,5 3 0,3 4 0,2 3 0,-3 4 0,0 3 0,3 3 0,-3 1 0,-13-4 0,-2 0 0,33 17 0,-23-12 0,-28-12 0,-16-6-1696,-7-6 0,-8-3 0,-2-3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2.942"/>
    </inkml:context>
    <inkml:brush xml:id="br0">
      <inkml:brushProperty name="width" value="0.05" units="cm"/>
      <inkml:brushProperty name="height" value="0.05" units="cm"/>
      <inkml:brushProperty name="color" value="#004F8B"/>
    </inkml:brush>
  </inkml:definitions>
  <inkml:trace contextRef="#ctx0" brushRef="#br0">0 0 24575,'28'0'0,"25"0"0,46 7 0,-31 3 0,4 5 0,10 7 0,1 4 0,1 6 0,-2 3 0,-7 2 0,-4 1 0,-11-4 0,-4-2 0,23 17 0,-28-16 0,-23-15 0,-17-9 0,-5-3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4.392"/>
    </inkml:context>
    <inkml:brush xml:id="br0">
      <inkml:brushProperty name="width" value="0.05" units="cm"/>
      <inkml:brushProperty name="height" value="0.05" units="cm"/>
      <inkml:brushProperty name="color" value="#004F8B"/>
    </inkml:brush>
  </inkml:definitions>
  <inkml:trace contextRef="#ctx0" brushRef="#br0">0 0 24575,'27'0'0,"13"0"0,22 0 0,22 7 0,9 7 0,-1 5 0,-10 4 0,-19-3 0,-12-5 0,-10-2 0,-6-4 0,-7-3 0,-7-2 0,-8 0 0,-6 2 0,-4-3 0,-3 2 0,0-3 0,0-1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05.391"/>
    </inkml:context>
    <inkml:brush xml:id="br0">
      <inkml:brushProperty name="width" value="0.05" units="cm"/>
      <inkml:brushProperty name="height" value="0.05" units="cm"/>
      <inkml:brushProperty name="color" value="#004F8B"/>
    </inkml:brush>
  </inkml:definitions>
  <inkml:trace contextRef="#ctx0" brushRef="#br0">0 1553 24575,'75'-4'0,"-20"-3"0,7-1 0,0 0 0,6-1 0,4-1-908,15-4 0,5 0 1,2-1 907,-18 2 0,1 0 0,2-1 0,-1 0 0,3 0 0,0-1 0,1 1 0,-2-1 0,-3 0 0,0 0 0,-1-1 0,-1 0 0,19-4 0,-1-1 0,-3-1 25,-4 1 1,-1-1 0,-3 0-26,-9 1 0,-1 0 0,-2 0 0,22-10 0,-4-1 313,-10 3 1,-4-2-314,-9 3 0,-2-2 0,-2 1 0,-1-1 0,-3 0 0,0 0 683,0 1 0,1 1-683,0 1 0,1 1 326,-2 1 1,2 0-327,2 0 0,1 0 0,0 1 0,0 0 0,1 0 0,-1 1 0,-2 1 0,-2 0 0,-5 4 0,-2 0 0,-3 0 0,-1 1 0,40-13 0,-8 1 0,-2 2 0,-7 2 0,-5 2 0,-7 1 0,-10 6 0,-11 4 0,-8 4 0,-4 3 0,-3 0 0,1 1 0,-3 1 0,-3 2 0,-4 1 0,-5 0 0,-3 0 0,1 0 0,4 0 0,14-2 0,17-3 0,15-2 0,7-3 0,-8 3 0,-11 0 0,-15 3 0,-9 2 0,-8 0 0,-6 2 0,-1 0 0,-2-1 0,1-1 0,1 0 0,5-4 0,9-1 0,12-4 0,8-5 0,-1 1 0,-5 3 0,-9 4 0,-7 3 0,-1 2 0,0 0 0,0 0 0,0 1 0,-2-1 0,-2 2 0,-1 1 0,-1-4 0,4-3 0,2 0 0,-4 3 0,-4 4 0,-5 2 0,-3-1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37.308"/>
    </inkml:context>
    <inkml:brush xml:id="br0">
      <inkml:brushProperty name="width" value="0.05" units="cm"/>
      <inkml:brushProperty name="height" value="0.05" units="cm"/>
      <inkml:brushProperty name="color" value="#004F8B"/>
    </inkml:brush>
  </inkml:definitions>
  <inkml:trace contextRef="#ctx0" brushRef="#br0">628 229 24575,'-14'-1'0,"-15"-2"0,-20-7 0,-16-7 0,-7-6 0,6-1 0,9 3 0,7 1 0,9 2 0,3 1 0,5 0 0,3 0 0,3 2 0,6 3 0,4 3 0,6 6 0,6 1 0,2 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38.891"/>
    </inkml:context>
    <inkml:brush xml:id="br0">
      <inkml:brushProperty name="width" value="0.05" units="cm"/>
      <inkml:brushProperty name="height" value="0.05" units="cm"/>
      <inkml:brushProperty name="color" value="#004F8B"/>
    </inkml:brush>
  </inkml:definitions>
  <inkml:trace contextRef="#ctx0" brushRef="#br0">550 70 24575,'-15'0'0,"-11"0"0,-16 0 0,-16 0 0,-8 0 0,0 0 0,7-2 0,12 0 0,13-2 0,7-1 0,6 0 0,5 0 0,1-1 0,0-1 0,1-2 0,3 1 0,2 1 0,3 2 0,4 3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0.358"/>
    </inkml:context>
    <inkml:brush xml:id="br0">
      <inkml:brushProperty name="width" value="0.05" units="cm"/>
      <inkml:brushProperty name="height" value="0.05" units="cm"/>
      <inkml:brushProperty name="color" value="#004F8B"/>
    </inkml:brush>
  </inkml:definitions>
  <inkml:trace contextRef="#ctx0" brushRef="#br0">816 54 24575,'-26'0'0,"-6"0"0,-16 0 0,-12 0 0,-8 0 0,-5 0 0,1 0 0,2 0 0,2-2 0,3-3 0,7-3 0,5-3 0,8 0 0,12 2 0,10 4 0,10 3 0,7 2 0,4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1.725"/>
    </inkml:context>
    <inkml:brush xml:id="br0">
      <inkml:brushProperty name="width" value="0.05" units="cm"/>
      <inkml:brushProperty name="height" value="0.05" units="cm"/>
      <inkml:brushProperty name="color" value="#004F8B"/>
    </inkml:brush>
  </inkml:definitions>
  <inkml:trace contextRef="#ctx0" brushRef="#br0">984 176 24575,'-26'0'0,"-16"0"0,-31 0 0,21 0 0,-4 0 0,-5 0 0,-1-2 0,-4-2 0,1-2 0,4-2 0,2-2 0,9-2 0,3-2 0,-31-13 0,17 1 0,15 4 0,13 4 0,10 4 0,9 6 0,8 5 0,3 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3.308"/>
    </inkml:context>
    <inkml:brush xml:id="br0">
      <inkml:brushProperty name="width" value="0.05" units="cm"/>
      <inkml:brushProperty name="height" value="0.05" units="cm"/>
      <inkml:brushProperty name="color" value="#004F8B"/>
    </inkml:brush>
  </inkml:definitions>
  <inkml:trace contextRef="#ctx0" brushRef="#br0">845 226 24575,'-12'0'0,"-10"0"0,-21 0 0,-26-4 0,-21-7 0,1-2 0,16-2 0,24 1 0,19 5 0,12 3 0,7 0 0,6 2 0,2 0 0,1 1 0,-2 2 0,-1 1 0,1 0 0,-2 0 0,-7-3 0,-7-5 0,-14-7 0,-9-6 0,-5-1 0,1 1 0,9 4 0,9 4 0,10 4 0,8 5 0,5 2 0,4 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4.308"/>
    </inkml:context>
    <inkml:brush xml:id="br0">
      <inkml:brushProperty name="width" value="0.05" units="cm"/>
      <inkml:brushProperty name="height" value="0.05" units="cm"/>
      <inkml:brushProperty name="color" value="#004F8B"/>
    </inkml:brush>
  </inkml:definitions>
  <inkml:trace contextRef="#ctx0" brushRef="#br0">80 3 24575,'-17'0'0,"-11"-1"0,14 0 0,-7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4.991"/>
    </inkml:context>
    <inkml:brush xml:id="br0">
      <inkml:brushProperty name="width" value="0.05" units="cm"/>
      <inkml:brushProperty name="height" value="0.05" units="cm"/>
      <inkml:brushProperty name="color" value="#004F8B"/>
    </inkml:brush>
  </inkml:definitions>
  <inkml:trace contextRef="#ctx0" brushRef="#br0">457 215 22389,'-23'-10'0,"-29"-12"1062,16 7-1062,-13-8 368,36 15-368,2 0 186,-1 0-186,-2-1 570,1 0-570,0 0 0,1 0 0,4 3 0,2 2 0,2 2 0,0 2 0,-2-2 0,-7-2 0,-9-3 0,-9-4 0,-5-2 0,4 0 0,8 2 0,10 4 0,8 4 0,4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9.558"/>
    </inkml:context>
    <inkml:brush xml:id="br0">
      <inkml:brushProperty name="width" value="0.05" units="cm"/>
      <inkml:brushProperty name="height" value="0.05" units="cm"/>
      <inkml:brushProperty name="color" value="#004F8B"/>
    </inkml:brush>
  </inkml:definitions>
  <inkml:trace contextRef="#ctx0" brushRef="#br0">116 447 24575,'0'-11'0,"0"-3"0,0-6 0,0-2 0,-2-1 0,-5-1 0,-4 0 0,-2 3 0,0 2 0,2 7 0,4 2 0,3 3 0,3 2 0,0-4 0,-4-1 0,-3-7 0,-2-5 0,0-2 0,1 3 0,6 6 0,5 8 0,10 3 0,10 4 0,5-3 0,3-2 0,-3 0 0,-2 2 0,-5 3 0,-3-1 0,-1-1 0,2-1 0,2-2 0,2-2 0,-1 0 0,1 0 0,-1-1 0,-3-1 0,0 3 0,-4 2 0,-3 1 0,0 3 0,5-2 0,7-2 0,2-3 0,-1-1 0,-13 4 0,-5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52.908"/>
    </inkml:context>
    <inkml:brush xml:id="br0">
      <inkml:brushProperty name="width" value="0.05" units="cm"/>
      <inkml:brushProperty name="height" value="0.05" units="cm"/>
      <inkml:brushProperty name="color" value="#004F8B"/>
    </inkml:brush>
  </inkml:definitions>
  <inkml:trace contextRef="#ctx0" brushRef="#br0">47 1 24575,'18'14'0,"0"1"0,0 4 0,0-3 0,-2-2 0,1 0 0,5 1 0,4 3 0,2 2 0,-1-1 0,-5-2 0,-7-5 0,-6-5 0,-3-3 0,-4-1 0,-1 1 0,1-2 0,1 1 0,4-1 0,4 2 0,4 1 0,6 2 0,0 1 0,-2 0 0,-9-2 0,-6-1 0,-4 0 0,-4 0 0,1 0 0,-2 1 0,-3 1 0,-3 4 0,-6 5 0,-7 8 0,-10 7 0,-6 10 0,-6 5 0,0 2 0,4-2 0,4-3 0,5-5 0,5-4 0,7-7 0,8-6 0,7-8 0,3-7 0,3-4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5:08.105"/>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21.891"/>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22.907"/>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28.430"/>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7:53.508"/>
    </inkml:context>
    <inkml:brush xml:id="br0">
      <inkml:brushProperty name="width" value="0.05" units="cm"/>
      <inkml:brushProperty name="height" value="0.05" units="cm"/>
      <inkml:brushProperty name="color" value="#004F8B"/>
    </inkml:brush>
  </inkml:definitions>
  <inkml:trace contextRef="#ctx0" brushRef="#br0">1 1 24575,'48'15'0,"1"0"0,22 8 0,8 3 0,-7-3 0,5 2 0,3 0-492,-9-4 0,2 1 0,3 1 1,2 0 491,-3-2 0,2 0 0,3 1 0,0 0 0,2-1-605,4 1 1,2-1-1,1 1 1,1-1 0,0 0 604,4 2 0,2 0 0,-1 0 0,1 0 0,0 1 0,0 0 0,0 0 0,0 1 0,-1 0 0,-1 1 0,-8 0 0,-1-1 0,-1 1 0,-1 2 0,0 0-134,-1 2 0,-1 1 0,0 1 0,-2 1 0,-1 0 134,10 8 0,-1 0 0,-3 1 0,-1 1-203,-9-3 1,-1 1 0,-2 1 0,-2-1 202,8 7 0,-3-1 0,-4 0 242,-10-7 0,-3 0 0,-3-2-242,15 11 0,-4-3 1269,-15-10 0,-3-2-1269,25 19 2087,-22-18-2087,-16-10 1117,-11-7-1117,-7-6 0,-3-1 0,1-1 0,2 1 0,5 7 0,3 6 0,2 4 0,0 4 0,-2-1 0,-2-2 0,-3-2 0,-2-3 0,-3-3 0,-2-3 0,-3-4 0,-4-3 0,-1-2 0,-2-5 0,-1-1 0,2 1 0,1-1 0,2 1 0,0 0 0,1-1 0,-2 0 0,0-1 0,-2-1 0,-1-1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7:55.541"/>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02.474"/>
    </inkml:context>
    <inkml:brush xml:id="br0">
      <inkml:brushProperty name="width" value="0.05" units="cm"/>
      <inkml:brushProperty name="height" value="0.05" units="cm"/>
      <inkml:brushProperty name="color" value="#004F8B"/>
    </inkml:brush>
  </inkml:definitions>
  <inkml:trace contextRef="#ctx0" brushRef="#br0">1 1 24575,'22'2'0,"4"5"0,5 4 0,4 5 0,0 2 0,0-1 0,0 1 0,-1 0 0,-3 0 0,-4-3 0,-2-2 0,-4-5 0,-2-4 0,-1 0 0,-2-2 0,0 0 0,-2-1 0,-3-1 0,-3 0 0,-4 0 0,-2 1 0,-1 4 0,-8 10 0,-10 12 0,-7 11 0,-4 6 0,1-4 0,6-7 0,3-4 0,3-4 0,3 0 0,-1 1 0,2-2 0,-2 1 0,1-2 0,1-2 0,0-2 0,2-6 0,4-5 0,1-4 0,2-4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05.458"/>
    </inkml:context>
    <inkml:brush xml:id="br0">
      <inkml:brushProperty name="width" value="0.05" units="cm"/>
      <inkml:brushProperty name="height" value="0.05" units="cm"/>
      <inkml:brushProperty name="color" value="#004F8B"/>
    </inkml:brush>
  </inkml:definitions>
  <inkml:trace contextRef="#ctx0" brushRef="#br0">216 749 24575,'-3'-30'0,"-6"-16"0,-8-19 0,-5-6 0,0 9 0,0 10 0,2 6 0,-1 1 0,0 1 0,1 3 0,5 8 0,5 5 0,3 5 0,3 3 0,1 5 0,4 6 0,12 5 0,30-3 0,33-7 0,-26 4 0,4 1 0,8-3 0,2 1 0,-1 1 0,-1 1 0,-4 1 0,0 2 0,-4 1 0,-3 0 0,34 0 0,-13 2 0,-15 2 0,-16 1 0,-12 0 0,-10 0 0,-8 0 0,-5 0 0,-3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9:29.142"/>
    </inkml:context>
    <inkml:brush xml:id="br0">
      <inkml:brushProperty name="width" value="0.05" units="cm"/>
      <inkml:brushProperty name="height" value="0.05" units="cm"/>
      <inkml:brushProperty name="color" value="#004F8B"/>
    </inkml:brush>
  </inkml:definitions>
  <inkml:trace contextRef="#ctx0" brushRef="#br0">0 2724 24575,'15'-3'0,"43"-26"0,-12 5 0,6-3 0,9-4 0,4-1 0,3-3 0,0 2 0,-11 7 0,-1 2 0,-4 2 0,-1 2 0,-1 1 0,1 1 0,3 0 0,1 0 0,4 0 0,2-2 0,2-1 0,1-2 0,2-2 0,-1 0 0,-3-2 0,0 0 0,2-3 0,-2-2 0,1-2 0,-1-2 0,2-4 0,1-1 0,3-3 0,2-1 0,1-1 0,0-1 0,0 1 0,1 1 0,-3 1 0,0 2 0,-6 0 0,-1 2 0,-5 4 0,-1 1 0,-1 2 0,-1 0 0,-2 4 0,-1 2 0,0 3 0,0 3 0,-2 0 0,1 2 0,41-14 0,-5 2 0,-10-1 0,-4-1 0,-4-2 0,-5 1 0,2 0 0,-1 0 0,4 1 0,3-1 0,0 1 0,0 2 0,-9 2 0,-8 4 0,2-9 0,6-9 0,11-13 0,-33 24 0,0 0 0,35-30 0,-3 6 0,-1 3 0,-4 7 0,-5 9 0,-7 7 0,-5 8 0,-5 4 0,-5 2 0,-3 2 0,-4 1 0,-1-4 0,-1-1 0,-3-2 0,-5 3 0,-4 5 0,-7 5 0,-4 3 0,-2 1 0,-2-1 0,3-1 0,5-4 0,6-3 0,5-3 0,3-4 0,0 2 0,-3 3 0,-6 4 0,-6 4 0,-7 4 0,-1 2 0,0 1 0,-1 0 0,1-1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4.834"/>
    </inkml:context>
    <inkml:brush xml:id="br0">
      <inkml:brushProperty name="width" value="0.05" units="cm"/>
      <inkml:brushProperty name="height" value="0.05" units="cm"/>
      <inkml:brushProperty name="color" value="#004F8B"/>
    </inkml:brush>
  </inkml:definitions>
  <inkml:trace contextRef="#ctx0" brushRef="#br0">1 601 24575,'10'-32'0,"20"-31"0,-7 17 0,3-4 0,5-7 0,2 0 0,-2 4 0,-1 2 0,17-30 0,-13 28 0,-14 22 0,-11 16 0,-4 8 0,-5 4 0,0 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5.851"/>
    </inkml:context>
    <inkml:brush xml:id="br0">
      <inkml:brushProperty name="width" value="0.05" units="cm"/>
      <inkml:brushProperty name="height" value="0.05" units="cm"/>
      <inkml:brushProperty name="color" value="#004F8B"/>
    </inkml:brush>
  </inkml:definitions>
  <inkml:trace contextRef="#ctx0" brushRef="#br0">1 260 22630,'0'-18'0,"6"-6"948,12-18-948,9-5 327,7 4-327,-3 10 165,-8 15-165,-5 7 505,-7 6-505,-2 0 0,-2 0 0,1 0 0,-3 1 0,-2 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7.334"/>
    </inkml:context>
    <inkml:brush xml:id="br0">
      <inkml:brushProperty name="width" value="0.05" units="cm"/>
      <inkml:brushProperty name="height" value="0.05" units="cm"/>
      <inkml:brushProperty name="color" value="#004F8B"/>
    </inkml:brush>
  </inkml:definitions>
  <inkml:trace contextRef="#ctx0" brushRef="#br0">0 509 24575,'30'-38'0,"25"-26"0,-17 23 0,3-3 0,4-5 0,-1-1 0,-5 5 0,-3 2 0,16-20 0,-20 21 0,-16 23 0,-10 11 0,-4 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8.934"/>
    </inkml:context>
    <inkml:brush xml:id="br0">
      <inkml:brushProperty name="width" value="0.05" units="cm"/>
      <inkml:brushProperty name="height" value="0.05" units="cm"/>
      <inkml:brushProperty name="color" value="#004F8B"/>
    </inkml:brush>
  </inkml:definitions>
  <inkml:trace contextRef="#ctx0" brushRef="#br0">1 616 24575,'7'-23'0,"9"-8"0,11-8 0,4 1 0,-6 9 0,-9 13 0,-9 8 0,-2 1 0,12-13 0,17-14 0,16-11 0,4-4 0,-8 7 0,-14 11 0,-9 8 0,-6 0 0,2-3 0,5-6 0,1-1 0,-2 5 0,-6 8 0,-10 8 0,-3 7 0,-4 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0.484"/>
    </inkml:context>
    <inkml:brush xml:id="br0">
      <inkml:brushProperty name="width" value="0.05" units="cm"/>
      <inkml:brushProperty name="height" value="0.05" units="cm"/>
      <inkml:brushProperty name="color" value="#004F8B"/>
    </inkml:brush>
  </inkml:definitions>
  <inkml:trace contextRef="#ctx0" brushRef="#br0">0 605 24575,'6'-25'0,"15"-13"0,26-28 0,-13 26 0,3 0 0,3 0 0,0 0 0,-2 4 0,-1 2 0,21-14 0,-19 16 0,-12 13 0,-10 6 0,-7 6 0,-3 1 0,-2 0 0,1 1 0,-2-2 0,2 0 0,-1 2 0,-1 3 0,0 0 0,-2 0 0,1-3 0,0-1 0,1-2 0,-1-1 0,0 0 0,-1 1 0,0 1 0,-1 0 0,1-1 0,0 1 0,0 1 0,-1 3 0,-1 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3.151"/>
    </inkml:context>
    <inkml:brush xml:id="br0">
      <inkml:brushProperty name="width" value="0.05" units="cm"/>
      <inkml:brushProperty name="height" value="0.05" units="cm"/>
      <inkml:brushProperty name="color" value="#004F8B"/>
    </inkml:brush>
  </inkml:definitions>
  <inkml:trace contextRef="#ctx0" brushRef="#br0">1 0 24575,'20'0'0,"7"0"0,10 0 0,1 0 0,-8 0 0,-5 0 0,-8 0 0,-3 0 0,-3 0 0,3 0 0,5 0 0,4 0 0,3 0 0,-4 0 0,-5 0 0,-4 0 0,-6 0 0,-1 0 0,-1 0 0,-1 0 0,-1 0 0,2 0 0,2 0 0,1 0 0,1 0 0,0 0 0,-3 2 0,-2 1 0,-2 4 0,4 6 0,3 11 0,3 10 0,2 6 0,-1 4 0,0-3 0,-2-6 0,-2-6 0,-2-6 0,-1-4 0,0 2 0,1 2 0,-2-1 0,1 1 0,1 0 0,0 0 0,1 0 0,-1-2 0,-1-3 0,-1-2 0,-1-3 0,-1-2 0,1-3 0,-2-1 0,0 0 0,0-1 0,0-2 0,-1-2 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6.818"/>
    </inkml:context>
    <inkml:brush xml:id="br0">
      <inkml:brushProperty name="width" value="0.05" units="cm"/>
      <inkml:brushProperty name="height" value="0.05" units="cm"/>
      <inkml:brushProperty name="color" value="#004F8B"/>
    </inkml:brush>
  </inkml:definitions>
  <inkml:trace contextRef="#ctx0" brushRef="#br0">3179 1673 24575,'-21'0'0,"-25"-6"0,-41-12 0,19-2 0,-7-4 0,-14-8 0,-5-6-360,25 9 0,-1-3 0,-1 0 360,-2-4 0,-1 0 0,1-1 0,3 0 0,0-1 0,1 0 0,1 1 0,1-1 0,1 0 65,7 3 1,0 1-1,3 0-65,-22-12 0,4 1 0,11 4 0,2 2 0,9 5 0,1 1 0,2 2 0,0 0 0,1 1 0,0 1 406,0 0 0,0-1-406,-1 1 0,1-1 36,4 1 0,2 1-36,-30-24 0,12 5 0,12 4 0,4 5 0,0 1 0,-1 5 0,-5 6 0,-3 3 0,-2 5 0,-1 2 0,9 4 0,10 2 0,7 2 0,8 2 0,2-1 0,2 1 0,3-2 0,2 1 0,0-1 0,0 0 0,2 0 0,1 0 0,1 0 0,1 2 0,1 0 0,1 0 0,-1 2 0,2 1 0,-1 2 0,2-1 0,1 0 0,1 0 0,2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9.618"/>
    </inkml:context>
    <inkml:brush xml:id="br0">
      <inkml:brushProperty name="width" value="0.05" units="cm"/>
      <inkml:brushProperty name="height" value="0.05" units="cm"/>
      <inkml:brushProperty name="color" value="#004F8B"/>
    </inkml:brush>
  </inkml:definitions>
  <inkml:trace contextRef="#ctx0" brushRef="#br0">175 652 24575,'0'-20'0,"-2"-19"0,-3-15 0,-4-8 0,-4 3 0,-2 10 0,-1 6 0,0 6 0,4 7 0,3 6 0,3 5 0,1 4 0,0 1 0,1 0 0,0 0 0,0-2 0,0 0 0,-2 2 0,2 0 0,-1 4 0,1 0 0,0-2 0,-2-1 0,0-2 0,0 1 0,2 2 0,4 5 0,6 3 0,6 2 0,12 2 0,10 0 0,9 2 0,5 4 0,6 3 0,2 4 0,0 1 0,-6-1 0,-8-1 0,-6-3 0,-5-3 0,-1-1 0,-2-1 0,2-2 0,0 0 0,-2-1 0,-4 1 0,-3 0 0,-6 0 0,-7 0 0,-4-2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C4585-8139-414A-AB31-7814228B8109}" type="datetimeFigureOut">
              <a:rPr lang="en-IN" smtClean="0"/>
              <a:t>05-10-2026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BFD16B-E853-49AA-95D3-1B5DA120CBB6}" type="slidenum">
              <a:rPr lang="en-IN" smtClean="0"/>
              <a:t>‹#›</a:t>
            </a:fld>
            <a:endParaRPr lang="en-IN"/>
          </a:p>
        </p:txBody>
      </p:sp>
    </p:spTree>
    <p:extLst>
      <p:ext uri="{BB962C8B-B14F-4D97-AF65-F5344CB8AC3E}">
        <p14:creationId xmlns:p14="http://schemas.microsoft.com/office/powerpoint/2010/main" val="64969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5BFD16B-E853-49AA-95D3-1B5DA120CBB6}" type="slidenum">
              <a:rPr lang="en-IN" smtClean="0"/>
              <a:t>4</a:t>
            </a:fld>
            <a:endParaRPr lang="en-IN"/>
          </a:p>
        </p:txBody>
      </p:sp>
    </p:spTree>
    <p:extLst>
      <p:ext uri="{BB962C8B-B14F-4D97-AF65-F5344CB8AC3E}">
        <p14:creationId xmlns:p14="http://schemas.microsoft.com/office/powerpoint/2010/main" val="1039925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487245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294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513041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913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23334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326087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412928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782047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551273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10/5/2026</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655489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10/5/2026</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309305903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png"/><Relationship Id="rId18" Type="http://schemas.openxmlformats.org/officeDocument/2006/relationships/customXml" Target="../ink/ink9.xml"/><Relationship Id="rId3" Type="http://schemas.openxmlformats.org/officeDocument/2006/relationships/image" Target="../media/image110.png"/><Relationship Id="rId21" Type="http://schemas.openxmlformats.org/officeDocument/2006/relationships/image" Target="../media/image10.png"/><Relationship Id="rId7"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image" Target="../media/image8.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23" Type="http://schemas.openxmlformats.org/officeDocument/2006/relationships/image" Target="../media/image11.png"/><Relationship Id="rId10" Type="http://schemas.openxmlformats.org/officeDocument/2006/relationships/customXml" Target="../ink/ink5.xml"/><Relationship Id="rId19" Type="http://schemas.openxmlformats.org/officeDocument/2006/relationships/image" Target="../media/image9.png"/><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customXml" Target="../ink/ink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17.png"/><Relationship Id="rId18" Type="http://schemas.openxmlformats.org/officeDocument/2006/relationships/customXml" Target="../ink/ink20.xml"/><Relationship Id="rId3" Type="http://schemas.openxmlformats.org/officeDocument/2006/relationships/image" Target="../media/image12.png"/><Relationship Id="rId21"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customXml" Target="../ink/ink17.xml"/><Relationship Id="rId17" Type="http://schemas.openxmlformats.org/officeDocument/2006/relationships/image" Target="../media/image19.png"/><Relationship Id="rId2" Type="http://schemas.openxmlformats.org/officeDocument/2006/relationships/customXml" Target="../ink/ink12.xml"/><Relationship Id="rId16" Type="http://schemas.openxmlformats.org/officeDocument/2006/relationships/customXml" Target="../ink/ink19.xml"/><Relationship Id="rId20"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media/image16.png"/><Relationship Id="rId5" Type="http://schemas.openxmlformats.org/officeDocument/2006/relationships/image" Target="../media/image13.png"/><Relationship Id="rId15" Type="http://schemas.openxmlformats.org/officeDocument/2006/relationships/image" Target="../media/image18.png"/><Relationship Id="rId23" Type="http://schemas.openxmlformats.org/officeDocument/2006/relationships/image" Target="../media/image7.png"/><Relationship Id="rId10" Type="http://schemas.openxmlformats.org/officeDocument/2006/relationships/customXml" Target="../ink/ink16.xml"/><Relationship Id="rId19" Type="http://schemas.openxmlformats.org/officeDocument/2006/relationships/image" Target="../media/image20.png"/><Relationship Id="rId4" Type="http://schemas.openxmlformats.org/officeDocument/2006/relationships/customXml" Target="../ink/ink13.xml"/><Relationship Id="rId9" Type="http://schemas.openxmlformats.org/officeDocument/2006/relationships/image" Target="../media/image15.png"/><Relationship Id="rId14" Type="http://schemas.openxmlformats.org/officeDocument/2006/relationships/customXml" Target="../ink/ink18.xml"/><Relationship Id="rId22" Type="http://schemas.openxmlformats.org/officeDocument/2006/relationships/customXml" Target="../ink/ink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customXml" Target="../ink/ink27.xml"/><Relationship Id="rId13" Type="http://schemas.openxmlformats.org/officeDocument/2006/relationships/customXml" Target="../ink/ink30.xml"/><Relationship Id="rId3" Type="http://schemas.openxmlformats.org/officeDocument/2006/relationships/image" Target="../media/image7.png"/><Relationship Id="rId7" Type="http://schemas.openxmlformats.org/officeDocument/2006/relationships/image" Target="../media/image22.png"/><Relationship Id="rId12" Type="http://schemas.openxmlformats.org/officeDocument/2006/relationships/image" Target="../media/image24.png"/><Relationship Id="rId2"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customXml" Target="../ink/ink29.xml"/><Relationship Id="rId5" Type="http://schemas.openxmlformats.org/officeDocument/2006/relationships/customXml" Target="../ink/ink25.xml"/><Relationship Id="rId10" Type="http://schemas.openxmlformats.org/officeDocument/2006/relationships/image" Target="../media/image23.png"/><Relationship Id="rId4" Type="http://schemas.openxmlformats.org/officeDocument/2006/relationships/customXml" Target="../ink/ink24.xml"/><Relationship Id="rId9" Type="http://schemas.openxmlformats.org/officeDocument/2006/relationships/customXml" Target="../ink/ink28.xml"/><Relationship Id="rId1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customXml" Target="../ink/ink34.xml"/><Relationship Id="rId13"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customXml" Target="../ink/ink36.xml"/><Relationship Id="rId17" Type="http://schemas.openxmlformats.org/officeDocument/2006/relationships/image" Target="../media/image33.png"/><Relationship Id="rId2" Type="http://schemas.openxmlformats.org/officeDocument/2006/relationships/customXml" Target="../ink/ink31.xml"/><Relationship Id="rId16" Type="http://schemas.openxmlformats.org/officeDocument/2006/relationships/customXml" Target="../ink/ink38.xml"/><Relationship Id="rId1" Type="http://schemas.openxmlformats.org/officeDocument/2006/relationships/slideLayout" Target="../slideLayouts/slideLayout2.xml"/><Relationship Id="rId6" Type="http://schemas.openxmlformats.org/officeDocument/2006/relationships/customXml" Target="../ink/ink33.xml"/><Relationship Id="rId11" Type="http://schemas.openxmlformats.org/officeDocument/2006/relationships/image" Target="../media/image30.png"/><Relationship Id="rId5" Type="http://schemas.openxmlformats.org/officeDocument/2006/relationships/image" Target="../media/image27.png"/><Relationship Id="rId15" Type="http://schemas.openxmlformats.org/officeDocument/2006/relationships/image" Target="../media/image32.png"/><Relationship Id="rId10" Type="http://schemas.openxmlformats.org/officeDocument/2006/relationships/customXml" Target="../ink/ink35.xml"/><Relationship Id="rId4" Type="http://schemas.openxmlformats.org/officeDocument/2006/relationships/customXml" Target="../ink/ink32.xml"/><Relationship Id="rId9" Type="http://schemas.openxmlformats.org/officeDocument/2006/relationships/image" Target="../media/image29.png"/><Relationship Id="rId14" Type="http://schemas.openxmlformats.org/officeDocument/2006/relationships/customXml" Target="../ink/ink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1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1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1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1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F55FD1-95FA-98DA-84AA-145D29A53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11" name="Rectangle 10">
            <a:extLst>
              <a:ext uri="{FF2B5EF4-FFF2-40B4-BE49-F238E27FC236}">
                <a16:creationId xmlns:a16="http://schemas.microsoft.com/office/drawing/2014/main" id="{3AC9EE06-57AF-0FF5-450C-2A606C23B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906214"/>
            <a:ext cx="12192000" cy="4957314"/>
          </a:xfrm>
          <a:prstGeom prst="rect">
            <a:avLst/>
          </a:prstGeom>
          <a:gradFill>
            <a:gsLst>
              <a:gs pos="0">
                <a:schemeClr val="accent1">
                  <a:lumMod val="60000"/>
                  <a:lumOff val="40000"/>
                  <a:alpha val="0"/>
                </a:schemeClr>
              </a:gs>
              <a:gs pos="61814">
                <a:schemeClr val="accent1">
                  <a:lumMod val="60000"/>
                  <a:lumOff val="40000"/>
                  <a:alpha val="89000"/>
                </a:schemeClr>
              </a:gs>
              <a:gs pos="94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464233" y="4930221"/>
            <a:ext cx="11577711" cy="1112279"/>
          </a:xfrm>
        </p:spPr>
        <p:txBody>
          <a:bodyPr vert="horz" lIns="91440" tIns="45720" rIns="91440" bIns="45720" rtlCol="0" anchor="t">
            <a:normAutofit fontScale="70000" lnSpcReduction="20000"/>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Session: 1 (SLO 1)</a:t>
            </a:r>
          </a:p>
          <a:p>
            <a:pPr>
              <a:lnSpc>
                <a:spcPct val="110000"/>
              </a:lnSpc>
            </a:pPr>
            <a:r>
              <a:rPr lang="en-US" b="1" dirty="0">
                <a:latin typeface="Times New Roman"/>
                <a:ea typeface="+mn-lt"/>
                <a:cs typeface="Times New Roman"/>
              </a:rPr>
              <a:t> </a:t>
            </a:r>
            <a:r>
              <a:rPr lang="en-IN" b="1" dirty="0">
                <a:latin typeface="Times New Roman" panose="02020603050405020304" pitchFamily="18" charset="0"/>
                <a:cs typeface="Times New Roman" panose="02020603050405020304" pitchFamily="18" charset="0"/>
              </a:rPr>
              <a:t>SLO  1  : </a:t>
            </a:r>
            <a:r>
              <a:rPr lang="en-IN" b="1" dirty="0">
                <a:cs typeface="Times New Roman" panose="02020603050405020304" pitchFamily="18" charset="0"/>
              </a:rPr>
              <a:t>At the end of this session, the learners will be able to </a:t>
            </a:r>
            <a:r>
              <a:rPr lang="en-IN" b="1" dirty="0"/>
              <a:t>identify when a problem requires decomposition into smaller sub-tasks and select appropriate function types to solve each sub-task.</a:t>
            </a:r>
            <a:endParaRPr lang="en-IN" dirty="0"/>
          </a:p>
          <a:p>
            <a:pPr>
              <a:lnSpc>
                <a:spcPct val="110000"/>
              </a:lnSpc>
            </a:pPr>
            <a:endParaRPr lang="en-IN" b="1" dirty="0">
              <a:highlight>
                <a:srgbClr val="FFFF00"/>
              </a:highlight>
              <a:latin typeface="Times New Roman"/>
              <a:ea typeface="+mn-lt"/>
              <a:cs typeface="Times New Roman"/>
            </a:endParaRPr>
          </a:p>
        </p:txBody>
      </p:sp>
      <p:cxnSp>
        <p:nvCxnSpPr>
          <p:cNvPr id="13" name="Straight Connector 12">
            <a:extLst>
              <a:ext uri="{FF2B5EF4-FFF2-40B4-BE49-F238E27FC236}">
                <a16:creationId xmlns:a16="http://schemas.microsoft.com/office/drawing/2014/main" id="{313FECB8-44EE-4A45-9F7B-66ECF1C3C8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12574" y="460241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366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814A-1684-25F3-9664-2157BD165D33}"/>
              </a:ext>
            </a:extLst>
          </p:cNvPr>
          <p:cNvSpPr>
            <a:spLocks noGrp="1"/>
          </p:cNvSpPr>
          <p:nvPr>
            <p:ph type="title"/>
          </p:nvPr>
        </p:nvSpPr>
        <p:spPr/>
        <p:txBody>
          <a:bodyPr/>
          <a:lstStyle/>
          <a:p>
            <a:r>
              <a:rPr lang="en-IN" dirty="0"/>
              <a:t>Learning Outcomes</a:t>
            </a:r>
            <a:endParaRPr lang="en-US" dirty="0"/>
          </a:p>
        </p:txBody>
      </p:sp>
      <p:sp>
        <p:nvSpPr>
          <p:cNvPr id="3" name="Content Placeholder 2">
            <a:extLst>
              <a:ext uri="{FF2B5EF4-FFF2-40B4-BE49-F238E27FC236}">
                <a16:creationId xmlns:a16="http://schemas.microsoft.com/office/drawing/2014/main" id="{51EFB694-903F-30C4-0184-76DCFC530158}"/>
              </a:ext>
            </a:extLst>
          </p:cNvPr>
          <p:cNvSpPr>
            <a:spLocks noGrp="1"/>
          </p:cNvSpPr>
          <p:nvPr>
            <p:ph idx="1"/>
          </p:nvPr>
        </p:nvSpPr>
        <p:spPr>
          <a:xfrm>
            <a:off x="351692" y="2264899"/>
            <a:ext cx="11704320" cy="3912064"/>
          </a:xfrm>
        </p:spPr>
        <p:txBody>
          <a:bodyPr>
            <a:normAutofit lnSpcReduction="10000"/>
          </a:bodyPr>
          <a:lstStyle/>
          <a:p>
            <a:pPr marL="0" indent="0">
              <a:buNone/>
            </a:pPr>
            <a:r>
              <a:rPr lang="en-IN" b="1" dirty="0"/>
              <a:t>Learning Outcomes</a:t>
            </a:r>
          </a:p>
          <a:p>
            <a:pPr marL="0" indent="0">
              <a:buNone/>
            </a:pPr>
            <a:r>
              <a:rPr lang="en-IN" dirty="0"/>
              <a:t>By the end of the lesson, students will be able to:</a:t>
            </a:r>
          </a:p>
          <a:p>
            <a:pPr>
              <a:buFont typeface="+mj-lt"/>
              <a:buAutoNum type="arabicPeriod"/>
            </a:pPr>
            <a:r>
              <a:rPr lang="en-IN" b="1" dirty="0"/>
              <a:t>Identify</a:t>
            </a:r>
            <a:r>
              <a:rPr lang="en-IN" dirty="0"/>
              <a:t> problems that can be divided into smaller, manageable sub-tasks. </a:t>
            </a:r>
          </a:p>
          <a:p>
            <a:pPr>
              <a:buFont typeface="+mj-lt"/>
              <a:buAutoNum type="arabicPeriod"/>
            </a:pPr>
            <a:r>
              <a:rPr lang="en-IN" b="1" dirty="0"/>
              <a:t>Break down</a:t>
            </a:r>
            <a:r>
              <a:rPr lang="en-IN" dirty="0"/>
              <a:t> a complex problem into appropriate functional tasks. </a:t>
            </a:r>
          </a:p>
          <a:p>
            <a:pPr>
              <a:buFont typeface="+mj-lt"/>
              <a:buAutoNum type="arabicPeriod"/>
            </a:pPr>
            <a:r>
              <a:rPr lang="en-IN" b="1" dirty="0"/>
              <a:t>Explain</a:t>
            </a:r>
            <a:r>
              <a:rPr lang="en-IN" dirty="0"/>
              <a:t> the purpose of functions in solving individual sub-tasks. </a:t>
            </a:r>
          </a:p>
          <a:p>
            <a:pPr>
              <a:buFont typeface="+mj-lt"/>
              <a:buAutoNum type="arabicPeriod"/>
            </a:pPr>
            <a:r>
              <a:rPr lang="en-IN" b="1" dirty="0"/>
              <a:t>Distinguish</a:t>
            </a:r>
            <a:r>
              <a:rPr lang="en-IN" dirty="0"/>
              <a:t> between the four types of functions based on arguments and return values. </a:t>
            </a:r>
          </a:p>
          <a:p>
            <a:pPr>
              <a:buFont typeface="+mj-lt"/>
              <a:buAutoNum type="arabicPeriod"/>
            </a:pPr>
            <a:r>
              <a:rPr lang="en-IN" b="1" dirty="0"/>
              <a:t>Select</a:t>
            </a:r>
            <a:r>
              <a:rPr lang="en-IN" dirty="0"/>
              <a:t> the appropriate function type for a given sub-task. </a:t>
            </a:r>
          </a:p>
          <a:p>
            <a:pPr>
              <a:buFont typeface="+mj-lt"/>
              <a:buAutoNum type="arabicPeriod"/>
            </a:pPr>
            <a:r>
              <a:rPr lang="en-IN" b="1" dirty="0"/>
              <a:t>Design and write</a:t>
            </a:r>
            <a:r>
              <a:rPr lang="en-IN" dirty="0"/>
              <a:t> simple C programs using suitable functions to solve a decomposed problem. </a:t>
            </a:r>
          </a:p>
          <a:p>
            <a:pPr>
              <a:buFont typeface="+mj-lt"/>
              <a:buAutoNum type="arabicPeriod"/>
            </a:pPr>
            <a:r>
              <a:rPr lang="en-IN" b="1" dirty="0"/>
              <a:t>Test and debug</a:t>
            </a:r>
            <a:r>
              <a:rPr lang="en-IN" dirty="0"/>
              <a:t> functions individually to verify the correctness of the complete program. </a:t>
            </a:r>
          </a:p>
          <a:p>
            <a:pPr marL="0" indent="0">
              <a:buNone/>
            </a:pPr>
            <a:endParaRPr lang="en-US" dirty="0"/>
          </a:p>
        </p:txBody>
      </p:sp>
    </p:spTree>
    <p:extLst>
      <p:ext uri="{BB962C8B-B14F-4D97-AF65-F5344CB8AC3E}">
        <p14:creationId xmlns:p14="http://schemas.microsoft.com/office/powerpoint/2010/main" val="234367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5138-7FDC-57A2-E06D-1F5467F3666F}"/>
              </a:ext>
            </a:extLst>
          </p:cNvPr>
          <p:cNvSpPr>
            <a:spLocks noGrp="1"/>
          </p:cNvSpPr>
          <p:nvPr>
            <p:ph type="title"/>
          </p:nvPr>
        </p:nvSpPr>
        <p:spPr>
          <a:xfrm>
            <a:off x="651285" y="477539"/>
            <a:ext cx="10287000" cy="695044"/>
          </a:xfrm>
        </p:spPr>
        <p:txBody>
          <a:bodyPr>
            <a:normAutofit/>
          </a:bodyPr>
          <a:lstStyle/>
          <a:p>
            <a:r>
              <a:rPr lang="en-IN" dirty="0"/>
              <a:t>DECOMPOSITION </a:t>
            </a:r>
          </a:p>
        </p:txBody>
      </p:sp>
      <p:sp>
        <p:nvSpPr>
          <p:cNvPr id="3" name="Content Placeholder 2">
            <a:extLst>
              <a:ext uri="{FF2B5EF4-FFF2-40B4-BE49-F238E27FC236}">
                <a16:creationId xmlns:a16="http://schemas.microsoft.com/office/drawing/2014/main" id="{2CF42559-D2C7-6A13-4E91-1EAA23D76A59}"/>
              </a:ext>
            </a:extLst>
          </p:cNvPr>
          <p:cNvSpPr>
            <a:spLocks noGrp="1"/>
          </p:cNvSpPr>
          <p:nvPr>
            <p:ph idx="1"/>
          </p:nvPr>
        </p:nvSpPr>
        <p:spPr>
          <a:xfrm>
            <a:off x="468405" y="1575992"/>
            <a:ext cx="11332733" cy="4804469"/>
          </a:xfrm>
        </p:spPr>
        <p:txBody>
          <a:bodyPr>
            <a:normAutofit fontScale="92500" lnSpcReduction="20000"/>
          </a:bodyPr>
          <a:lstStyle/>
          <a:p>
            <a:r>
              <a:rPr lang="en-IN" b="1" dirty="0"/>
              <a:t>Decomposition</a:t>
            </a:r>
            <a:r>
              <a:rPr lang="en-IN" dirty="0"/>
              <a:t> breaks a large or complex problem into </a:t>
            </a:r>
            <a:r>
              <a:rPr lang="en-IN" b="1" dirty="0"/>
              <a:t>smaller, simpler sub-tasks</a:t>
            </a:r>
            <a:r>
              <a:rPr lang="en-IN" dirty="0"/>
              <a:t>.</a:t>
            </a:r>
          </a:p>
          <a:p>
            <a:r>
              <a:rPr lang="en-IN" dirty="0"/>
              <a:t>Instead of writing one large program, we divide the problem into separate functions. </a:t>
            </a:r>
          </a:p>
          <a:p>
            <a:r>
              <a:rPr lang="en-IN" dirty="0"/>
              <a:t>Each function performs </a:t>
            </a:r>
            <a:r>
              <a:rPr lang="en-IN" b="1" dirty="0"/>
              <a:t>one specific task</a:t>
            </a:r>
            <a:r>
              <a:rPr lang="en-IN" dirty="0"/>
              <a:t>.</a:t>
            </a:r>
          </a:p>
          <a:p>
            <a:pPr marL="0" indent="0">
              <a:buNone/>
            </a:pPr>
            <a:endParaRPr lang="en-IN" dirty="0"/>
          </a:p>
          <a:p>
            <a:pPr marL="0" indent="0">
              <a:buNone/>
            </a:pPr>
            <a:r>
              <a:rPr lang="en-IN" b="1" dirty="0"/>
              <a:t>A problem should be divided into smaller sub-tasks when</a:t>
            </a:r>
            <a:r>
              <a:rPr lang="en-IN" dirty="0"/>
              <a:t>:</a:t>
            </a:r>
          </a:p>
          <a:p>
            <a:pPr marL="0" indent="0">
              <a:buNone/>
            </a:pPr>
            <a:endParaRPr lang="en-IN" dirty="0"/>
          </a:p>
          <a:p>
            <a:pPr>
              <a:buFont typeface="Arial" panose="020B0604020202020204" pitchFamily="34" charset="0"/>
              <a:buChar char="•"/>
            </a:pPr>
            <a:r>
              <a:rPr lang="en-IN" dirty="0"/>
              <a:t>The problem contains </a:t>
            </a:r>
            <a:r>
              <a:rPr lang="en-IN" b="1" dirty="0"/>
              <a:t>multiple different operations</a:t>
            </a:r>
            <a:r>
              <a:rPr lang="en-IN" dirty="0"/>
              <a:t>. </a:t>
            </a:r>
          </a:p>
          <a:p>
            <a:pPr>
              <a:buFont typeface="Arial" panose="020B0604020202020204" pitchFamily="34" charset="0"/>
              <a:buChar char="•"/>
            </a:pPr>
            <a:r>
              <a:rPr lang="en-IN" dirty="0"/>
              <a:t>The program becomes </a:t>
            </a:r>
            <a:r>
              <a:rPr lang="en-IN" b="1" dirty="0"/>
              <a:t>large or difficult to understand</a:t>
            </a:r>
            <a:r>
              <a:rPr lang="en-IN" dirty="0"/>
              <a:t>. </a:t>
            </a:r>
          </a:p>
          <a:p>
            <a:pPr>
              <a:buFont typeface="Arial" panose="020B0604020202020204" pitchFamily="34" charset="0"/>
              <a:buChar char="•"/>
            </a:pPr>
            <a:r>
              <a:rPr lang="en-IN" dirty="0"/>
              <a:t>The same operation needs to be performed </a:t>
            </a:r>
            <a:r>
              <a:rPr lang="en-IN" b="1" dirty="0"/>
              <a:t>more than once</a:t>
            </a:r>
            <a:r>
              <a:rPr lang="en-IN" dirty="0"/>
              <a:t>. </a:t>
            </a:r>
          </a:p>
          <a:p>
            <a:pPr>
              <a:buFont typeface="Arial" panose="020B0604020202020204" pitchFamily="34" charset="0"/>
              <a:buChar char="•"/>
            </a:pPr>
            <a:r>
              <a:rPr lang="en-IN" dirty="0"/>
              <a:t>Different parts of the problem can be solved </a:t>
            </a:r>
            <a:r>
              <a:rPr lang="en-IN" b="1" dirty="0"/>
              <a:t>independently</a:t>
            </a:r>
            <a:r>
              <a:rPr lang="en-IN" dirty="0"/>
              <a:t>. </a:t>
            </a:r>
          </a:p>
          <a:p>
            <a:pPr>
              <a:buFont typeface="Arial" panose="020B0604020202020204" pitchFamily="34" charset="0"/>
              <a:buChar char="•"/>
            </a:pPr>
            <a:r>
              <a:rPr lang="en-IN" dirty="0"/>
              <a:t>We want the program to be </a:t>
            </a:r>
            <a:r>
              <a:rPr lang="en-IN" b="1" dirty="0"/>
              <a:t>easy to test, debug and maintain</a:t>
            </a:r>
            <a:r>
              <a:rPr lang="en-IN" dirty="0"/>
              <a:t>. </a:t>
            </a:r>
          </a:p>
          <a:p>
            <a:pPr>
              <a:buFont typeface="Arial" panose="020B0604020202020204" pitchFamily="34" charset="0"/>
              <a:buChar char="•"/>
            </a:pPr>
            <a:r>
              <a:rPr lang="en-IN" dirty="0"/>
              <a:t>A task has a clear and well-defined purpose.</a:t>
            </a:r>
          </a:p>
          <a:p>
            <a:pPr marL="0" indent="0">
              <a:buNone/>
            </a:pPr>
            <a:endParaRPr lang="en-IN" dirty="0"/>
          </a:p>
          <a:p>
            <a:pPr marL="0" indent="0" algn="just">
              <a:buNone/>
            </a:pPr>
            <a:endParaRPr lang="en-IN" dirty="0"/>
          </a:p>
        </p:txBody>
      </p:sp>
    </p:spTree>
    <p:extLst>
      <p:ext uri="{BB962C8B-B14F-4D97-AF65-F5344CB8AC3E}">
        <p14:creationId xmlns:p14="http://schemas.microsoft.com/office/powerpoint/2010/main" val="185310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41E3B-CFFE-95CB-02A2-6CBB5AB0D314}"/>
              </a:ext>
            </a:extLst>
          </p:cNvPr>
          <p:cNvSpPr>
            <a:spLocks noGrp="1"/>
          </p:cNvSpPr>
          <p:nvPr>
            <p:ph idx="1"/>
          </p:nvPr>
        </p:nvSpPr>
        <p:spPr>
          <a:xfrm>
            <a:off x="753035" y="1581375"/>
            <a:ext cx="10486465" cy="4595588"/>
          </a:xfrm>
        </p:spPr>
        <p:txBody>
          <a:bodyPr/>
          <a:lstStyle/>
          <a:p>
            <a:pPr marL="0" indent="0">
              <a:buNone/>
            </a:pPr>
            <a:r>
              <a:rPr lang="en-IN" b="1" dirty="0"/>
              <a:t>Example</a:t>
            </a:r>
          </a:p>
          <a:p>
            <a:pPr marL="0" indent="0">
              <a:buNone/>
            </a:pPr>
            <a:r>
              <a:rPr lang="en-IN" dirty="0"/>
              <a:t>Consider:</a:t>
            </a:r>
          </a:p>
          <a:p>
            <a:r>
              <a:rPr lang="en-IN" dirty="0"/>
              <a:t>Write a program to calculate a rectangle's area and perimeter and display the result.</a:t>
            </a:r>
          </a:p>
          <a:p>
            <a:pPr marL="0" indent="0">
              <a:buNone/>
            </a:pPr>
            <a:r>
              <a:rPr lang="en-IN" dirty="0"/>
              <a:t>This can be decomposed into:</a:t>
            </a:r>
          </a:p>
          <a:p>
            <a:pPr marL="342900" indent="-342900" rtl="0">
              <a:buFont typeface="+mj-lt"/>
              <a:buAutoNum type="arabicPeriod"/>
            </a:pPr>
            <a:r>
              <a:rPr lang="en-IN" dirty="0"/>
              <a:t>Input length and breadth</a:t>
            </a:r>
          </a:p>
          <a:p>
            <a:pPr marL="342900" indent="-342900" rtl="0">
              <a:buFont typeface="+mj-lt"/>
              <a:buAutoNum type="arabicPeriod"/>
            </a:pPr>
            <a:r>
              <a:rPr lang="en-IN" dirty="0"/>
              <a:t> Calculate area </a:t>
            </a:r>
          </a:p>
          <a:p>
            <a:pPr marL="342900" indent="-342900" rtl="0">
              <a:buFont typeface="+mj-lt"/>
              <a:buAutoNum type="arabicPeriod"/>
            </a:pPr>
            <a:r>
              <a:rPr lang="en-IN" dirty="0"/>
              <a:t> Calculate perimeter </a:t>
            </a:r>
          </a:p>
          <a:p>
            <a:pPr marL="342900" indent="-342900" rtl="0">
              <a:buFont typeface="+mj-lt"/>
              <a:buAutoNum type="arabicPeriod"/>
            </a:pPr>
            <a:r>
              <a:rPr lang="en-IN" dirty="0"/>
              <a:t> Display results</a:t>
            </a:r>
          </a:p>
          <a:p>
            <a:pPr marL="0" indent="0" rtl="0">
              <a:buNone/>
            </a:pPr>
            <a:r>
              <a:rPr lang="en-IN" dirty="0"/>
              <a:t>The process of dividing the task in to  meaningful subtask is called </a:t>
            </a:r>
            <a:r>
              <a:rPr lang="en-IN" b="1" dirty="0"/>
              <a:t>decomposition</a:t>
            </a:r>
          </a:p>
          <a:p>
            <a:pPr marL="0" indent="0">
              <a:buNone/>
            </a:pPr>
            <a:endParaRPr lang="en-US" dirty="0"/>
          </a:p>
        </p:txBody>
      </p:sp>
      <p:sp>
        <p:nvSpPr>
          <p:cNvPr id="2" name="Title 1">
            <a:extLst>
              <a:ext uri="{FF2B5EF4-FFF2-40B4-BE49-F238E27FC236}">
                <a16:creationId xmlns:a16="http://schemas.microsoft.com/office/drawing/2014/main" id="{4AD08CDA-47B1-4DD3-7AC4-0FE344C5F641}"/>
              </a:ext>
            </a:extLst>
          </p:cNvPr>
          <p:cNvSpPr>
            <a:spLocks noGrp="1"/>
          </p:cNvSpPr>
          <p:nvPr>
            <p:ph type="title"/>
          </p:nvPr>
        </p:nvSpPr>
        <p:spPr>
          <a:xfrm>
            <a:off x="651285" y="477539"/>
            <a:ext cx="10287000" cy="695044"/>
          </a:xfrm>
        </p:spPr>
        <p:txBody>
          <a:bodyPr>
            <a:normAutofit/>
          </a:bodyPr>
          <a:lstStyle/>
          <a:p>
            <a:r>
              <a:rPr lang="en-IN" dirty="0"/>
              <a:t>DECOMPOSITION </a:t>
            </a:r>
          </a:p>
        </p:txBody>
      </p:sp>
    </p:spTree>
    <p:extLst>
      <p:ext uri="{BB962C8B-B14F-4D97-AF65-F5344CB8AC3E}">
        <p14:creationId xmlns:p14="http://schemas.microsoft.com/office/powerpoint/2010/main" val="266025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FC33-52A3-6D16-24DC-05D0A52ADC28}"/>
              </a:ext>
            </a:extLst>
          </p:cNvPr>
          <p:cNvSpPr>
            <a:spLocks noGrp="1"/>
          </p:cNvSpPr>
          <p:nvPr>
            <p:ph type="title"/>
          </p:nvPr>
        </p:nvSpPr>
        <p:spPr>
          <a:xfrm>
            <a:off x="1218718" y="2281238"/>
            <a:ext cx="10287000" cy="1147762"/>
          </a:xfrm>
        </p:spPr>
        <p:txBody>
          <a:bodyPr/>
          <a:lstStyle/>
          <a:p>
            <a:r>
              <a:rPr lang="en-US" dirty="0"/>
              <a:t>Categories or types of functions</a:t>
            </a:r>
            <a:endParaRPr lang="en-IN" dirty="0"/>
          </a:p>
        </p:txBody>
      </p:sp>
    </p:spTree>
    <p:extLst>
      <p:ext uri="{BB962C8B-B14F-4D97-AF65-F5344CB8AC3E}">
        <p14:creationId xmlns:p14="http://schemas.microsoft.com/office/powerpoint/2010/main" val="2944699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C79B51-2B14-88A2-BEEE-E43E3F0C89EE}"/>
              </a:ext>
            </a:extLst>
          </p:cNvPr>
          <p:cNvSpPr txBox="1"/>
          <p:nvPr/>
        </p:nvSpPr>
        <p:spPr>
          <a:xfrm>
            <a:off x="3371127" y="610977"/>
            <a:ext cx="6094070" cy="1754326"/>
          </a:xfrm>
          <a:prstGeom prst="rect">
            <a:avLst/>
          </a:prstGeom>
          <a:noFill/>
        </p:spPr>
        <p:txBody>
          <a:bodyPr wrap="square">
            <a:spAutoFit/>
          </a:bodyPr>
          <a:lstStyle/>
          <a:p>
            <a:pPr>
              <a:buNone/>
            </a:pPr>
            <a:r>
              <a:rPr lang="en-IN" dirty="0"/>
              <a:t>There are </a:t>
            </a:r>
            <a:r>
              <a:rPr lang="en-IN" b="1" dirty="0"/>
              <a:t>two main types</a:t>
            </a:r>
            <a:r>
              <a:rPr lang="en-IN" dirty="0"/>
              <a:t> of functions:</a:t>
            </a:r>
          </a:p>
          <a:p>
            <a:pPr rtl="0">
              <a:buNone/>
            </a:pPr>
            <a:r>
              <a:rPr lang="en-IN" dirty="0">
                <a:latin typeface="+mn-lt"/>
              </a:rPr>
              <a:t>                    Functions in C</a:t>
            </a:r>
          </a:p>
          <a:p>
            <a:pPr rtl="0">
              <a:buNone/>
            </a:pPr>
            <a:r>
              <a:rPr lang="en-IN" dirty="0">
                <a:latin typeface="+mn-lt"/>
              </a:rPr>
              <a:t>                         |</a:t>
            </a:r>
          </a:p>
          <a:p>
            <a:pPr rtl="0">
              <a:buNone/>
            </a:pPr>
            <a:r>
              <a:rPr lang="en-IN" dirty="0">
                <a:latin typeface="+mn-lt"/>
              </a:rPr>
              <a:t>              -------------------------</a:t>
            </a:r>
          </a:p>
          <a:p>
            <a:pPr rtl="0">
              <a:buNone/>
            </a:pPr>
            <a:r>
              <a:rPr lang="en-IN" dirty="0">
                <a:latin typeface="+mn-lt"/>
              </a:rPr>
              <a:t>              |                                    |</a:t>
            </a:r>
          </a:p>
          <a:p>
            <a:pPr rtl="0">
              <a:buNone/>
            </a:pPr>
            <a:r>
              <a:rPr lang="en-IN" dirty="0">
                <a:latin typeface="+mn-lt"/>
              </a:rPr>
              <a:t>        Library Functions       User-define</a:t>
            </a:r>
            <a:r>
              <a:rPr lang="en-IN" dirty="0"/>
              <a:t>d </a:t>
            </a:r>
            <a:r>
              <a:rPr lang="en-IN" dirty="0">
                <a:latin typeface="+mn-lt"/>
              </a:rPr>
              <a:t>Functions</a:t>
            </a:r>
            <a:endParaRPr lang="en-IN" dirty="0">
              <a:latin typeface="Courier New" panose="02070309020205020404" pitchFamily="49" charset="0"/>
            </a:endParaRPr>
          </a:p>
        </p:txBody>
      </p:sp>
      <p:sp>
        <p:nvSpPr>
          <p:cNvPr id="7" name="TextBox 6">
            <a:extLst>
              <a:ext uri="{FF2B5EF4-FFF2-40B4-BE49-F238E27FC236}">
                <a16:creationId xmlns:a16="http://schemas.microsoft.com/office/drawing/2014/main" id="{D74382FC-650D-F619-74F8-A50602914894}"/>
              </a:ext>
            </a:extLst>
          </p:cNvPr>
          <p:cNvSpPr txBox="1"/>
          <p:nvPr/>
        </p:nvSpPr>
        <p:spPr>
          <a:xfrm>
            <a:off x="324092" y="2365303"/>
            <a:ext cx="5092860" cy="3139321"/>
          </a:xfrm>
          <a:prstGeom prst="rect">
            <a:avLst/>
          </a:prstGeom>
          <a:noFill/>
        </p:spPr>
        <p:txBody>
          <a:bodyPr wrap="square">
            <a:spAutoFit/>
          </a:bodyPr>
          <a:lstStyle/>
          <a:p>
            <a:pPr>
              <a:buNone/>
            </a:pPr>
            <a:r>
              <a:rPr lang="en-IN" b="1" dirty="0"/>
              <a:t>1. Library Functions</a:t>
            </a:r>
          </a:p>
          <a:p>
            <a:pPr>
              <a:buNone/>
            </a:pPr>
            <a:r>
              <a:rPr lang="en-IN" dirty="0"/>
              <a:t>These are </a:t>
            </a:r>
            <a:r>
              <a:rPr lang="en-IN" b="1" dirty="0"/>
              <a:t>already provided by C libraries</a:t>
            </a:r>
            <a:r>
              <a:rPr lang="en-IN" dirty="0"/>
              <a:t>.</a:t>
            </a:r>
          </a:p>
          <a:p>
            <a:pPr>
              <a:buNone/>
            </a:pPr>
            <a:r>
              <a:rPr lang="en-IN" dirty="0"/>
              <a:t>Examples:</a:t>
            </a:r>
          </a:p>
          <a:p>
            <a:pPr rtl="0">
              <a:buNone/>
            </a:pPr>
            <a:r>
              <a:rPr lang="en-IN" dirty="0" err="1">
                <a:latin typeface="+mn-lt"/>
              </a:rPr>
              <a:t>printf</a:t>
            </a:r>
            <a:r>
              <a:rPr lang="en-IN" dirty="0">
                <a:latin typeface="+mn-lt"/>
              </a:rPr>
              <a:t>()</a:t>
            </a:r>
          </a:p>
          <a:p>
            <a:pPr rtl="0">
              <a:buNone/>
            </a:pPr>
            <a:r>
              <a:rPr lang="en-IN" dirty="0" err="1">
                <a:latin typeface="+mn-lt"/>
              </a:rPr>
              <a:t>scanf</a:t>
            </a:r>
            <a:r>
              <a:rPr lang="en-IN" dirty="0">
                <a:latin typeface="+mn-lt"/>
              </a:rPr>
              <a:t>()</a:t>
            </a:r>
          </a:p>
          <a:p>
            <a:pPr rtl="0">
              <a:buNone/>
            </a:pPr>
            <a:r>
              <a:rPr lang="en-IN" dirty="0" err="1">
                <a:latin typeface="+mn-lt"/>
              </a:rPr>
              <a:t>strlen</a:t>
            </a:r>
            <a:r>
              <a:rPr lang="en-IN" dirty="0">
                <a:latin typeface="+mn-lt"/>
              </a:rPr>
              <a:t>()</a:t>
            </a:r>
          </a:p>
          <a:p>
            <a:pPr rtl="0">
              <a:buNone/>
            </a:pPr>
            <a:r>
              <a:rPr lang="en-IN" dirty="0">
                <a:latin typeface="+mn-lt"/>
              </a:rPr>
              <a:t>sqrt()</a:t>
            </a:r>
          </a:p>
          <a:p>
            <a:pPr>
              <a:buNone/>
            </a:pPr>
            <a:r>
              <a:rPr lang="en-IN" dirty="0"/>
              <a:t>For example:</a:t>
            </a:r>
          </a:p>
          <a:p>
            <a:pPr rtl="0">
              <a:buNone/>
            </a:pPr>
            <a:r>
              <a:rPr lang="en-IN" dirty="0" err="1">
                <a:latin typeface="+mn-lt"/>
              </a:rPr>
              <a:t>printf</a:t>
            </a:r>
            <a:r>
              <a:rPr lang="en-IN" dirty="0">
                <a:latin typeface="+mn-lt"/>
              </a:rPr>
              <a:t>("Hello");</a:t>
            </a:r>
          </a:p>
          <a:p>
            <a:pPr>
              <a:buNone/>
            </a:pPr>
            <a:r>
              <a:rPr lang="en-IN" dirty="0" err="1">
                <a:latin typeface="+mn-lt"/>
              </a:rPr>
              <a:t>printf</a:t>
            </a:r>
            <a:r>
              <a:rPr lang="en-IN" dirty="0">
                <a:latin typeface="+mn-lt"/>
              </a:rPr>
              <a:t>()</a:t>
            </a:r>
            <a:r>
              <a:rPr lang="en-IN" dirty="0"/>
              <a:t> is a library function.</a:t>
            </a:r>
          </a:p>
          <a:p>
            <a:pPr>
              <a:buNone/>
            </a:pPr>
            <a:r>
              <a:rPr lang="en-IN" dirty="0"/>
              <a:t>We don't write the code for </a:t>
            </a:r>
            <a:r>
              <a:rPr lang="en-IN" dirty="0" err="1">
                <a:latin typeface="+mn-lt"/>
              </a:rPr>
              <a:t>printf</a:t>
            </a:r>
            <a:r>
              <a:rPr lang="en-IN" dirty="0">
                <a:latin typeface="+mn-lt"/>
              </a:rPr>
              <a:t>()</a:t>
            </a:r>
            <a:r>
              <a:rPr lang="en-IN" dirty="0"/>
              <a:t> ourselves.</a:t>
            </a:r>
          </a:p>
        </p:txBody>
      </p:sp>
      <p:sp>
        <p:nvSpPr>
          <p:cNvPr id="9" name="TextBox 8">
            <a:extLst>
              <a:ext uri="{FF2B5EF4-FFF2-40B4-BE49-F238E27FC236}">
                <a16:creationId xmlns:a16="http://schemas.microsoft.com/office/drawing/2014/main" id="{BC9A598D-D9E0-CD52-A1D1-D0968F605102}"/>
              </a:ext>
            </a:extLst>
          </p:cNvPr>
          <p:cNvSpPr txBox="1"/>
          <p:nvPr/>
        </p:nvSpPr>
        <p:spPr>
          <a:xfrm>
            <a:off x="5153629" y="2365303"/>
            <a:ext cx="6094070" cy="2585323"/>
          </a:xfrm>
          <a:prstGeom prst="rect">
            <a:avLst/>
          </a:prstGeom>
          <a:noFill/>
        </p:spPr>
        <p:txBody>
          <a:bodyPr wrap="square">
            <a:spAutoFit/>
          </a:bodyPr>
          <a:lstStyle/>
          <a:p>
            <a:pPr>
              <a:buNone/>
            </a:pPr>
            <a:r>
              <a:rPr lang="en-IN" b="1" dirty="0"/>
              <a:t>2. User-defined Functions</a:t>
            </a:r>
          </a:p>
          <a:p>
            <a:pPr>
              <a:buNone/>
            </a:pPr>
            <a:r>
              <a:rPr lang="en-IN" dirty="0"/>
              <a:t>These are functions </a:t>
            </a:r>
            <a:r>
              <a:rPr lang="en-IN" b="1" dirty="0"/>
              <a:t>created by the programmer</a:t>
            </a:r>
            <a:r>
              <a:rPr lang="en-IN" dirty="0"/>
              <a:t> according to the requirement.</a:t>
            </a:r>
          </a:p>
          <a:p>
            <a:pPr>
              <a:buNone/>
            </a:pPr>
            <a:r>
              <a:rPr lang="en-IN" dirty="0"/>
              <a:t>Example:</a:t>
            </a:r>
          </a:p>
          <a:p>
            <a:pPr rtl="0">
              <a:buNone/>
            </a:pPr>
            <a:r>
              <a:rPr lang="en-IN" dirty="0">
                <a:latin typeface="+mn-lt"/>
              </a:rPr>
              <a:t>void display()</a:t>
            </a:r>
          </a:p>
          <a:p>
            <a:pPr rtl="0">
              <a:buNone/>
            </a:pPr>
            <a:r>
              <a:rPr lang="en-IN" dirty="0">
                <a:latin typeface="+mn-lt"/>
              </a:rPr>
              <a:t>{</a:t>
            </a:r>
          </a:p>
          <a:p>
            <a:pPr rtl="0">
              <a:buNone/>
            </a:pPr>
            <a:r>
              <a:rPr lang="en-IN" dirty="0">
                <a:latin typeface="+mn-lt"/>
              </a:rPr>
              <a:t>    </a:t>
            </a:r>
            <a:r>
              <a:rPr lang="en-IN" dirty="0" err="1">
                <a:latin typeface="+mn-lt"/>
              </a:rPr>
              <a:t>printf</a:t>
            </a:r>
            <a:r>
              <a:rPr lang="en-IN" dirty="0">
                <a:latin typeface="+mn-lt"/>
              </a:rPr>
              <a:t>("Hello Students");</a:t>
            </a:r>
          </a:p>
          <a:p>
            <a:pPr rtl="0">
              <a:buNone/>
            </a:pPr>
            <a:r>
              <a:rPr lang="en-IN" dirty="0">
                <a:latin typeface="+mn-lt"/>
              </a:rPr>
              <a:t>}</a:t>
            </a:r>
          </a:p>
          <a:p>
            <a:pPr>
              <a:buNone/>
            </a:pPr>
            <a:r>
              <a:rPr lang="en-IN" dirty="0"/>
              <a:t>Here, </a:t>
            </a:r>
            <a:r>
              <a:rPr lang="en-IN" dirty="0">
                <a:latin typeface="+mn-lt"/>
              </a:rPr>
              <a:t>display()</a:t>
            </a:r>
            <a:r>
              <a:rPr lang="en-IN" dirty="0"/>
              <a:t> is a </a:t>
            </a:r>
            <a:r>
              <a:rPr lang="en-IN" b="1" dirty="0"/>
              <a:t>user-defined function</a:t>
            </a:r>
            <a:r>
              <a:rPr lang="en-IN" dirty="0"/>
              <a:t>.</a:t>
            </a:r>
          </a:p>
        </p:txBody>
      </p:sp>
    </p:spTree>
    <p:extLst>
      <p:ext uri="{BB962C8B-B14F-4D97-AF65-F5344CB8AC3E}">
        <p14:creationId xmlns:p14="http://schemas.microsoft.com/office/powerpoint/2010/main" val="1472797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126CC-AE6E-74F2-8F1E-D40FF0D314AE}"/>
              </a:ext>
            </a:extLst>
          </p:cNvPr>
          <p:cNvSpPr>
            <a:spLocks noGrp="1"/>
          </p:cNvSpPr>
          <p:nvPr>
            <p:ph type="title"/>
          </p:nvPr>
        </p:nvSpPr>
        <p:spPr>
          <a:xfrm>
            <a:off x="1045098" y="191778"/>
            <a:ext cx="10287000" cy="1147762"/>
          </a:xfrm>
        </p:spPr>
        <p:txBody>
          <a:bodyPr/>
          <a:lstStyle/>
          <a:p>
            <a:r>
              <a:rPr lang="en-US" dirty="0"/>
              <a:t>Elements of user- defined functions </a:t>
            </a:r>
            <a:endParaRPr lang="en-IN" dirty="0"/>
          </a:p>
        </p:txBody>
      </p:sp>
      <p:sp>
        <p:nvSpPr>
          <p:cNvPr id="5" name="TextBox 4">
            <a:extLst>
              <a:ext uri="{FF2B5EF4-FFF2-40B4-BE49-F238E27FC236}">
                <a16:creationId xmlns:a16="http://schemas.microsoft.com/office/drawing/2014/main" id="{0FE1F8A2-BA7C-2E30-97ED-D61E5B53ABDE}"/>
              </a:ext>
            </a:extLst>
          </p:cNvPr>
          <p:cNvSpPr txBox="1"/>
          <p:nvPr/>
        </p:nvSpPr>
        <p:spPr>
          <a:xfrm>
            <a:off x="778398" y="1977854"/>
            <a:ext cx="6094070" cy="1754326"/>
          </a:xfrm>
          <a:prstGeom prst="rect">
            <a:avLst/>
          </a:prstGeom>
          <a:noFill/>
        </p:spPr>
        <p:txBody>
          <a:bodyPr wrap="square">
            <a:spAutoFit/>
          </a:bodyPr>
          <a:lstStyle/>
          <a:p>
            <a:r>
              <a:rPr lang="en-IN" dirty="0"/>
              <a:t>Example: </a:t>
            </a:r>
          </a:p>
          <a:p>
            <a:endParaRPr lang="en-IN" dirty="0"/>
          </a:p>
          <a:p>
            <a:r>
              <a:rPr lang="en-IN" dirty="0"/>
              <a:t>void welcome()</a:t>
            </a:r>
          </a:p>
          <a:p>
            <a:r>
              <a:rPr lang="en-IN" dirty="0"/>
              <a:t>{</a:t>
            </a:r>
          </a:p>
          <a:p>
            <a:r>
              <a:rPr lang="en-IN" dirty="0"/>
              <a:t>    </a:t>
            </a:r>
            <a:r>
              <a:rPr lang="en-IN" dirty="0" err="1"/>
              <a:t>printf</a:t>
            </a:r>
            <a:r>
              <a:rPr lang="en-IN" dirty="0"/>
              <a:t>("Welcome Students");</a:t>
            </a:r>
          </a:p>
          <a:p>
            <a:r>
              <a:rPr lang="en-IN" dirty="0"/>
              <a:t>}</a:t>
            </a:r>
          </a:p>
        </p:txBody>
      </p:sp>
      <p:sp>
        <p:nvSpPr>
          <p:cNvPr id="7" name="TextBox 6">
            <a:extLst>
              <a:ext uri="{FF2B5EF4-FFF2-40B4-BE49-F238E27FC236}">
                <a16:creationId xmlns:a16="http://schemas.microsoft.com/office/drawing/2014/main" id="{71A1F191-C06F-C61E-C9E1-0B816596E986}"/>
              </a:ext>
            </a:extLst>
          </p:cNvPr>
          <p:cNvSpPr txBox="1"/>
          <p:nvPr/>
        </p:nvSpPr>
        <p:spPr>
          <a:xfrm>
            <a:off x="5573694" y="1339540"/>
            <a:ext cx="6094070" cy="5078313"/>
          </a:xfrm>
          <a:prstGeom prst="rect">
            <a:avLst/>
          </a:prstGeom>
          <a:noFill/>
        </p:spPr>
        <p:txBody>
          <a:bodyPr wrap="square">
            <a:spAutoFit/>
          </a:bodyPr>
          <a:lstStyle/>
          <a:p>
            <a:r>
              <a:rPr lang="en-IN" b="1" dirty="0"/>
              <a:t> void welcome()</a:t>
            </a:r>
          </a:p>
          <a:p>
            <a:r>
              <a:rPr lang="en-IN" b="1" dirty="0"/>
              <a:t>        ──── ────────</a:t>
            </a:r>
          </a:p>
          <a:p>
            <a:r>
              <a:rPr lang="en-IN" b="1" dirty="0"/>
              <a:t>         │      │</a:t>
            </a:r>
          </a:p>
          <a:p>
            <a:r>
              <a:rPr lang="en-IN" b="1" dirty="0"/>
              <a:t>         │      └── Function Name</a:t>
            </a:r>
          </a:p>
          <a:p>
            <a:r>
              <a:rPr lang="en-IN" b="1" dirty="0"/>
              <a:t>         │</a:t>
            </a:r>
          </a:p>
          <a:p>
            <a:r>
              <a:rPr lang="en-IN" b="1" dirty="0"/>
              <a:t>         └── Return Type</a:t>
            </a:r>
          </a:p>
          <a:p>
            <a:endParaRPr lang="en-IN" b="1" dirty="0"/>
          </a:p>
          <a:p>
            <a:r>
              <a:rPr lang="en-IN" b="1" dirty="0"/>
              <a:t>              ()</a:t>
            </a:r>
          </a:p>
          <a:p>
            <a:r>
              <a:rPr lang="en-IN" b="1" dirty="0"/>
              <a:t>              ↑</a:t>
            </a:r>
          </a:p>
          <a:p>
            <a:r>
              <a:rPr lang="en-IN" b="1" dirty="0"/>
              <a:t>          Parameters</a:t>
            </a:r>
          </a:p>
          <a:p>
            <a:r>
              <a:rPr lang="en-IN" b="1" dirty="0"/>
              <a:t>          (empty here)</a:t>
            </a:r>
          </a:p>
          <a:p>
            <a:endParaRPr lang="en-IN" b="1" dirty="0"/>
          </a:p>
          <a:p>
            <a:r>
              <a:rPr lang="en-IN" b="1" dirty="0"/>
              <a:t>        {</a:t>
            </a:r>
          </a:p>
          <a:p>
            <a:r>
              <a:rPr lang="en-IN" b="1" dirty="0"/>
              <a:t>            </a:t>
            </a:r>
            <a:r>
              <a:rPr lang="en-IN" b="1" dirty="0" err="1"/>
              <a:t>printf</a:t>
            </a:r>
            <a:r>
              <a:rPr lang="en-IN" b="1" dirty="0"/>
              <a:t>("Welcome Students");</a:t>
            </a:r>
          </a:p>
          <a:p>
            <a:r>
              <a:rPr lang="en-IN" b="1" dirty="0"/>
              <a:t>        }</a:t>
            </a:r>
          </a:p>
          <a:p>
            <a:r>
              <a:rPr lang="en-IN" b="1" dirty="0"/>
              <a:t>        ↑                         ↑</a:t>
            </a:r>
          </a:p>
          <a:p>
            <a:r>
              <a:rPr lang="en-IN" b="1" dirty="0"/>
              <a:t>      Start                    End</a:t>
            </a:r>
          </a:p>
          <a:p>
            <a:r>
              <a:rPr lang="en-IN" b="1" dirty="0"/>
              <a:t>      of body                  of body</a:t>
            </a:r>
          </a:p>
        </p:txBody>
      </p:sp>
    </p:spTree>
    <p:extLst>
      <p:ext uri="{BB962C8B-B14F-4D97-AF65-F5344CB8AC3E}">
        <p14:creationId xmlns:p14="http://schemas.microsoft.com/office/powerpoint/2010/main" val="1814791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8AAE5-CD71-4F45-595A-D721C6E4D73E}"/>
              </a:ext>
            </a:extLst>
          </p:cNvPr>
          <p:cNvSpPr>
            <a:spLocks noGrp="1"/>
          </p:cNvSpPr>
          <p:nvPr>
            <p:ph type="title"/>
          </p:nvPr>
        </p:nvSpPr>
        <p:spPr>
          <a:xfrm>
            <a:off x="1126120" y="107157"/>
            <a:ext cx="10287000" cy="1147762"/>
          </a:xfrm>
        </p:spPr>
        <p:txBody>
          <a:bodyPr/>
          <a:lstStyle/>
          <a:p>
            <a:r>
              <a:rPr lang="en-IN" dirty="0"/>
              <a:t>1. Function Declaration, Function call and function definition</a:t>
            </a:r>
          </a:p>
        </p:txBody>
      </p:sp>
      <p:sp>
        <p:nvSpPr>
          <p:cNvPr id="5" name="TextBox 4">
            <a:extLst>
              <a:ext uri="{FF2B5EF4-FFF2-40B4-BE49-F238E27FC236}">
                <a16:creationId xmlns:a16="http://schemas.microsoft.com/office/drawing/2014/main" id="{DBBF40C3-D129-B1DE-1CD0-86BE43D11A26}"/>
              </a:ext>
            </a:extLst>
          </p:cNvPr>
          <p:cNvSpPr txBox="1"/>
          <p:nvPr/>
        </p:nvSpPr>
        <p:spPr>
          <a:xfrm>
            <a:off x="1126120" y="1696283"/>
            <a:ext cx="6754792" cy="4708981"/>
          </a:xfrm>
          <a:prstGeom prst="rect">
            <a:avLst/>
          </a:prstGeom>
          <a:noFill/>
        </p:spPr>
        <p:txBody>
          <a:bodyPr wrap="square">
            <a:spAutoFit/>
          </a:bodyPr>
          <a:lstStyle/>
          <a:p>
            <a:r>
              <a:rPr lang="en-IN" sz="2000" b="1" dirty="0"/>
              <a:t>#include &lt;</a:t>
            </a:r>
            <a:r>
              <a:rPr lang="en-IN" sz="2000" b="1" dirty="0" err="1"/>
              <a:t>stdio.h</a:t>
            </a:r>
            <a:r>
              <a:rPr lang="en-IN" sz="2000" b="1" dirty="0"/>
              <a:t>&gt;</a:t>
            </a:r>
          </a:p>
          <a:p>
            <a:endParaRPr lang="en-IN" sz="2000" b="1" dirty="0"/>
          </a:p>
          <a:p>
            <a:r>
              <a:rPr lang="en-IN" sz="2000" b="1" dirty="0"/>
              <a:t>void welcome();       // Function declaration</a:t>
            </a:r>
          </a:p>
          <a:p>
            <a:endParaRPr lang="en-IN" sz="2000" b="1" dirty="0"/>
          </a:p>
          <a:p>
            <a:r>
              <a:rPr lang="en-IN" sz="2000" b="1" dirty="0"/>
              <a:t>int main()</a:t>
            </a:r>
          </a:p>
          <a:p>
            <a:r>
              <a:rPr lang="en-IN" sz="2000" b="1" dirty="0"/>
              <a:t>{</a:t>
            </a:r>
          </a:p>
          <a:p>
            <a:r>
              <a:rPr lang="en-IN" sz="2000" b="1" dirty="0"/>
              <a:t>    welcome();        // Function call</a:t>
            </a:r>
          </a:p>
          <a:p>
            <a:endParaRPr lang="en-IN" sz="2000" b="1" dirty="0"/>
          </a:p>
          <a:p>
            <a:r>
              <a:rPr lang="en-IN" sz="2000" b="1" dirty="0"/>
              <a:t>    return 0;</a:t>
            </a:r>
          </a:p>
          <a:p>
            <a:r>
              <a:rPr lang="en-IN" sz="2000" b="1" dirty="0"/>
              <a:t>}</a:t>
            </a:r>
          </a:p>
          <a:p>
            <a:endParaRPr lang="en-IN" sz="2000" b="1" dirty="0"/>
          </a:p>
          <a:p>
            <a:r>
              <a:rPr lang="en-IN" sz="2000" b="1" dirty="0"/>
              <a:t>void welcome()        // Function definition</a:t>
            </a:r>
          </a:p>
          <a:p>
            <a:r>
              <a:rPr lang="en-IN" sz="2000" b="1" dirty="0"/>
              <a:t>{</a:t>
            </a:r>
          </a:p>
          <a:p>
            <a:r>
              <a:rPr lang="en-IN" sz="2000" b="1" dirty="0"/>
              <a:t>    </a:t>
            </a:r>
            <a:r>
              <a:rPr lang="en-IN" sz="2000" b="1" dirty="0" err="1"/>
              <a:t>printf</a:t>
            </a:r>
            <a:r>
              <a:rPr lang="en-IN" sz="2000" b="1" dirty="0"/>
              <a:t>("Welcome Students");</a:t>
            </a:r>
          </a:p>
          <a:p>
            <a:r>
              <a:rPr lang="en-IN" sz="2000" b="1" dirty="0"/>
              <a:t>}</a:t>
            </a:r>
          </a:p>
        </p:txBody>
      </p:sp>
    </p:spTree>
    <p:extLst>
      <p:ext uri="{BB962C8B-B14F-4D97-AF65-F5344CB8AC3E}">
        <p14:creationId xmlns:p14="http://schemas.microsoft.com/office/powerpoint/2010/main" val="2549894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184ABC-FA58-F06C-D568-D1AE47604E7E}"/>
              </a:ext>
            </a:extLst>
          </p:cNvPr>
          <p:cNvSpPr txBox="1"/>
          <p:nvPr/>
        </p:nvSpPr>
        <p:spPr>
          <a:xfrm>
            <a:off x="164940" y="161548"/>
            <a:ext cx="6094070" cy="4154984"/>
          </a:xfrm>
          <a:prstGeom prst="rect">
            <a:avLst/>
          </a:prstGeom>
          <a:noFill/>
        </p:spPr>
        <p:txBody>
          <a:bodyPr wrap="square">
            <a:spAutoFit/>
          </a:bodyPr>
          <a:lstStyle/>
          <a:p>
            <a:r>
              <a:rPr lang="en-IN" sz="2400" dirty="0"/>
              <a:t>#include &lt;</a:t>
            </a:r>
            <a:r>
              <a:rPr lang="en-IN" sz="2400" dirty="0" err="1"/>
              <a:t>stdio.h</a:t>
            </a:r>
            <a:r>
              <a:rPr lang="en-IN" sz="2400" dirty="0"/>
              <a:t>&gt;</a:t>
            </a:r>
          </a:p>
          <a:p>
            <a:r>
              <a:rPr lang="en-IN" sz="2400" dirty="0"/>
              <a:t>void welcome();// declaration</a:t>
            </a:r>
          </a:p>
          <a:p>
            <a:r>
              <a:rPr lang="en-IN" sz="2400" dirty="0"/>
              <a:t>int main()</a:t>
            </a:r>
          </a:p>
          <a:p>
            <a:r>
              <a:rPr lang="en-IN" sz="2400" dirty="0"/>
              <a:t>{</a:t>
            </a:r>
          </a:p>
          <a:p>
            <a:r>
              <a:rPr lang="en-IN" sz="2400" dirty="0"/>
              <a:t>    welcome();// function call</a:t>
            </a:r>
          </a:p>
          <a:p>
            <a:r>
              <a:rPr lang="en-IN" sz="2400" dirty="0"/>
              <a:t>    return 0;</a:t>
            </a:r>
          </a:p>
          <a:p>
            <a:r>
              <a:rPr lang="en-IN" sz="2400" dirty="0"/>
              <a:t>}</a:t>
            </a:r>
          </a:p>
          <a:p>
            <a:r>
              <a:rPr lang="en-IN" sz="2400" dirty="0"/>
              <a:t>void welcome()// definition </a:t>
            </a:r>
          </a:p>
          <a:p>
            <a:r>
              <a:rPr lang="en-IN" sz="2400" dirty="0"/>
              <a:t>{</a:t>
            </a:r>
          </a:p>
          <a:p>
            <a:r>
              <a:rPr lang="en-IN" sz="2400" dirty="0"/>
              <a:t>    </a:t>
            </a:r>
            <a:r>
              <a:rPr lang="en-IN" sz="2400" dirty="0" err="1"/>
              <a:t>printf</a:t>
            </a:r>
            <a:r>
              <a:rPr lang="en-IN" sz="2400" dirty="0"/>
              <a:t>("Welcome Students\n");</a:t>
            </a:r>
          </a:p>
          <a:p>
            <a:r>
              <a:rPr lang="en-IN" sz="2400" dirty="0"/>
              <a:t>}</a:t>
            </a:r>
          </a:p>
        </p:txBody>
      </p:sp>
      <p:sp>
        <p:nvSpPr>
          <p:cNvPr id="7" name="TextBox 6">
            <a:extLst>
              <a:ext uri="{FF2B5EF4-FFF2-40B4-BE49-F238E27FC236}">
                <a16:creationId xmlns:a16="http://schemas.microsoft.com/office/drawing/2014/main" id="{6530C894-F2E8-EC62-F184-2A7F1EB1B8AD}"/>
              </a:ext>
            </a:extLst>
          </p:cNvPr>
          <p:cNvSpPr txBox="1"/>
          <p:nvPr/>
        </p:nvSpPr>
        <p:spPr>
          <a:xfrm>
            <a:off x="5396697" y="430443"/>
            <a:ext cx="6094070" cy="2246769"/>
          </a:xfrm>
          <a:prstGeom prst="rect">
            <a:avLst/>
          </a:prstGeom>
          <a:noFill/>
        </p:spPr>
        <p:txBody>
          <a:bodyPr wrap="square">
            <a:spAutoFit/>
          </a:bodyPr>
          <a:lstStyle/>
          <a:p>
            <a:pPr>
              <a:buNone/>
            </a:pPr>
            <a:r>
              <a:rPr lang="en-IN" sz="2000" b="1" u="sng" dirty="0">
                <a:solidFill>
                  <a:srgbClr val="FF0000"/>
                </a:solidFill>
              </a:rPr>
              <a:t>1. Calling Function</a:t>
            </a:r>
          </a:p>
          <a:p>
            <a:pPr rtl="0">
              <a:buNone/>
            </a:pPr>
            <a:r>
              <a:rPr lang="en-IN" sz="2000" dirty="0">
                <a:latin typeface="+mn-lt"/>
              </a:rPr>
              <a:t>int main()</a:t>
            </a:r>
          </a:p>
          <a:p>
            <a:pPr rtl="0">
              <a:buNone/>
            </a:pPr>
            <a:endParaRPr lang="en-IN" sz="2000" dirty="0">
              <a:latin typeface="+mn-lt"/>
            </a:endParaRPr>
          </a:p>
          <a:p>
            <a:pPr>
              <a:buNone/>
            </a:pPr>
            <a:r>
              <a:rPr lang="en-IN" sz="2000" dirty="0">
                <a:latin typeface="+mn-lt"/>
              </a:rPr>
              <a:t>main()</a:t>
            </a:r>
            <a:r>
              <a:rPr lang="en-IN" sz="2000" dirty="0"/>
              <a:t> </a:t>
            </a:r>
            <a:r>
              <a:rPr lang="en-IN" sz="2000" b="1" dirty="0"/>
              <a:t>calls</a:t>
            </a:r>
            <a:r>
              <a:rPr lang="en-IN" sz="2000" dirty="0"/>
              <a:t> the </a:t>
            </a:r>
            <a:r>
              <a:rPr lang="en-IN" sz="2000" dirty="0">
                <a:latin typeface="+mn-lt"/>
              </a:rPr>
              <a:t>welcome()</a:t>
            </a:r>
            <a:r>
              <a:rPr lang="en-IN" sz="2000" dirty="0"/>
              <a:t> function.</a:t>
            </a:r>
          </a:p>
          <a:p>
            <a:pPr>
              <a:buNone/>
            </a:pPr>
            <a:r>
              <a:rPr lang="en-IN" sz="2000" dirty="0"/>
              <a:t>So:</a:t>
            </a:r>
          </a:p>
          <a:p>
            <a:pPr>
              <a:buNone/>
            </a:pPr>
            <a:endParaRPr lang="en-IN" sz="2000" dirty="0"/>
          </a:p>
          <a:p>
            <a:pPr>
              <a:buNone/>
            </a:pPr>
            <a:r>
              <a:rPr lang="en-IN" sz="2000" b="1" dirty="0">
                <a:latin typeface="+mn-lt"/>
              </a:rPr>
              <a:t>main()</a:t>
            </a:r>
            <a:r>
              <a:rPr lang="en-IN" sz="2000" b="1" dirty="0"/>
              <a:t> is called the Calling Function.</a:t>
            </a:r>
            <a:endParaRPr lang="en-IN" sz="2000" dirty="0"/>
          </a:p>
        </p:txBody>
      </p:sp>
      <p:sp>
        <p:nvSpPr>
          <p:cNvPr id="9" name="TextBox 8">
            <a:extLst>
              <a:ext uri="{FF2B5EF4-FFF2-40B4-BE49-F238E27FC236}">
                <a16:creationId xmlns:a16="http://schemas.microsoft.com/office/drawing/2014/main" id="{B507C843-BB22-8F53-F5AC-1F0305608B06}"/>
              </a:ext>
            </a:extLst>
          </p:cNvPr>
          <p:cNvSpPr txBox="1"/>
          <p:nvPr/>
        </p:nvSpPr>
        <p:spPr>
          <a:xfrm>
            <a:off x="5396697" y="3257458"/>
            <a:ext cx="6094070" cy="3170099"/>
          </a:xfrm>
          <a:prstGeom prst="rect">
            <a:avLst/>
          </a:prstGeom>
          <a:noFill/>
        </p:spPr>
        <p:txBody>
          <a:bodyPr wrap="square">
            <a:spAutoFit/>
          </a:bodyPr>
          <a:lstStyle/>
          <a:p>
            <a:pPr>
              <a:buNone/>
            </a:pPr>
            <a:r>
              <a:rPr lang="en-IN" sz="2000" b="1" u="sng" dirty="0">
                <a:solidFill>
                  <a:srgbClr val="FF0000"/>
                </a:solidFill>
              </a:rPr>
              <a:t>2. Called Function</a:t>
            </a:r>
          </a:p>
          <a:p>
            <a:pPr>
              <a:buNone/>
            </a:pPr>
            <a:endParaRPr lang="en-IN" sz="2000" b="1" dirty="0"/>
          </a:p>
          <a:p>
            <a:pPr rtl="0">
              <a:buNone/>
            </a:pPr>
            <a:r>
              <a:rPr lang="en-IN" sz="2000" dirty="0">
                <a:latin typeface="+mn-lt"/>
              </a:rPr>
              <a:t>void welcome()</a:t>
            </a:r>
          </a:p>
          <a:p>
            <a:pPr rtl="0">
              <a:buNone/>
            </a:pPr>
            <a:r>
              <a:rPr lang="en-IN" sz="2000" dirty="0">
                <a:latin typeface="+mn-lt"/>
              </a:rPr>
              <a:t>{</a:t>
            </a:r>
          </a:p>
          <a:p>
            <a:pPr rtl="0">
              <a:buNone/>
            </a:pPr>
            <a:r>
              <a:rPr lang="en-IN" sz="2000" dirty="0">
                <a:latin typeface="+mn-lt"/>
              </a:rPr>
              <a:t>    </a:t>
            </a:r>
            <a:r>
              <a:rPr lang="en-IN" sz="2000" dirty="0" err="1">
                <a:latin typeface="+mn-lt"/>
              </a:rPr>
              <a:t>printf</a:t>
            </a:r>
            <a:r>
              <a:rPr lang="en-IN" sz="2000" dirty="0">
                <a:latin typeface="+mn-lt"/>
              </a:rPr>
              <a:t>("Welcome Students\n");</a:t>
            </a:r>
          </a:p>
          <a:p>
            <a:pPr rtl="0">
              <a:buNone/>
            </a:pPr>
            <a:r>
              <a:rPr lang="en-IN" sz="2000" dirty="0">
                <a:latin typeface="+mn-lt"/>
              </a:rPr>
              <a:t>}</a:t>
            </a:r>
          </a:p>
          <a:p>
            <a:pPr>
              <a:buNone/>
            </a:pPr>
            <a:r>
              <a:rPr lang="en-IN" sz="2000" dirty="0">
                <a:latin typeface="+mn-lt"/>
              </a:rPr>
              <a:t>welcome()</a:t>
            </a:r>
            <a:r>
              <a:rPr lang="en-IN" sz="2000" dirty="0"/>
              <a:t> is the function </a:t>
            </a:r>
            <a:r>
              <a:rPr lang="en-IN" sz="2000" b="1" dirty="0"/>
              <a:t>being called</a:t>
            </a:r>
            <a:r>
              <a:rPr lang="en-IN" sz="2000" dirty="0"/>
              <a:t> by </a:t>
            </a:r>
            <a:r>
              <a:rPr lang="en-IN" sz="2000" dirty="0">
                <a:latin typeface="+mn-lt"/>
              </a:rPr>
              <a:t>main()</a:t>
            </a:r>
            <a:r>
              <a:rPr lang="en-IN" sz="2000" dirty="0"/>
              <a:t>.</a:t>
            </a:r>
          </a:p>
          <a:p>
            <a:pPr>
              <a:buNone/>
            </a:pPr>
            <a:r>
              <a:rPr lang="en-IN" sz="2000" dirty="0"/>
              <a:t>So:</a:t>
            </a:r>
          </a:p>
          <a:p>
            <a:pPr>
              <a:buNone/>
            </a:pPr>
            <a:endParaRPr lang="en-IN" sz="2000" dirty="0"/>
          </a:p>
          <a:p>
            <a:pPr>
              <a:buNone/>
            </a:pPr>
            <a:r>
              <a:rPr lang="en-IN" sz="2000" b="1" dirty="0">
                <a:latin typeface="+mn-lt"/>
              </a:rPr>
              <a:t>welcome()</a:t>
            </a:r>
            <a:r>
              <a:rPr lang="en-IN" sz="2000" b="1" dirty="0"/>
              <a:t> is called the Called Function.</a:t>
            </a:r>
            <a:endParaRPr lang="en-IN" sz="2000" dirty="0"/>
          </a:p>
        </p:txBody>
      </p:sp>
      <p:sp>
        <p:nvSpPr>
          <p:cNvPr id="11" name="TextBox 10">
            <a:extLst>
              <a:ext uri="{FF2B5EF4-FFF2-40B4-BE49-F238E27FC236}">
                <a16:creationId xmlns:a16="http://schemas.microsoft.com/office/drawing/2014/main" id="{B0742EEF-4114-734E-C8D5-BD07AA4437D7}"/>
              </a:ext>
            </a:extLst>
          </p:cNvPr>
          <p:cNvSpPr txBox="1"/>
          <p:nvPr/>
        </p:nvSpPr>
        <p:spPr>
          <a:xfrm>
            <a:off x="1930" y="4316532"/>
            <a:ext cx="6094070" cy="646331"/>
          </a:xfrm>
          <a:prstGeom prst="rect">
            <a:avLst/>
          </a:prstGeom>
          <a:noFill/>
        </p:spPr>
        <p:txBody>
          <a:bodyPr wrap="square">
            <a:spAutoFit/>
          </a:bodyPr>
          <a:lstStyle/>
          <a:p>
            <a:r>
              <a:rPr lang="en-IN" b="1" dirty="0">
                <a:solidFill>
                  <a:srgbClr val="FF0000"/>
                </a:solidFill>
              </a:rPr>
              <a:t>The function that makes the call → Calling Function</a:t>
            </a:r>
            <a:br>
              <a:rPr lang="en-IN" dirty="0">
                <a:solidFill>
                  <a:srgbClr val="FF0000"/>
                </a:solidFill>
              </a:rPr>
            </a:br>
            <a:r>
              <a:rPr lang="en-IN" b="1" dirty="0">
                <a:solidFill>
                  <a:srgbClr val="FF0000"/>
                </a:solidFill>
              </a:rPr>
              <a:t>The function that receives the call → Called Function</a:t>
            </a:r>
            <a:endParaRPr lang="en-IN" dirty="0">
              <a:solidFill>
                <a:srgbClr val="FF0000"/>
              </a:solidFill>
            </a:endParaRPr>
          </a:p>
        </p:txBody>
      </p:sp>
      <p:sp>
        <p:nvSpPr>
          <p:cNvPr id="13" name="TextBox 12">
            <a:extLst>
              <a:ext uri="{FF2B5EF4-FFF2-40B4-BE49-F238E27FC236}">
                <a16:creationId xmlns:a16="http://schemas.microsoft.com/office/drawing/2014/main" id="{BF92301F-62BC-609C-0F6B-58569AD2056E}"/>
              </a:ext>
            </a:extLst>
          </p:cNvPr>
          <p:cNvSpPr txBox="1"/>
          <p:nvPr/>
        </p:nvSpPr>
        <p:spPr>
          <a:xfrm>
            <a:off x="164940" y="5095045"/>
            <a:ext cx="6117220" cy="1200329"/>
          </a:xfrm>
          <a:prstGeom prst="rect">
            <a:avLst/>
          </a:prstGeom>
          <a:noFill/>
        </p:spPr>
        <p:txBody>
          <a:bodyPr wrap="square">
            <a:spAutoFit/>
          </a:bodyPr>
          <a:lstStyle/>
          <a:p>
            <a:pPr>
              <a:buNone/>
            </a:pPr>
            <a:r>
              <a:rPr lang="en-IN" dirty="0">
                <a:solidFill>
                  <a:srgbClr val="FF0000"/>
                </a:solidFill>
              </a:rPr>
              <a:t>For example:</a:t>
            </a:r>
          </a:p>
          <a:p>
            <a:pPr>
              <a:buNone/>
            </a:pPr>
            <a:r>
              <a:rPr lang="en-IN" b="1" dirty="0">
                <a:solidFill>
                  <a:srgbClr val="FF0000"/>
                </a:solidFill>
              </a:rPr>
              <a:t>Teacher says:</a:t>
            </a:r>
            <a:r>
              <a:rPr lang="en-IN" dirty="0">
                <a:solidFill>
                  <a:srgbClr val="FF0000"/>
                </a:solidFill>
              </a:rPr>
              <a:t> "Student, come here."</a:t>
            </a:r>
          </a:p>
          <a:p>
            <a:pPr marL="342900" lvl="0" indent="-342900">
              <a:buFont typeface="Arial" panose="020B0604020202020204" pitchFamily="34" charset="0"/>
              <a:buChar char="•"/>
            </a:pPr>
            <a:r>
              <a:rPr lang="en-IN" b="1" dirty="0">
                <a:solidFill>
                  <a:srgbClr val="FF0000"/>
                </a:solidFill>
              </a:rPr>
              <a:t>Teacher</a:t>
            </a:r>
            <a:r>
              <a:rPr lang="en-IN" dirty="0">
                <a:solidFill>
                  <a:srgbClr val="FF0000"/>
                </a:solidFill>
              </a:rPr>
              <a:t> → Calling function </a:t>
            </a:r>
          </a:p>
          <a:p>
            <a:pPr marL="342900" lvl="0" indent="-342900">
              <a:buFont typeface="Arial" panose="020B0604020202020204" pitchFamily="34" charset="0"/>
              <a:buChar char="•"/>
            </a:pPr>
            <a:r>
              <a:rPr lang="en-IN" b="1" dirty="0">
                <a:solidFill>
                  <a:srgbClr val="FF0000"/>
                </a:solidFill>
              </a:rPr>
              <a:t>Student</a:t>
            </a:r>
            <a:r>
              <a:rPr lang="en-IN" dirty="0">
                <a:solidFill>
                  <a:srgbClr val="FF0000"/>
                </a:solidFill>
              </a:rPr>
              <a:t> → Called function</a:t>
            </a:r>
          </a:p>
        </p:txBody>
      </p:sp>
    </p:spTree>
    <p:extLst>
      <p:ext uri="{BB962C8B-B14F-4D97-AF65-F5344CB8AC3E}">
        <p14:creationId xmlns:p14="http://schemas.microsoft.com/office/powerpoint/2010/main" val="660514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C3FFE2-5561-33D0-6BEE-B56F70AAAB66}"/>
              </a:ext>
            </a:extLst>
          </p:cNvPr>
          <p:cNvSpPr txBox="1"/>
          <p:nvPr/>
        </p:nvSpPr>
        <p:spPr>
          <a:xfrm>
            <a:off x="153365" y="93687"/>
            <a:ext cx="6094070" cy="3785652"/>
          </a:xfrm>
          <a:prstGeom prst="rect">
            <a:avLst/>
          </a:prstGeom>
          <a:noFill/>
        </p:spPr>
        <p:txBody>
          <a:bodyPr wrap="square">
            <a:spAutoFit/>
          </a:bodyPr>
          <a:lstStyle/>
          <a:p>
            <a:r>
              <a:rPr lang="en-IN" sz="2000" b="1" dirty="0"/>
              <a:t>#include &lt;</a:t>
            </a:r>
            <a:r>
              <a:rPr lang="en-IN" sz="2000" b="1" dirty="0" err="1"/>
              <a:t>stdio.h</a:t>
            </a:r>
            <a:r>
              <a:rPr lang="en-IN" sz="2000" b="1" dirty="0"/>
              <a:t>&gt;</a:t>
            </a:r>
          </a:p>
          <a:p>
            <a:r>
              <a:rPr lang="en-IN" sz="2000" b="1" dirty="0"/>
              <a:t>int main()</a:t>
            </a:r>
          </a:p>
          <a:p>
            <a:r>
              <a:rPr lang="en-IN" sz="2000" b="1" dirty="0"/>
              <a:t>{</a:t>
            </a:r>
          </a:p>
          <a:p>
            <a:r>
              <a:rPr lang="en-IN" sz="2000" b="1" dirty="0"/>
              <a:t>    int result;</a:t>
            </a:r>
          </a:p>
          <a:p>
            <a:r>
              <a:rPr lang="en-IN" sz="2000" b="1" dirty="0"/>
              <a:t>    result = add(10, 20);</a:t>
            </a:r>
          </a:p>
          <a:p>
            <a:r>
              <a:rPr lang="en-IN" sz="2000" b="1" dirty="0"/>
              <a:t>    </a:t>
            </a:r>
            <a:r>
              <a:rPr lang="en-IN" sz="2000" b="1" dirty="0" err="1"/>
              <a:t>printf</a:t>
            </a:r>
            <a:r>
              <a:rPr lang="en-IN" sz="2000" b="1" dirty="0"/>
              <a:t>("Sum = %d", result);</a:t>
            </a:r>
          </a:p>
          <a:p>
            <a:r>
              <a:rPr lang="en-IN" sz="2000" b="1" dirty="0"/>
              <a:t>    return 0;</a:t>
            </a:r>
          </a:p>
          <a:p>
            <a:r>
              <a:rPr lang="en-IN" sz="2000" b="1" dirty="0"/>
              <a:t>}</a:t>
            </a:r>
          </a:p>
          <a:p>
            <a:r>
              <a:rPr lang="en-IN" sz="2000" b="1" dirty="0"/>
              <a:t>int add(int a, int b)</a:t>
            </a:r>
          </a:p>
          <a:p>
            <a:r>
              <a:rPr lang="en-IN" sz="2000" b="1" dirty="0"/>
              <a:t>{</a:t>
            </a:r>
          </a:p>
          <a:p>
            <a:r>
              <a:rPr lang="en-IN" sz="2000" b="1" dirty="0"/>
              <a:t>    return a + b;</a:t>
            </a:r>
          </a:p>
          <a:p>
            <a:r>
              <a:rPr lang="en-IN" sz="2000" b="1" dirty="0"/>
              <a:t>}</a:t>
            </a:r>
          </a:p>
        </p:txBody>
      </p:sp>
      <p:sp>
        <p:nvSpPr>
          <p:cNvPr id="7" name="TextBox 6">
            <a:extLst>
              <a:ext uri="{FF2B5EF4-FFF2-40B4-BE49-F238E27FC236}">
                <a16:creationId xmlns:a16="http://schemas.microsoft.com/office/drawing/2014/main" id="{51ECD105-268C-9BEC-616E-A88AF1EEA9BC}"/>
              </a:ext>
            </a:extLst>
          </p:cNvPr>
          <p:cNvSpPr txBox="1"/>
          <p:nvPr/>
        </p:nvSpPr>
        <p:spPr>
          <a:xfrm>
            <a:off x="4392730" y="363363"/>
            <a:ext cx="6441174" cy="3416320"/>
          </a:xfrm>
          <a:prstGeom prst="rect">
            <a:avLst/>
          </a:prstGeom>
          <a:noFill/>
        </p:spPr>
        <p:txBody>
          <a:bodyPr wrap="square">
            <a:spAutoFit/>
          </a:bodyPr>
          <a:lstStyle/>
          <a:p>
            <a:pPr>
              <a:buNone/>
            </a:pPr>
            <a:r>
              <a:rPr lang="en-IN" b="1" dirty="0"/>
              <a:t>3. Actual Arguments</a:t>
            </a:r>
          </a:p>
          <a:p>
            <a:pPr>
              <a:buNone/>
            </a:pPr>
            <a:r>
              <a:rPr lang="en-IN" dirty="0"/>
              <a:t>Look at:</a:t>
            </a:r>
          </a:p>
          <a:p>
            <a:pPr rtl="0">
              <a:buNone/>
            </a:pPr>
            <a:r>
              <a:rPr lang="en-IN" dirty="0">
                <a:latin typeface="+mn-lt"/>
              </a:rPr>
              <a:t>result = add(10, 20);</a:t>
            </a:r>
          </a:p>
          <a:p>
            <a:pPr rtl="0">
              <a:buNone/>
            </a:pPr>
            <a:endParaRPr lang="en-IN" dirty="0">
              <a:latin typeface="+mn-lt"/>
            </a:endParaRPr>
          </a:p>
          <a:p>
            <a:pPr>
              <a:buNone/>
            </a:pPr>
            <a:r>
              <a:rPr lang="en-IN" dirty="0"/>
              <a:t>The values:</a:t>
            </a:r>
          </a:p>
          <a:p>
            <a:pPr rtl="0">
              <a:buNone/>
            </a:pPr>
            <a:r>
              <a:rPr lang="en-IN" dirty="0">
                <a:latin typeface="+mn-lt"/>
              </a:rPr>
              <a:t>10</a:t>
            </a:r>
          </a:p>
          <a:p>
            <a:pPr rtl="0">
              <a:buNone/>
            </a:pPr>
            <a:r>
              <a:rPr lang="en-IN" dirty="0">
                <a:latin typeface="+mn-lt"/>
              </a:rPr>
              <a:t>20</a:t>
            </a:r>
          </a:p>
          <a:p>
            <a:pPr>
              <a:buNone/>
            </a:pPr>
            <a:r>
              <a:rPr lang="en-IN" dirty="0"/>
              <a:t>are called </a:t>
            </a:r>
            <a:r>
              <a:rPr lang="en-IN" b="1" dirty="0"/>
              <a:t>actual arguments</a:t>
            </a:r>
            <a:r>
              <a:rPr lang="en-IN" dirty="0"/>
              <a:t>.</a:t>
            </a:r>
          </a:p>
          <a:p>
            <a:pPr>
              <a:buNone/>
            </a:pPr>
            <a:r>
              <a:rPr lang="en-IN" dirty="0"/>
              <a:t>Why?</a:t>
            </a:r>
          </a:p>
          <a:p>
            <a:pPr>
              <a:buNone/>
            </a:pPr>
            <a:endParaRPr lang="en-IN" dirty="0"/>
          </a:p>
          <a:p>
            <a:pPr>
              <a:buNone/>
            </a:pPr>
            <a:r>
              <a:rPr lang="en-IN" dirty="0"/>
              <a:t>Because these are the </a:t>
            </a:r>
            <a:r>
              <a:rPr lang="en-IN" b="1" dirty="0"/>
              <a:t>actual values passed to the function</a:t>
            </a:r>
            <a:r>
              <a:rPr lang="en-IN" dirty="0"/>
              <a:t>.</a:t>
            </a:r>
          </a:p>
          <a:p>
            <a:pPr>
              <a:buNone/>
            </a:pPr>
            <a:r>
              <a:rPr lang="en-IN" b="1" dirty="0"/>
              <a:t>Actual arguments are the values given during the function call.</a:t>
            </a:r>
            <a:endParaRPr lang="en-IN" dirty="0"/>
          </a:p>
        </p:txBody>
      </p:sp>
    </p:spTree>
    <p:extLst>
      <p:ext uri="{BB962C8B-B14F-4D97-AF65-F5344CB8AC3E}">
        <p14:creationId xmlns:p14="http://schemas.microsoft.com/office/powerpoint/2010/main" val="2357881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6837C-3914-AE18-304D-1F79E84B7907}"/>
              </a:ext>
            </a:extLst>
          </p:cNvPr>
          <p:cNvSpPr txBox="1"/>
          <p:nvPr/>
        </p:nvSpPr>
        <p:spPr>
          <a:xfrm>
            <a:off x="153365" y="93687"/>
            <a:ext cx="6094070" cy="3785652"/>
          </a:xfrm>
          <a:prstGeom prst="rect">
            <a:avLst/>
          </a:prstGeom>
          <a:noFill/>
        </p:spPr>
        <p:txBody>
          <a:bodyPr wrap="square">
            <a:spAutoFit/>
          </a:bodyPr>
          <a:lstStyle/>
          <a:p>
            <a:r>
              <a:rPr lang="en-IN" sz="2000" b="1" dirty="0"/>
              <a:t>#include &lt;</a:t>
            </a:r>
            <a:r>
              <a:rPr lang="en-IN" sz="2000" b="1" dirty="0" err="1"/>
              <a:t>stdio.h</a:t>
            </a:r>
            <a:r>
              <a:rPr lang="en-IN" sz="2000" b="1" dirty="0"/>
              <a:t>&gt;</a:t>
            </a:r>
          </a:p>
          <a:p>
            <a:r>
              <a:rPr lang="en-IN" sz="2000" b="1" dirty="0"/>
              <a:t>int main()</a:t>
            </a:r>
          </a:p>
          <a:p>
            <a:r>
              <a:rPr lang="en-IN" sz="2000" b="1" dirty="0"/>
              <a:t>{</a:t>
            </a:r>
          </a:p>
          <a:p>
            <a:r>
              <a:rPr lang="en-IN" sz="2000" b="1" dirty="0"/>
              <a:t>    int result;</a:t>
            </a:r>
          </a:p>
          <a:p>
            <a:r>
              <a:rPr lang="en-IN" sz="2000" b="1" dirty="0"/>
              <a:t>    result = add(10, 20);</a:t>
            </a:r>
          </a:p>
          <a:p>
            <a:r>
              <a:rPr lang="en-IN" sz="2000" b="1" dirty="0"/>
              <a:t>    </a:t>
            </a:r>
            <a:r>
              <a:rPr lang="en-IN" sz="2000" b="1" dirty="0" err="1"/>
              <a:t>printf</a:t>
            </a:r>
            <a:r>
              <a:rPr lang="en-IN" sz="2000" b="1" dirty="0"/>
              <a:t>("Sum = %d", result);</a:t>
            </a:r>
          </a:p>
          <a:p>
            <a:r>
              <a:rPr lang="en-IN" sz="2000" b="1" dirty="0"/>
              <a:t>    return 0;</a:t>
            </a:r>
          </a:p>
          <a:p>
            <a:r>
              <a:rPr lang="en-IN" sz="2000" b="1" dirty="0"/>
              <a:t>}</a:t>
            </a:r>
          </a:p>
          <a:p>
            <a:r>
              <a:rPr lang="en-IN" sz="2000" b="1" dirty="0"/>
              <a:t>int add(int a, int b)</a:t>
            </a:r>
          </a:p>
          <a:p>
            <a:r>
              <a:rPr lang="en-IN" sz="2000" b="1" dirty="0"/>
              <a:t>{</a:t>
            </a:r>
          </a:p>
          <a:p>
            <a:r>
              <a:rPr lang="en-IN" sz="2000" b="1" dirty="0"/>
              <a:t>    return a + b;</a:t>
            </a:r>
          </a:p>
          <a:p>
            <a:r>
              <a:rPr lang="en-IN" sz="2000" b="1" dirty="0"/>
              <a:t>}</a:t>
            </a:r>
          </a:p>
        </p:txBody>
      </p:sp>
      <p:sp>
        <p:nvSpPr>
          <p:cNvPr id="7" name="TextBox 6">
            <a:extLst>
              <a:ext uri="{FF2B5EF4-FFF2-40B4-BE49-F238E27FC236}">
                <a16:creationId xmlns:a16="http://schemas.microsoft.com/office/drawing/2014/main" id="{90A0A170-ECA8-7B3C-5DED-4190EAE3DB76}"/>
              </a:ext>
            </a:extLst>
          </p:cNvPr>
          <p:cNvSpPr txBox="1"/>
          <p:nvPr/>
        </p:nvSpPr>
        <p:spPr>
          <a:xfrm>
            <a:off x="3819645" y="93687"/>
            <a:ext cx="7893934" cy="6186309"/>
          </a:xfrm>
          <a:prstGeom prst="rect">
            <a:avLst/>
          </a:prstGeom>
          <a:noFill/>
        </p:spPr>
        <p:txBody>
          <a:bodyPr wrap="square">
            <a:spAutoFit/>
          </a:bodyPr>
          <a:lstStyle/>
          <a:p>
            <a:pPr>
              <a:buNone/>
            </a:pPr>
            <a:r>
              <a:rPr lang="en-IN" b="1" u="sng" dirty="0"/>
              <a:t>4. Formal Arguments</a:t>
            </a:r>
          </a:p>
          <a:p>
            <a:pPr>
              <a:buNone/>
            </a:pPr>
            <a:r>
              <a:rPr lang="en-IN" dirty="0"/>
              <a:t>Now look at the function definition:</a:t>
            </a:r>
          </a:p>
          <a:p>
            <a:pPr rtl="0">
              <a:buNone/>
            </a:pPr>
            <a:r>
              <a:rPr lang="en-IN" dirty="0">
                <a:latin typeface="+mn-lt"/>
              </a:rPr>
              <a:t>int add(int a, int b)</a:t>
            </a:r>
          </a:p>
          <a:p>
            <a:pPr>
              <a:buNone/>
            </a:pPr>
            <a:r>
              <a:rPr lang="en-IN" dirty="0"/>
              <a:t>Here:</a:t>
            </a:r>
          </a:p>
          <a:p>
            <a:pPr rtl="0">
              <a:buNone/>
            </a:pPr>
            <a:r>
              <a:rPr lang="en-IN" dirty="0">
                <a:latin typeface="+mn-lt"/>
              </a:rPr>
              <a:t>a</a:t>
            </a:r>
          </a:p>
          <a:p>
            <a:pPr rtl="0">
              <a:buNone/>
            </a:pPr>
            <a:r>
              <a:rPr lang="en-IN" dirty="0">
                <a:latin typeface="+mn-lt"/>
              </a:rPr>
              <a:t>b</a:t>
            </a:r>
          </a:p>
          <a:p>
            <a:pPr>
              <a:buNone/>
            </a:pPr>
            <a:r>
              <a:rPr lang="en-IN" dirty="0"/>
              <a:t>are called </a:t>
            </a:r>
            <a:r>
              <a:rPr lang="en-IN" b="1" dirty="0"/>
              <a:t>formal arguments</a:t>
            </a:r>
            <a:r>
              <a:rPr lang="en-IN" dirty="0"/>
              <a:t> or </a:t>
            </a:r>
            <a:r>
              <a:rPr lang="en-IN" b="1" dirty="0"/>
              <a:t>formal parameters</a:t>
            </a:r>
            <a:r>
              <a:rPr lang="en-IN" dirty="0"/>
              <a:t>.</a:t>
            </a:r>
          </a:p>
          <a:p>
            <a:pPr>
              <a:buNone/>
            </a:pPr>
            <a:r>
              <a:rPr lang="en-IN" dirty="0"/>
              <a:t>They </a:t>
            </a:r>
            <a:r>
              <a:rPr lang="en-IN" b="1" dirty="0"/>
              <a:t>receive the values</a:t>
            </a:r>
            <a:r>
              <a:rPr lang="en-IN" dirty="0"/>
              <a:t> from the actual arguments.</a:t>
            </a:r>
          </a:p>
          <a:p>
            <a:pPr>
              <a:buNone/>
            </a:pPr>
            <a:r>
              <a:rPr lang="en-IN" dirty="0"/>
              <a:t>So:</a:t>
            </a:r>
          </a:p>
          <a:p>
            <a:pPr rtl="0">
              <a:buNone/>
            </a:pPr>
            <a:r>
              <a:rPr lang="en-IN" dirty="0">
                <a:latin typeface="+mn-lt"/>
              </a:rPr>
              <a:t>Actual arguments          Formal arguments</a:t>
            </a:r>
          </a:p>
          <a:p>
            <a:pPr rtl="0">
              <a:buNone/>
            </a:pPr>
            <a:endParaRPr lang="en-IN" dirty="0">
              <a:latin typeface="+mn-lt"/>
            </a:endParaRPr>
          </a:p>
          <a:p>
            <a:pPr rtl="0">
              <a:buNone/>
            </a:pPr>
            <a:r>
              <a:rPr lang="en-IN" dirty="0">
                <a:latin typeface="+mn-lt"/>
              </a:rPr>
              <a:t>    10  ─────────────────→  a</a:t>
            </a:r>
          </a:p>
          <a:p>
            <a:pPr rtl="0">
              <a:buNone/>
            </a:pPr>
            <a:r>
              <a:rPr lang="en-IN" dirty="0">
                <a:latin typeface="+mn-lt"/>
              </a:rPr>
              <a:t>    20  ─────────────────→  b</a:t>
            </a:r>
          </a:p>
          <a:p>
            <a:pPr>
              <a:buNone/>
            </a:pPr>
            <a:r>
              <a:rPr lang="en-IN" dirty="0"/>
              <a:t>Therefore:</a:t>
            </a:r>
          </a:p>
          <a:p>
            <a:pPr rtl="0">
              <a:buNone/>
            </a:pPr>
            <a:r>
              <a:rPr lang="en-IN" dirty="0">
                <a:latin typeface="+mn-lt"/>
              </a:rPr>
              <a:t>10 → a</a:t>
            </a:r>
          </a:p>
          <a:p>
            <a:pPr rtl="0">
              <a:buNone/>
            </a:pPr>
            <a:r>
              <a:rPr lang="en-IN" dirty="0">
                <a:latin typeface="+mn-lt"/>
              </a:rPr>
              <a:t>20 → b</a:t>
            </a:r>
          </a:p>
          <a:p>
            <a:pPr>
              <a:buNone/>
            </a:pPr>
            <a:r>
              <a:rPr lang="en-IN" dirty="0"/>
              <a:t>Then:</a:t>
            </a:r>
          </a:p>
          <a:p>
            <a:pPr rtl="0">
              <a:buNone/>
            </a:pPr>
            <a:r>
              <a:rPr lang="en-IN" dirty="0">
                <a:latin typeface="+mn-lt"/>
              </a:rPr>
              <a:t>return a + b;</a:t>
            </a:r>
          </a:p>
          <a:p>
            <a:pPr>
              <a:buNone/>
            </a:pPr>
            <a:r>
              <a:rPr lang="en-IN" dirty="0"/>
              <a:t>becomes:</a:t>
            </a:r>
          </a:p>
          <a:p>
            <a:pPr rtl="0">
              <a:buNone/>
            </a:pPr>
            <a:r>
              <a:rPr lang="en-IN" dirty="0">
                <a:latin typeface="+mn-lt"/>
              </a:rPr>
              <a:t>10 + 20</a:t>
            </a:r>
          </a:p>
          <a:p>
            <a:pPr>
              <a:buNone/>
            </a:pPr>
            <a:r>
              <a:rPr lang="en-IN" dirty="0"/>
              <a:t>and returns:</a:t>
            </a:r>
          </a:p>
          <a:p>
            <a:pPr rtl="0">
              <a:buNone/>
            </a:pPr>
            <a:r>
              <a:rPr lang="en-IN" dirty="0">
                <a:latin typeface="+mn-lt"/>
              </a:rPr>
              <a:t>30</a:t>
            </a:r>
            <a:endParaRPr lang="en-IN" dirty="0">
              <a:latin typeface="Courier New" panose="02070309020205020404" pitchFamily="49" charset="0"/>
            </a:endParaRPr>
          </a:p>
        </p:txBody>
      </p:sp>
    </p:spTree>
    <p:extLst>
      <p:ext uri="{BB962C8B-B14F-4D97-AF65-F5344CB8AC3E}">
        <p14:creationId xmlns:p14="http://schemas.microsoft.com/office/powerpoint/2010/main" val="3651784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6424-08FC-A5A0-D9A7-266481064358}"/>
              </a:ext>
            </a:extLst>
          </p:cNvPr>
          <p:cNvSpPr>
            <a:spLocks noGrp="1"/>
          </p:cNvSpPr>
          <p:nvPr>
            <p:ph type="title"/>
          </p:nvPr>
        </p:nvSpPr>
        <p:spPr>
          <a:xfrm>
            <a:off x="1415963" y="2059944"/>
            <a:ext cx="10287000" cy="1147762"/>
          </a:xfrm>
        </p:spPr>
        <p:txBody>
          <a:bodyPr/>
          <a:lstStyle/>
          <a:p>
            <a:r>
              <a:rPr lang="en-US" dirty="0">
                <a:solidFill>
                  <a:srgbClr val="FF0000"/>
                </a:solidFill>
              </a:rPr>
              <a:t>Categories of user defined functions</a:t>
            </a:r>
            <a:endParaRPr lang="en-IN" dirty="0">
              <a:solidFill>
                <a:srgbClr val="FF0000"/>
              </a:solidFill>
            </a:endParaRPr>
          </a:p>
        </p:txBody>
      </p:sp>
    </p:spTree>
    <p:extLst>
      <p:ext uri="{BB962C8B-B14F-4D97-AF65-F5344CB8AC3E}">
        <p14:creationId xmlns:p14="http://schemas.microsoft.com/office/powerpoint/2010/main" val="1832667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F8846-0AAA-932E-B9FA-826500E97C80}"/>
              </a:ext>
            </a:extLst>
          </p:cNvPr>
          <p:cNvSpPr>
            <a:spLocks noGrp="1"/>
          </p:cNvSpPr>
          <p:nvPr>
            <p:ph type="title"/>
          </p:nvPr>
        </p:nvSpPr>
        <p:spPr/>
        <p:txBody>
          <a:bodyPr>
            <a:normAutofit/>
          </a:bodyPr>
          <a:lstStyle/>
          <a:p>
            <a:r>
              <a:rPr lang="en-IN" b="1" dirty="0"/>
              <a:t>Functions in C</a:t>
            </a:r>
            <a:br>
              <a:rPr lang="en-IN" b="1" dirty="0"/>
            </a:br>
            <a:endParaRPr lang="en-US" dirty="0"/>
          </a:p>
        </p:txBody>
      </p:sp>
      <p:sp>
        <p:nvSpPr>
          <p:cNvPr id="3" name="Content Placeholder 2">
            <a:extLst>
              <a:ext uri="{FF2B5EF4-FFF2-40B4-BE49-F238E27FC236}">
                <a16:creationId xmlns:a16="http://schemas.microsoft.com/office/drawing/2014/main" id="{C4426AA5-62A4-BFAE-F64F-C8069809B21E}"/>
              </a:ext>
            </a:extLst>
          </p:cNvPr>
          <p:cNvSpPr>
            <a:spLocks noGrp="1"/>
          </p:cNvSpPr>
          <p:nvPr>
            <p:ph idx="1"/>
          </p:nvPr>
        </p:nvSpPr>
        <p:spPr>
          <a:xfrm>
            <a:off x="419548" y="1635163"/>
            <a:ext cx="10819952" cy="4541800"/>
          </a:xfrm>
        </p:spPr>
        <p:txBody>
          <a:bodyPr>
            <a:normAutofit fontScale="62500" lnSpcReduction="20000"/>
          </a:bodyPr>
          <a:lstStyle/>
          <a:p>
            <a:pPr marL="0" indent="0">
              <a:buNone/>
            </a:pPr>
            <a:r>
              <a:rPr lang="en-IN" sz="2900" dirty="0"/>
              <a:t>A </a:t>
            </a:r>
            <a:r>
              <a:rPr lang="en-IN" sz="2900" b="1" dirty="0"/>
              <a:t>function</a:t>
            </a:r>
            <a:r>
              <a:rPr lang="en-IN" sz="2900" dirty="0"/>
              <a:t> is a block of code designed to perform a particular task.</a:t>
            </a:r>
          </a:p>
          <a:p>
            <a:pPr marL="0" indent="0">
              <a:buNone/>
            </a:pPr>
            <a:endParaRPr lang="en-US" sz="2900" b="1" dirty="0"/>
          </a:p>
          <a:p>
            <a:pPr marL="0" indent="0">
              <a:buNone/>
            </a:pPr>
            <a:r>
              <a:rPr lang="en-US" sz="2900" b="1" dirty="0"/>
              <a:t>FUNCTION PROTOTYPES : </a:t>
            </a:r>
            <a:endParaRPr lang="en-US" sz="2900" dirty="0"/>
          </a:p>
          <a:p>
            <a:pPr marL="0" indent="0" algn="l">
              <a:buNone/>
            </a:pPr>
            <a:r>
              <a:rPr lang="en-US" sz="2900" dirty="0"/>
              <a:t>The functions are classified into the following types depending on the arguments :</a:t>
            </a:r>
          </a:p>
          <a:p>
            <a:pPr algn="l"/>
            <a:endParaRPr lang="en-US" sz="2900" dirty="0"/>
          </a:p>
          <a:p>
            <a:pPr marL="457200" indent="-457200" algn="l">
              <a:buAutoNum type="arabicPeriod"/>
            </a:pPr>
            <a:r>
              <a:rPr lang="en-US" sz="2900" dirty="0"/>
              <a:t>Function with no arguments and no return values</a:t>
            </a:r>
          </a:p>
          <a:p>
            <a:pPr marL="457200" indent="-457200" algn="l">
              <a:buFont typeface="Arial" panose="020B0604020202020204" pitchFamily="34" charset="0"/>
              <a:buAutoNum type="arabicPeriod"/>
            </a:pPr>
            <a:r>
              <a:rPr lang="en-US" sz="2900" dirty="0"/>
              <a:t>Function with  arguments and no return values</a:t>
            </a:r>
          </a:p>
          <a:p>
            <a:pPr marL="457200" indent="-457200" algn="l">
              <a:buFont typeface="Arial" panose="020B0604020202020204" pitchFamily="34" charset="0"/>
              <a:buAutoNum type="arabicPeriod"/>
            </a:pPr>
            <a:r>
              <a:rPr lang="en-US" sz="2900" dirty="0"/>
              <a:t>Function with  arguments and with return values</a:t>
            </a:r>
          </a:p>
          <a:p>
            <a:pPr marL="457200" indent="-457200" algn="l">
              <a:buFont typeface="Arial" panose="020B0604020202020204" pitchFamily="34" charset="0"/>
              <a:buAutoNum type="arabicPeriod"/>
            </a:pPr>
            <a:r>
              <a:rPr lang="en-US" sz="2900" dirty="0"/>
              <a:t>Function with no arguments and with return values</a:t>
            </a:r>
          </a:p>
          <a:p>
            <a:pPr marL="457200" indent="-457200" algn="l">
              <a:buAutoNum type="arabicPeriod"/>
            </a:pPr>
            <a:endParaRPr lang="en-US" sz="2900" dirty="0"/>
          </a:p>
          <a:p>
            <a:pPr marL="0" indent="0">
              <a:buNone/>
            </a:pPr>
            <a:br>
              <a:rPr lang="en-IN" dirty="0"/>
            </a:br>
            <a:endParaRPr lang="en-US" dirty="0"/>
          </a:p>
        </p:txBody>
      </p:sp>
    </p:spTree>
    <p:extLst>
      <p:ext uri="{BB962C8B-B14F-4D97-AF65-F5344CB8AC3E}">
        <p14:creationId xmlns:p14="http://schemas.microsoft.com/office/powerpoint/2010/main" val="2529635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763F9-D950-F004-6E52-453C1B54585A}"/>
              </a:ext>
            </a:extLst>
          </p:cNvPr>
          <p:cNvSpPr>
            <a:spLocks noGrp="1"/>
          </p:cNvSpPr>
          <p:nvPr>
            <p:ph type="title"/>
          </p:nvPr>
        </p:nvSpPr>
        <p:spPr>
          <a:xfrm>
            <a:off x="247426" y="365125"/>
            <a:ext cx="11106374" cy="753669"/>
          </a:xfrm>
        </p:spPr>
        <p:txBody>
          <a:bodyPr>
            <a:normAutofit fontScale="90000"/>
          </a:bodyPr>
          <a:lstStyle/>
          <a:p>
            <a:br>
              <a:rPr lang="en-US" sz="2200" b="1" dirty="0">
                <a:solidFill>
                  <a:srgbClr val="0070C0"/>
                </a:solidFill>
              </a:rPr>
            </a:br>
            <a:br>
              <a:rPr lang="en-US" sz="2200" b="1" dirty="0">
                <a:solidFill>
                  <a:srgbClr val="0070C0"/>
                </a:solidFill>
              </a:rPr>
            </a:br>
            <a:r>
              <a:rPr lang="en-US" sz="2200" b="1" dirty="0">
                <a:solidFill>
                  <a:srgbClr val="0070C0"/>
                </a:solidFill>
              </a:rPr>
              <a:t>1. FUNCTION WITH NO ARGUMENTS AND NO RETURN VALUES</a:t>
            </a:r>
            <a:br>
              <a:rPr lang="en-US" b="1" dirty="0">
                <a:solidFill>
                  <a:srgbClr val="0070C0"/>
                </a:solidFill>
              </a:rPr>
            </a:br>
            <a:endParaRPr lang="en-US" b="1" dirty="0">
              <a:solidFill>
                <a:srgbClr val="0070C0"/>
              </a:solidFill>
            </a:endParaRPr>
          </a:p>
        </p:txBody>
      </p:sp>
      <p:sp>
        <p:nvSpPr>
          <p:cNvPr id="3" name="Content Placeholder 2">
            <a:extLst>
              <a:ext uri="{FF2B5EF4-FFF2-40B4-BE49-F238E27FC236}">
                <a16:creationId xmlns:a16="http://schemas.microsoft.com/office/drawing/2014/main" id="{AC053CCC-CD3E-42C4-5E90-A9BF80FF2430}"/>
              </a:ext>
            </a:extLst>
          </p:cNvPr>
          <p:cNvSpPr>
            <a:spLocks noGrp="1"/>
          </p:cNvSpPr>
          <p:nvPr>
            <p:ph idx="1"/>
          </p:nvPr>
        </p:nvSpPr>
        <p:spPr>
          <a:xfrm>
            <a:off x="247426" y="1118794"/>
            <a:ext cx="11106374" cy="5739205"/>
          </a:xfrm>
        </p:spPr>
        <p:txBody>
          <a:bodyPr>
            <a:normAutofit/>
          </a:bodyPr>
          <a:lstStyle/>
          <a:p>
            <a:pPr marL="0" indent="0">
              <a:buNone/>
            </a:pPr>
            <a:r>
              <a:rPr lang="en-US" dirty="0">
                <a:solidFill>
                  <a:srgbClr val="C00000"/>
                </a:solidFill>
              </a:rPr>
              <a:t>No data transfer takes place between the calling function and called function.</a:t>
            </a:r>
          </a:p>
          <a:p>
            <a:pPr marL="0" indent="0">
              <a:buNone/>
            </a:pPr>
            <a:r>
              <a:rPr lang="en-US" dirty="0"/>
              <a:t>The called program will not receive any value to the calling program.</a:t>
            </a:r>
          </a:p>
          <a:p>
            <a:pPr marL="0" indent="0">
              <a:buNone/>
            </a:pPr>
            <a:r>
              <a:rPr lang="en-US" dirty="0"/>
              <a:t>The function is only executed and nothing is obtained. They read data values and print result in the same block.</a:t>
            </a:r>
          </a:p>
          <a:p>
            <a:pPr marL="0" indent="0">
              <a:buNone/>
            </a:pPr>
            <a:r>
              <a:rPr lang="en-US" dirty="0">
                <a:solidFill>
                  <a:srgbClr val="FF0000"/>
                </a:solidFill>
              </a:rPr>
              <a:t>Syntax :</a:t>
            </a:r>
          </a:p>
          <a:p>
            <a:pPr marL="0" indent="0">
              <a:buNone/>
            </a:pPr>
            <a:r>
              <a:rPr lang="en-US" dirty="0">
                <a:solidFill>
                  <a:srgbClr val="FF0000"/>
                </a:solidFill>
              </a:rPr>
              <a:t>main ()                   func1( ). // dotted line specifies data transfer</a:t>
            </a:r>
          </a:p>
          <a:p>
            <a:pPr marL="0" indent="0">
              <a:buNone/>
            </a:pPr>
            <a:r>
              <a:rPr lang="en-US" dirty="0">
                <a:solidFill>
                  <a:srgbClr val="FF0000"/>
                </a:solidFill>
              </a:rPr>
              <a:t>{                                    {</a:t>
            </a:r>
          </a:p>
          <a:p>
            <a:pPr marL="0" indent="0">
              <a:buNone/>
            </a:pPr>
            <a:r>
              <a:rPr lang="en-US" dirty="0">
                <a:solidFill>
                  <a:srgbClr val="FF0000"/>
                </a:solidFill>
              </a:rPr>
              <a:t>….       				 …..</a:t>
            </a:r>
          </a:p>
          <a:p>
            <a:pPr marL="0" indent="0">
              <a:buNone/>
            </a:pPr>
            <a:r>
              <a:rPr lang="en-US" dirty="0">
                <a:solidFill>
                  <a:srgbClr val="FF0000"/>
                </a:solidFill>
              </a:rPr>
              <a:t>….				……</a:t>
            </a:r>
          </a:p>
          <a:p>
            <a:pPr marL="0" indent="0">
              <a:buNone/>
            </a:pPr>
            <a:r>
              <a:rPr lang="en-US" dirty="0">
                <a:solidFill>
                  <a:srgbClr val="FF0000"/>
                </a:solidFill>
              </a:rPr>
              <a:t>funct1()</a:t>
            </a:r>
          </a:p>
          <a:p>
            <a:pPr marL="0" indent="0">
              <a:buNone/>
            </a:pPr>
            <a:r>
              <a:rPr lang="en-US" dirty="0">
                <a:solidFill>
                  <a:srgbClr val="FF0000"/>
                </a:solidFill>
              </a:rPr>
              <a:t>}                                  </a:t>
            </a:r>
          </a:p>
          <a:p>
            <a:pPr marL="0" indent="0">
              <a:buNone/>
            </a:pPr>
            <a:r>
              <a:rPr lang="en-US" dirty="0">
                <a:solidFill>
                  <a:srgbClr val="FF0000"/>
                </a:solidFill>
              </a:rPr>
              <a:t>                                          }    //    there is only transfer of control and no data transfer.</a:t>
            </a:r>
          </a:p>
          <a:p>
            <a:pPr marL="0" indent="0">
              <a:buNone/>
            </a:pPr>
            <a:r>
              <a:rPr lang="en-US" dirty="0">
                <a:solidFill>
                  <a:srgbClr val="FF0000"/>
                </a:solidFill>
              </a:rPr>
              <a:t> </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274B94ED-91D3-C05D-9374-9616EA74F88A}"/>
                  </a:ext>
                </a:extLst>
              </p14:cNvPr>
              <p14:cNvContentPartPr/>
              <p14:nvPr/>
            </p14:nvContentPartPr>
            <p14:xfrm>
              <a:off x="3215012" y="4142096"/>
              <a:ext cx="223560" cy="239400"/>
            </p14:xfrm>
          </p:contentPart>
        </mc:Choice>
        <mc:Fallback xmlns="">
          <p:pic>
            <p:nvPicPr>
              <p:cNvPr id="9" name="Ink 8">
                <a:extLst>
                  <a:ext uri="{FF2B5EF4-FFF2-40B4-BE49-F238E27FC236}">
                    <a16:creationId xmlns:a16="http://schemas.microsoft.com/office/drawing/2014/main" id="{274B94ED-91D3-C05D-9374-9616EA74F88A}"/>
                  </a:ext>
                </a:extLst>
              </p:cNvPr>
              <p:cNvPicPr/>
              <p:nvPr/>
            </p:nvPicPr>
            <p:blipFill>
              <a:blip r:embed="rId3"/>
              <a:stretch>
                <a:fillRect/>
              </a:stretch>
            </p:blipFill>
            <p:spPr>
              <a:xfrm>
                <a:off x="3206372" y="4133096"/>
                <a:ext cx="2412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1CDC447C-61C6-AFE6-9414-A31B9D0F850A}"/>
                  </a:ext>
                </a:extLst>
              </p14:cNvPr>
              <p14:cNvContentPartPr/>
              <p14:nvPr/>
            </p14:nvContentPartPr>
            <p14:xfrm>
              <a:off x="1661432" y="5543193"/>
              <a:ext cx="231480" cy="211320"/>
            </p14:xfrm>
          </p:contentPart>
        </mc:Choice>
        <mc:Fallback xmlns="">
          <p:pic>
            <p:nvPicPr>
              <p:cNvPr id="10" name="Ink 9">
                <a:extLst>
                  <a:ext uri="{FF2B5EF4-FFF2-40B4-BE49-F238E27FC236}">
                    <a16:creationId xmlns:a16="http://schemas.microsoft.com/office/drawing/2014/main" id="{1CDC447C-61C6-AFE6-9414-A31B9D0F850A}"/>
                  </a:ext>
                </a:extLst>
              </p:cNvPr>
              <p:cNvPicPr/>
              <p:nvPr/>
            </p:nvPicPr>
            <p:blipFill>
              <a:blip r:embed="rId5"/>
              <a:stretch>
                <a:fillRect/>
              </a:stretch>
            </p:blipFill>
            <p:spPr>
              <a:xfrm>
                <a:off x="1652432" y="5534553"/>
                <a:ext cx="249120" cy="228960"/>
              </a:xfrm>
              <a:prstGeom prst="rect">
                <a:avLst/>
              </a:prstGeom>
            </p:spPr>
          </p:pic>
        </mc:Fallback>
      </mc:AlternateContent>
      <p:grpSp>
        <p:nvGrpSpPr>
          <p:cNvPr id="18" name="Group 17">
            <a:extLst>
              <a:ext uri="{FF2B5EF4-FFF2-40B4-BE49-F238E27FC236}">
                <a16:creationId xmlns:a16="http://schemas.microsoft.com/office/drawing/2014/main" id="{DAE30374-6355-4916-B0F5-4D9B719AEBE9}"/>
              </a:ext>
            </a:extLst>
          </p:cNvPr>
          <p:cNvGrpSpPr/>
          <p:nvPr/>
        </p:nvGrpSpPr>
        <p:grpSpPr>
          <a:xfrm>
            <a:off x="1779692" y="4779296"/>
            <a:ext cx="587880" cy="361800"/>
            <a:chOff x="1779692" y="4779296"/>
            <a:chExt cx="587880" cy="361800"/>
          </a:xfrm>
        </p:grpSpPr>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A034BD4C-E2EB-50D1-4F12-531F502159BC}"/>
                    </a:ext>
                  </a:extLst>
                </p14:cNvPr>
                <p14:cNvContentPartPr/>
                <p14:nvPr/>
              </p14:nvContentPartPr>
              <p14:xfrm>
                <a:off x="1779692" y="5014016"/>
                <a:ext cx="226440" cy="127080"/>
              </p14:xfrm>
            </p:contentPart>
          </mc:Choice>
          <mc:Fallback xmlns="">
            <p:pic>
              <p:nvPicPr>
                <p:cNvPr id="16" name="Ink 15">
                  <a:extLst>
                    <a:ext uri="{FF2B5EF4-FFF2-40B4-BE49-F238E27FC236}">
                      <a16:creationId xmlns:a16="http://schemas.microsoft.com/office/drawing/2014/main" id="{A034BD4C-E2EB-50D1-4F12-531F502159BC}"/>
                    </a:ext>
                  </a:extLst>
                </p:cNvPr>
                <p:cNvPicPr/>
                <p:nvPr/>
              </p:nvPicPr>
              <p:blipFill>
                <a:blip r:embed="rId7"/>
                <a:stretch>
                  <a:fillRect/>
                </a:stretch>
              </p:blipFill>
              <p:spPr>
                <a:xfrm>
                  <a:off x="1771052" y="5005016"/>
                  <a:ext cx="2440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4CF0B82A-31DD-F620-F446-8281CA27C691}"/>
                    </a:ext>
                  </a:extLst>
                </p14:cNvPr>
                <p14:cNvContentPartPr/>
                <p14:nvPr/>
              </p14:nvContentPartPr>
              <p14:xfrm>
                <a:off x="2167412" y="4779296"/>
                <a:ext cx="200160" cy="182520"/>
              </p14:xfrm>
            </p:contentPart>
          </mc:Choice>
          <mc:Fallback xmlns="">
            <p:pic>
              <p:nvPicPr>
                <p:cNvPr id="17" name="Ink 16">
                  <a:extLst>
                    <a:ext uri="{FF2B5EF4-FFF2-40B4-BE49-F238E27FC236}">
                      <a16:creationId xmlns:a16="http://schemas.microsoft.com/office/drawing/2014/main" id="{4CF0B82A-31DD-F620-F446-8281CA27C691}"/>
                    </a:ext>
                  </a:extLst>
                </p:cNvPr>
                <p:cNvPicPr/>
                <p:nvPr/>
              </p:nvPicPr>
              <p:blipFill>
                <a:blip r:embed="rId9"/>
                <a:stretch>
                  <a:fillRect/>
                </a:stretch>
              </p:blipFill>
              <p:spPr>
                <a:xfrm>
                  <a:off x="2158412" y="4770656"/>
                  <a:ext cx="217800" cy="20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E8785EAF-5187-30F7-419A-208A2102B9F1}"/>
                  </a:ext>
                </a:extLst>
              </p14:cNvPr>
              <p14:cNvContentPartPr/>
              <p14:nvPr/>
            </p14:nvContentPartPr>
            <p14:xfrm>
              <a:off x="2626772" y="4589216"/>
              <a:ext cx="153000" cy="92160"/>
            </p14:xfrm>
          </p:contentPart>
        </mc:Choice>
        <mc:Fallback xmlns="">
          <p:pic>
            <p:nvPicPr>
              <p:cNvPr id="19" name="Ink 18">
                <a:extLst>
                  <a:ext uri="{FF2B5EF4-FFF2-40B4-BE49-F238E27FC236}">
                    <a16:creationId xmlns:a16="http://schemas.microsoft.com/office/drawing/2014/main" id="{E8785EAF-5187-30F7-419A-208A2102B9F1}"/>
                  </a:ext>
                </a:extLst>
              </p:cNvPr>
              <p:cNvPicPr/>
              <p:nvPr/>
            </p:nvPicPr>
            <p:blipFill>
              <a:blip r:embed="rId11"/>
              <a:stretch>
                <a:fillRect/>
              </a:stretch>
            </p:blipFill>
            <p:spPr>
              <a:xfrm>
                <a:off x="2618132" y="4580576"/>
                <a:ext cx="1706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835568C9-1E21-2BFD-3B44-2646E1869C3C}"/>
                  </a:ext>
                </a:extLst>
              </p14:cNvPr>
              <p14:cNvContentPartPr/>
              <p14:nvPr/>
            </p14:nvContentPartPr>
            <p14:xfrm>
              <a:off x="2924852" y="4326056"/>
              <a:ext cx="316440" cy="163440"/>
            </p14:xfrm>
          </p:contentPart>
        </mc:Choice>
        <mc:Fallback xmlns="">
          <p:pic>
            <p:nvPicPr>
              <p:cNvPr id="20" name="Ink 19">
                <a:extLst>
                  <a:ext uri="{FF2B5EF4-FFF2-40B4-BE49-F238E27FC236}">
                    <a16:creationId xmlns:a16="http://schemas.microsoft.com/office/drawing/2014/main" id="{835568C9-1E21-2BFD-3B44-2646E1869C3C}"/>
                  </a:ext>
                </a:extLst>
              </p:cNvPr>
              <p:cNvPicPr/>
              <p:nvPr/>
            </p:nvPicPr>
            <p:blipFill>
              <a:blip r:embed="rId13"/>
              <a:stretch>
                <a:fillRect/>
              </a:stretch>
            </p:blipFill>
            <p:spPr>
              <a:xfrm>
                <a:off x="2915852" y="4317056"/>
                <a:ext cx="334080" cy="181080"/>
              </a:xfrm>
              <a:prstGeom prst="rect">
                <a:avLst/>
              </a:prstGeom>
            </p:spPr>
          </p:pic>
        </mc:Fallback>
      </mc:AlternateContent>
      <p:grpSp>
        <p:nvGrpSpPr>
          <p:cNvPr id="27" name="Group 26">
            <a:extLst>
              <a:ext uri="{FF2B5EF4-FFF2-40B4-BE49-F238E27FC236}">
                <a16:creationId xmlns:a16="http://schemas.microsoft.com/office/drawing/2014/main" id="{8C984415-A3DD-E513-4B36-692080068963}"/>
              </a:ext>
            </a:extLst>
          </p:cNvPr>
          <p:cNvGrpSpPr/>
          <p:nvPr/>
        </p:nvGrpSpPr>
        <p:grpSpPr>
          <a:xfrm>
            <a:off x="1751295" y="5637027"/>
            <a:ext cx="870480" cy="272880"/>
            <a:chOff x="1597892" y="5875136"/>
            <a:chExt cx="870480" cy="272880"/>
          </a:xfrm>
        </p:grpSpPr>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9DA294BC-D774-823E-379E-0E1EC9703493}"/>
                    </a:ext>
                  </a:extLst>
                </p14:cNvPr>
                <p14:cNvContentPartPr/>
                <p14:nvPr/>
              </p14:nvContentPartPr>
              <p14:xfrm>
                <a:off x="1597892" y="5875136"/>
                <a:ext cx="360" cy="360"/>
              </p14:xfrm>
            </p:contentPart>
          </mc:Choice>
          <mc:Fallback xmlns="">
            <p:pic>
              <p:nvPicPr>
                <p:cNvPr id="21" name="Ink 20">
                  <a:extLst>
                    <a:ext uri="{FF2B5EF4-FFF2-40B4-BE49-F238E27FC236}">
                      <a16:creationId xmlns:a16="http://schemas.microsoft.com/office/drawing/2014/main" id="{9DA294BC-D774-823E-379E-0E1EC9703493}"/>
                    </a:ext>
                  </a:extLst>
                </p:cNvPr>
                <p:cNvPicPr/>
                <p:nvPr/>
              </p:nvPicPr>
              <p:blipFill>
                <a:blip r:embed="rId15"/>
                <a:stretch>
                  <a:fillRect/>
                </a:stretch>
              </p:blipFill>
              <p:spPr>
                <a:xfrm>
                  <a:off x="1588892" y="58664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04628781-9C3E-2C7E-6AA3-B3583B579987}"/>
                    </a:ext>
                  </a:extLst>
                </p14:cNvPr>
                <p14:cNvContentPartPr/>
                <p14:nvPr/>
              </p14:nvContentPartPr>
              <p14:xfrm>
                <a:off x="1597892" y="5875136"/>
                <a:ext cx="288720" cy="105840"/>
              </p14:xfrm>
            </p:contentPart>
          </mc:Choice>
          <mc:Fallback xmlns="">
            <p:pic>
              <p:nvPicPr>
                <p:cNvPr id="22" name="Ink 21">
                  <a:extLst>
                    <a:ext uri="{FF2B5EF4-FFF2-40B4-BE49-F238E27FC236}">
                      <a16:creationId xmlns:a16="http://schemas.microsoft.com/office/drawing/2014/main" id="{04628781-9C3E-2C7E-6AA3-B3583B579987}"/>
                    </a:ext>
                  </a:extLst>
                </p:cNvPr>
                <p:cNvPicPr/>
                <p:nvPr/>
              </p:nvPicPr>
              <p:blipFill>
                <a:blip r:embed="rId17"/>
                <a:stretch>
                  <a:fillRect/>
                </a:stretch>
              </p:blipFill>
              <p:spPr>
                <a:xfrm>
                  <a:off x="1588892" y="5866496"/>
                  <a:ext cx="3063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E48BE73A-C043-0AE1-A9D5-5091D116C45B}"/>
                    </a:ext>
                  </a:extLst>
                </p14:cNvPr>
                <p14:cNvContentPartPr/>
                <p14:nvPr/>
              </p14:nvContentPartPr>
              <p14:xfrm>
                <a:off x="2091092" y="6032456"/>
                <a:ext cx="377280" cy="115560"/>
              </p14:xfrm>
            </p:contentPart>
          </mc:Choice>
          <mc:Fallback xmlns="">
            <p:pic>
              <p:nvPicPr>
                <p:cNvPr id="23" name="Ink 22">
                  <a:extLst>
                    <a:ext uri="{FF2B5EF4-FFF2-40B4-BE49-F238E27FC236}">
                      <a16:creationId xmlns:a16="http://schemas.microsoft.com/office/drawing/2014/main" id="{E48BE73A-C043-0AE1-A9D5-5091D116C45B}"/>
                    </a:ext>
                  </a:extLst>
                </p:cNvPr>
                <p:cNvPicPr/>
                <p:nvPr/>
              </p:nvPicPr>
              <p:blipFill>
                <a:blip r:embed="rId19"/>
                <a:stretch>
                  <a:fillRect/>
                </a:stretch>
              </p:blipFill>
              <p:spPr>
                <a:xfrm>
                  <a:off x="2082452" y="6023456"/>
                  <a:ext cx="394920" cy="133200"/>
                </a:xfrm>
                <a:prstGeom prst="rect">
                  <a:avLst/>
                </a:prstGeom>
              </p:spPr>
            </p:pic>
          </mc:Fallback>
        </mc:AlternateContent>
      </p:grpSp>
      <p:grpSp>
        <p:nvGrpSpPr>
          <p:cNvPr id="26" name="Group 25">
            <a:extLst>
              <a:ext uri="{FF2B5EF4-FFF2-40B4-BE49-F238E27FC236}">
                <a16:creationId xmlns:a16="http://schemas.microsoft.com/office/drawing/2014/main" id="{6B33A411-31C5-5F47-807F-8F3D77CFBD8E}"/>
              </a:ext>
            </a:extLst>
          </p:cNvPr>
          <p:cNvGrpSpPr/>
          <p:nvPr/>
        </p:nvGrpSpPr>
        <p:grpSpPr>
          <a:xfrm>
            <a:off x="2802812" y="5794347"/>
            <a:ext cx="876960" cy="263520"/>
            <a:chOff x="2767172" y="6229376"/>
            <a:chExt cx="876960" cy="263520"/>
          </a:xfrm>
        </p:grpSpPr>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9CB0FEE3-EEB8-FED4-34B6-82149F52FC7A}"/>
                    </a:ext>
                  </a:extLst>
                </p14:cNvPr>
                <p14:cNvContentPartPr/>
                <p14:nvPr/>
              </p14:nvContentPartPr>
              <p14:xfrm>
                <a:off x="2767172" y="6229376"/>
                <a:ext cx="392040" cy="145080"/>
              </p14:xfrm>
            </p:contentPart>
          </mc:Choice>
          <mc:Fallback xmlns="">
            <p:pic>
              <p:nvPicPr>
                <p:cNvPr id="24" name="Ink 23">
                  <a:extLst>
                    <a:ext uri="{FF2B5EF4-FFF2-40B4-BE49-F238E27FC236}">
                      <a16:creationId xmlns:a16="http://schemas.microsoft.com/office/drawing/2014/main" id="{9CB0FEE3-EEB8-FED4-34B6-82149F52FC7A}"/>
                    </a:ext>
                  </a:extLst>
                </p:cNvPr>
                <p:cNvPicPr/>
                <p:nvPr/>
              </p:nvPicPr>
              <p:blipFill>
                <a:blip r:embed="rId21"/>
                <a:stretch>
                  <a:fillRect/>
                </a:stretch>
              </p:blipFill>
              <p:spPr>
                <a:xfrm>
                  <a:off x="2758172" y="6220376"/>
                  <a:ext cx="4096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4FD7D1D1-A7A6-1A90-9940-EE9CEE1009BC}"/>
                    </a:ext>
                  </a:extLst>
                </p14:cNvPr>
                <p14:cNvContentPartPr/>
                <p14:nvPr/>
              </p14:nvContentPartPr>
              <p14:xfrm>
                <a:off x="3377012" y="6438176"/>
                <a:ext cx="267120" cy="54720"/>
              </p14:xfrm>
            </p:contentPart>
          </mc:Choice>
          <mc:Fallback xmlns="">
            <p:pic>
              <p:nvPicPr>
                <p:cNvPr id="25" name="Ink 24">
                  <a:extLst>
                    <a:ext uri="{FF2B5EF4-FFF2-40B4-BE49-F238E27FC236}">
                      <a16:creationId xmlns:a16="http://schemas.microsoft.com/office/drawing/2014/main" id="{4FD7D1D1-A7A6-1A90-9940-EE9CEE1009BC}"/>
                    </a:ext>
                  </a:extLst>
                </p:cNvPr>
                <p:cNvPicPr/>
                <p:nvPr/>
              </p:nvPicPr>
              <p:blipFill>
                <a:blip r:embed="rId23"/>
                <a:stretch>
                  <a:fillRect/>
                </a:stretch>
              </p:blipFill>
              <p:spPr>
                <a:xfrm>
                  <a:off x="3368012" y="6429176"/>
                  <a:ext cx="284760" cy="72360"/>
                </a:xfrm>
                <a:prstGeom prst="rect">
                  <a:avLst/>
                </a:prstGeom>
              </p:spPr>
            </p:pic>
          </mc:Fallback>
        </mc:AlternateContent>
      </p:grpSp>
    </p:spTree>
    <p:extLst>
      <p:ext uri="{BB962C8B-B14F-4D97-AF65-F5344CB8AC3E}">
        <p14:creationId xmlns:p14="http://schemas.microsoft.com/office/powerpoint/2010/main" val="3904887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E2CC8-B552-AB93-837E-3C268846789E}"/>
              </a:ext>
            </a:extLst>
          </p:cNvPr>
          <p:cNvSpPr>
            <a:spLocks noGrp="1"/>
          </p:cNvSpPr>
          <p:nvPr>
            <p:ph idx="1"/>
          </p:nvPr>
        </p:nvSpPr>
        <p:spPr>
          <a:xfrm>
            <a:off x="305326" y="1795825"/>
            <a:ext cx="11185634" cy="3633426"/>
          </a:xfrm>
        </p:spPr>
        <p:txBody>
          <a:bodyPr numCol="2">
            <a:normAutofit/>
          </a:bodyPr>
          <a:lstStyle/>
          <a:p>
            <a:pPr marL="0" indent="0">
              <a:lnSpc>
                <a:spcPct val="50000"/>
              </a:lnSpc>
              <a:buNone/>
            </a:pPr>
            <a:r>
              <a:rPr lang="en-US" sz="2400" dirty="0"/>
              <a:t>#include &lt;</a:t>
            </a:r>
            <a:r>
              <a:rPr lang="en-US" sz="2400" dirty="0" err="1"/>
              <a:t>stdio.h</a:t>
            </a:r>
            <a:r>
              <a:rPr lang="en-US" sz="2400" dirty="0"/>
              <a:t>&gt;</a:t>
            </a:r>
          </a:p>
          <a:p>
            <a:pPr marL="0" indent="0">
              <a:lnSpc>
                <a:spcPct val="50000"/>
              </a:lnSpc>
              <a:buNone/>
            </a:pPr>
            <a:r>
              <a:rPr lang="en-US" sz="2400" dirty="0"/>
              <a:t>void main()</a:t>
            </a:r>
          </a:p>
          <a:p>
            <a:pPr marL="0" indent="0">
              <a:lnSpc>
                <a:spcPct val="50000"/>
              </a:lnSpc>
              <a:buNone/>
            </a:pPr>
            <a:r>
              <a:rPr lang="en-US" sz="2400" dirty="0"/>
              <a:t>{</a:t>
            </a:r>
          </a:p>
          <a:p>
            <a:pPr marL="457200" lvl="1" indent="0">
              <a:lnSpc>
                <a:spcPct val="50000"/>
              </a:lnSpc>
              <a:buNone/>
            </a:pPr>
            <a:r>
              <a:rPr lang="en-US" sz="2000" dirty="0"/>
              <a:t>void add(void);</a:t>
            </a:r>
          </a:p>
          <a:p>
            <a:pPr marL="0" indent="0">
              <a:lnSpc>
                <a:spcPct val="50000"/>
              </a:lnSpc>
              <a:buNone/>
            </a:pPr>
            <a:r>
              <a:rPr lang="en-US" sz="2400" dirty="0"/>
              <a:t>}</a:t>
            </a:r>
          </a:p>
          <a:p>
            <a:pPr marL="0" indent="0">
              <a:lnSpc>
                <a:spcPct val="50000"/>
              </a:lnSpc>
              <a:buNone/>
            </a:pPr>
            <a:r>
              <a:rPr lang="en-US" sz="2400" dirty="0"/>
              <a:t>void add()</a:t>
            </a:r>
          </a:p>
          <a:p>
            <a:pPr marL="0" indent="0">
              <a:lnSpc>
                <a:spcPct val="50000"/>
              </a:lnSpc>
              <a:buNone/>
            </a:pPr>
            <a:r>
              <a:rPr lang="en-US" sz="2400" dirty="0"/>
              <a:t>{</a:t>
            </a:r>
          </a:p>
          <a:p>
            <a:pPr marL="457200" lvl="1" indent="0">
              <a:lnSpc>
                <a:spcPct val="50000"/>
              </a:lnSpc>
              <a:buNone/>
            </a:pPr>
            <a:r>
              <a:rPr lang="en-US" sz="2000" dirty="0"/>
              <a:t>int </a:t>
            </a:r>
            <a:r>
              <a:rPr lang="en-US" sz="2000" dirty="0" err="1"/>
              <a:t>a,b,c</a:t>
            </a:r>
            <a:r>
              <a:rPr lang="en-US" sz="2000" dirty="0"/>
              <a:t>;</a:t>
            </a:r>
          </a:p>
          <a:p>
            <a:pPr marL="457200" lvl="1" indent="0">
              <a:lnSpc>
                <a:spcPct val="50000"/>
              </a:lnSpc>
              <a:buNone/>
            </a:pPr>
            <a:r>
              <a:rPr lang="en-US" sz="2000" dirty="0" err="1"/>
              <a:t>printf</a:t>
            </a:r>
            <a:r>
              <a:rPr lang="en-US" sz="2000" dirty="0"/>
              <a:t>(“enter two numbers “);</a:t>
            </a:r>
          </a:p>
          <a:p>
            <a:pPr marL="457200" lvl="1" indent="0">
              <a:lnSpc>
                <a:spcPct val="50000"/>
              </a:lnSpc>
              <a:buNone/>
            </a:pPr>
            <a:r>
              <a:rPr lang="en-US" sz="2000" dirty="0" err="1">
                <a:solidFill>
                  <a:srgbClr val="0070C0"/>
                </a:solidFill>
              </a:rPr>
              <a:t>scanf</a:t>
            </a:r>
            <a:r>
              <a:rPr lang="en-US" sz="2000" dirty="0">
                <a:solidFill>
                  <a:srgbClr val="0070C0"/>
                </a:solidFill>
              </a:rPr>
              <a:t>(“%</a:t>
            </a:r>
            <a:r>
              <a:rPr lang="en-US" sz="2000" dirty="0" err="1">
                <a:solidFill>
                  <a:srgbClr val="0070C0"/>
                </a:solidFill>
              </a:rPr>
              <a:t>d%d</a:t>
            </a:r>
            <a:r>
              <a:rPr lang="en-US" sz="2000" dirty="0">
                <a:solidFill>
                  <a:srgbClr val="0070C0"/>
                </a:solidFill>
              </a:rPr>
              <a:t>”,&amp;</a:t>
            </a:r>
            <a:r>
              <a:rPr lang="en-US" sz="2000" dirty="0" err="1">
                <a:solidFill>
                  <a:srgbClr val="0070C0"/>
                </a:solidFill>
              </a:rPr>
              <a:t>a,&amp;b</a:t>
            </a:r>
            <a:r>
              <a:rPr lang="en-US" sz="2000" dirty="0">
                <a:solidFill>
                  <a:srgbClr val="0070C0"/>
                </a:solidFill>
              </a:rPr>
              <a:t>);</a:t>
            </a:r>
            <a:endParaRPr lang="en-US" sz="2000" b="1" dirty="0">
              <a:solidFill>
                <a:srgbClr val="0070C0"/>
              </a:solidFill>
            </a:endParaRPr>
          </a:p>
          <a:p>
            <a:pPr marL="457200" lvl="1" indent="0">
              <a:lnSpc>
                <a:spcPct val="50000"/>
              </a:lnSpc>
              <a:buNone/>
            </a:pPr>
            <a:r>
              <a:rPr lang="en-US" sz="2000" b="1" dirty="0">
                <a:solidFill>
                  <a:srgbClr val="0070C0"/>
                </a:solidFill>
              </a:rPr>
              <a:t>c=</a:t>
            </a:r>
            <a:r>
              <a:rPr lang="en-US" sz="2000" b="1" dirty="0" err="1">
                <a:solidFill>
                  <a:srgbClr val="0070C0"/>
                </a:solidFill>
              </a:rPr>
              <a:t>a+b</a:t>
            </a:r>
            <a:r>
              <a:rPr lang="en-US" sz="2000" b="1" dirty="0">
                <a:solidFill>
                  <a:srgbClr val="0070C0"/>
                </a:solidFill>
              </a:rPr>
              <a:t>;</a:t>
            </a:r>
          </a:p>
          <a:p>
            <a:pPr marL="457200" lvl="1" indent="0">
              <a:lnSpc>
                <a:spcPct val="50000"/>
              </a:lnSpc>
              <a:buNone/>
            </a:pPr>
            <a:r>
              <a:rPr lang="en-US" sz="2000" dirty="0" err="1">
                <a:solidFill>
                  <a:srgbClr val="0070C0"/>
                </a:solidFill>
              </a:rPr>
              <a:t>printf</a:t>
            </a:r>
            <a:r>
              <a:rPr lang="en-US" sz="2000" dirty="0">
                <a:solidFill>
                  <a:srgbClr val="0070C0"/>
                </a:solidFill>
              </a:rPr>
              <a:t>( </a:t>
            </a:r>
            <a:r>
              <a:rPr lang="en-US" sz="2000" b="1" dirty="0">
                <a:solidFill>
                  <a:srgbClr val="0070C0"/>
                </a:solidFill>
              </a:rPr>
              <a:t>“the sum is  %</a:t>
            </a:r>
            <a:r>
              <a:rPr lang="en-US" sz="2000" b="1" dirty="0" err="1">
                <a:solidFill>
                  <a:srgbClr val="0070C0"/>
                </a:solidFill>
              </a:rPr>
              <a:t>d“,c</a:t>
            </a:r>
            <a:r>
              <a:rPr lang="en-US" sz="2000" b="1" dirty="0">
                <a:solidFill>
                  <a:srgbClr val="0070C0"/>
                </a:solidFill>
              </a:rPr>
              <a:t>);</a:t>
            </a:r>
          </a:p>
          <a:p>
            <a:pPr marL="0" indent="0">
              <a:lnSpc>
                <a:spcPct val="50000"/>
              </a:lnSpc>
              <a:buNone/>
            </a:pPr>
            <a:r>
              <a:rPr lang="en-US" sz="2400" dirty="0"/>
              <a:t>}</a:t>
            </a:r>
          </a:p>
          <a:p>
            <a:pPr marL="0" indent="0">
              <a:lnSpc>
                <a:spcPct val="50000"/>
              </a:lnSpc>
              <a:buNone/>
            </a:pPr>
            <a:endParaRPr lang="en-US" sz="2400" dirty="0"/>
          </a:p>
          <a:p>
            <a:pPr marL="0" indent="0">
              <a:lnSpc>
                <a:spcPct val="50000"/>
              </a:lnSpc>
              <a:buNone/>
            </a:pPr>
            <a:endParaRPr lang="en-US" sz="2400" dirty="0"/>
          </a:p>
          <a:p>
            <a:pPr marL="0" indent="0">
              <a:lnSpc>
                <a:spcPct val="50000"/>
              </a:lnSpc>
              <a:buNone/>
            </a:pPr>
            <a:endParaRPr lang="en-US" sz="2400" dirty="0"/>
          </a:p>
        </p:txBody>
      </p:sp>
      <p:sp>
        <p:nvSpPr>
          <p:cNvPr id="2" name="Title 1">
            <a:extLst>
              <a:ext uri="{FF2B5EF4-FFF2-40B4-BE49-F238E27FC236}">
                <a16:creationId xmlns:a16="http://schemas.microsoft.com/office/drawing/2014/main" id="{38A0B65D-EE18-5BAB-4DFF-4EF2047D63B2}"/>
              </a:ext>
            </a:extLst>
          </p:cNvPr>
          <p:cNvSpPr>
            <a:spLocks noGrp="1"/>
          </p:cNvSpPr>
          <p:nvPr>
            <p:ph type="title"/>
          </p:nvPr>
        </p:nvSpPr>
        <p:spPr>
          <a:xfrm>
            <a:off x="114555" y="921661"/>
            <a:ext cx="11106374" cy="753669"/>
          </a:xfrm>
        </p:spPr>
        <p:txBody>
          <a:bodyPr>
            <a:normAutofit fontScale="90000"/>
          </a:bodyPr>
          <a:lstStyle/>
          <a:p>
            <a:br>
              <a:rPr lang="en-US" sz="2200" b="1" dirty="0">
                <a:solidFill>
                  <a:srgbClr val="0070C0"/>
                </a:solidFill>
              </a:rPr>
            </a:br>
            <a:br>
              <a:rPr lang="en-US" sz="2200" b="1" dirty="0">
                <a:solidFill>
                  <a:srgbClr val="0070C0"/>
                </a:solidFill>
              </a:rPr>
            </a:br>
            <a:br>
              <a:rPr lang="en-US" sz="2200" b="1" dirty="0">
                <a:solidFill>
                  <a:srgbClr val="0070C0"/>
                </a:solidFill>
              </a:rPr>
            </a:br>
            <a:br>
              <a:rPr lang="en-US" sz="2200" b="1" dirty="0">
                <a:solidFill>
                  <a:srgbClr val="0070C0"/>
                </a:solidFill>
              </a:rPr>
            </a:br>
            <a:br>
              <a:rPr lang="en-US" sz="2200" b="1" dirty="0">
                <a:solidFill>
                  <a:srgbClr val="0070C0"/>
                </a:solidFill>
              </a:rPr>
            </a:br>
            <a:br>
              <a:rPr lang="en-US" sz="2200" b="1" dirty="0">
                <a:solidFill>
                  <a:srgbClr val="0070C0"/>
                </a:solidFill>
              </a:rPr>
            </a:br>
            <a:br>
              <a:rPr lang="en-US" sz="2200" b="1" dirty="0">
                <a:solidFill>
                  <a:srgbClr val="0070C0"/>
                </a:solidFill>
              </a:rPr>
            </a:br>
            <a:br>
              <a:rPr lang="en-US" sz="2200" b="1" dirty="0">
                <a:solidFill>
                  <a:srgbClr val="0070C0"/>
                </a:solidFill>
              </a:rPr>
            </a:br>
            <a:r>
              <a:rPr lang="en-US" dirty="0">
                <a:solidFill>
                  <a:srgbClr val="0070C0"/>
                </a:solidFill>
              </a:rPr>
              <a:t>Example code for FUNCTION WITH NO ARGUMENTS AND NO RETURN VALUES</a:t>
            </a:r>
            <a:br>
              <a:rPr lang="en-US" dirty="0">
                <a:solidFill>
                  <a:srgbClr val="0070C0"/>
                </a:solidFill>
              </a:rPr>
            </a:br>
            <a:endParaRPr lang="en-US" b="1" dirty="0">
              <a:solidFill>
                <a:srgbClr val="0070C0"/>
              </a:solidFill>
            </a:endParaRPr>
          </a:p>
        </p:txBody>
      </p:sp>
    </p:spTree>
    <p:extLst>
      <p:ext uri="{BB962C8B-B14F-4D97-AF65-F5344CB8AC3E}">
        <p14:creationId xmlns:p14="http://schemas.microsoft.com/office/powerpoint/2010/main" val="3882423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10F8-990E-8C25-6E0B-B473A307175C}"/>
              </a:ext>
            </a:extLst>
          </p:cNvPr>
          <p:cNvSpPr>
            <a:spLocks noGrp="1"/>
          </p:cNvSpPr>
          <p:nvPr>
            <p:ph type="title"/>
          </p:nvPr>
        </p:nvSpPr>
        <p:spPr>
          <a:xfrm>
            <a:off x="219919" y="1"/>
            <a:ext cx="11133881" cy="1097279"/>
          </a:xfrm>
        </p:spPr>
        <p:txBody>
          <a:bodyPr>
            <a:normAutofit fontScale="90000"/>
          </a:bodyPr>
          <a:lstStyle/>
          <a:p>
            <a:br>
              <a:rPr lang="en-US" sz="2800" dirty="0">
                <a:solidFill>
                  <a:srgbClr val="0070C0"/>
                </a:solidFill>
              </a:rPr>
            </a:br>
            <a:br>
              <a:rPr lang="en-US" sz="2800" dirty="0">
                <a:solidFill>
                  <a:srgbClr val="0070C0"/>
                </a:solidFill>
              </a:rPr>
            </a:br>
            <a:br>
              <a:rPr lang="en-US" sz="2800" dirty="0">
                <a:solidFill>
                  <a:srgbClr val="0070C0"/>
                </a:solidFill>
              </a:rPr>
            </a:br>
            <a:br>
              <a:rPr lang="en-US" sz="2800" dirty="0">
                <a:solidFill>
                  <a:srgbClr val="0070C0"/>
                </a:solidFill>
              </a:rPr>
            </a:br>
            <a:br>
              <a:rPr lang="en-US" sz="2800" dirty="0">
                <a:solidFill>
                  <a:srgbClr val="0070C0"/>
                </a:solidFill>
              </a:rPr>
            </a:br>
            <a:br>
              <a:rPr lang="en-US" sz="2800" dirty="0">
                <a:solidFill>
                  <a:srgbClr val="0070C0"/>
                </a:solidFill>
              </a:rPr>
            </a:br>
            <a:br>
              <a:rPr lang="en-US" sz="2800" dirty="0">
                <a:solidFill>
                  <a:srgbClr val="0070C0"/>
                </a:solidFill>
              </a:rPr>
            </a:br>
            <a:r>
              <a:rPr lang="en-US" sz="2800" dirty="0">
                <a:solidFill>
                  <a:srgbClr val="0070C0"/>
                </a:solidFill>
              </a:rPr>
              <a:t>2. FUNCTION WITH  ARGUMENTS AND NO RETURN VALUES</a:t>
            </a:r>
            <a:br>
              <a:rPr lang="en-US" dirty="0"/>
            </a:br>
            <a:endParaRPr lang="en-US" dirty="0"/>
          </a:p>
        </p:txBody>
      </p:sp>
      <p:sp>
        <p:nvSpPr>
          <p:cNvPr id="3" name="Content Placeholder 2">
            <a:extLst>
              <a:ext uri="{FF2B5EF4-FFF2-40B4-BE49-F238E27FC236}">
                <a16:creationId xmlns:a16="http://schemas.microsoft.com/office/drawing/2014/main" id="{F3808868-6232-A434-F486-ABE7A05CBB25}"/>
              </a:ext>
            </a:extLst>
          </p:cNvPr>
          <p:cNvSpPr>
            <a:spLocks noGrp="1"/>
          </p:cNvSpPr>
          <p:nvPr>
            <p:ph idx="1"/>
          </p:nvPr>
        </p:nvSpPr>
        <p:spPr>
          <a:xfrm>
            <a:off x="838200" y="677732"/>
            <a:ext cx="10515600" cy="5499231"/>
          </a:xfrm>
        </p:spPr>
        <p:txBody>
          <a:bodyPr/>
          <a:lstStyle/>
          <a:p>
            <a:pPr marL="0" indent="0">
              <a:buNone/>
            </a:pPr>
            <a:r>
              <a:rPr lang="en-US" dirty="0">
                <a:solidFill>
                  <a:srgbClr val="C00000"/>
                </a:solidFill>
              </a:rPr>
              <a:t>Data is transferred from calling function to called function. </a:t>
            </a:r>
          </a:p>
          <a:p>
            <a:pPr marL="0" indent="0">
              <a:buNone/>
            </a:pPr>
            <a:r>
              <a:rPr lang="en-US" dirty="0"/>
              <a:t>The called program receives some data from the calling program and does not send back any values to calling program.( one way communication)</a:t>
            </a:r>
          </a:p>
          <a:p>
            <a:pPr marL="0" indent="0">
              <a:buNone/>
            </a:pPr>
            <a:r>
              <a:rPr lang="en-US" dirty="0"/>
              <a:t>This function is partly dependent on the calling function.</a:t>
            </a:r>
          </a:p>
          <a:p>
            <a:pPr marL="0" indent="0">
              <a:buNone/>
            </a:pPr>
            <a:r>
              <a:rPr lang="en-US" dirty="0"/>
              <a:t>Syntax :</a:t>
            </a:r>
          </a:p>
          <a:p>
            <a:pPr marL="0" indent="0">
              <a:buNone/>
            </a:pPr>
            <a:r>
              <a:rPr lang="en-US" dirty="0"/>
              <a:t>main ()                   func1(</a:t>
            </a:r>
            <a:r>
              <a:rPr lang="en-US" dirty="0" err="1"/>
              <a:t>x,y</a:t>
            </a:r>
            <a:r>
              <a:rPr lang="en-US" dirty="0"/>
              <a:t>)</a:t>
            </a:r>
          </a:p>
          <a:p>
            <a:pPr marL="0" indent="0">
              <a:buNone/>
            </a:pPr>
            <a:r>
              <a:rPr lang="en-US" dirty="0"/>
              <a:t>{                               		{// data transfer</a:t>
            </a:r>
            <a:r>
              <a:rPr lang="en-US" dirty="0">
                <a:sym typeface="Wingdings" pitchFamily="2" charset="2"/>
              </a:rPr>
              <a:t> solid lines</a:t>
            </a:r>
            <a:endParaRPr lang="en-US" dirty="0"/>
          </a:p>
          <a:p>
            <a:pPr marL="0" indent="0">
              <a:buNone/>
            </a:pPr>
            <a:r>
              <a:rPr lang="en-US" dirty="0"/>
              <a:t>….       				 …..</a:t>
            </a:r>
          </a:p>
          <a:p>
            <a:pPr marL="0" indent="0">
              <a:buNone/>
            </a:pPr>
            <a:r>
              <a:rPr lang="en-US" dirty="0"/>
              <a:t>func1(</a:t>
            </a:r>
            <a:r>
              <a:rPr lang="en-US" dirty="0" err="1"/>
              <a:t>a,b</a:t>
            </a:r>
            <a:r>
              <a:rPr lang="en-US" dirty="0"/>
              <a:t>)….				……</a:t>
            </a:r>
          </a:p>
          <a:p>
            <a:pPr marL="0" indent="0">
              <a:buNone/>
            </a:pPr>
            <a:r>
              <a:rPr lang="en-US" dirty="0"/>
              <a:t>}                                   	}.  // transfer of control </a:t>
            </a:r>
            <a:r>
              <a:rPr lang="en-US" dirty="0">
                <a:sym typeface="Wingdings" pitchFamily="2" charset="2"/>
              </a:rPr>
              <a:t> dotted lines</a:t>
            </a:r>
            <a:endParaRPr lang="en-US" dirty="0"/>
          </a:p>
          <a:p>
            <a:pPr marL="0" indent="0">
              <a:buNone/>
            </a:pPr>
            <a:endParaRPr lang="en-US" dirty="0"/>
          </a:p>
          <a:p>
            <a:pPr marL="0"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6F115C3-BE58-A01C-3EB7-4A25A251F73F}"/>
                  </a:ext>
                </a:extLst>
              </p14:cNvPr>
              <p14:cNvContentPartPr/>
              <p14:nvPr/>
            </p14:nvContentPartPr>
            <p14:xfrm>
              <a:off x="2472512" y="3980964"/>
              <a:ext cx="1989000" cy="559080"/>
            </p14:xfrm>
          </p:contentPart>
        </mc:Choice>
        <mc:Fallback xmlns="">
          <p:pic>
            <p:nvPicPr>
              <p:cNvPr id="4" name="Ink 3">
                <a:extLst>
                  <a:ext uri="{FF2B5EF4-FFF2-40B4-BE49-F238E27FC236}">
                    <a16:creationId xmlns:a16="http://schemas.microsoft.com/office/drawing/2014/main" id="{36F115C3-BE58-A01C-3EB7-4A25A251F73F}"/>
                  </a:ext>
                </a:extLst>
              </p:cNvPr>
              <p:cNvPicPr/>
              <p:nvPr/>
            </p:nvPicPr>
            <p:blipFill>
              <a:blip r:embed="rId3"/>
              <a:stretch>
                <a:fillRect/>
              </a:stretch>
            </p:blipFill>
            <p:spPr>
              <a:xfrm>
                <a:off x="2463512" y="3972324"/>
                <a:ext cx="2006640" cy="576720"/>
              </a:xfrm>
              <a:prstGeom prst="rect">
                <a:avLst/>
              </a:prstGeom>
            </p:spPr>
          </p:pic>
        </mc:Fallback>
      </mc:AlternateContent>
      <p:grpSp>
        <p:nvGrpSpPr>
          <p:cNvPr id="18" name="Group 17">
            <a:extLst>
              <a:ext uri="{FF2B5EF4-FFF2-40B4-BE49-F238E27FC236}">
                <a16:creationId xmlns:a16="http://schemas.microsoft.com/office/drawing/2014/main" id="{D8A831E7-F0EF-3CA7-817B-AA6B1B1572DC}"/>
              </a:ext>
            </a:extLst>
          </p:cNvPr>
          <p:cNvGrpSpPr/>
          <p:nvPr/>
        </p:nvGrpSpPr>
        <p:grpSpPr>
          <a:xfrm>
            <a:off x="2400872" y="4648827"/>
            <a:ext cx="2463861" cy="559080"/>
            <a:chOff x="1096772" y="4961096"/>
            <a:chExt cx="2541600" cy="57672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40CC640-69B6-E110-2C96-A7871166AFEC}"/>
                    </a:ext>
                  </a:extLst>
                </p14:cNvPr>
                <p14:cNvContentPartPr/>
                <p14:nvPr/>
              </p14:nvContentPartPr>
              <p14:xfrm>
                <a:off x="3405092" y="5452496"/>
                <a:ext cx="233280" cy="85320"/>
              </p14:xfrm>
            </p:contentPart>
          </mc:Choice>
          <mc:Fallback xmlns="">
            <p:pic>
              <p:nvPicPr>
                <p:cNvPr id="5" name="Ink 4">
                  <a:extLst>
                    <a:ext uri="{FF2B5EF4-FFF2-40B4-BE49-F238E27FC236}">
                      <a16:creationId xmlns:a16="http://schemas.microsoft.com/office/drawing/2014/main" id="{340CC640-69B6-E110-2C96-A7871166AFEC}"/>
                    </a:ext>
                  </a:extLst>
                </p:cNvPr>
                <p:cNvPicPr/>
                <p:nvPr/>
              </p:nvPicPr>
              <p:blipFill>
                <a:blip r:embed="rId5"/>
                <a:stretch>
                  <a:fillRect/>
                </a:stretch>
              </p:blipFill>
              <p:spPr>
                <a:xfrm>
                  <a:off x="3395805" y="5443182"/>
                  <a:ext cx="251482" cy="10357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722DD49-4423-64DE-5C3B-017A6B80EAC8}"/>
                    </a:ext>
                  </a:extLst>
                </p14:cNvPr>
                <p14:cNvContentPartPr/>
                <p14:nvPr/>
              </p14:nvContentPartPr>
              <p14:xfrm>
                <a:off x="3055172" y="5399576"/>
                <a:ext cx="204480" cy="25920"/>
              </p14:xfrm>
            </p:contentPart>
          </mc:Choice>
          <mc:Fallback xmlns="">
            <p:pic>
              <p:nvPicPr>
                <p:cNvPr id="6" name="Ink 5">
                  <a:extLst>
                    <a:ext uri="{FF2B5EF4-FFF2-40B4-BE49-F238E27FC236}">
                      <a16:creationId xmlns:a16="http://schemas.microsoft.com/office/drawing/2014/main" id="{3722DD49-4423-64DE-5C3B-017A6B80EAC8}"/>
                    </a:ext>
                  </a:extLst>
                </p:cNvPr>
                <p:cNvPicPr/>
                <p:nvPr/>
              </p:nvPicPr>
              <p:blipFill>
                <a:blip r:embed="rId7"/>
                <a:stretch>
                  <a:fillRect/>
                </a:stretch>
              </p:blipFill>
              <p:spPr>
                <a:xfrm>
                  <a:off x="3045894" y="5390689"/>
                  <a:ext cx="222664" cy="4406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F329A7D-1317-5A8A-FD07-D7CEEB8F44C7}"/>
                    </a:ext>
                  </a:extLst>
                </p14:cNvPr>
                <p14:cNvContentPartPr/>
                <p14:nvPr/>
              </p14:nvContentPartPr>
              <p14:xfrm>
                <a:off x="2518052" y="5316416"/>
                <a:ext cx="303120" cy="20160"/>
              </p14:xfrm>
            </p:contentPart>
          </mc:Choice>
          <mc:Fallback xmlns="">
            <p:pic>
              <p:nvPicPr>
                <p:cNvPr id="8" name="Ink 7">
                  <a:extLst>
                    <a:ext uri="{FF2B5EF4-FFF2-40B4-BE49-F238E27FC236}">
                      <a16:creationId xmlns:a16="http://schemas.microsoft.com/office/drawing/2014/main" id="{4F329A7D-1317-5A8A-FD07-D7CEEB8F44C7}"/>
                    </a:ext>
                  </a:extLst>
                </p:cNvPr>
                <p:cNvPicPr/>
                <p:nvPr/>
              </p:nvPicPr>
              <p:blipFill>
                <a:blip r:embed="rId9"/>
                <a:stretch>
                  <a:fillRect/>
                </a:stretch>
              </p:blipFill>
              <p:spPr>
                <a:xfrm>
                  <a:off x="2509148" y="5307456"/>
                  <a:ext cx="321300" cy="3845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44855111-A73C-95CF-B76D-FAD56A13D7E4}"/>
                    </a:ext>
                  </a:extLst>
                </p14:cNvPr>
                <p14:cNvContentPartPr/>
                <p14:nvPr/>
              </p14:nvContentPartPr>
              <p14:xfrm>
                <a:off x="1958612" y="5237936"/>
                <a:ext cx="365400" cy="65520"/>
              </p14:xfrm>
            </p:contentPart>
          </mc:Choice>
          <mc:Fallback xmlns="">
            <p:pic>
              <p:nvPicPr>
                <p:cNvPr id="10" name="Ink 9">
                  <a:extLst>
                    <a:ext uri="{FF2B5EF4-FFF2-40B4-BE49-F238E27FC236}">
                      <a16:creationId xmlns:a16="http://schemas.microsoft.com/office/drawing/2014/main" id="{44855111-A73C-95CF-B76D-FAD56A13D7E4}"/>
                    </a:ext>
                  </a:extLst>
                </p:cNvPr>
                <p:cNvPicPr/>
                <p:nvPr/>
              </p:nvPicPr>
              <p:blipFill>
                <a:blip r:embed="rId11"/>
                <a:stretch>
                  <a:fillRect/>
                </a:stretch>
              </p:blipFill>
              <p:spPr>
                <a:xfrm>
                  <a:off x="1949328" y="5229052"/>
                  <a:ext cx="383596" cy="83658"/>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F3E8682-B399-6574-42EB-8F55C465E602}"/>
                    </a:ext>
                  </a:extLst>
                </p14:cNvPr>
                <p14:cNvContentPartPr/>
                <p14:nvPr/>
              </p14:nvContentPartPr>
              <p14:xfrm>
                <a:off x="1421132" y="5151536"/>
                <a:ext cx="313920" cy="83880"/>
              </p14:xfrm>
            </p:contentPart>
          </mc:Choice>
          <mc:Fallback xmlns="">
            <p:pic>
              <p:nvPicPr>
                <p:cNvPr id="12" name="Ink 11">
                  <a:extLst>
                    <a:ext uri="{FF2B5EF4-FFF2-40B4-BE49-F238E27FC236}">
                      <a16:creationId xmlns:a16="http://schemas.microsoft.com/office/drawing/2014/main" id="{CF3E8682-B399-6574-42EB-8F55C465E602}"/>
                    </a:ext>
                  </a:extLst>
                </p:cNvPr>
                <p:cNvPicPr/>
                <p:nvPr/>
              </p:nvPicPr>
              <p:blipFill>
                <a:blip r:embed="rId13"/>
                <a:stretch>
                  <a:fillRect/>
                </a:stretch>
              </p:blipFill>
              <p:spPr>
                <a:xfrm>
                  <a:off x="1411855" y="5142628"/>
                  <a:ext cx="332102" cy="10206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821D14CA-23B3-77D0-371D-614F90E88254}"/>
                    </a:ext>
                  </a:extLst>
                </p14:cNvPr>
                <p14:cNvContentPartPr/>
                <p14:nvPr/>
              </p14:nvContentPartPr>
              <p14:xfrm>
                <a:off x="1292972" y="5122736"/>
                <a:ext cx="29880" cy="1440"/>
              </p14:xfrm>
            </p:contentPart>
          </mc:Choice>
          <mc:Fallback xmlns="">
            <p:pic>
              <p:nvPicPr>
                <p:cNvPr id="14" name="Ink 13">
                  <a:extLst>
                    <a:ext uri="{FF2B5EF4-FFF2-40B4-BE49-F238E27FC236}">
                      <a16:creationId xmlns:a16="http://schemas.microsoft.com/office/drawing/2014/main" id="{821D14CA-23B3-77D0-371D-614F90E88254}"/>
                    </a:ext>
                  </a:extLst>
                </p:cNvPr>
                <p:cNvPicPr/>
                <p:nvPr/>
              </p:nvPicPr>
              <p:blipFill>
                <a:blip r:embed="rId15"/>
                <a:stretch>
                  <a:fillRect/>
                </a:stretch>
              </p:blipFill>
              <p:spPr>
                <a:xfrm>
                  <a:off x="1283634" y="5113736"/>
                  <a:ext cx="48182"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93B2905D-611E-99AD-8211-C18DF1340F3D}"/>
                    </a:ext>
                  </a:extLst>
                </p14:cNvPr>
                <p14:cNvContentPartPr/>
                <p14:nvPr/>
              </p14:nvContentPartPr>
              <p14:xfrm>
                <a:off x="1139612" y="5016176"/>
                <a:ext cx="169920" cy="79920"/>
              </p14:xfrm>
            </p:contentPart>
          </mc:Choice>
          <mc:Fallback xmlns="">
            <p:pic>
              <p:nvPicPr>
                <p:cNvPr id="15" name="Ink 14">
                  <a:extLst>
                    <a:ext uri="{FF2B5EF4-FFF2-40B4-BE49-F238E27FC236}">
                      <a16:creationId xmlns:a16="http://schemas.microsoft.com/office/drawing/2014/main" id="{93B2905D-611E-99AD-8211-C18DF1340F3D}"/>
                    </a:ext>
                  </a:extLst>
                </p:cNvPr>
                <p:cNvPicPr/>
                <p:nvPr/>
              </p:nvPicPr>
              <p:blipFill>
                <a:blip r:embed="rId17"/>
                <a:stretch>
                  <a:fillRect/>
                </a:stretch>
              </p:blipFill>
              <p:spPr>
                <a:xfrm>
                  <a:off x="1130688" y="5006883"/>
                  <a:ext cx="188139" cy="9813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256CCCC9-2397-477B-ABB5-BA79DF2F4AFD}"/>
                    </a:ext>
                  </a:extLst>
                </p14:cNvPr>
                <p14:cNvContentPartPr/>
                <p14:nvPr/>
              </p14:nvContentPartPr>
              <p14:xfrm>
                <a:off x="1096772" y="4961096"/>
                <a:ext cx="186120" cy="166320"/>
              </p14:xfrm>
            </p:contentPart>
          </mc:Choice>
          <mc:Fallback xmlns="">
            <p:pic>
              <p:nvPicPr>
                <p:cNvPr id="17" name="Ink 16">
                  <a:extLst>
                    <a:ext uri="{FF2B5EF4-FFF2-40B4-BE49-F238E27FC236}">
                      <a16:creationId xmlns:a16="http://schemas.microsoft.com/office/drawing/2014/main" id="{256CCCC9-2397-477B-ABB5-BA79DF2F4AFD}"/>
                    </a:ext>
                  </a:extLst>
                </p:cNvPr>
                <p:cNvPicPr/>
                <p:nvPr/>
              </p:nvPicPr>
              <p:blipFill>
                <a:blip r:embed="rId19"/>
                <a:stretch>
                  <a:fillRect/>
                </a:stretch>
              </p:blipFill>
              <p:spPr>
                <a:xfrm>
                  <a:off x="1087856" y="4951815"/>
                  <a:ext cx="204323" cy="184511"/>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8BF6B849-71FB-C243-D43A-4E31291394FD}"/>
                  </a:ext>
                </a:extLst>
              </p14:cNvPr>
              <p14:cNvContentPartPr/>
              <p14:nvPr/>
            </p14:nvContentPartPr>
            <p14:xfrm>
              <a:off x="4382778" y="3890911"/>
              <a:ext cx="152280" cy="265320"/>
            </p14:xfrm>
          </p:contentPart>
        </mc:Choice>
        <mc:Fallback xmlns="">
          <p:pic>
            <p:nvPicPr>
              <p:cNvPr id="19" name="Ink 18">
                <a:extLst>
                  <a:ext uri="{FF2B5EF4-FFF2-40B4-BE49-F238E27FC236}">
                    <a16:creationId xmlns:a16="http://schemas.microsoft.com/office/drawing/2014/main" id="{8BF6B849-71FB-C243-D43A-4E31291394FD}"/>
                  </a:ext>
                </a:extLst>
              </p:cNvPr>
              <p:cNvPicPr/>
              <p:nvPr/>
            </p:nvPicPr>
            <p:blipFill>
              <a:blip r:embed="rId21"/>
              <a:stretch>
                <a:fillRect/>
              </a:stretch>
            </p:blipFill>
            <p:spPr>
              <a:xfrm>
                <a:off x="4374138" y="3882271"/>
                <a:ext cx="16992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CD714F56-9494-05F3-2937-4B8E363415F8}"/>
                  </a:ext>
                </a:extLst>
              </p14:cNvPr>
              <p14:cNvContentPartPr/>
              <p14:nvPr/>
            </p14:nvContentPartPr>
            <p14:xfrm>
              <a:off x="-311908" y="1338416"/>
              <a:ext cx="360" cy="360"/>
            </p14:xfrm>
          </p:contentPart>
        </mc:Choice>
        <mc:Fallback xmlns="">
          <p:pic>
            <p:nvPicPr>
              <p:cNvPr id="20" name="Ink 19">
                <a:extLst>
                  <a:ext uri="{FF2B5EF4-FFF2-40B4-BE49-F238E27FC236}">
                    <a16:creationId xmlns:a16="http://schemas.microsoft.com/office/drawing/2014/main" id="{CD714F56-9494-05F3-2937-4B8E363415F8}"/>
                  </a:ext>
                </a:extLst>
              </p:cNvPr>
              <p:cNvPicPr/>
              <p:nvPr/>
            </p:nvPicPr>
            <p:blipFill>
              <a:blip r:embed="rId23"/>
              <a:stretch>
                <a:fillRect/>
              </a:stretch>
            </p:blipFill>
            <p:spPr>
              <a:xfrm>
                <a:off x="-320908" y="1329416"/>
                <a:ext cx="18000" cy="18000"/>
              </a:xfrm>
              <a:prstGeom prst="rect">
                <a:avLst/>
              </a:prstGeom>
            </p:spPr>
          </p:pic>
        </mc:Fallback>
      </mc:AlternateContent>
    </p:spTree>
    <p:extLst>
      <p:ext uri="{BB962C8B-B14F-4D97-AF65-F5344CB8AC3E}">
        <p14:creationId xmlns:p14="http://schemas.microsoft.com/office/powerpoint/2010/main" val="1906872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D2B0C3-96BF-688E-8A18-181DAF8E92D8}"/>
              </a:ext>
            </a:extLst>
          </p:cNvPr>
          <p:cNvSpPr>
            <a:spLocks noGrp="1"/>
          </p:cNvSpPr>
          <p:nvPr>
            <p:ph idx="1"/>
          </p:nvPr>
        </p:nvSpPr>
        <p:spPr>
          <a:xfrm>
            <a:off x="674370" y="1691640"/>
            <a:ext cx="10500754" cy="4091940"/>
          </a:xfrm>
        </p:spPr>
        <p:txBody>
          <a:bodyPr numCol="2">
            <a:normAutofit/>
          </a:bodyPr>
          <a:lstStyle/>
          <a:p>
            <a:pPr marL="0" indent="0">
              <a:lnSpc>
                <a:spcPct val="50000"/>
              </a:lnSpc>
              <a:buNone/>
            </a:pPr>
            <a:r>
              <a:rPr lang="en-US" dirty="0"/>
              <a:t>#include &lt;</a:t>
            </a:r>
            <a:r>
              <a:rPr lang="en-US" dirty="0" err="1"/>
              <a:t>stdio.h</a:t>
            </a:r>
            <a:r>
              <a:rPr lang="en-US" dirty="0"/>
              <a:t>&gt;</a:t>
            </a:r>
          </a:p>
          <a:p>
            <a:pPr marL="0" indent="0">
              <a:lnSpc>
                <a:spcPct val="50000"/>
              </a:lnSpc>
              <a:buNone/>
            </a:pPr>
            <a:r>
              <a:rPr lang="en-US" dirty="0"/>
              <a:t>void add(</a:t>
            </a:r>
            <a:r>
              <a:rPr lang="en-US" dirty="0" err="1"/>
              <a:t>int,int</a:t>
            </a:r>
            <a:r>
              <a:rPr lang="en-US" dirty="0"/>
              <a:t>);</a:t>
            </a:r>
          </a:p>
          <a:p>
            <a:pPr marL="0" indent="0">
              <a:lnSpc>
                <a:spcPct val="50000"/>
              </a:lnSpc>
              <a:buNone/>
            </a:pPr>
            <a:r>
              <a:rPr lang="en-US" dirty="0"/>
              <a:t>void main()</a:t>
            </a:r>
          </a:p>
          <a:p>
            <a:pPr marL="0" indent="0">
              <a:lnSpc>
                <a:spcPct val="50000"/>
              </a:lnSpc>
              <a:buNone/>
            </a:pPr>
            <a:r>
              <a:rPr lang="en-US" dirty="0"/>
              <a:t>{</a:t>
            </a:r>
          </a:p>
          <a:p>
            <a:pPr marL="457200" lvl="1" indent="0">
              <a:lnSpc>
                <a:spcPct val="50000"/>
              </a:lnSpc>
              <a:buNone/>
            </a:pPr>
            <a:r>
              <a:rPr lang="en-US" dirty="0"/>
              <a:t>int </a:t>
            </a:r>
            <a:r>
              <a:rPr lang="en-US" dirty="0" err="1"/>
              <a:t>a,b</a:t>
            </a:r>
            <a:r>
              <a:rPr lang="en-US" dirty="0"/>
              <a:t>;</a:t>
            </a:r>
          </a:p>
          <a:p>
            <a:pPr marL="457200" lvl="1" indent="0">
              <a:lnSpc>
                <a:spcPct val="50000"/>
              </a:lnSpc>
              <a:buNone/>
            </a:pPr>
            <a:r>
              <a:rPr lang="en-US" dirty="0" err="1"/>
              <a:t>printf</a:t>
            </a:r>
            <a:r>
              <a:rPr lang="en-US" dirty="0"/>
              <a:t>(“enter two numbers “);</a:t>
            </a:r>
          </a:p>
          <a:p>
            <a:pPr marL="457200" lvl="1" indent="0">
              <a:lnSpc>
                <a:spcPct val="50000"/>
              </a:lnSpc>
              <a:buNone/>
            </a:pPr>
            <a:r>
              <a:rPr lang="en-US" dirty="0" err="1">
                <a:solidFill>
                  <a:srgbClr val="0070C0"/>
                </a:solidFill>
              </a:rPr>
              <a:t>scanf</a:t>
            </a:r>
            <a:r>
              <a:rPr lang="en-US" dirty="0">
                <a:solidFill>
                  <a:srgbClr val="0070C0"/>
                </a:solidFill>
              </a:rPr>
              <a:t>(“%</a:t>
            </a:r>
            <a:r>
              <a:rPr lang="en-US" dirty="0" err="1">
                <a:solidFill>
                  <a:srgbClr val="0070C0"/>
                </a:solidFill>
              </a:rPr>
              <a:t>d%d</a:t>
            </a:r>
            <a:r>
              <a:rPr lang="en-US" dirty="0">
                <a:solidFill>
                  <a:srgbClr val="0070C0"/>
                </a:solidFill>
              </a:rPr>
              <a:t>”, &amp;</a:t>
            </a:r>
            <a:r>
              <a:rPr lang="en-US" dirty="0" err="1">
                <a:solidFill>
                  <a:srgbClr val="0070C0"/>
                </a:solidFill>
              </a:rPr>
              <a:t>a,&amp;b</a:t>
            </a:r>
            <a:r>
              <a:rPr lang="en-US" dirty="0">
                <a:solidFill>
                  <a:srgbClr val="0070C0"/>
                </a:solidFill>
              </a:rPr>
              <a:t>);</a:t>
            </a:r>
          </a:p>
          <a:p>
            <a:pPr marL="457200" lvl="1" indent="0">
              <a:lnSpc>
                <a:spcPct val="50000"/>
              </a:lnSpc>
              <a:buNone/>
            </a:pPr>
            <a:r>
              <a:rPr lang="en-US" dirty="0"/>
              <a:t>add(</a:t>
            </a:r>
            <a:r>
              <a:rPr lang="en-US" dirty="0" err="1"/>
              <a:t>a,b</a:t>
            </a:r>
            <a:r>
              <a:rPr lang="en-US" dirty="0"/>
              <a:t>);</a:t>
            </a:r>
          </a:p>
          <a:p>
            <a:pPr marL="0" indent="0">
              <a:lnSpc>
                <a:spcPct val="50000"/>
              </a:lnSpc>
              <a:buNone/>
            </a:pPr>
            <a:r>
              <a:rPr lang="en-US" dirty="0"/>
              <a:t>}</a:t>
            </a:r>
          </a:p>
          <a:p>
            <a:pPr marL="0" indent="0">
              <a:lnSpc>
                <a:spcPct val="50000"/>
              </a:lnSpc>
              <a:buNone/>
            </a:pPr>
            <a:r>
              <a:rPr lang="en-US" dirty="0"/>
              <a:t>void add( int x, int y)</a:t>
            </a:r>
          </a:p>
          <a:p>
            <a:pPr marL="0" indent="0">
              <a:lnSpc>
                <a:spcPct val="50000"/>
              </a:lnSpc>
              <a:buNone/>
            </a:pPr>
            <a:r>
              <a:rPr lang="en-US" dirty="0"/>
              <a:t>{</a:t>
            </a:r>
          </a:p>
          <a:p>
            <a:pPr marL="457200" lvl="1" indent="0">
              <a:lnSpc>
                <a:spcPct val="50000"/>
              </a:lnSpc>
              <a:buNone/>
            </a:pPr>
            <a:r>
              <a:rPr lang="en-US" dirty="0"/>
              <a:t>int z;</a:t>
            </a:r>
          </a:p>
          <a:p>
            <a:pPr marL="457200" lvl="1" indent="0">
              <a:lnSpc>
                <a:spcPct val="50000"/>
              </a:lnSpc>
              <a:buNone/>
            </a:pPr>
            <a:r>
              <a:rPr lang="en-US" dirty="0">
                <a:solidFill>
                  <a:srgbClr val="0070C0"/>
                </a:solidFill>
              </a:rPr>
              <a:t>z= </a:t>
            </a:r>
            <a:r>
              <a:rPr lang="en-US" dirty="0" err="1">
                <a:solidFill>
                  <a:srgbClr val="0070C0"/>
                </a:solidFill>
              </a:rPr>
              <a:t>x+y</a:t>
            </a:r>
            <a:r>
              <a:rPr lang="en-US" dirty="0">
                <a:solidFill>
                  <a:srgbClr val="0070C0"/>
                </a:solidFill>
              </a:rPr>
              <a:t>;</a:t>
            </a:r>
          </a:p>
          <a:p>
            <a:pPr marL="457200" lvl="1" indent="0">
              <a:lnSpc>
                <a:spcPct val="50000"/>
              </a:lnSpc>
              <a:buNone/>
            </a:pPr>
            <a:r>
              <a:rPr lang="en-US" dirty="0" err="1">
                <a:solidFill>
                  <a:srgbClr val="0070C0"/>
                </a:solidFill>
              </a:rPr>
              <a:t>printf</a:t>
            </a:r>
            <a:r>
              <a:rPr lang="en-US" dirty="0">
                <a:solidFill>
                  <a:srgbClr val="0070C0"/>
                </a:solidFill>
              </a:rPr>
              <a:t>(“the sum is %</a:t>
            </a:r>
            <a:r>
              <a:rPr lang="en-US" dirty="0" err="1">
                <a:solidFill>
                  <a:srgbClr val="0070C0"/>
                </a:solidFill>
              </a:rPr>
              <a:t>d“,z</a:t>
            </a:r>
            <a:r>
              <a:rPr lang="en-US" dirty="0">
                <a:solidFill>
                  <a:srgbClr val="0070C0"/>
                </a:solidFill>
              </a:rPr>
              <a:t> );</a:t>
            </a:r>
          </a:p>
          <a:p>
            <a:pPr marL="0" indent="0">
              <a:lnSpc>
                <a:spcPct val="50000"/>
              </a:lnSpc>
              <a:buNone/>
            </a:pPr>
            <a:r>
              <a:rPr lang="en-US" dirty="0"/>
              <a:t>}</a:t>
            </a:r>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p:txBody>
      </p:sp>
      <p:sp>
        <p:nvSpPr>
          <p:cNvPr id="2" name="Title 1">
            <a:extLst>
              <a:ext uri="{FF2B5EF4-FFF2-40B4-BE49-F238E27FC236}">
                <a16:creationId xmlns:a16="http://schemas.microsoft.com/office/drawing/2014/main" id="{EA5B9357-44A7-90B7-DF2C-C5A21CB27307}"/>
              </a:ext>
            </a:extLst>
          </p:cNvPr>
          <p:cNvSpPr>
            <a:spLocks noGrp="1"/>
          </p:cNvSpPr>
          <p:nvPr>
            <p:ph type="title"/>
          </p:nvPr>
        </p:nvSpPr>
        <p:spPr>
          <a:xfrm>
            <a:off x="276422" y="365761"/>
            <a:ext cx="10622280" cy="1097279"/>
          </a:xfrm>
        </p:spPr>
        <p:txBody>
          <a:bodyPr>
            <a:normAutofit fontScale="90000"/>
          </a:bodyPr>
          <a:lstStyle/>
          <a:p>
            <a:r>
              <a:rPr lang="en-US" sz="2800" dirty="0">
                <a:solidFill>
                  <a:srgbClr val="0070C0"/>
                </a:solidFill>
              </a:rPr>
              <a:t>Example: FUNCTION WITH  ARGUMENTS AND NO RETURN VALUES</a:t>
            </a:r>
            <a:br>
              <a:rPr lang="en-US" dirty="0"/>
            </a:br>
            <a:endParaRPr lang="en-US" dirty="0"/>
          </a:p>
        </p:txBody>
      </p:sp>
    </p:spTree>
    <p:extLst>
      <p:ext uri="{BB962C8B-B14F-4D97-AF65-F5344CB8AC3E}">
        <p14:creationId xmlns:p14="http://schemas.microsoft.com/office/powerpoint/2010/main" val="1274802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80C4-7EE3-38B2-1537-A10B475E24AB}"/>
              </a:ext>
            </a:extLst>
          </p:cNvPr>
          <p:cNvSpPr>
            <a:spLocks noGrp="1"/>
          </p:cNvSpPr>
          <p:nvPr>
            <p:ph type="title"/>
          </p:nvPr>
        </p:nvSpPr>
        <p:spPr>
          <a:xfrm>
            <a:off x="677732" y="172123"/>
            <a:ext cx="11514268" cy="1000461"/>
          </a:xfrm>
        </p:spPr>
        <p:txBody>
          <a:bodyPr>
            <a:normAutofit fontScale="90000"/>
          </a:bodyPr>
          <a:lstStyle/>
          <a:p>
            <a:r>
              <a:rPr lang="en-US" sz="3100" b="1" dirty="0">
                <a:solidFill>
                  <a:srgbClr val="0070C0"/>
                </a:solidFill>
              </a:rPr>
              <a:t>FUNCTION WITH  ARGUMENTS AND WITH RETURN VALUES</a:t>
            </a:r>
            <a:br>
              <a:rPr lang="en-US" dirty="0"/>
            </a:br>
            <a:endParaRPr lang="en-US" dirty="0"/>
          </a:p>
        </p:txBody>
      </p:sp>
      <p:sp>
        <p:nvSpPr>
          <p:cNvPr id="3" name="Content Placeholder 2">
            <a:extLst>
              <a:ext uri="{FF2B5EF4-FFF2-40B4-BE49-F238E27FC236}">
                <a16:creationId xmlns:a16="http://schemas.microsoft.com/office/drawing/2014/main" id="{AE258D1F-5070-B024-BC89-CF2577A2C869}"/>
              </a:ext>
            </a:extLst>
          </p:cNvPr>
          <p:cNvSpPr>
            <a:spLocks noGrp="1"/>
          </p:cNvSpPr>
          <p:nvPr>
            <p:ph idx="1"/>
          </p:nvPr>
        </p:nvSpPr>
        <p:spPr>
          <a:xfrm>
            <a:off x="354724" y="741663"/>
            <a:ext cx="11625268" cy="5944213"/>
          </a:xfrm>
        </p:spPr>
        <p:txBody>
          <a:bodyPr>
            <a:normAutofit fontScale="85000" lnSpcReduction="10000"/>
          </a:bodyPr>
          <a:lstStyle/>
          <a:p>
            <a:pPr marL="0" indent="0">
              <a:buNone/>
            </a:pPr>
            <a:r>
              <a:rPr lang="en-US" dirty="0">
                <a:solidFill>
                  <a:srgbClr val="C00000"/>
                </a:solidFill>
              </a:rPr>
              <a:t>The data is transferred between the calling function and called function.</a:t>
            </a:r>
          </a:p>
          <a:p>
            <a:pPr marL="0" indent="0">
              <a:buNone/>
            </a:pPr>
            <a:r>
              <a:rPr lang="en-US" dirty="0"/>
              <a:t>The called program receives some data from the calling program and send back a value return to the calling program.(Two way communication) the data transfer takes place between calling and called program.</a:t>
            </a:r>
          </a:p>
          <a:p>
            <a:pPr marL="0" indent="0">
              <a:buNone/>
            </a:pPr>
            <a:r>
              <a:rPr lang="en-US" dirty="0"/>
              <a:t>Syntax :</a:t>
            </a:r>
          </a:p>
          <a:p>
            <a:pPr marL="0" indent="0">
              <a:buNone/>
            </a:pPr>
            <a:endParaRPr lang="en-US" dirty="0"/>
          </a:p>
          <a:p>
            <a:pPr marL="0" indent="0">
              <a:buNone/>
            </a:pPr>
            <a:endParaRPr lang="en-US" dirty="0"/>
          </a:p>
          <a:p>
            <a:pPr marL="0" indent="0">
              <a:buNone/>
            </a:pPr>
            <a:r>
              <a:rPr lang="en-US" dirty="0"/>
              <a:t>main ()                  		 func1(</a:t>
            </a:r>
            <a:r>
              <a:rPr lang="en-US" dirty="0" err="1"/>
              <a:t>x,y</a:t>
            </a:r>
            <a:r>
              <a:rPr lang="en-US" dirty="0"/>
              <a:t>)</a:t>
            </a:r>
          </a:p>
          <a:p>
            <a:pPr marL="0" indent="0">
              <a:buNone/>
            </a:pPr>
            <a:r>
              <a:rPr lang="en-US" dirty="0"/>
              <a:t>{                               		{</a:t>
            </a:r>
          </a:p>
          <a:p>
            <a:pPr marL="0" indent="0">
              <a:buNone/>
            </a:pPr>
            <a:r>
              <a:rPr lang="en-US" dirty="0"/>
              <a:t>				// data transfer</a:t>
            </a:r>
            <a:r>
              <a:rPr lang="en-US" dirty="0">
                <a:sym typeface="Wingdings" pitchFamily="2" charset="2"/>
              </a:rPr>
              <a:t> solid lines</a:t>
            </a:r>
            <a:endParaRPr lang="en-US" dirty="0"/>
          </a:p>
          <a:p>
            <a:pPr marL="0" indent="0">
              <a:buNone/>
            </a:pPr>
            <a:r>
              <a:rPr lang="en-US" dirty="0"/>
              <a:t>….       				 …..</a:t>
            </a:r>
          </a:p>
          <a:p>
            <a:pPr marL="0" indent="0">
              <a:buNone/>
            </a:pPr>
            <a:r>
              <a:rPr lang="en-US" dirty="0"/>
              <a:t>func1(</a:t>
            </a:r>
            <a:r>
              <a:rPr lang="en-US" dirty="0" err="1"/>
              <a:t>a,b</a:t>
            </a:r>
            <a:r>
              <a:rPr lang="en-US" dirty="0"/>
              <a:t>)….		</a:t>
            </a:r>
          </a:p>
          <a:p>
            <a:pPr marL="0" indent="0">
              <a:buNone/>
            </a:pPr>
            <a:endParaRPr lang="en-US" dirty="0"/>
          </a:p>
          <a:p>
            <a:pPr marL="0" indent="0">
              <a:buNone/>
            </a:pPr>
            <a:r>
              <a:rPr lang="en-US" dirty="0"/>
              <a:t>		……</a:t>
            </a:r>
          </a:p>
          <a:p>
            <a:pPr marL="0" indent="0">
              <a:buNone/>
            </a:pPr>
            <a:r>
              <a:rPr lang="en-US" dirty="0"/>
              <a:t>}                                           		 return(z);</a:t>
            </a:r>
          </a:p>
          <a:p>
            <a:pPr marL="0" indent="0">
              <a:buNone/>
            </a:pPr>
            <a:r>
              <a:rPr lang="en-US" dirty="0"/>
              <a:t> 			  	}.  </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87F74AC0-F98F-AA85-204A-085195EE71C7}"/>
                  </a:ext>
                </a:extLst>
              </p14:cNvPr>
              <p14:cNvContentPartPr/>
              <p14:nvPr/>
            </p14:nvContentPartPr>
            <p14:xfrm>
              <a:off x="-210748" y="4383296"/>
              <a:ext cx="360" cy="360"/>
            </p14:xfrm>
          </p:contentPart>
        </mc:Choice>
        <mc:Fallback xmlns="">
          <p:pic>
            <p:nvPicPr>
              <p:cNvPr id="16" name="Ink 15">
                <a:extLst>
                  <a:ext uri="{FF2B5EF4-FFF2-40B4-BE49-F238E27FC236}">
                    <a16:creationId xmlns:a16="http://schemas.microsoft.com/office/drawing/2014/main" id="{87F74AC0-F98F-AA85-204A-085195EE71C7}"/>
                  </a:ext>
                </a:extLst>
              </p:cNvPr>
              <p:cNvPicPr/>
              <p:nvPr/>
            </p:nvPicPr>
            <p:blipFill>
              <a:blip r:embed="rId3"/>
              <a:stretch>
                <a:fillRect/>
              </a:stretch>
            </p:blipFill>
            <p:spPr>
              <a:xfrm>
                <a:off x="-219748" y="43742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E00F32E7-E450-EA0B-96CC-9A466A468EF4}"/>
                  </a:ext>
                </a:extLst>
              </p14:cNvPr>
              <p14:cNvContentPartPr/>
              <p14:nvPr/>
            </p14:nvContentPartPr>
            <p14:xfrm>
              <a:off x="-210748" y="4383296"/>
              <a:ext cx="360" cy="360"/>
            </p14:xfrm>
          </p:contentPart>
        </mc:Choice>
        <mc:Fallback xmlns="">
          <p:pic>
            <p:nvPicPr>
              <p:cNvPr id="17" name="Ink 16">
                <a:extLst>
                  <a:ext uri="{FF2B5EF4-FFF2-40B4-BE49-F238E27FC236}">
                    <a16:creationId xmlns:a16="http://schemas.microsoft.com/office/drawing/2014/main" id="{E00F32E7-E450-EA0B-96CC-9A466A468EF4}"/>
                  </a:ext>
                </a:extLst>
              </p:cNvPr>
              <p:cNvPicPr/>
              <p:nvPr/>
            </p:nvPicPr>
            <p:blipFill>
              <a:blip r:embed="rId3"/>
              <a:stretch>
                <a:fillRect/>
              </a:stretch>
            </p:blipFill>
            <p:spPr>
              <a:xfrm>
                <a:off x="-219748" y="43742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0E2EF6A1-8457-DD64-1DE9-F9E435FEB13C}"/>
                  </a:ext>
                </a:extLst>
              </p14:cNvPr>
              <p14:cNvContentPartPr/>
              <p14:nvPr/>
            </p14:nvContentPartPr>
            <p14:xfrm>
              <a:off x="3293132" y="3810176"/>
              <a:ext cx="360" cy="360"/>
            </p14:xfrm>
          </p:contentPart>
        </mc:Choice>
        <mc:Fallback xmlns="">
          <p:pic>
            <p:nvPicPr>
              <p:cNvPr id="18" name="Ink 17">
                <a:extLst>
                  <a:ext uri="{FF2B5EF4-FFF2-40B4-BE49-F238E27FC236}">
                    <a16:creationId xmlns:a16="http://schemas.microsoft.com/office/drawing/2014/main" id="{0E2EF6A1-8457-DD64-1DE9-F9E435FEB13C}"/>
                  </a:ext>
                </a:extLst>
              </p:cNvPr>
              <p:cNvPicPr/>
              <p:nvPr/>
            </p:nvPicPr>
            <p:blipFill>
              <a:blip r:embed="rId3"/>
              <a:stretch>
                <a:fillRect/>
              </a:stretch>
            </p:blipFill>
            <p:spPr>
              <a:xfrm>
                <a:off x="3284132" y="3801176"/>
                <a:ext cx="18000" cy="18000"/>
              </a:xfrm>
              <a:prstGeom prst="rect">
                <a:avLst/>
              </a:prstGeom>
            </p:spPr>
          </p:pic>
        </mc:Fallback>
      </mc:AlternateContent>
      <p:grpSp>
        <p:nvGrpSpPr>
          <p:cNvPr id="23" name="Group 22">
            <a:extLst>
              <a:ext uri="{FF2B5EF4-FFF2-40B4-BE49-F238E27FC236}">
                <a16:creationId xmlns:a16="http://schemas.microsoft.com/office/drawing/2014/main" id="{24E2B85D-E307-E0A9-983A-D1ACE8218E8C}"/>
              </a:ext>
            </a:extLst>
          </p:cNvPr>
          <p:cNvGrpSpPr/>
          <p:nvPr/>
        </p:nvGrpSpPr>
        <p:grpSpPr>
          <a:xfrm>
            <a:off x="1538596" y="3379665"/>
            <a:ext cx="1996560" cy="2007261"/>
            <a:chOff x="2652692" y="3415976"/>
            <a:chExt cx="1996560" cy="2007261"/>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80EF370F-996E-FBCC-0F0E-939D87C2D3B6}"/>
                    </a:ext>
                  </a:extLst>
                </p14:cNvPr>
                <p14:cNvContentPartPr/>
                <p14:nvPr/>
              </p14:nvContentPartPr>
              <p14:xfrm>
                <a:off x="2681132" y="4618277"/>
                <a:ext cx="1852200" cy="804960"/>
              </p14:xfrm>
            </p:contentPart>
          </mc:Choice>
          <mc:Fallback xmlns="">
            <p:pic>
              <p:nvPicPr>
                <p:cNvPr id="5" name="Ink 4">
                  <a:extLst>
                    <a:ext uri="{FF2B5EF4-FFF2-40B4-BE49-F238E27FC236}">
                      <a16:creationId xmlns:a16="http://schemas.microsoft.com/office/drawing/2014/main" id="{80EF370F-996E-FBCC-0F0E-939D87C2D3B6}"/>
                    </a:ext>
                  </a:extLst>
                </p:cNvPr>
                <p:cNvPicPr/>
                <p:nvPr/>
              </p:nvPicPr>
              <p:blipFill>
                <a:blip r:embed="rId7"/>
                <a:stretch>
                  <a:fillRect/>
                </a:stretch>
              </p:blipFill>
              <p:spPr>
                <a:xfrm>
                  <a:off x="2672132" y="4609277"/>
                  <a:ext cx="1869840" cy="82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1318DC40-B136-AF2A-410C-D01B5BA2ED07}"/>
                    </a:ext>
                  </a:extLst>
                </p14:cNvPr>
                <p14:cNvContentPartPr/>
                <p14:nvPr/>
              </p14:nvContentPartPr>
              <p14:xfrm>
                <a:off x="2968412" y="4287536"/>
                <a:ext cx="360" cy="360"/>
              </p14:xfrm>
            </p:contentPart>
          </mc:Choice>
          <mc:Fallback xmlns="">
            <p:pic>
              <p:nvPicPr>
                <p:cNvPr id="7" name="Ink 6">
                  <a:extLst>
                    <a:ext uri="{FF2B5EF4-FFF2-40B4-BE49-F238E27FC236}">
                      <a16:creationId xmlns:a16="http://schemas.microsoft.com/office/drawing/2014/main" id="{1318DC40-B136-AF2A-410C-D01B5BA2ED07}"/>
                    </a:ext>
                  </a:extLst>
                </p:cNvPr>
                <p:cNvPicPr/>
                <p:nvPr/>
              </p:nvPicPr>
              <p:blipFill>
                <a:blip r:embed="rId3"/>
                <a:stretch>
                  <a:fillRect/>
                </a:stretch>
              </p:blipFill>
              <p:spPr>
                <a:xfrm>
                  <a:off x="2959412" y="427853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FCEDC8BD-3355-97C3-844A-B2B5847798B2}"/>
                    </a:ext>
                  </a:extLst>
                </p14:cNvPr>
                <p14:cNvContentPartPr/>
                <p14:nvPr/>
              </p14:nvContentPartPr>
              <p14:xfrm>
                <a:off x="4481132" y="3415976"/>
                <a:ext cx="168120" cy="223200"/>
              </p14:xfrm>
            </p:contentPart>
          </mc:Choice>
          <mc:Fallback xmlns="">
            <p:pic>
              <p:nvPicPr>
                <p:cNvPr id="9" name="Ink 8">
                  <a:extLst>
                    <a:ext uri="{FF2B5EF4-FFF2-40B4-BE49-F238E27FC236}">
                      <a16:creationId xmlns:a16="http://schemas.microsoft.com/office/drawing/2014/main" id="{FCEDC8BD-3355-97C3-844A-B2B5847798B2}"/>
                    </a:ext>
                  </a:extLst>
                </p:cNvPr>
                <p:cNvPicPr/>
                <p:nvPr/>
              </p:nvPicPr>
              <p:blipFill>
                <a:blip r:embed="rId10"/>
                <a:stretch>
                  <a:fillRect/>
                </a:stretch>
              </p:blipFill>
              <p:spPr>
                <a:xfrm>
                  <a:off x="4472492" y="3407336"/>
                  <a:ext cx="1857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012A6357-83E7-52C8-647F-8A56939DC0E4}"/>
                    </a:ext>
                  </a:extLst>
                </p14:cNvPr>
                <p14:cNvContentPartPr/>
                <p14:nvPr/>
              </p14:nvContentPartPr>
              <p14:xfrm>
                <a:off x="2652692" y="4518656"/>
                <a:ext cx="371880" cy="269640"/>
              </p14:xfrm>
            </p:contentPart>
          </mc:Choice>
          <mc:Fallback xmlns="">
            <p:pic>
              <p:nvPicPr>
                <p:cNvPr id="10" name="Ink 9">
                  <a:extLst>
                    <a:ext uri="{FF2B5EF4-FFF2-40B4-BE49-F238E27FC236}">
                      <a16:creationId xmlns:a16="http://schemas.microsoft.com/office/drawing/2014/main" id="{012A6357-83E7-52C8-647F-8A56939DC0E4}"/>
                    </a:ext>
                  </a:extLst>
                </p:cNvPr>
                <p:cNvPicPr/>
                <p:nvPr/>
              </p:nvPicPr>
              <p:blipFill>
                <a:blip r:embed="rId12"/>
                <a:stretch>
                  <a:fillRect/>
                </a:stretch>
              </p:blipFill>
              <p:spPr>
                <a:xfrm>
                  <a:off x="2643692" y="4509656"/>
                  <a:ext cx="38952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EB71DF77-7696-A0AB-BEA9-81578B891BB1}"/>
                    </a:ext>
                  </a:extLst>
                </p14:cNvPr>
                <p14:cNvContentPartPr/>
                <p14:nvPr/>
              </p14:nvContentPartPr>
              <p14:xfrm>
                <a:off x="2681132" y="3497696"/>
                <a:ext cx="1855800" cy="980640"/>
              </p14:xfrm>
            </p:contentPart>
          </mc:Choice>
          <mc:Fallback xmlns="">
            <p:pic>
              <p:nvPicPr>
                <p:cNvPr id="22" name="Ink 21">
                  <a:extLst>
                    <a:ext uri="{FF2B5EF4-FFF2-40B4-BE49-F238E27FC236}">
                      <a16:creationId xmlns:a16="http://schemas.microsoft.com/office/drawing/2014/main" id="{EB71DF77-7696-A0AB-BEA9-81578B891BB1}"/>
                    </a:ext>
                  </a:extLst>
                </p:cNvPr>
                <p:cNvPicPr/>
                <p:nvPr/>
              </p:nvPicPr>
              <p:blipFill>
                <a:blip r:embed="rId14"/>
                <a:stretch>
                  <a:fillRect/>
                </a:stretch>
              </p:blipFill>
              <p:spPr>
                <a:xfrm>
                  <a:off x="2672132" y="3489056"/>
                  <a:ext cx="1873440" cy="998280"/>
                </a:xfrm>
                <a:prstGeom prst="rect">
                  <a:avLst/>
                </a:prstGeom>
              </p:spPr>
            </p:pic>
          </mc:Fallback>
        </mc:AlternateContent>
      </p:grpSp>
    </p:spTree>
    <p:extLst>
      <p:ext uri="{BB962C8B-B14F-4D97-AF65-F5344CB8AC3E}">
        <p14:creationId xmlns:p14="http://schemas.microsoft.com/office/powerpoint/2010/main" val="1757515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49C17A-0750-468D-8FB2-32DC746D9BA3}"/>
              </a:ext>
            </a:extLst>
          </p:cNvPr>
          <p:cNvSpPr>
            <a:spLocks noGrp="1"/>
          </p:cNvSpPr>
          <p:nvPr>
            <p:ph idx="1"/>
          </p:nvPr>
        </p:nvSpPr>
        <p:spPr>
          <a:xfrm>
            <a:off x="357352" y="1172584"/>
            <a:ext cx="10996448" cy="4268096"/>
          </a:xfrm>
        </p:spPr>
        <p:txBody>
          <a:bodyPr numCol="2">
            <a:normAutofit/>
          </a:bodyPr>
          <a:lstStyle/>
          <a:p>
            <a:pPr marL="0" indent="0">
              <a:lnSpc>
                <a:spcPct val="50000"/>
              </a:lnSpc>
              <a:buNone/>
            </a:pPr>
            <a:r>
              <a:rPr lang="en-US" dirty="0"/>
              <a:t>#include &lt;</a:t>
            </a:r>
            <a:r>
              <a:rPr lang="en-US" dirty="0" err="1"/>
              <a:t>stdio.h</a:t>
            </a:r>
            <a:r>
              <a:rPr lang="en-US" dirty="0"/>
              <a:t>&gt;</a:t>
            </a:r>
          </a:p>
          <a:p>
            <a:pPr marL="0" indent="0">
              <a:lnSpc>
                <a:spcPct val="50000"/>
              </a:lnSpc>
              <a:buNone/>
            </a:pPr>
            <a:r>
              <a:rPr lang="en-US" dirty="0"/>
              <a:t>int add(</a:t>
            </a:r>
            <a:r>
              <a:rPr lang="en-US" dirty="0" err="1"/>
              <a:t>int,int</a:t>
            </a:r>
            <a:r>
              <a:rPr lang="en-US" dirty="0"/>
              <a:t>);</a:t>
            </a:r>
          </a:p>
          <a:p>
            <a:pPr marL="0" indent="0">
              <a:lnSpc>
                <a:spcPct val="50000"/>
              </a:lnSpc>
              <a:buNone/>
            </a:pPr>
            <a:r>
              <a:rPr lang="en-US" dirty="0"/>
              <a:t>void main ()</a:t>
            </a:r>
          </a:p>
          <a:p>
            <a:pPr marL="0" indent="0">
              <a:lnSpc>
                <a:spcPct val="50000"/>
              </a:lnSpc>
              <a:buNone/>
            </a:pPr>
            <a:r>
              <a:rPr lang="en-US" dirty="0"/>
              <a:t>{</a:t>
            </a:r>
          </a:p>
          <a:p>
            <a:pPr marL="457200" lvl="1" indent="0">
              <a:lnSpc>
                <a:spcPct val="50000"/>
              </a:lnSpc>
              <a:buNone/>
            </a:pPr>
            <a:r>
              <a:rPr lang="en-US" dirty="0"/>
              <a:t>int </a:t>
            </a:r>
            <a:r>
              <a:rPr lang="en-US" dirty="0" err="1"/>
              <a:t>a,b,c</a:t>
            </a:r>
            <a:r>
              <a:rPr lang="en-US" dirty="0"/>
              <a:t>;</a:t>
            </a:r>
          </a:p>
          <a:p>
            <a:pPr marL="457200" lvl="1" indent="0">
              <a:lnSpc>
                <a:spcPct val="50000"/>
              </a:lnSpc>
              <a:buNone/>
            </a:pPr>
            <a:r>
              <a:rPr lang="en-US" dirty="0" err="1"/>
              <a:t>printf</a:t>
            </a:r>
            <a:r>
              <a:rPr lang="en-US" dirty="0"/>
              <a:t>(“enter two numbers “);</a:t>
            </a:r>
          </a:p>
          <a:p>
            <a:pPr marL="457200" lvl="1" indent="0">
              <a:lnSpc>
                <a:spcPct val="50000"/>
              </a:lnSpc>
              <a:buNone/>
            </a:pPr>
            <a:r>
              <a:rPr lang="en-US" dirty="0" err="1">
                <a:solidFill>
                  <a:srgbClr val="0070C0"/>
                </a:solidFill>
              </a:rPr>
              <a:t>scanf</a:t>
            </a:r>
            <a:r>
              <a:rPr lang="en-US" dirty="0">
                <a:solidFill>
                  <a:srgbClr val="0070C0"/>
                </a:solidFill>
              </a:rPr>
              <a:t>(“%</a:t>
            </a:r>
            <a:r>
              <a:rPr lang="en-US" dirty="0" err="1">
                <a:solidFill>
                  <a:srgbClr val="0070C0"/>
                </a:solidFill>
              </a:rPr>
              <a:t>d%d</a:t>
            </a:r>
            <a:r>
              <a:rPr lang="en-US" dirty="0">
                <a:solidFill>
                  <a:srgbClr val="0070C0"/>
                </a:solidFill>
              </a:rPr>
              <a:t>”,&amp;</a:t>
            </a:r>
            <a:r>
              <a:rPr lang="en-US" dirty="0" err="1">
                <a:solidFill>
                  <a:srgbClr val="0070C0"/>
                </a:solidFill>
              </a:rPr>
              <a:t>a,&amp;b</a:t>
            </a:r>
            <a:r>
              <a:rPr lang="en-US" dirty="0">
                <a:solidFill>
                  <a:srgbClr val="0070C0"/>
                </a:solidFill>
              </a:rPr>
              <a:t>)</a:t>
            </a:r>
            <a:r>
              <a:rPr lang="en-US" dirty="0"/>
              <a:t>;    // 5 6 </a:t>
            </a:r>
          </a:p>
          <a:p>
            <a:pPr marL="457200" lvl="1" indent="0">
              <a:lnSpc>
                <a:spcPct val="50000"/>
              </a:lnSpc>
              <a:buNone/>
            </a:pPr>
            <a:r>
              <a:rPr lang="en-US" dirty="0"/>
              <a:t>c=add(</a:t>
            </a:r>
            <a:r>
              <a:rPr lang="en-US" dirty="0" err="1"/>
              <a:t>a,b</a:t>
            </a:r>
            <a:r>
              <a:rPr lang="en-US" dirty="0"/>
              <a:t>);</a:t>
            </a:r>
          </a:p>
          <a:p>
            <a:pPr marL="457200" lvl="1" indent="0">
              <a:lnSpc>
                <a:spcPct val="50000"/>
              </a:lnSpc>
              <a:buNone/>
            </a:pPr>
            <a:r>
              <a:rPr lang="en-US" dirty="0" err="1"/>
              <a:t>printf</a:t>
            </a:r>
            <a:r>
              <a:rPr lang="en-US" dirty="0"/>
              <a:t>(“the result is %</a:t>
            </a:r>
            <a:r>
              <a:rPr lang="en-US" dirty="0" err="1"/>
              <a:t>d,c</a:t>
            </a:r>
            <a:r>
              <a:rPr lang="en-US" dirty="0"/>
              <a:t>);</a:t>
            </a:r>
          </a:p>
          <a:p>
            <a:pPr marL="457200" lvl="1" indent="0">
              <a:lnSpc>
                <a:spcPct val="50000"/>
              </a:lnSpc>
              <a:buNone/>
            </a:pPr>
            <a:r>
              <a:rPr lang="en-US" dirty="0" err="1">
                <a:solidFill>
                  <a:srgbClr val="0070C0"/>
                </a:solidFill>
              </a:rPr>
              <a:t>printf</a:t>
            </a:r>
            <a:r>
              <a:rPr lang="en-US" dirty="0">
                <a:solidFill>
                  <a:srgbClr val="0070C0"/>
                </a:solidFill>
              </a:rPr>
              <a:t>(“%</a:t>
            </a:r>
            <a:r>
              <a:rPr lang="en-US" dirty="0" err="1">
                <a:solidFill>
                  <a:srgbClr val="0070C0"/>
                </a:solidFill>
              </a:rPr>
              <a:t>d%d,a,b</a:t>
            </a:r>
            <a:r>
              <a:rPr lang="en-US" dirty="0">
                <a:solidFill>
                  <a:srgbClr val="0070C0"/>
                </a:solidFill>
              </a:rPr>
              <a:t>);</a:t>
            </a:r>
          </a:p>
          <a:p>
            <a:pPr marL="0" indent="0">
              <a:lnSpc>
                <a:spcPct val="50000"/>
              </a:lnSpc>
              <a:buNone/>
            </a:pPr>
            <a:r>
              <a:rPr lang="en-US" dirty="0"/>
              <a:t>}</a:t>
            </a:r>
          </a:p>
          <a:p>
            <a:pPr marL="0" indent="0">
              <a:lnSpc>
                <a:spcPct val="50000"/>
              </a:lnSpc>
              <a:buNone/>
            </a:pPr>
            <a:r>
              <a:rPr lang="en-US" dirty="0"/>
              <a:t>int add( int x, int y)</a:t>
            </a:r>
          </a:p>
          <a:p>
            <a:pPr marL="0" indent="0">
              <a:lnSpc>
                <a:spcPct val="50000"/>
              </a:lnSpc>
              <a:buNone/>
            </a:pPr>
            <a:r>
              <a:rPr lang="en-US" dirty="0"/>
              <a:t>{</a:t>
            </a:r>
          </a:p>
          <a:p>
            <a:pPr marL="457200" lvl="1" indent="0">
              <a:lnSpc>
                <a:spcPct val="50000"/>
              </a:lnSpc>
              <a:buNone/>
            </a:pPr>
            <a:r>
              <a:rPr lang="en-US" dirty="0"/>
              <a:t>int z;</a:t>
            </a:r>
          </a:p>
          <a:p>
            <a:pPr marL="457200" lvl="1" indent="0">
              <a:lnSpc>
                <a:spcPct val="50000"/>
              </a:lnSpc>
              <a:buNone/>
            </a:pPr>
            <a:r>
              <a:rPr lang="en-US" dirty="0">
                <a:solidFill>
                  <a:srgbClr val="0070C0"/>
                </a:solidFill>
              </a:rPr>
              <a:t>z= </a:t>
            </a:r>
            <a:r>
              <a:rPr lang="en-US" dirty="0" err="1">
                <a:solidFill>
                  <a:srgbClr val="0070C0"/>
                </a:solidFill>
              </a:rPr>
              <a:t>x+y</a:t>
            </a:r>
            <a:r>
              <a:rPr lang="en-US" dirty="0">
                <a:solidFill>
                  <a:srgbClr val="0070C0"/>
                </a:solidFill>
              </a:rPr>
              <a:t>;</a:t>
            </a:r>
          </a:p>
          <a:p>
            <a:pPr marL="457200" lvl="1" indent="0">
              <a:lnSpc>
                <a:spcPct val="50000"/>
              </a:lnSpc>
              <a:buNone/>
            </a:pPr>
            <a:r>
              <a:rPr lang="en-US" dirty="0"/>
              <a:t>return(z);</a:t>
            </a:r>
          </a:p>
          <a:p>
            <a:pPr marL="0" indent="0">
              <a:lnSpc>
                <a:spcPct val="50000"/>
              </a:lnSpc>
              <a:buNone/>
            </a:pPr>
            <a:r>
              <a:rPr lang="en-US" dirty="0"/>
              <a:t>}</a:t>
            </a:r>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p:txBody>
      </p:sp>
      <p:sp>
        <p:nvSpPr>
          <p:cNvPr id="2" name="Title 1">
            <a:extLst>
              <a:ext uri="{FF2B5EF4-FFF2-40B4-BE49-F238E27FC236}">
                <a16:creationId xmlns:a16="http://schemas.microsoft.com/office/drawing/2014/main" id="{3CFBE822-778A-8494-870E-503FBBC13B64}"/>
              </a:ext>
            </a:extLst>
          </p:cNvPr>
          <p:cNvSpPr>
            <a:spLocks noGrp="1"/>
          </p:cNvSpPr>
          <p:nvPr>
            <p:ph type="title"/>
          </p:nvPr>
        </p:nvSpPr>
        <p:spPr>
          <a:xfrm>
            <a:off x="677732" y="172123"/>
            <a:ext cx="11514268" cy="1000461"/>
          </a:xfrm>
        </p:spPr>
        <p:txBody>
          <a:bodyPr>
            <a:normAutofit fontScale="90000"/>
          </a:bodyPr>
          <a:lstStyle/>
          <a:p>
            <a:r>
              <a:rPr lang="en-US" sz="3100" b="1" dirty="0">
                <a:solidFill>
                  <a:srgbClr val="0070C0"/>
                </a:solidFill>
              </a:rPr>
              <a:t>FUNCTION WITH  ARGUMENTS AND WITH RETURN VALUES</a:t>
            </a:r>
            <a:br>
              <a:rPr lang="en-US" dirty="0"/>
            </a:br>
            <a:endParaRPr lang="en-US" dirty="0"/>
          </a:p>
        </p:txBody>
      </p:sp>
    </p:spTree>
    <p:extLst>
      <p:ext uri="{BB962C8B-B14F-4D97-AF65-F5344CB8AC3E}">
        <p14:creationId xmlns:p14="http://schemas.microsoft.com/office/powerpoint/2010/main" val="3761871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D606-2113-BAAD-3450-60C2864386F7}"/>
              </a:ext>
            </a:extLst>
          </p:cNvPr>
          <p:cNvSpPr>
            <a:spLocks noGrp="1"/>
          </p:cNvSpPr>
          <p:nvPr>
            <p:ph type="title"/>
          </p:nvPr>
        </p:nvSpPr>
        <p:spPr>
          <a:xfrm>
            <a:off x="262758" y="100805"/>
            <a:ext cx="11666483" cy="764428"/>
          </a:xfrm>
        </p:spPr>
        <p:txBody>
          <a:bodyPr>
            <a:normAutofit fontScale="90000"/>
          </a:bodyPr>
          <a:lstStyle/>
          <a:p>
            <a:br>
              <a:rPr lang="en-US" dirty="0"/>
            </a:br>
            <a:r>
              <a:rPr lang="en-US" dirty="0">
                <a:solidFill>
                  <a:srgbClr val="0070C0"/>
                </a:solidFill>
              </a:rPr>
              <a:t>FUNCTION WITH NO ARGUMENTS AND WITH RETURN VALUES</a:t>
            </a:r>
          </a:p>
        </p:txBody>
      </p:sp>
      <p:sp>
        <p:nvSpPr>
          <p:cNvPr id="3" name="Content Placeholder 2">
            <a:extLst>
              <a:ext uri="{FF2B5EF4-FFF2-40B4-BE49-F238E27FC236}">
                <a16:creationId xmlns:a16="http://schemas.microsoft.com/office/drawing/2014/main" id="{6667EF7D-B2E3-18AC-8D03-3E85F207CA7A}"/>
              </a:ext>
            </a:extLst>
          </p:cNvPr>
          <p:cNvSpPr>
            <a:spLocks noGrp="1"/>
          </p:cNvSpPr>
          <p:nvPr>
            <p:ph idx="1"/>
          </p:nvPr>
        </p:nvSpPr>
        <p:spPr>
          <a:xfrm>
            <a:off x="262758" y="860170"/>
            <a:ext cx="11666483" cy="5514811"/>
          </a:xfrm>
        </p:spPr>
        <p:txBody>
          <a:bodyPr>
            <a:normAutofit lnSpcReduction="10000"/>
          </a:bodyPr>
          <a:lstStyle/>
          <a:p>
            <a:pPr marL="0" indent="0">
              <a:buNone/>
            </a:pPr>
            <a:r>
              <a:rPr lang="en-US" dirty="0">
                <a:solidFill>
                  <a:srgbClr val="C00000"/>
                </a:solidFill>
              </a:rPr>
              <a:t>The calling function will not pass any arguments to the called program, but the called program may send a return value to the calling program.</a:t>
            </a:r>
            <a:r>
              <a:rPr lang="en-US" dirty="0"/>
              <a:t> (One-way data communication).</a:t>
            </a:r>
          </a:p>
          <a:p>
            <a:pPr marL="0" indent="0">
              <a:buNone/>
            </a:pPr>
            <a:r>
              <a:rPr lang="en-US" dirty="0"/>
              <a:t>The called function is independent. It reads values from the keyboard or generates them from </a:t>
            </a:r>
            <a:r>
              <a:rPr lang="en-US" dirty="0" err="1"/>
              <a:t>initialisation</a:t>
            </a:r>
            <a:r>
              <a:rPr lang="en-US" dirty="0"/>
              <a:t> and returns the values. Here, both calling and called functions communicate with each other.</a:t>
            </a:r>
          </a:p>
          <a:p>
            <a:pPr marL="0" indent="0">
              <a:buNone/>
            </a:pPr>
            <a:r>
              <a:rPr lang="en-US" dirty="0"/>
              <a:t>Syntax :</a:t>
            </a:r>
          </a:p>
          <a:p>
            <a:pPr marL="0" indent="0">
              <a:buNone/>
            </a:pPr>
            <a:r>
              <a:rPr lang="en-US" dirty="0"/>
              <a:t>main ()                   		func1(). // dotted line specifies data transfer</a:t>
            </a:r>
          </a:p>
          <a:p>
            <a:pPr marL="0" indent="0">
              <a:buNone/>
            </a:pPr>
            <a:r>
              <a:rPr lang="en-US" dirty="0"/>
              <a:t>{                                   	 {</a:t>
            </a:r>
          </a:p>
          <a:p>
            <a:pPr marL="0" indent="0">
              <a:buNone/>
            </a:pPr>
            <a:r>
              <a:rPr lang="en-US" dirty="0"/>
              <a:t>….       				 …..</a:t>
            </a:r>
          </a:p>
          <a:p>
            <a:pPr marL="0" indent="0">
              <a:buNone/>
            </a:pPr>
            <a:r>
              <a:rPr lang="en-US" dirty="0"/>
              <a:t>….				……</a:t>
            </a:r>
          </a:p>
          <a:p>
            <a:pPr marL="0" indent="0">
              <a:buNone/>
            </a:pPr>
            <a:endParaRPr lang="en-US" dirty="0"/>
          </a:p>
          <a:p>
            <a:pPr marL="0" indent="0">
              <a:buNone/>
            </a:pPr>
            <a:r>
              <a:rPr lang="en-US" dirty="0"/>
              <a:t>C=funct1()</a:t>
            </a:r>
          </a:p>
          <a:p>
            <a:pPr marL="0" indent="0">
              <a:buNone/>
            </a:pPr>
            <a:r>
              <a:rPr lang="en-US" dirty="0"/>
              <a:t>}                                    	return(z);</a:t>
            </a:r>
          </a:p>
          <a:p>
            <a:pPr marL="0" indent="0">
              <a:buNone/>
            </a:pPr>
            <a:r>
              <a:rPr lang="en-US" dirty="0"/>
              <a:t>                                         	 }</a:t>
            </a:r>
          </a:p>
        </p:txBody>
      </p:sp>
      <p:grpSp>
        <p:nvGrpSpPr>
          <p:cNvPr id="8" name="Group 7">
            <a:extLst>
              <a:ext uri="{FF2B5EF4-FFF2-40B4-BE49-F238E27FC236}">
                <a16:creationId xmlns:a16="http://schemas.microsoft.com/office/drawing/2014/main" id="{F322CE6A-3FE9-00F0-D5F8-CACDD85A4420}"/>
              </a:ext>
            </a:extLst>
          </p:cNvPr>
          <p:cNvGrpSpPr/>
          <p:nvPr/>
        </p:nvGrpSpPr>
        <p:grpSpPr>
          <a:xfrm>
            <a:off x="2318612" y="4141376"/>
            <a:ext cx="373680" cy="541800"/>
            <a:chOff x="2165612" y="4298696"/>
            <a:chExt cx="373680" cy="54180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33D3A66-12D6-680F-0385-24C61D93F4F1}"/>
                    </a:ext>
                  </a:extLst>
                </p14:cNvPr>
                <p14:cNvContentPartPr/>
                <p14:nvPr/>
              </p14:nvContentPartPr>
              <p14:xfrm>
                <a:off x="2165612" y="4624136"/>
                <a:ext cx="118800" cy="216360"/>
              </p14:xfrm>
            </p:contentPart>
          </mc:Choice>
          <mc:Fallback xmlns="">
            <p:pic>
              <p:nvPicPr>
                <p:cNvPr id="4" name="Ink 3">
                  <a:extLst>
                    <a:ext uri="{FF2B5EF4-FFF2-40B4-BE49-F238E27FC236}">
                      <a16:creationId xmlns:a16="http://schemas.microsoft.com/office/drawing/2014/main" id="{C33D3A66-12D6-680F-0385-24C61D93F4F1}"/>
                    </a:ext>
                  </a:extLst>
                </p:cNvPr>
                <p:cNvPicPr/>
                <p:nvPr/>
              </p:nvPicPr>
              <p:blipFill>
                <a:blip r:embed="rId3"/>
                <a:stretch>
                  <a:fillRect/>
                </a:stretch>
              </p:blipFill>
              <p:spPr>
                <a:xfrm>
                  <a:off x="2156972" y="4615496"/>
                  <a:ext cx="136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25820E37-B915-6041-1AB4-A5C30959629B}"/>
                    </a:ext>
                  </a:extLst>
                </p14:cNvPr>
                <p14:cNvContentPartPr/>
                <p14:nvPr/>
              </p14:nvContentPartPr>
              <p14:xfrm>
                <a:off x="2284052" y="4530896"/>
                <a:ext cx="72360" cy="93600"/>
              </p14:xfrm>
            </p:contentPart>
          </mc:Choice>
          <mc:Fallback xmlns="">
            <p:pic>
              <p:nvPicPr>
                <p:cNvPr id="5" name="Ink 4">
                  <a:extLst>
                    <a:ext uri="{FF2B5EF4-FFF2-40B4-BE49-F238E27FC236}">
                      <a16:creationId xmlns:a16="http://schemas.microsoft.com/office/drawing/2014/main" id="{25820E37-B915-6041-1AB4-A5C30959629B}"/>
                    </a:ext>
                  </a:extLst>
                </p:cNvPr>
                <p:cNvPicPr/>
                <p:nvPr/>
              </p:nvPicPr>
              <p:blipFill>
                <a:blip r:embed="rId5"/>
                <a:stretch>
                  <a:fillRect/>
                </a:stretch>
              </p:blipFill>
              <p:spPr>
                <a:xfrm>
                  <a:off x="2275412" y="4521896"/>
                  <a:ext cx="900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4957657-B48C-829E-0A9C-80B825EF2EFE}"/>
                    </a:ext>
                  </a:extLst>
                </p14:cNvPr>
                <p14:cNvContentPartPr/>
                <p14:nvPr/>
              </p14:nvContentPartPr>
              <p14:xfrm>
                <a:off x="2382332" y="4298696"/>
                <a:ext cx="156960" cy="183240"/>
              </p14:xfrm>
            </p:contentPart>
          </mc:Choice>
          <mc:Fallback xmlns="">
            <p:pic>
              <p:nvPicPr>
                <p:cNvPr id="7" name="Ink 6">
                  <a:extLst>
                    <a:ext uri="{FF2B5EF4-FFF2-40B4-BE49-F238E27FC236}">
                      <a16:creationId xmlns:a16="http://schemas.microsoft.com/office/drawing/2014/main" id="{64957657-B48C-829E-0A9C-80B825EF2EFE}"/>
                    </a:ext>
                  </a:extLst>
                </p:cNvPr>
                <p:cNvPicPr/>
                <p:nvPr/>
              </p:nvPicPr>
              <p:blipFill>
                <a:blip r:embed="rId7"/>
                <a:stretch>
                  <a:fillRect/>
                </a:stretch>
              </p:blipFill>
              <p:spPr>
                <a:xfrm>
                  <a:off x="2373332" y="4289696"/>
                  <a:ext cx="174600" cy="200880"/>
                </a:xfrm>
                <a:prstGeom prst="rect">
                  <a:avLst/>
                </a:prstGeom>
              </p:spPr>
            </p:pic>
          </mc:Fallback>
        </mc:AlternateContent>
      </p:grpSp>
      <p:grpSp>
        <p:nvGrpSpPr>
          <p:cNvPr id="13" name="Group 12">
            <a:extLst>
              <a:ext uri="{FF2B5EF4-FFF2-40B4-BE49-F238E27FC236}">
                <a16:creationId xmlns:a16="http://schemas.microsoft.com/office/drawing/2014/main" id="{ED8EF608-FED2-B9B2-EC5E-D83E26B2EA02}"/>
              </a:ext>
            </a:extLst>
          </p:cNvPr>
          <p:cNvGrpSpPr/>
          <p:nvPr/>
        </p:nvGrpSpPr>
        <p:grpSpPr>
          <a:xfrm>
            <a:off x="2707412" y="3617576"/>
            <a:ext cx="558720" cy="523800"/>
            <a:chOff x="2707412" y="3617576"/>
            <a:chExt cx="558720" cy="523800"/>
          </a:xfrm>
        </p:grpSpPr>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70B310D-72A2-82E3-DA83-A450C0C80DBF}"/>
                    </a:ext>
                  </a:extLst>
                </p14:cNvPr>
                <p14:cNvContentPartPr/>
                <p14:nvPr/>
              </p14:nvContentPartPr>
              <p14:xfrm>
                <a:off x="2707412" y="3919256"/>
                <a:ext cx="189720" cy="222120"/>
              </p14:xfrm>
            </p:contentPart>
          </mc:Choice>
          <mc:Fallback xmlns="">
            <p:pic>
              <p:nvPicPr>
                <p:cNvPr id="9" name="Ink 8">
                  <a:extLst>
                    <a:ext uri="{FF2B5EF4-FFF2-40B4-BE49-F238E27FC236}">
                      <a16:creationId xmlns:a16="http://schemas.microsoft.com/office/drawing/2014/main" id="{E70B310D-72A2-82E3-DA83-A450C0C80DBF}"/>
                    </a:ext>
                  </a:extLst>
                </p:cNvPr>
                <p:cNvPicPr/>
                <p:nvPr/>
              </p:nvPicPr>
              <p:blipFill>
                <a:blip r:embed="rId9"/>
                <a:stretch>
                  <a:fillRect/>
                </a:stretch>
              </p:blipFill>
              <p:spPr>
                <a:xfrm>
                  <a:off x="2698772" y="3910256"/>
                  <a:ext cx="2073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A1FFCD7B-417D-81C8-2FF7-77970C4070E8}"/>
                    </a:ext>
                  </a:extLst>
                </p14:cNvPr>
                <p14:cNvContentPartPr/>
                <p14:nvPr/>
              </p14:nvContentPartPr>
              <p14:xfrm>
                <a:off x="2998292" y="3620096"/>
                <a:ext cx="188280" cy="217800"/>
              </p14:xfrm>
            </p:contentPart>
          </mc:Choice>
          <mc:Fallback xmlns="">
            <p:pic>
              <p:nvPicPr>
                <p:cNvPr id="10" name="Ink 9">
                  <a:extLst>
                    <a:ext uri="{FF2B5EF4-FFF2-40B4-BE49-F238E27FC236}">
                      <a16:creationId xmlns:a16="http://schemas.microsoft.com/office/drawing/2014/main" id="{A1FFCD7B-417D-81C8-2FF7-77970C4070E8}"/>
                    </a:ext>
                  </a:extLst>
                </p:cNvPr>
                <p:cNvPicPr/>
                <p:nvPr/>
              </p:nvPicPr>
              <p:blipFill>
                <a:blip r:embed="rId11"/>
                <a:stretch>
                  <a:fillRect/>
                </a:stretch>
              </p:blipFill>
              <p:spPr>
                <a:xfrm>
                  <a:off x="2989292" y="3611456"/>
                  <a:ext cx="2059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D293F2E2-FB51-1EB6-A29A-A233F28EAEAC}"/>
                    </a:ext>
                  </a:extLst>
                </p14:cNvPr>
                <p14:cNvContentPartPr/>
                <p14:nvPr/>
              </p14:nvContentPartPr>
              <p14:xfrm>
                <a:off x="3044732" y="3617576"/>
                <a:ext cx="221400" cy="211680"/>
              </p14:xfrm>
            </p:contentPart>
          </mc:Choice>
          <mc:Fallback xmlns="">
            <p:pic>
              <p:nvPicPr>
                <p:cNvPr id="12" name="Ink 11">
                  <a:extLst>
                    <a:ext uri="{FF2B5EF4-FFF2-40B4-BE49-F238E27FC236}">
                      <a16:creationId xmlns:a16="http://schemas.microsoft.com/office/drawing/2014/main" id="{D293F2E2-FB51-1EB6-A29A-A233F28EAEAC}"/>
                    </a:ext>
                  </a:extLst>
                </p:cNvPr>
                <p:cNvPicPr/>
                <p:nvPr/>
              </p:nvPicPr>
              <p:blipFill>
                <a:blip r:embed="rId13"/>
                <a:stretch>
                  <a:fillRect/>
                </a:stretch>
              </p:blipFill>
              <p:spPr>
                <a:xfrm>
                  <a:off x="3036092" y="3608576"/>
                  <a:ext cx="239040" cy="229320"/>
                </a:xfrm>
                <a:prstGeom prst="rect">
                  <a:avLst/>
                </a:prstGeom>
              </p:spPr>
            </p:pic>
          </mc:Fallback>
        </mc:AlternateContent>
      </p:grpSp>
      <p:grpSp>
        <p:nvGrpSpPr>
          <p:cNvPr id="16" name="Group 15">
            <a:extLst>
              <a:ext uri="{FF2B5EF4-FFF2-40B4-BE49-F238E27FC236}">
                <a16:creationId xmlns:a16="http://schemas.microsoft.com/office/drawing/2014/main" id="{28F7CA6B-F4D3-CC35-5E1F-F320F2A572AB}"/>
              </a:ext>
            </a:extLst>
          </p:cNvPr>
          <p:cNvGrpSpPr/>
          <p:nvPr/>
        </p:nvGrpSpPr>
        <p:grpSpPr>
          <a:xfrm>
            <a:off x="2227532" y="4942736"/>
            <a:ext cx="1235520" cy="728640"/>
            <a:chOff x="2227532" y="4942736"/>
            <a:chExt cx="1235520" cy="728640"/>
          </a:xfrm>
        </p:grpSpPr>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3B97B4F6-3302-AB2D-7EF4-4DA95FFF7BF0}"/>
                    </a:ext>
                  </a:extLst>
                </p14:cNvPr>
                <p14:cNvContentPartPr/>
                <p14:nvPr/>
              </p14:nvContentPartPr>
              <p14:xfrm>
                <a:off x="2318612" y="5068736"/>
                <a:ext cx="1144440" cy="602640"/>
              </p14:xfrm>
            </p:contentPart>
          </mc:Choice>
          <mc:Fallback xmlns="">
            <p:pic>
              <p:nvPicPr>
                <p:cNvPr id="14" name="Ink 13">
                  <a:extLst>
                    <a:ext uri="{FF2B5EF4-FFF2-40B4-BE49-F238E27FC236}">
                      <a16:creationId xmlns:a16="http://schemas.microsoft.com/office/drawing/2014/main" id="{3B97B4F6-3302-AB2D-7EF4-4DA95FFF7BF0}"/>
                    </a:ext>
                  </a:extLst>
                </p:cNvPr>
                <p:cNvPicPr/>
                <p:nvPr/>
              </p:nvPicPr>
              <p:blipFill>
                <a:blip r:embed="rId15"/>
                <a:stretch>
                  <a:fillRect/>
                </a:stretch>
              </p:blipFill>
              <p:spPr>
                <a:xfrm>
                  <a:off x="2309612" y="5060096"/>
                  <a:ext cx="1162080" cy="620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3EE5BCAC-94BF-38A6-4473-9E1C6BBBF6EB}"/>
                    </a:ext>
                  </a:extLst>
                </p14:cNvPr>
                <p14:cNvContentPartPr/>
                <p14:nvPr/>
              </p14:nvContentPartPr>
              <p14:xfrm>
                <a:off x="2227532" y="4942736"/>
                <a:ext cx="256320" cy="234720"/>
              </p14:xfrm>
            </p:contentPart>
          </mc:Choice>
          <mc:Fallback xmlns="">
            <p:pic>
              <p:nvPicPr>
                <p:cNvPr id="15" name="Ink 14">
                  <a:extLst>
                    <a:ext uri="{FF2B5EF4-FFF2-40B4-BE49-F238E27FC236}">
                      <a16:creationId xmlns:a16="http://schemas.microsoft.com/office/drawing/2014/main" id="{3EE5BCAC-94BF-38A6-4473-9E1C6BBBF6EB}"/>
                    </a:ext>
                  </a:extLst>
                </p:cNvPr>
                <p:cNvPicPr/>
                <p:nvPr/>
              </p:nvPicPr>
              <p:blipFill>
                <a:blip r:embed="rId17"/>
                <a:stretch>
                  <a:fillRect/>
                </a:stretch>
              </p:blipFill>
              <p:spPr>
                <a:xfrm>
                  <a:off x="2218892" y="4933736"/>
                  <a:ext cx="273960" cy="252360"/>
                </a:xfrm>
                <a:prstGeom prst="rect">
                  <a:avLst/>
                </a:prstGeom>
              </p:spPr>
            </p:pic>
          </mc:Fallback>
        </mc:AlternateContent>
      </p:grpSp>
    </p:spTree>
    <p:extLst>
      <p:ext uri="{BB962C8B-B14F-4D97-AF65-F5344CB8AC3E}">
        <p14:creationId xmlns:p14="http://schemas.microsoft.com/office/powerpoint/2010/main" val="2244395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1CD26-CDF8-AEB8-DBF1-7B458AE41C54}"/>
              </a:ext>
            </a:extLst>
          </p:cNvPr>
          <p:cNvSpPr>
            <a:spLocks noGrp="1"/>
          </p:cNvSpPr>
          <p:nvPr>
            <p:ph idx="1"/>
          </p:nvPr>
        </p:nvSpPr>
        <p:spPr>
          <a:xfrm>
            <a:off x="335280" y="1004495"/>
            <a:ext cx="11227676" cy="5030545"/>
          </a:xfrm>
        </p:spPr>
        <p:txBody>
          <a:bodyPr numCol="2">
            <a:normAutofit/>
          </a:bodyPr>
          <a:lstStyle/>
          <a:p>
            <a:pPr marL="0" indent="0">
              <a:lnSpc>
                <a:spcPct val="60000"/>
              </a:lnSpc>
              <a:buNone/>
            </a:pPr>
            <a:r>
              <a:rPr lang="en-US" sz="2400" dirty="0"/>
              <a:t>#include &lt;</a:t>
            </a:r>
            <a:r>
              <a:rPr lang="en-US" sz="2400" dirty="0" err="1"/>
              <a:t>stdio.h</a:t>
            </a:r>
            <a:r>
              <a:rPr lang="en-US" sz="2400" dirty="0"/>
              <a:t>&gt;</a:t>
            </a:r>
          </a:p>
          <a:p>
            <a:pPr marL="0" indent="0">
              <a:lnSpc>
                <a:spcPct val="60000"/>
              </a:lnSpc>
              <a:buNone/>
            </a:pPr>
            <a:r>
              <a:rPr lang="en-US" sz="2400" dirty="0"/>
              <a:t>int add();</a:t>
            </a:r>
          </a:p>
          <a:p>
            <a:pPr marL="0" indent="0">
              <a:lnSpc>
                <a:spcPct val="60000"/>
              </a:lnSpc>
              <a:buNone/>
            </a:pPr>
            <a:r>
              <a:rPr lang="en-US" sz="2400" dirty="0"/>
              <a:t>void main()</a:t>
            </a:r>
          </a:p>
          <a:p>
            <a:pPr marL="0" indent="0">
              <a:lnSpc>
                <a:spcPct val="60000"/>
              </a:lnSpc>
              <a:buNone/>
            </a:pPr>
            <a:r>
              <a:rPr lang="en-US" sz="2400" dirty="0"/>
              <a:t>	{</a:t>
            </a:r>
          </a:p>
          <a:p>
            <a:pPr marL="1371600" lvl="3" indent="0">
              <a:lnSpc>
                <a:spcPct val="60000"/>
              </a:lnSpc>
              <a:buNone/>
            </a:pPr>
            <a:r>
              <a:rPr lang="en-US" sz="2400" dirty="0"/>
              <a:t>c=add();</a:t>
            </a:r>
          </a:p>
          <a:p>
            <a:pPr marL="1371600" lvl="3" indent="0">
              <a:lnSpc>
                <a:spcPct val="60000"/>
              </a:lnSpc>
              <a:buNone/>
            </a:pPr>
            <a:r>
              <a:rPr lang="en-US" sz="2400" dirty="0" err="1">
                <a:solidFill>
                  <a:srgbClr val="0070C0"/>
                </a:solidFill>
              </a:rPr>
              <a:t>printf</a:t>
            </a:r>
            <a:r>
              <a:rPr lang="en-US" sz="2400" dirty="0">
                <a:solidFill>
                  <a:srgbClr val="0070C0"/>
                </a:solidFill>
              </a:rPr>
              <a:t>(“the result is %</a:t>
            </a:r>
            <a:r>
              <a:rPr lang="en-US" sz="2400" dirty="0" err="1">
                <a:solidFill>
                  <a:srgbClr val="0070C0"/>
                </a:solidFill>
              </a:rPr>
              <a:t>d“,c</a:t>
            </a:r>
            <a:r>
              <a:rPr lang="en-US" sz="2400" dirty="0">
                <a:solidFill>
                  <a:srgbClr val="0070C0"/>
                </a:solidFill>
              </a:rPr>
              <a:t>);</a:t>
            </a:r>
          </a:p>
          <a:p>
            <a:pPr marL="0" indent="0">
              <a:lnSpc>
                <a:spcPct val="60000"/>
              </a:lnSpc>
              <a:buNone/>
            </a:pPr>
            <a:r>
              <a:rPr lang="en-US" sz="2400" dirty="0"/>
              <a:t>	}</a:t>
            </a:r>
          </a:p>
          <a:p>
            <a:pPr marL="0" indent="0">
              <a:lnSpc>
                <a:spcPct val="60000"/>
              </a:lnSpc>
              <a:buNone/>
            </a:pPr>
            <a:r>
              <a:rPr lang="en-US" sz="2400" dirty="0"/>
              <a:t>int add( )</a:t>
            </a:r>
          </a:p>
          <a:p>
            <a:pPr marL="0" indent="0">
              <a:lnSpc>
                <a:spcPct val="60000"/>
              </a:lnSpc>
              <a:buNone/>
            </a:pPr>
            <a:r>
              <a:rPr lang="en-US" sz="2400" dirty="0"/>
              <a:t>	{</a:t>
            </a:r>
          </a:p>
          <a:p>
            <a:pPr marL="1371600" lvl="3" indent="0">
              <a:lnSpc>
                <a:spcPct val="60000"/>
              </a:lnSpc>
              <a:buNone/>
            </a:pPr>
            <a:r>
              <a:rPr lang="en-US" sz="2400" dirty="0"/>
              <a:t>int </a:t>
            </a:r>
            <a:r>
              <a:rPr lang="en-US" sz="2400" dirty="0" err="1"/>
              <a:t>a,b,c</a:t>
            </a:r>
            <a:r>
              <a:rPr lang="en-US" sz="2400" dirty="0"/>
              <a:t>;</a:t>
            </a:r>
          </a:p>
          <a:p>
            <a:pPr marL="1371600" lvl="3" indent="0">
              <a:lnSpc>
                <a:spcPct val="60000"/>
              </a:lnSpc>
              <a:buNone/>
            </a:pPr>
            <a:r>
              <a:rPr lang="en-US" sz="2400" dirty="0" err="1"/>
              <a:t>printf</a:t>
            </a:r>
            <a:r>
              <a:rPr lang="en-US" sz="2400" dirty="0"/>
              <a:t>(“enter two numbers “);</a:t>
            </a:r>
          </a:p>
          <a:p>
            <a:pPr marL="1371600" lvl="3" indent="0">
              <a:lnSpc>
                <a:spcPct val="60000"/>
              </a:lnSpc>
              <a:buNone/>
            </a:pPr>
            <a:r>
              <a:rPr lang="en-US" sz="2400" dirty="0" err="1">
                <a:solidFill>
                  <a:srgbClr val="0070C0"/>
                </a:solidFill>
              </a:rPr>
              <a:t>scanf</a:t>
            </a:r>
            <a:r>
              <a:rPr lang="en-US" sz="2400" dirty="0">
                <a:solidFill>
                  <a:srgbClr val="0070C0"/>
                </a:solidFill>
              </a:rPr>
              <a:t>(“%</a:t>
            </a:r>
            <a:r>
              <a:rPr lang="en-US" sz="2400" dirty="0" err="1">
                <a:solidFill>
                  <a:srgbClr val="0070C0"/>
                </a:solidFill>
              </a:rPr>
              <a:t>d%d</a:t>
            </a:r>
            <a:r>
              <a:rPr lang="en-US" sz="2400" dirty="0">
                <a:solidFill>
                  <a:srgbClr val="0070C0"/>
                </a:solidFill>
              </a:rPr>
              <a:t>”,&amp;</a:t>
            </a:r>
            <a:r>
              <a:rPr lang="en-US" sz="2400" dirty="0" err="1">
                <a:solidFill>
                  <a:srgbClr val="0070C0"/>
                </a:solidFill>
              </a:rPr>
              <a:t>a,&amp;b</a:t>
            </a:r>
            <a:r>
              <a:rPr lang="en-US" sz="2400" dirty="0">
                <a:solidFill>
                  <a:srgbClr val="0070C0"/>
                </a:solidFill>
              </a:rPr>
              <a:t>);</a:t>
            </a:r>
          </a:p>
          <a:p>
            <a:pPr marL="1371600" lvl="3" indent="0">
              <a:lnSpc>
                <a:spcPct val="60000"/>
              </a:lnSpc>
              <a:buNone/>
            </a:pPr>
            <a:r>
              <a:rPr lang="en-US" sz="2400" dirty="0">
                <a:solidFill>
                  <a:srgbClr val="0070C0"/>
                </a:solidFill>
              </a:rPr>
              <a:t>c=</a:t>
            </a:r>
            <a:r>
              <a:rPr lang="en-US" sz="2400" dirty="0" err="1">
                <a:solidFill>
                  <a:srgbClr val="0070C0"/>
                </a:solidFill>
              </a:rPr>
              <a:t>a+b</a:t>
            </a:r>
            <a:r>
              <a:rPr lang="en-US" sz="2400" dirty="0">
                <a:solidFill>
                  <a:srgbClr val="0070C0"/>
                </a:solidFill>
              </a:rPr>
              <a:t>;</a:t>
            </a:r>
          </a:p>
          <a:p>
            <a:pPr marL="1371600" lvl="3" indent="0">
              <a:lnSpc>
                <a:spcPct val="60000"/>
              </a:lnSpc>
              <a:buNone/>
            </a:pPr>
            <a:r>
              <a:rPr lang="en-US" sz="2400" dirty="0"/>
              <a:t>return(c);</a:t>
            </a:r>
          </a:p>
          <a:p>
            <a:pPr marL="1371600" lvl="3" indent="0">
              <a:lnSpc>
                <a:spcPct val="60000"/>
              </a:lnSpc>
              <a:buNone/>
            </a:pPr>
            <a:endParaRPr lang="en-US" sz="2400" dirty="0"/>
          </a:p>
          <a:p>
            <a:pPr marL="0" indent="0">
              <a:lnSpc>
                <a:spcPct val="60000"/>
              </a:lnSpc>
              <a:buNone/>
            </a:pPr>
            <a:r>
              <a:rPr lang="en-US" sz="2400" dirty="0"/>
              <a:t>	}</a:t>
            </a:r>
          </a:p>
          <a:p>
            <a:pPr marL="0" indent="0">
              <a:lnSpc>
                <a:spcPct val="60000"/>
              </a:lnSpc>
              <a:buNone/>
            </a:pPr>
            <a:endParaRPr lang="en-US" sz="2400" dirty="0"/>
          </a:p>
          <a:p>
            <a:pPr marL="0" indent="0">
              <a:lnSpc>
                <a:spcPct val="60000"/>
              </a:lnSpc>
              <a:buNone/>
            </a:pPr>
            <a:endParaRPr lang="en-US" sz="2400" dirty="0"/>
          </a:p>
          <a:p>
            <a:pPr>
              <a:lnSpc>
                <a:spcPct val="60000"/>
              </a:lnSpc>
            </a:pPr>
            <a:endParaRPr lang="en-US" dirty="0"/>
          </a:p>
        </p:txBody>
      </p:sp>
      <p:sp>
        <p:nvSpPr>
          <p:cNvPr id="2" name="Title 1">
            <a:extLst>
              <a:ext uri="{FF2B5EF4-FFF2-40B4-BE49-F238E27FC236}">
                <a16:creationId xmlns:a16="http://schemas.microsoft.com/office/drawing/2014/main" id="{2543765B-57D8-784E-BE0A-B7980153BA6F}"/>
              </a:ext>
            </a:extLst>
          </p:cNvPr>
          <p:cNvSpPr>
            <a:spLocks noGrp="1"/>
          </p:cNvSpPr>
          <p:nvPr>
            <p:ph type="title"/>
          </p:nvPr>
        </p:nvSpPr>
        <p:spPr>
          <a:xfrm>
            <a:off x="262758" y="100805"/>
            <a:ext cx="11666483" cy="764428"/>
          </a:xfrm>
        </p:spPr>
        <p:txBody>
          <a:bodyPr>
            <a:normAutofit fontScale="90000"/>
          </a:bodyPr>
          <a:lstStyle/>
          <a:p>
            <a:br>
              <a:rPr lang="en-US" dirty="0"/>
            </a:br>
            <a:r>
              <a:rPr lang="en-US" dirty="0">
                <a:solidFill>
                  <a:srgbClr val="0070C0"/>
                </a:solidFill>
              </a:rPr>
              <a:t>FUNCTION WITH NO ARGUMENTS AND WITH RETURN VALUES</a:t>
            </a:r>
          </a:p>
        </p:txBody>
      </p:sp>
    </p:spTree>
    <p:extLst>
      <p:ext uri="{BB962C8B-B14F-4D97-AF65-F5344CB8AC3E}">
        <p14:creationId xmlns:p14="http://schemas.microsoft.com/office/powerpoint/2010/main" val="697839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22C8-CE17-3EA3-3D21-EF3C2AB0DDCA}"/>
              </a:ext>
            </a:extLst>
          </p:cNvPr>
          <p:cNvSpPr>
            <a:spLocks noGrp="1"/>
          </p:cNvSpPr>
          <p:nvPr>
            <p:ph type="title"/>
          </p:nvPr>
        </p:nvSpPr>
        <p:spPr>
          <a:xfrm>
            <a:off x="658211" y="107157"/>
            <a:ext cx="10287000" cy="1147762"/>
          </a:xfrm>
        </p:spPr>
        <p:txBody>
          <a:bodyPr/>
          <a:lstStyle/>
          <a:p>
            <a:r>
              <a:rPr lang="en-IN" dirty="0"/>
              <a:t>Practice Questions</a:t>
            </a:r>
          </a:p>
        </p:txBody>
      </p:sp>
      <p:sp>
        <p:nvSpPr>
          <p:cNvPr id="3" name="Content Placeholder 2">
            <a:extLst>
              <a:ext uri="{FF2B5EF4-FFF2-40B4-BE49-F238E27FC236}">
                <a16:creationId xmlns:a16="http://schemas.microsoft.com/office/drawing/2014/main" id="{413CA085-9160-8F9E-5CD4-633486072AE1}"/>
              </a:ext>
            </a:extLst>
          </p:cNvPr>
          <p:cNvSpPr>
            <a:spLocks noGrp="1"/>
          </p:cNvSpPr>
          <p:nvPr>
            <p:ph idx="1"/>
          </p:nvPr>
        </p:nvSpPr>
        <p:spPr>
          <a:xfrm>
            <a:off x="567559" y="1492469"/>
            <a:ext cx="10671941" cy="5160579"/>
          </a:xfrm>
        </p:spPr>
        <p:txBody>
          <a:bodyPr>
            <a:normAutofit fontScale="92500" lnSpcReduction="20000"/>
          </a:bodyPr>
          <a:lstStyle/>
          <a:p>
            <a:pPr marL="0" indent="0">
              <a:spcAft>
                <a:spcPts val="800"/>
              </a:spcAft>
              <a:buNone/>
              <a:defRPr sz="1800"/>
            </a:pPr>
            <a:r>
              <a:rPr lang="en-US" dirty="0"/>
              <a:t>Predict the output before checking the answer.</a:t>
            </a:r>
          </a:p>
          <a:p>
            <a:pPr>
              <a:buFont typeface="+mj-lt"/>
              <a:buAutoNum type="arabicPeriod"/>
            </a:pPr>
            <a:r>
              <a:rPr lang="en-IN" dirty="0"/>
              <a:t>What is a function in C? </a:t>
            </a:r>
          </a:p>
          <a:p>
            <a:pPr>
              <a:buFont typeface="+mj-lt"/>
              <a:buAutoNum type="arabicPeriod"/>
            </a:pPr>
            <a:r>
              <a:rPr lang="en-IN" dirty="0"/>
              <a:t>What is a function prototype? </a:t>
            </a:r>
          </a:p>
          <a:p>
            <a:pPr>
              <a:buFont typeface="+mj-lt"/>
              <a:buAutoNum type="arabicPeriod"/>
            </a:pPr>
            <a:r>
              <a:rPr lang="en-IN" dirty="0"/>
              <a:t>How many types of functions are classified based on arguments and return values? </a:t>
            </a:r>
          </a:p>
          <a:p>
            <a:pPr>
              <a:buFont typeface="+mj-lt"/>
              <a:buAutoNum type="arabicPeriod"/>
            </a:pPr>
            <a:r>
              <a:rPr lang="en-IN" dirty="0"/>
              <a:t>Name the four types of functions in C. </a:t>
            </a:r>
          </a:p>
          <a:p>
            <a:pPr>
              <a:buFont typeface="+mj-lt"/>
              <a:buAutoNum type="arabicPeriod"/>
            </a:pPr>
            <a:r>
              <a:rPr lang="en-IN" dirty="0"/>
              <a:t>Which keyword is used for a function that does not return a value? </a:t>
            </a:r>
          </a:p>
          <a:p>
            <a:pPr>
              <a:buFont typeface="+mj-lt"/>
              <a:buAutoNum type="arabicPeriod"/>
            </a:pPr>
            <a:r>
              <a:rPr lang="en-IN" dirty="0"/>
              <a:t>What is an argument in a function? </a:t>
            </a:r>
          </a:p>
          <a:p>
            <a:pPr>
              <a:buFont typeface="+mj-lt"/>
              <a:buAutoNum type="arabicPeriod"/>
            </a:pPr>
            <a:r>
              <a:rPr lang="en-IN" dirty="0"/>
              <a:t>What is a return value? </a:t>
            </a:r>
          </a:p>
          <a:p>
            <a:pPr>
              <a:buFont typeface="+mj-lt"/>
              <a:buAutoNum type="arabicPeriod"/>
            </a:pPr>
            <a:r>
              <a:rPr lang="en-IN" dirty="0"/>
              <a:t>Identify the type of function: </a:t>
            </a:r>
          </a:p>
          <a:p>
            <a:pPr marL="0" indent="0" rtl="0">
              <a:buNone/>
            </a:pPr>
            <a:r>
              <a:rPr lang="en-IN" dirty="0"/>
              <a:t>void display() </a:t>
            </a:r>
          </a:p>
          <a:p>
            <a:pPr marL="0" indent="0" rtl="0">
              <a:buNone/>
            </a:pPr>
            <a:r>
              <a:rPr lang="en-IN" dirty="0"/>
              <a:t>{ </a:t>
            </a:r>
          </a:p>
          <a:p>
            <a:pPr marL="0" indent="0" rtl="0">
              <a:buNone/>
            </a:pPr>
            <a:r>
              <a:rPr lang="en-IN" dirty="0" err="1"/>
              <a:t>printf</a:t>
            </a:r>
            <a:r>
              <a:rPr lang="en-IN" dirty="0"/>
              <a:t>("Hello"); </a:t>
            </a:r>
          </a:p>
          <a:p>
            <a:pPr marL="0" indent="0" rtl="0">
              <a:buNone/>
            </a:pPr>
            <a:r>
              <a:rPr lang="en-IN" dirty="0"/>
              <a:t>}</a:t>
            </a:r>
          </a:p>
          <a:p>
            <a:pPr marL="0" indent="0">
              <a:buNone/>
            </a:pPr>
            <a:endParaRPr lang="en-IN" dirty="0"/>
          </a:p>
        </p:txBody>
      </p:sp>
    </p:spTree>
    <p:extLst>
      <p:ext uri="{BB962C8B-B14F-4D97-AF65-F5344CB8AC3E}">
        <p14:creationId xmlns:p14="http://schemas.microsoft.com/office/powerpoint/2010/main" val="3096140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8AF0-20D2-B244-A4DE-1956F873401B}"/>
              </a:ext>
            </a:extLst>
          </p:cNvPr>
          <p:cNvSpPr>
            <a:spLocks noGrp="1"/>
          </p:cNvSpPr>
          <p:nvPr>
            <p:ph type="title"/>
          </p:nvPr>
        </p:nvSpPr>
        <p:spPr>
          <a:xfrm>
            <a:off x="679231" y="231720"/>
            <a:ext cx="10287000" cy="1147762"/>
          </a:xfrm>
        </p:spPr>
        <p:txBody>
          <a:bodyPr/>
          <a:lstStyle/>
          <a:p>
            <a:r>
              <a:rPr lang="en-IN" dirty="0"/>
              <a:t>Practice Answers</a:t>
            </a:r>
          </a:p>
        </p:txBody>
      </p:sp>
      <p:sp>
        <p:nvSpPr>
          <p:cNvPr id="3" name="Content Placeholder 2">
            <a:extLst>
              <a:ext uri="{FF2B5EF4-FFF2-40B4-BE49-F238E27FC236}">
                <a16:creationId xmlns:a16="http://schemas.microsoft.com/office/drawing/2014/main" id="{84893EA5-5AE0-83CB-028D-BF3C77AD1865}"/>
              </a:ext>
            </a:extLst>
          </p:cNvPr>
          <p:cNvSpPr>
            <a:spLocks noGrp="1"/>
          </p:cNvSpPr>
          <p:nvPr>
            <p:ph idx="1"/>
          </p:nvPr>
        </p:nvSpPr>
        <p:spPr>
          <a:xfrm>
            <a:off x="679231" y="1597572"/>
            <a:ext cx="10560269" cy="4579391"/>
          </a:xfrm>
        </p:spPr>
        <p:txBody>
          <a:bodyPr>
            <a:normAutofit/>
          </a:bodyPr>
          <a:lstStyle/>
          <a:p>
            <a:pPr marL="0" indent="0">
              <a:buNone/>
            </a:pPr>
            <a:r>
              <a:rPr lang="en-IN" dirty="0"/>
              <a:t>A1. A function is a block of statements designed to perform a specific task. A function prototype declares the function name, return type, and parameters before the function is called. Four types. No arguments and no return value </a:t>
            </a:r>
          </a:p>
          <a:p>
            <a:pPr marL="0" indent="0">
              <a:buNone/>
            </a:pPr>
            <a:r>
              <a:rPr lang="en-IN" dirty="0"/>
              <a:t>A2. Arguments and no return value </a:t>
            </a:r>
          </a:p>
          <a:p>
            <a:pPr marL="0" indent="0">
              <a:buNone/>
            </a:pPr>
            <a:r>
              <a:rPr lang="en-IN" dirty="0"/>
              <a:t>A3. Arguments and return value </a:t>
            </a:r>
          </a:p>
          <a:p>
            <a:pPr marL="0" indent="0">
              <a:buNone/>
            </a:pPr>
            <a:r>
              <a:rPr lang="en-IN" dirty="0"/>
              <a:t>A4. No arguments and return value </a:t>
            </a:r>
          </a:p>
          <a:p>
            <a:pPr marL="0" indent="0">
              <a:buNone/>
            </a:pPr>
            <a:r>
              <a:rPr lang="en-IN" dirty="0"/>
              <a:t>A5. void </a:t>
            </a:r>
          </a:p>
          <a:p>
            <a:pPr marL="0" indent="0">
              <a:buNone/>
            </a:pPr>
            <a:r>
              <a:rPr lang="en-IN" dirty="0"/>
              <a:t>A6. An argument is a value passed from the calling function to the called function. </a:t>
            </a:r>
          </a:p>
          <a:p>
            <a:pPr marL="0" indent="0">
              <a:buNone/>
            </a:pPr>
            <a:r>
              <a:rPr lang="en-IN" dirty="0"/>
              <a:t>A7.A return value is the result sent back from the called function to the calling function. </a:t>
            </a:r>
          </a:p>
          <a:p>
            <a:pPr marL="0" indent="0">
              <a:buNone/>
            </a:pPr>
            <a:r>
              <a:rPr lang="en-IN" b="1" dirty="0"/>
              <a:t>A8. No arguments and no return value</a:t>
            </a:r>
            <a:endParaRPr lang="en-IN" dirty="0"/>
          </a:p>
        </p:txBody>
      </p:sp>
    </p:spTree>
    <p:extLst>
      <p:ext uri="{BB962C8B-B14F-4D97-AF65-F5344CB8AC3E}">
        <p14:creationId xmlns:p14="http://schemas.microsoft.com/office/powerpoint/2010/main" val="1509927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normAutofit/>
          </a:bodyPr>
          <a:lstStyle/>
          <a:p>
            <a:pPr lvl="0"/>
            <a:r>
              <a:rPr lang="en-IN" dirty="0"/>
              <a:t>[1] B. W. Kernighan and D. M. Ritchie, </a:t>
            </a:r>
            <a:r>
              <a:rPr lang="en-IN" i="1" dirty="0"/>
              <a:t>The C Programming Language</a:t>
            </a:r>
            <a:r>
              <a:rPr lang="en-IN" dirty="0"/>
              <a:t>, 2nd ed., Prentice Hall, 1988.</a:t>
            </a:r>
            <a:br>
              <a:rPr lang="en-IN" dirty="0"/>
            </a:br>
            <a:r>
              <a:rPr lang="en-IN" dirty="0"/>
              <a:t>[2] E. </a:t>
            </a:r>
            <a:r>
              <a:rPr lang="en-IN" dirty="0" err="1"/>
              <a:t>Balagurusamy</a:t>
            </a:r>
            <a:r>
              <a:rPr lang="en-IN" dirty="0"/>
              <a:t>, </a:t>
            </a:r>
            <a:r>
              <a:rPr lang="en-IN" i="1" dirty="0"/>
              <a:t>Programming in ANSI C</a:t>
            </a:r>
            <a:r>
              <a:rPr lang="en-IN" dirty="0"/>
              <a:t>, 8th ed., McGraw Hill Education, 2019.</a:t>
            </a:r>
            <a:br>
              <a:rPr lang="en-IN" dirty="0"/>
            </a:br>
            <a:r>
              <a:rPr lang="en-IN" dirty="0"/>
              <a:t>[3] K. N. King, </a:t>
            </a:r>
            <a:r>
              <a:rPr lang="en-IN" i="1" dirty="0"/>
              <a:t>C Programming: A Modern Approach</a:t>
            </a:r>
            <a:r>
              <a:rPr lang="en-IN" dirty="0"/>
              <a:t>, 2nd ed., W. W. Norton &amp; Company, 2008.</a:t>
            </a:r>
            <a:br>
              <a:rPr lang="en-IN" dirty="0"/>
            </a:br>
            <a:r>
              <a:rPr lang="en-IN" dirty="0"/>
              <a:t>[4] H. Schildt, </a:t>
            </a:r>
            <a:r>
              <a:rPr lang="en-IN" i="1" dirty="0"/>
              <a:t>C: The Complete Reference</a:t>
            </a:r>
            <a:r>
              <a:rPr lang="en-IN" dirty="0"/>
              <a:t>, 4th ed., McGraw-Hill Education, 2017.</a:t>
            </a:r>
            <a:br>
              <a:rPr lang="en-IN" dirty="0"/>
            </a:br>
            <a:r>
              <a:rPr lang="en-IN" dirty="0"/>
              <a:t>[5] ISO/IEC 9899:2018, </a:t>
            </a:r>
            <a:r>
              <a:rPr lang="en-IN" i="1" dirty="0"/>
              <a:t>Programming Languages — C</a:t>
            </a:r>
            <a:r>
              <a:rPr lang="en-IN" dirty="0"/>
              <a:t>, ISO, 2018.</a:t>
            </a:r>
          </a:p>
        </p:txBody>
      </p:sp>
    </p:spTree>
    <p:extLst>
      <p:ext uri="{BB962C8B-B14F-4D97-AF65-F5344CB8AC3E}">
        <p14:creationId xmlns:p14="http://schemas.microsoft.com/office/powerpoint/2010/main" val="3304054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7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 2 </a:t>
            </a:r>
          </a:p>
          <a:p>
            <a:r>
              <a:rPr lang="en-IN" b="1" dirty="0">
                <a:latin typeface="Times New Roman" panose="02020603050405020304" pitchFamily="18" charset="0"/>
                <a:cs typeface="Times New Roman" panose="02020603050405020304" pitchFamily="18" charset="0"/>
              </a:rPr>
              <a:t>SLO 1 : </a:t>
            </a:r>
            <a:r>
              <a:rPr lang="en-IN" b="1" dirty="0">
                <a:cs typeface="Times New Roman" panose="02020603050405020304" pitchFamily="18" charset="0"/>
              </a:rPr>
              <a:t>At the end of this session the learners will be able to </a:t>
            </a:r>
            <a:r>
              <a:rPr lang="en-IN" b="1" dirty="0"/>
              <a:t>apply pass-by-value and pass-by-reference using functions in C to solve simple mathematical and logical problems.</a:t>
            </a:r>
          </a:p>
          <a:p>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288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a:xfrm>
            <a:off x="436098" y="2285997"/>
            <a:ext cx="10803402" cy="3890965"/>
          </a:xfrm>
        </p:spPr>
        <p:txBody>
          <a:bodyPr>
            <a:normAutofit fontScale="92500" lnSpcReduction="10000"/>
          </a:bodyPr>
          <a:lstStyle/>
          <a:p>
            <a:pPr marL="0" indent="0">
              <a:buNone/>
            </a:pPr>
            <a:r>
              <a:rPr lang="en-IN" dirty="0"/>
              <a:t>By the end of the lesson, students will be able to:</a:t>
            </a:r>
          </a:p>
          <a:p>
            <a:pPr>
              <a:buFont typeface="+mj-lt"/>
              <a:buAutoNum type="arabicPeriod"/>
            </a:pPr>
            <a:r>
              <a:rPr lang="en-IN" b="1" dirty="0"/>
              <a:t>Explain</a:t>
            </a:r>
            <a:r>
              <a:rPr lang="en-IN" dirty="0"/>
              <a:t> the concepts of pass-by-value and pass-by-reference in C. </a:t>
            </a:r>
          </a:p>
          <a:p>
            <a:pPr>
              <a:buFont typeface="+mj-lt"/>
              <a:buAutoNum type="arabicPeriod"/>
            </a:pPr>
            <a:r>
              <a:rPr lang="en-IN" b="1" dirty="0"/>
              <a:t>Differentiate</a:t>
            </a:r>
            <a:r>
              <a:rPr lang="en-IN" dirty="0"/>
              <a:t> between pass-by-value and pass-by-reference based on how data is passed to functions. </a:t>
            </a:r>
          </a:p>
          <a:p>
            <a:pPr>
              <a:buFont typeface="+mj-lt"/>
              <a:buAutoNum type="arabicPeriod"/>
            </a:pPr>
            <a:r>
              <a:rPr lang="en-IN" b="1" dirty="0"/>
              <a:t>Apply</a:t>
            </a:r>
            <a:r>
              <a:rPr lang="en-IN" dirty="0"/>
              <a:t> pass-by-value to solve simple mathematical and logical problems. </a:t>
            </a:r>
          </a:p>
          <a:p>
            <a:pPr>
              <a:buFont typeface="+mj-lt"/>
              <a:buAutoNum type="arabicPeriod"/>
            </a:pPr>
            <a:r>
              <a:rPr lang="en-IN" b="1" dirty="0"/>
              <a:t>Use pointers</a:t>
            </a:r>
            <a:r>
              <a:rPr lang="en-IN" dirty="0"/>
              <a:t> to implement pass-by-reference in C. </a:t>
            </a:r>
          </a:p>
          <a:p>
            <a:pPr>
              <a:buFont typeface="+mj-lt"/>
              <a:buAutoNum type="arabicPeriod"/>
            </a:pPr>
            <a:r>
              <a:rPr lang="en-IN" b="1" dirty="0"/>
              <a:t>Apply</a:t>
            </a:r>
            <a:r>
              <a:rPr lang="en-IN" dirty="0"/>
              <a:t> pass-by-reference to modify original values and solve problems such as swapping and updating variables. </a:t>
            </a:r>
          </a:p>
          <a:p>
            <a:pPr>
              <a:buFont typeface="+mj-lt"/>
              <a:buAutoNum type="arabicPeriod"/>
            </a:pPr>
            <a:r>
              <a:rPr lang="en-IN" b="1" dirty="0"/>
              <a:t>Develop</a:t>
            </a:r>
            <a:r>
              <a:rPr lang="en-IN" dirty="0"/>
              <a:t> simple C programs using appropriate parameter-passing techniques. </a:t>
            </a:r>
          </a:p>
          <a:p>
            <a:pPr>
              <a:buFont typeface="+mj-lt"/>
              <a:buAutoNum type="arabicPeriod"/>
            </a:pPr>
            <a:r>
              <a:rPr lang="en-IN" b="1" dirty="0"/>
              <a:t>Test and verify</a:t>
            </a:r>
            <a:r>
              <a:rPr lang="en-IN" dirty="0"/>
              <a:t> the output of functions using pass-by-value and pass-by-reference. </a:t>
            </a:r>
          </a:p>
          <a:p>
            <a:pPr lvl="0"/>
            <a:r>
              <a:rPr lang="en-IN" dirty="0"/>
              <a:t>.</a:t>
            </a:r>
          </a:p>
          <a:p>
            <a:endParaRPr lang="en-IN" dirty="0"/>
          </a:p>
        </p:txBody>
      </p:sp>
    </p:spTree>
    <p:extLst>
      <p:ext uri="{BB962C8B-B14F-4D97-AF65-F5344CB8AC3E}">
        <p14:creationId xmlns:p14="http://schemas.microsoft.com/office/powerpoint/2010/main" val="3994523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14380-1343-797B-0131-88531F4E545B}"/>
              </a:ext>
            </a:extLst>
          </p:cNvPr>
          <p:cNvSpPr>
            <a:spLocks noGrp="1"/>
          </p:cNvSpPr>
          <p:nvPr>
            <p:ph type="title"/>
          </p:nvPr>
        </p:nvSpPr>
        <p:spPr/>
        <p:txBody>
          <a:bodyPr/>
          <a:lstStyle/>
          <a:p>
            <a:r>
              <a:rPr lang="en-IN" dirty="0"/>
              <a:t>Pass-by-Value and Pass-by-Reference in C</a:t>
            </a:r>
            <a:endParaRPr lang="en-US" dirty="0"/>
          </a:p>
        </p:txBody>
      </p:sp>
      <p:sp>
        <p:nvSpPr>
          <p:cNvPr id="3" name="Content Placeholder 2">
            <a:extLst>
              <a:ext uri="{FF2B5EF4-FFF2-40B4-BE49-F238E27FC236}">
                <a16:creationId xmlns:a16="http://schemas.microsoft.com/office/drawing/2014/main" id="{B3828246-FA0B-BA1E-BBEF-BBF11A239381}"/>
              </a:ext>
            </a:extLst>
          </p:cNvPr>
          <p:cNvSpPr>
            <a:spLocks noGrp="1"/>
          </p:cNvSpPr>
          <p:nvPr>
            <p:ph idx="1"/>
          </p:nvPr>
        </p:nvSpPr>
        <p:spPr/>
        <p:txBody>
          <a:bodyPr/>
          <a:lstStyle/>
          <a:p>
            <a:pPr marL="0" indent="0">
              <a:buNone/>
            </a:pPr>
            <a:r>
              <a:rPr lang="en-IN" b="1" dirty="0"/>
              <a:t>1. Pass-by-Value (call by value)</a:t>
            </a:r>
          </a:p>
          <a:p>
            <a:r>
              <a:rPr lang="en-IN" dirty="0"/>
              <a:t>In </a:t>
            </a:r>
            <a:r>
              <a:rPr lang="en-IN" b="1" dirty="0"/>
              <a:t>pass-by-value</a:t>
            </a:r>
            <a:r>
              <a:rPr lang="en-IN" dirty="0"/>
              <a:t>, a copy of the value is passed to the function. Changes made inside the function </a:t>
            </a:r>
            <a:r>
              <a:rPr lang="en-IN" b="1" dirty="0"/>
              <a:t>do not affect the original variable</a:t>
            </a:r>
            <a:r>
              <a:rPr lang="en-IN" dirty="0"/>
              <a:t>.</a:t>
            </a:r>
          </a:p>
          <a:p>
            <a:pPr marL="0" indent="0">
              <a:buNone/>
            </a:pPr>
            <a:r>
              <a:rPr lang="en-IN" b="1" dirty="0"/>
              <a:t>2. Pass-by-Reference (call by reference)</a:t>
            </a:r>
          </a:p>
          <a:p>
            <a:r>
              <a:rPr lang="en-IN" dirty="0"/>
              <a:t>C does not have a separate </a:t>
            </a:r>
            <a:r>
              <a:rPr lang="en-IN" b="1" dirty="0"/>
              <a:t>pass-by-reference</a:t>
            </a:r>
            <a:r>
              <a:rPr lang="en-IN" dirty="0"/>
              <a:t> mechanism like some languages. It is commonly implemented by passing the </a:t>
            </a:r>
            <a:r>
              <a:rPr lang="en-IN" b="1" dirty="0"/>
              <a:t>address of a variable using pointers</a:t>
            </a:r>
            <a:r>
              <a:rPr lang="en-IN" dirty="0"/>
              <a:t>.</a:t>
            </a:r>
          </a:p>
          <a:p>
            <a:r>
              <a:rPr lang="en-IN" dirty="0"/>
              <a:t>Using the address allows the function to modify the original variable.</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3771884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3D18CE-CE98-2E86-7A54-7F386093FD15}"/>
              </a:ext>
            </a:extLst>
          </p:cNvPr>
          <p:cNvSpPr>
            <a:spLocks noGrp="1"/>
          </p:cNvSpPr>
          <p:nvPr>
            <p:ph idx="1"/>
          </p:nvPr>
        </p:nvSpPr>
        <p:spPr>
          <a:xfrm>
            <a:off x="838200" y="355002"/>
            <a:ext cx="10515600" cy="5821961"/>
          </a:xfrm>
        </p:spPr>
        <p:txBody>
          <a:bodyPr/>
          <a:lstStyle/>
          <a:p>
            <a:pPr marL="0" indent="0">
              <a:buNone/>
            </a:pPr>
            <a:r>
              <a:rPr lang="en-US" sz="3200" b="1" dirty="0">
                <a:solidFill>
                  <a:srgbClr val="0070C0"/>
                </a:solidFill>
              </a:rPr>
              <a:t>Pass  by value :  </a:t>
            </a:r>
          </a:p>
          <a:p>
            <a:pPr marL="0" indent="0">
              <a:buNone/>
            </a:pPr>
            <a:endParaRPr lang="en-US" dirty="0">
              <a:solidFill>
                <a:srgbClr val="0070C0"/>
              </a:solidFill>
            </a:endParaRPr>
          </a:p>
          <a:p>
            <a:r>
              <a:rPr lang="en-US" dirty="0"/>
              <a:t>Copies the actual parameters into the formal parameters of the function.</a:t>
            </a:r>
          </a:p>
          <a:p>
            <a:r>
              <a:rPr lang="en-US" dirty="0"/>
              <a:t>The changes in the formal parameters cannot affect the actual parameters.</a:t>
            </a:r>
          </a:p>
          <a:p>
            <a:r>
              <a:rPr lang="en-US" dirty="0"/>
              <a:t>Because formal arguments are a copy of actual arguments.</a:t>
            </a:r>
          </a:p>
          <a:p>
            <a:r>
              <a:rPr lang="en-US" dirty="0"/>
              <a:t>Changes made in the formal arguments are local to the block of the called function.</a:t>
            </a:r>
          </a:p>
          <a:p>
            <a:r>
              <a:rPr lang="en-US" dirty="0"/>
              <a:t>Once control returns to the calling function, the changes made disappear.</a:t>
            </a:r>
          </a:p>
        </p:txBody>
      </p:sp>
    </p:spTree>
    <p:extLst>
      <p:ext uri="{BB962C8B-B14F-4D97-AF65-F5344CB8AC3E}">
        <p14:creationId xmlns:p14="http://schemas.microsoft.com/office/powerpoint/2010/main" val="271258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47D65B-161B-23C9-7B80-E631ADBBB1E8}"/>
              </a:ext>
            </a:extLst>
          </p:cNvPr>
          <p:cNvSpPr>
            <a:spLocks noGrp="1"/>
          </p:cNvSpPr>
          <p:nvPr>
            <p:ph idx="1"/>
          </p:nvPr>
        </p:nvSpPr>
        <p:spPr>
          <a:xfrm>
            <a:off x="838200" y="570155"/>
            <a:ext cx="10515600" cy="5606808"/>
          </a:xfrm>
        </p:spPr>
        <p:txBody>
          <a:bodyPr>
            <a:normAutofit/>
          </a:bodyPr>
          <a:lstStyle/>
          <a:p>
            <a:pPr marL="0" indent="0">
              <a:buNone/>
            </a:pPr>
            <a:r>
              <a:rPr lang="en-US" b="1" dirty="0">
                <a:solidFill>
                  <a:srgbClr val="0070C0"/>
                </a:solidFill>
              </a:rPr>
              <a:t>Pass  by value :  Example 1</a:t>
            </a:r>
            <a:endParaRPr lang="en-US" dirty="0"/>
          </a:p>
          <a:p>
            <a:pPr marL="0" indent="0">
              <a:buNone/>
            </a:pPr>
            <a:r>
              <a:rPr lang="en-US" dirty="0"/>
              <a:t>#include&lt;stdio.h&gt;</a:t>
            </a:r>
          </a:p>
          <a:p>
            <a:pPr marL="0" indent="0">
              <a:buNone/>
            </a:pPr>
            <a:r>
              <a:rPr lang="en-US" dirty="0"/>
              <a:t>int cube(int );</a:t>
            </a:r>
          </a:p>
          <a:p>
            <a:pPr marL="0" indent="0">
              <a:buNone/>
            </a:pPr>
            <a:r>
              <a:rPr lang="en-US" dirty="0"/>
              <a:t>void main()</a:t>
            </a:r>
          </a:p>
          <a:p>
            <a:pPr marL="457200" lvl="1" indent="0">
              <a:buNone/>
            </a:pPr>
            <a:r>
              <a:rPr lang="en-US" dirty="0"/>
              <a:t>{</a:t>
            </a:r>
          </a:p>
          <a:p>
            <a:pPr marL="914400" lvl="2" indent="0">
              <a:buNone/>
            </a:pPr>
            <a:r>
              <a:rPr lang="en-US" dirty="0"/>
              <a:t>int n=5;</a:t>
            </a:r>
          </a:p>
          <a:p>
            <a:pPr marL="914400" lvl="2" indent="0">
              <a:buNone/>
            </a:pPr>
            <a:r>
              <a:rPr lang="en-US" dirty="0" err="1"/>
              <a:t>cout</a:t>
            </a:r>
            <a:r>
              <a:rPr lang="en-US" dirty="0"/>
              <a:t>&lt;&lt;cube(n);         // n is actual argument</a:t>
            </a:r>
          </a:p>
          <a:p>
            <a:pPr marL="457200" lvl="1" indent="0">
              <a:buNone/>
            </a:pPr>
            <a:r>
              <a:rPr lang="en-US" dirty="0"/>
              <a:t>}</a:t>
            </a:r>
          </a:p>
          <a:p>
            <a:pPr marL="0" indent="0">
              <a:buNone/>
            </a:pPr>
            <a:r>
              <a:rPr lang="en-US" dirty="0"/>
              <a:t>int cube(int)</a:t>
            </a:r>
          </a:p>
          <a:p>
            <a:pPr marL="457200" lvl="1" indent="0">
              <a:buNone/>
            </a:pPr>
            <a:r>
              <a:rPr lang="en-US" dirty="0"/>
              <a:t>{</a:t>
            </a:r>
          </a:p>
          <a:p>
            <a:pPr marL="914400" lvl="2" indent="0">
              <a:buNone/>
            </a:pPr>
            <a:r>
              <a:rPr lang="en-US" dirty="0"/>
              <a:t>x=x*x*x;      // formal argument</a:t>
            </a:r>
          </a:p>
          <a:p>
            <a:pPr marL="914400" lvl="2" indent="0">
              <a:buNone/>
            </a:pPr>
            <a:r>
              <a:rPr lang="en-US" dirty="0"/>
              <a:t>return(x);</a:t>
            </a:r>
          </a:p>
          <a:p>
            <a:pPr marL="457200" lvl="1" indent="0">
              <a:buNone/>
            </a:pPr>
            <a:r>
              <a:rPr lang="en-US" dirty="0"/>
              <a:t>}</a:t>
            </a:r>
          </a:p>
        </p:txBody>
      </p:sp>
    </p:spTree>
    <p:extLst>
      <p:ext uri="{BB962C8B-B14F-4D97-AF65-F5344CB8AC3E}">
        <p14:creationId xmlns:p14="http://schemas.microsoft.com/office/powerpoint/2010/main" val="2111988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C4F64-F4BD-6D12-68E9-AF26B074FCAC}"/>
              </a:ext>
            </a:extLst>
          </p:cNvPr>
          <p:cNvSpPr>
            <a:spLocks noGrp="1"/>
          </p:cNvSpPr>
          <p:nvPr>
            <p:ph idx="1"/>
          </p:nvPr>
        </p:nvSpPr>
        <p:spPr>
          <a:xfrm>
            <a:off x="336331" y="806275"/>
            <a:ext cx="11519338" cy="6327227"/>
          </a:xfrm>
        </p:spPr>
        <p:txBody>
          <a:bodyPr>
            <a:normAutofit/>
          </a:bodyPr>
          <a:lstStyle/>
          <a:p>
            <a:pPr marL="64008" lvl="2" indent="0">
              <a:spcBef>
                <a:spcPts val="0"/>
              </a:spcBef>
              <a:buNone/>
            </a:pPr>
            <a:r>
              <a:rPr lang="en-US" sz="1800" dirty="0"/>
              <a:t>#include &lt;</a:t>
            </a:r>
            <a:r>
              <a:rPr lang="en-US" sz="1800" dirty="0" err="1"/>
              <a:t>stdio.h</a:t>
            </a:r>
            <a:r>
              <a:rPr lang="en-US" sz="1800" dirty="0"/>
              <a:t>&gt;</a:t>
            </a:r>
          </a:p>
          <a:p>
            <a:pPr marL="64008" lvl="2" indent="0">
              <a:spcBef>
                <a:spcPts val="0"/>
              </a:spcBef>
              <a:buNone/>
            </a:pPr>
            <a:r>
              <a:rPr lang="en-US" sz="1800" dirty="0"/>
              <a:t>void square(int n)</a:t>
            </a:r>
          </a:p>
          <a:p>
            <a:pPr marL="64008" lvl="2" indent="0">
              <a:spcBef>
                <a:spcPts val="0"/>
              </a:spcBef>
              <a:buNone/>
            </a:pPr>
            <a:r>
              <a:rPr lang="en-US" sz="1800" dirty="0"/>
              <a:t>{</a:t>
            </a:r>
          </a:p>
          <a:p>
            <a:pPr marL="64008" lvl="2" indent="0">
              <a:spcBef>
                <a:spcPts val="0"/>
              </a:spcBef>
              <a:buNone/>
            </a:pPr>
            <a:r>
              <a:rPr lang="en-US" sz="1800" dirty="0"/>
              <a:t>    n = n * n;</a:t>
            </a:r>
          </a:p>
          <a:p>
            <a:pPr marL="64008" lvl="2" indent="0">
              <a:spcBef>
                <a:spcPts val="0"/>
              </a:spcBef>
              <a:buNone/>
            </a:pPr>
            <a:r>
              <a:rPr lang="en-US" sz="1800" dirty="0"/>
              <a:t>    </a:t>
            </a:r>
            <a:r>
              <a:rPr lang="en-US" sz="1800" dirty="0" err="1"/>
              <a:t>printf</a:t>
            </a:r>
            <a:r>
              <a:rPr lang="en-US" sz="1800" dirty="0"/>
              <a:t>("Square = %d\n", n);</a:t>
            </a:r>
          </a:p>
          <a:p>
            <a:pPr marL="64008" lvl="2" indent="0">
              <a:spcBef>
                <a:spcPts val="0"/>
              </a:spcBef>
              <a:buNone/>
            </a:pPr>
            <a:r>
              <a:rPr lang="en-US" sz="1800" dirty="0"/>
              <a:t>}</a:t>
            </a:r>
          </a:p>
          <a:p>
            <a:pPr marL="64008" lvl="2" indent="0">
              <a:spcBef>
                <a:spcPts val="0"/>
              </a:spcBef>
              <a:buNone/>
            </a:pPr>
            <a:r>
              <a:rPr lang="en-US" sz="1800" dirty="0"/>
              <a:t>int main()</a:t>
            </a:r>
          </a:p>
          <a:p>
            <a:pPr marL="64008" lvl="2" indent="0">
              <a:spcBef>
                <a:spcPts val="0"/>
              </a:spcBef>
              <a:buNone/>
            </a:pPr>
            <a:r>
              <a:rPr lang="en-US" sz="1800" dirty="0"/>
              <a:t>{</a:t>
            </a:r>
          </a:p>
          <a:p>
            <a:pPr marL="64008" lvl="2" indent="0">
              <a:spcBef>
                <a:spcPts val="0"/>
              </a:spcBef>
              <a:buNone/>
            </a:pPr>
            <a:r>
              <a:rPr lang="en-US" sz="1800" dirty="0"/>
              <a:t>    int x = 5;</a:t>
            </a:r>
          </a:p>
          <a:p>
            <a:pPr marL="64008" lvl="2" indent="0">
              <a:spcBef>
                <a:spcPts val="0"/>
              </a:spcBef>
              <a:buNone/>
            </a:pPr>
            <a:r>
              <a:rPr lang="en-US" sz="1800" dirty="0"/>
              <a:t>    square(x);</a:t>
            </a:r>
          </a:p>
          <a:p>
            <a:pPr marL="64008" lvl="2" indent="0">
              <a:spcBef>
                <a:spcPts val="0"/>
              </a:spcBef>
              <a:buNone/>
            </a:pPr>
            <a:r>
              <a:rPr lang="en-US" sz="1800" dirty="0"/>
              <a:t>    </a:t>
            </a:r>
            <a:r>
              <a:rPr lang="en-US" sz="1800" dirty="0" err="1"/>
              <a:t>printf</a:t>
            </a:r>
            <a:r>
              <a:rPr lang="en-US" sz="1800" dirty="0"/>
              <a:t>("Original value = %d", x);</a:t>
            </a:r>
          </a:p>
          <a:p>
            <a:pPr marL="64008" lvl="2" indent="0">
              <a:spcBef>
                <a:spcPts val="0"/>
              </a:spcBef>
              <a:buNone/>
            </a:pPr>
            <a:r>
              <a:rPr lang="en-US" sz="1800" dirty="0"/>
              <a:t>    return 0;</a:t>
            </a:r>
          </a:p>
          <a:p>
            <a:pPr marL="64008" lvl="2" indent="0">
              <a:spcBef>
                <a:spcPts val="0"/>
              </a:spcBef>
              <a:buNone/>
            </a:pPr>
            <a:r>
              <a:rPr lang="en-US" sz="1800" dirty="0"/>
              <a:t>}</a:t>
            </a:r>
          </a:p>
          <a:p>
            <a:pPr marL="64008" lvl="2" indent="0">
              <a:spcBef>
                <a:spcPts val="0"/>
              </a:spcBef>
              <a:buNone/>
            </a:pPr>
            <a:r>
              <a:rPr lang="en-US" sz="1800" dirty="0"/>
              <a:t>Square = 25</a:t>
            </a:r>
          </a:p>
          <a:p>
            <a:pPr marL="64008" lvl="2" indent="0">
              <a:spcBef>
                <a:spcPts val="0"/>
              </a:spcBef>
              <a:buNone/>
            </a:pPr>
            <a:r>
              <a:rPr lang="en-US" sz="1800" dirty="0"/>
              <a:t>Original value = 5</a:t>
            </a:r>
          </a:p>
          <a:p>
            <a:pPr marL="64008" lvl="2" indent="0">
              <a:spcBef>
                <a:spcPts val="0"/>
              </a:spcBef>
              <a:buNone/>
            </a:pPr>
            <a:endParaRPr lang="en-US" sz="1800" dirty="0"/>
          </a:p>
          <a:p>
            <a:pPr marL="64008" lvl="2" indent="0">
              <a:spcBef>
                <a:spcPts val="0"/>
              </a:spcBef>
              <a:buNone/>
            </a:pPr>
            <a:r>
              <a:rPr lang="en-IN" sz="1800" dirty="0"/>
              <a:t>The value 5 is copied into n. Changing n does not change x.</a:t>
            </a:r>
          </a:p>
        </p:txBody>
      </p:sp>
      <p:sp>
        <p:nvSpPr>
          <p:cNvPr id="4" name="TextBox 3">
            <a:extLst>
              <a:ext uri="{FF2B5EF4-FFF2-40B4-BE49-F238E27FC236}">
                <a16:creationId xmlns:a16="http://schemas.microsoft.com/office/drawing/2014/main" id="{1EC16EF8-81E9-17D6-93EA-23444ABA6D4C}"/>
              </a:ext>
            </a:extLst>
          </p:cNvPr>
          <p:cNvSpPr txBox="1"/>
          <p:nvPr/>
        </p:nvSpPr>
        <p:spPr>
          <a:xfrm>
            <a:off x="336331" y="341114"/>
            <a:ext cx="6097904" cy="369332"/>
          </a:xfrm>
          <a:prstGeom prst="rect">
            <a:avLst/>
          </a:prstGeom>
          <a:noFill/>
        </p:spPr>
        <p:txBody>
          <a:bodyPr wrap="square">
            <a:spAutoFit/>
          </a:bodyPr>
          <a:lstStyle/>
          <a:p>
            <a:pPr marL="0" indent="0">
              <a:buNone/>
            </a:pPr>
            <a:r>
              <a:rPr lang="en-US" sz="1800" b="1" dirty="0">
                <a:solidFill>
                  <a:srgbClr val="0070C0"/>
                </a:solidFill>
              </a:rPr>
              <a:t>Pass  by value :   Example 2  </a:t>
            </a:r>
            <a:endParaRPr lang="en-US" sz="1800" dirty="0"/>
          </a:p>
        </p:txBody>
      </p:sp>
    </p:spTree>
    <p:extLst>
      <p:ext uri="{BB962C8B-B14F-4D97-AF65-F5344CB8AC3E}">
        <p14:creationId xmlns:p14="http://schemas.microsoft.com/office/powerpoint/2010/main" val="3419892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B5C4-FE9C-32F1-0E65-3D86E2A17D56}"/>
              </a:ext>
            </a:extLst>
          </p:cNvPr>
          <p:cNvSpPr>
            <a:spLocks noGrp="1"/>
          </p:cNvSpPr>
          <p:nvPr>
            <p:ph type="title"/>
          </p:nvPr>
        </p:nvSpPr>
        <p:spPr>
          <a:xfrm>
            <a:off x="189186" y="430924"/>
            <a:ext cx="11050314" cy="792086"/>
          </a:xfrm>
        </p:spPr>
        <p:txBody>
          <a:bodyPr/>
          <a:lstStyle/>
          <a:p>
            <a:r>
              <a:rPr lang="en-US" dirty="0"/>
              <a:t>Pass by value: Example 3</a:t>
            </a:r>
          </a:p>
        </p:txBody>
      </p:sp>
      <p:sp>
        <p:nvSpPr>
          <p:cNvPr id="3" name="Content Placeholder 2">
            <a:extLst>
              <a:ext uri="{FF2B5EF4-FFF2-40B4-BE49-F238E27FC236}">
                <a16:creationId xmlns:a16="http://schemas.microsoft.com/office/drawing/2014/main" id="{632566F9-6A7A-3803-78FA-229EB31CBB0D}"/>
              </a:ext>
            </a:extLst>
          </p:cNvPr>
          <p:cNvSpPr>
            <a:spLocks noGrp="1"/>
          </p:cNvSpPr>
          <p:nvPr>
            <p:ph idx="1"/>
          </p:nvPr>
        </p:nvSpPr>
        <p:spPr>
          <a:xfrm>
            <a:off x="462455" y="1905001"/>
            <a:ext cx="10777045" cy="4271962"/>
          </a:xfrm>
        </p:spPr>
        <p:txBody>
          <a:bodyPr>
            <a:noAutofit/>
          </a:bodyPr>
          <a:lstStyle/>
          <a:p>
            <a:pPr marL="0" indent="0">
              <a:lnSpc>
                <a:spcPct val="100000"/>
              </a:lnSpc>
              <a:spcBef>
                <a:spcPts val="0"/>
              </a:spcBef>
              <a:buNone/>
            </a:pPr>
            <a:r>
              <a:rPr lang="en-US" sz="2000" dirty="0"/>
              <a:t>#include &lt;</a:t>
            </a:r>
            <a:r>
              <a:rPr lang="en-US" sz="2000" dirty="0" err="1"/>
              <a:t>stdio.h</a:t>
            </a:r>
            <a:r>
              <a:rPr lang="en-US" sz="2000" dirty="0"/>
              <a:t>&gt;</a:t>
            </a:r>
          </a:p>
          <a:p>
            <a:pPr marL="0" indent="0">
              <a:lnSpc>
                <a:spcPct val="100000"/>
              </a:lnSpc>
              <a:spcBef>
                <a:spcPts val="0"/>
              </a:spcBef>
              <a:buNone/>
            </a:pPr>
            <a:r>
              <a:rPr lang="en-US" sz="2000" dirty="0"/>
              <a:t>float interest(float p, float r, float t)</a:t>
            </a:r>
          </a:p>
          <a:p>
            <a:pPr marL="0" indent="0">
              <a:lnSpc>
                <a:spcPct val="100000"/>
              </a:lnSpc>
              <a:spcBef>
                <a:spcPts val="0"/>
              </a:spcBef>
              <a:buNone/>
            </a:pPr>
            <a:r>
              <a:rPr lang="en-US" sz="2000" dirty="0"/>
              <a:t>{</a:t>
            </a:r>
          </a:p>
          <a:p>
            <a:pPr marL="0" indent="0">
              <a:lnSpc>
                <a:spcPct val="100000"/>
              </a:lnSpc>
              <a:spcBef>
                <a:spcPts val="0"/>
              </a:spcBef>
              <a:buNone/>
            </a:pPr>
            <a:r>
              <a:rPr lang="en-US" sz="2000" dirty="0"/>
              <a:t>    return (p * r * t) / 100;</a:t>
            </a:r>
          </a:p>
          <a:p>
            <a:pPr marL="0" indent="0">
              <a:lnSpc>
                <a:spcPct val="100000"/>
              </a:lnSpc>
              <a:spcBef>
                <a:spcPts val="0"/>
              </a:spcBef>
              <a:buNone/>
            </a:pPr>
            <a:r>
              <a:rPr lang="en-US" sz="2000" dirty="0"/>
              <a:t>}</a:t>
            </a:r>
          </a:p>
          <a:p>
            <a:pPr marL="0" indent="0">
              <a:lnSpc>
                <a:spcPct val="100000"/>
              </a:lnSpc>
              <a:spcBef>
                <a:spcPts val="0"/>
              </a:spcBef>
              <a:buNone/>
            </a:pPr>
            <a:r>
              <a:rPr lang="en-US" sz="2000" dirty="0"/>
              <a:t>int main()</a:t>
            </a:r>
          </a:p>
          <a:p>
            <a:pPr marL="0" indent="0">
              <a:lnSpc>
                <a:spcPct val="100000"/>
              </a:lnSpc>
              <a:spcBef>
                <a:spcPts val="0"/>
              </a:spcBef>
              <a:buNone/>
            </a:pPr>
            <a:r>
              <a:rPr lang="en-US" sz="2000" dirty="0"/>
              <a:t>{</a:t>
            </a:r>
          </a:p>
          <a:p>
            <a:pPr marL="0" indent="0">
              <a:lnSpc>
                <a:spcPct val="100000"/>
              </a:lnSpc>
              <a:spcBef>
                <a:spcPts val="0"/>
              </a:spcBef>
              <a:buNone/>
            </a:pPr>
            <a:r>
              <a:rPr lang="en-US" sz="2000" dirty="0"/>
              <a:t>    float p = 5000, r = 5, t = 2;</a:t>
            </a:r>
          </a:p>
          <a:p>
            <a:pPr marL="0" indent="0">
              <a:lnSpc>
                <a:spcPct val="100000"/>
              </a:lnSpc>
              <a:spcBef>
                <a:spcPts val="0"/>
              </a:spcBef>
              <a:buNone/>
            </a:pPr>
            <a:r>
              <a:rPr lang="en-US" sz="2000" dirty="0"/>
              <a:t>    float result;</a:t>
            </a:r>
          </a:p>
          <a:p>
            <a:pPr marL="0" indent="0">
              <a:lnSpc>
                <a:spcPct val="100000"/>
              </a:lnSpc>
              <a:spcBef>
                <a:spcPts val="0"/>
              </a:spcBef>
              <a:buNone/>
            </a:pPr>
            <a:r>
              <a:rPr lang="en-US" sz="2000" dirty="0"/>
              <a:t>    result = interest(p, r, t);</a:t>
            </a:r>
          </a:p>
          <a:p>
            <a:pPr marL="0" indent="0">
              <a:lnSpc>
                <a:spcPct val="100000"/>
              </a:lnSpc>
              <a:spcBef>
                <a:spcPts val="0"/>
              </a:spcBef>
              <a:buNone/>
            </a:pPr>
            <a:r>
              <a:rPr lang="en-US" sz="2000" dirty="0"/>
              <a:t>    </a:t>
            </a:r>
            <a:r>
              <a:rPr lang="en-US" sz="2000" dirty="0" err="1"/>
              <a:t>printf</a:t>
            </a:r>
            <a:r>
              <a:rPr lang="en-US" sz="2000" dirty="0"/>
              <a:t>("Simple Interest = %.2f", result);</a:t>
            </a:r>
          </a:p>
          <a:p>
            <a:pPr marL="0" indent="0">
              <a:lnSpc>
                <a:spcPct val="100000"/>
              </a:lnSpc>
              <a:spcBef>
                <a:spcPts val="0"/>
              </a:spcBef>
              <a:buNone/>
            </a:pPr>
            <a:r>
              <a:rPr lang="en-US" sz="2000" dirty="0"/>
              <a:t>    return 0;</a:t>
            </a:r>
          </a:p>
          <a:p>
            <a:pPr marL="0" indent="0">
              <a:lnSpc>
                <a:spcPct val="100000"/>
              </a:lnSpc>
              <a:spcBef>
                <a:spcPts val="0"/>
              </a:spcBef>
              <a:buNone/>
            </a:pPr>
            <a:r>
              <a:rPr lang="en-US" sz="2000" dirty="0"/>
              <a:t>}</a:t>
            </a:r>
          </a:p>
          <a:p>
            <a:pPr marL="0" indent="0">
              <a:lnSpc>
                <a:spcPct val="100000"/>
              </a:lnSpc>
              <a:spcBef>
                <a:spcPts val="0"/>
              </a:spcBef>
              <a:buNone/>
            </a:pPr>
            <a:r>
              <a:rPr lang="en-IN" sz="2000" dirty="0"/>
              <a:t>Here the values of p, r, and t are passed to the function.</a:t>
            </a:r>
          </a:p>
          <a:p>
            <a:pPr marL="0" indent="0">
              <a:lnSpc>
                <a:spcPct val="100000"/>
              </a:lnSpc>
              <a:spcBef>
                <a:spcPts val="0"/>
              </a:spcBef>
              <a:buNone/>
            </a:pPr>
            <a:endParaRPr lang="en-US" sz="2000" dirty="0"/>
          </a:p>
        </p:txBody>
      </p:sp>
    </p:spTree>
    <p:extLst>
      <p:ext uri="{BB962C8B-B14F-4D97-AF65-F5344CB8AC3E}">
        <p14:creationId xmlns:p14="http://schemas.microsoft.com/office/powerpoint/2010/main" val="1759621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A4F3E-AE16-030D-BD41-9E0A82C30BAB}"/>
              </a:ext>
            </a:extLst>
          </p:cNvPr>
          <p:cNvSpPr>
            <a:spLocks noGrp="1"/>
          </p:cNvSpPr>
          <p:nvPr>
            <p:ph type="title"/>
          </p:nvPr>
        </p:nvSpPr>
        <p:spPr>
          <a:xfrm>
            <a:off x="641131" y="365125"/>
            <a:ext cx="10712669" cy="538517"/>
          </a:xfrm>
        </p:spPr>
        <p:txBody>
          <a:bodyPr>
            <a:normAutofit fontScale="90000"/>
          </a:bodyPr>
          <a:lstStyle/>
          <a:p>
            <a:r>
              <a:rPr lang="en-US" dirty="0">
                <a:solidFill>
                  <a:srgbClr val="0070C0"/>
                </a:solidFill>
              </a:rPr>
              <a:t>PASS</a:t>
            </a:r>
            <a:r>
              <a:rPr lang="en-US" b="1" dirty="0">
                <a:solidFill>
                  <a:srgbClr val="0070C0"/>
                </a:solidFill>
              </a:rPr>
              <a:t> by reference</a:t>
            </a:r>
          </a:p>
        </p:txBody>
      </p:sp>
      <p:sp>
        <p:nvSpPr>
          <p:cNvPr id="3" name="Content Placeholder 2">
            <a:extLst>
              <a:ext uri="{FF2B5EF4-FFF2-40B4-BE49-F238E27FC236}">
                <a16:creationId xmlns:a16="http://schemas.microsoft.com/office/drawing/2014/main" id="{0FF7F84C-A5B9-47A6-AF75-6F6CC956C7ED}"/>
              </a:ext>
            </a:extLst>
          </p:cNvPr>
          <p:cNvSpPr>
            <a:spLocks noGrp="1"/>
          </p:cNvSpPr>
          <p:nvPr>
            <p:ph idx="1"/>
          </p:nvPr>
        </p:nvSpPr>
        <p:spPr>
          <a:xfrm>
            <a:off x="147145" y="1065006"/>
            <a:ext cx="11206655" cy="5703655"/>
          </a:xfrm>
        </p:spPr>
        <p:txBody>
          <a:bodyPr>
            <a:normAutofit/>
          </a:bodyPr>
          <a:lstStyle/>
          <a:p>
            <a:pPr marL="0" indent="0">
              <a:buNone/>
            </a:pPr>
            <a:r>
              <a:rPr lang="en-US" dirty="0"/>
              <a:t>Pass by reference is another way of passing parameters to a function. </a:t>
            </a:r>
          </a:p>
          <a:p>
            <a:pPr marL="0" indent="0">
              <a:buNone/>
            </a:pPr>
            <a:r>
              <a:rPr lang="en-US" dirty="0"/>
              <a:t>The addresses of the arguments are copied into the parameters inside the function. </a:t>
            </a:r>
          </a:p>
          <a:p>
            <a:pPr marL="0" indent="0">
              <a:buNone/>
            </a:pPr>
            <a:r>
              <a:rPr lang="en-US" dirty="0"/>
              <a:t>The address is used to access the actual arguments used in the call. </a:t>
            </a:r>
          </a:p>
          <a:p>
            <a:pPr marL="0" indent="0">
              <a:buNone/>
            </a:pPr>
            <a:r>
              <a:rPr lang="en-US" dirty="0"/>
              <a:t>Hence, changes made in the arguments are permanent.</a:t>
            </a:r>
          </a:p>
          <a:p>
            <a:pPr marL="0" indent="0">
              <a:buNone/>
            </a:pPr>
            <a:r>
              <a:rPr lang="en-US" dirty="0"/>
              <a:t>Here, pointers are passed to the function.</a:t>
            </a:r>
          </a:p>
          <a:p>
            <a:pPr marL="0" indent="0">
              <a:buNone/>
            </a:pPr>
            <a:r>
              <a:rPr lang="en-US" dirty="0">
                <a:solidFill>
                  <a:srgbClr val="0070C0"/>
                </a:solidFill>
              </a:rPr>
              <a:t>Actual parameters :</a:t>
            </a:r>
          </a:p>
          <a:p>
            <a:pPr marL="0" indent="0">
              <a:buNone/>
            </a:pPr>
            <a:r>
              <a:rPr lang="en-US" dirty="0"/>
              <a:t>The parameters transferred from the calling program(main program ) to the called program.</a:t>
            </a:r>
          </a:p>
          <a:p>
            <a:pPr marL="0" indent="0">
              <a:buNone/>
            </a:pPr>
            <a:r>
              <a:rPr lang="en-US" dirty="0">
                <a:solidFill>
                  <a:srgbClr val="0070C0"/>
                </a:solidFill>
              </a:rPr>
              <a:t>Formal Parameters : </a:t>
            </a:r>
          </a:p>
          <a:p>
            <a:pPr marL="0" indent="0">
              <a:buNone/>
            </a:pPr>
            <a:r>
              <a:rPr lang="en-US" dirty="0"/>
              <a:t>used in the called program (function) to stand for the values that are passed from the main program.</a:t>
            </a:r>
          </a:p>
          <a:p>
            <a:pPr marL="0" indent="0">
              <a:buNone/>
            </a:pPr>
            <a:endParaRPr lang="en-US" dirty="0"/>
          </a:p>
        </p:txBody>
      </p:sp>
    </p:spTree>
    <p:extLst>
      <p:ext uri="{BB962C8B-B14F-4D97-AF65-F5344CB8AC3E}">
        <p14:creationId xmlns:p14="http://schemas.microsoft.com/office/powerpoint/2010/main" val="23506930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B6747F-E694-A0AF-A277-9CA485B68B8D}"/>
              </a:ext>
            </a:extLst>
          </p:cNvPr>
          <p:cNvSpPr>
            <a:spLocks noGrp="1"/>
          </p:cNvSpPr>
          <p:nvPr>
            <p:ph idx="1"/>
          </p:nvPr>
        </p:nvSpPr>
        <p:spPr>
          <a:xfrm>
            <a:off x="838199" y="268940"/>
            <a:ext cx="11248697" cy="6589059"/>
          </a:xfrm>
        </p:spPr>
        <p:txBody>
          <a:bodyPr numCol="2">
            <a:noAutofit/>
          </a:bodyPr>
          <a:lstStyle/>
          <a:p>
            <a:pPr marL="0" indent="0">
              <a:buNone/>
            </a:pPr>
            <a:r>
              <a:rPr lang="en-US" sz="2400" b="1" dirty="0">
                <a:solidFill>
                  <a:srgbClr val="0070C0"/>
                </a:solidFill>
              </a:rPr>
              <a:t>Pass by reference : Example 1</a:t>
            </a:r>
            <a:endParaRPr lang="en-US" sz="2400" dirty="0"/>
          </a:p>
          <a:p>
            <a:pPr marL="0" indent="0">
              <a:buNone/>
            </a:pPr>
            <a:r>
              <a:rPr lang="en-US" sz="2400" dirty="0"/>
              <a:t>#include &lt;</a:t>
            </a:r>
            <a:r>
              <a:rPr lang="en-US" sz="2400" dirty="0" err="1"/>
              <a:t>stdio.h</a:t>
            </a:r>
            <a:r>
              <a:rPr lang="en-US" sz="2400" dirty="0"/>
              <a:t>&gt;</a:t>
            </a:r>
          </a:p>
          <a:p>
            <a:pPr marL="0" indent="0">
              <a:buNone/>
            </a:pPr>
            <a:r>
              <a:rPr lang="en-US" sz="2400" dirty="0"/>
              <a:t>void interchange(int *a, int *b);</a:t>
            </a:r>
          </a:p>
          <a:p>
            <a:pPr marL="0" indent="0">
              <a:buNone/>
            </a:pPr>
            <a:r>
              <a:rPr lang="en-US" sz="2400" dirty="0"/>
              <a:t>void main()</a:t>
            </a:r>
          </a:p>
          <a:p>
            <a:pPr marL="457200" lvl="1" indent="0">
              <a:buNone/>
            </a:pPr>
            <a:r>
              <a:rPr lang="en-US" dirty="0"/>
              <a:t>{</a:t>
            </a:r>
          </a:p>
          <a:p>
            <a:pPr marL="914400" lvl="2" indent="0">
              <a:buNone/>
            </a:pPr>
            <a:r>
              <a:rPr lang="en-US" sz="2400" dirty="0"/>
              <a:t>int </a:t>
            </a:r>
            <a:r>
              <a:rPr lang="en-US" sz="2400" dirty="0" err="1"/>
              <a:t>i</a:t>
            </a:r>
            <a:r>
              <a:rPr lang="en-US" sz="2400" dirty="0"/>
              <a:t>=5,j=10;</a:t>
            </a:r>
          </a:p>
          <a:p>
            <a:pPr marL="914400" lvl="2" indent="0">
              <a:buNone/>
            </a:pPr>
            <a:r>
              <a:rPr lang="en-US" sz="2400" dirty="0" err="1"/>
              <a:t>clrscr</a:t>
            </a:r>
            <a:r>
              <a:rPr lang="en-US" sz="2400" dirty="0"/>
              <a:t>();</a:t>
            </a:r>
          </a:p>
          <a:p>
            <a:pPr marL="914400" lvl="2" indent="0">
              <a:buNone/>
            </a:pPr>
            <a:r>
              <a:rPr lang="en-US" sz="2400" dirty="0" err="1"/>
              <a:t>printf</a:t>
            </a:r>
            <a:r>
              <a:rPr lang="en-US" sz="2400" dirty="0"/>
              <a:t>(”before </a:t>
            </a:r>
            <a:r>
              <a:rPr lang="en-US" sz="2400" dirty="0" err="1"/>
              <a:t>interchange%d%d</a:t>
            </a:r>
            <a:r>
              <a:rPr lang="en-US" sz="2400" dirty="0"/>
              <a:t>”,</a:t>
            </a:r>
            <a:r>
              <a:rPr lang="en-US" sz="2400" dirty="0" err="1"/>
              <a:t>i,j</a:t>
            </a:r>
            <a:r>
              <a:rPr lang="en-US" sz="2400" dirty="0"/>
              <a:t>);</a:t>
            </a:r>
          </a:p>
          <a:p>
            <a:pPr marL="914400" lvl="2" indent="0">
              <a:buNone/>
            </a:pPr>
            <a:r>
              <a:rPr lang="en-US" sz="2400" dirty="0"/>
              <a:t>interchange(&amp;</a:t>
            </a:r>
            <a:r>
              <a:rPr lang="en-US" sz="2400" dirty="0" err="1"/>
              <a:t>i</a:t>
            </a:r>
            <a:r>
              <a:rPr lang="en-US" sz="2400" dirty="0"/>
              <a:t>,&amp;j);</a:t>
            </a:r>
          </a:p>
          <a:p>
            <a:pPr marL="914400" lvl="2" indent="0">
              <a:buNone/>
            </a:pPr>
            <a:r>
              <a:rPr lang="en-US" sz="2400" dirty="0" err="1"/>
              <a:t>printf</a:t>
            </a:r>
            <a:r>
              <a:rPr lang="en-US" sz="2400" dirty="0"/>
              <a:t>(“after interchange %</a:t>
            </a:r>
            <a:r>
              <a:rPr lang="en-US" sz="2400" dirty="0" err="1"/>
              <a:t>d%d</a:t>
            </a:r>
            <a:r>
              <a:rPr lang="en-US" sz="2400" dirty="0"/>
              <a:t>”,</a:t>
            </a:r>
            <a:r>
              <a:rPr lang="en-US" sz="2400" dirty="0" err="1"/>
              <a:t>i,j</a:t>
            </a:r>
            <a:r>
              <a:rPr lang="en-US" sz="2400" dirty="0"/>
              <a:t>);</a:t>
            </a:r>
          </a:p>
          <a:p>
            <a:pPr marL="914400" lvl="2" indent="0">
              <a:buNone/>
            </a:pPr>
            <a:r>
              <a:rPr lang="en-US" sz="2400" dirty="0" err="1"/>
              <a:t>getch</a:t>
            </a:r>
            <a:r>
              <a:rPr lang="en-US" sz="2400" dirty="0"/>
              <a:t>();</a:t>
            </a:r>
          </a:p>
          <a:p>
            <a:pPr marL="457200" lvl="1" indent="0">
              <a:buNone/>
            </a:pPr>
            <a:r>
              <a:rPr lang="en-US" dirty="0"/>
              <a:t>}</a:t>
            </a:r>
          </a:p>
          <a:p>
            <a:pPr marL="457200" lvl="1" indent="0">
              <a:buNone/>
            </a:pPr>
            <a:endParaRPr lang="en-US" dirty="0"/>
          </a:p>
          <a:p>
            <a:pPr marL="457200" lvl="1" indent="0">
              <a:buNone/>
            </a:pPr>
            <a:endParaRPr lang="en-US" dirty="0"/>
          </a:p>
          <a:p>
            <a:pPr marL="457200" lvl="1" indent="0">
              <a:buNone/>
            </a:pPr>
            <a:endParaRPr lang="en-US" dirty="0"/>
          </a:p>
          <a:p>
            <a:pPr marL="0" indent="0">
              <a:buNone/>
            </a:pPr>
            <a:r>
              <a:rPr lang="en-US" sz="2400" dirty="0"/>
              <a:t>void interchange(int *</a:t>
            </a:r>
            <a:r>
              <a:rPr lang="en-US" sz="2400" dirty="0" err="1"/>
              <a:t>a,int</a:t>
            </a:r>
            <a:r>
              <a:rPr lang="en-US" sz="2400" dirty="0"/>
              <a:t> *b)</a:t>
            </a:r>
          </a:p>
          <a:p>
            <a:pPr marL="457200" lvl="1" indent="0">
              <a:buNone/>
            </a:pPr>
            <a:r>
              <a:rPr lang="en-US" dirty="0"/>
              <a:t>{</a:t>
            </a:r>
          </a:p>
          <a:p>
            <a:pPr marL="914400" lvl="2" indent="0">
              <a:buNone/>
            </a:pPr>
            <a:r>
              <a:rPr lang="en-US" sz="2400" dirty="0"/>
              <a:t>int t;</a:t>
            </a:r>
          </a:p>
          <a:p>
            <a:pPr marL="914400" lvl="2" indent="0">
              <a:buNone/>
            </a:pPr>
            <a:r>
              <a:rPr lang="en-US" sz="2400" dirty="0"/>
              <a:t>t=*a;</a:t>
            </a:r>
          </a:p>
          <a:p>
            <a:pPr marL="914400" lvl="2" indent="0">
              <a:buNone/>
            </a:pPr>
            <a:r>
              <a:rPr lang="en-US" sz="2400" dirty="0"/>
              <a:t>*a=*b;</a:t>
            </a:r>
          </a:p>
          <a:p>
            <a:pPr marL="914400" lvl="2" indent="0">
              <a:buNone/>
            </a:pPr>
            <a:r>
              <a:rPr lang="en-US" sz="2400" dirty="0"/>
              <a:t>*b=t;</a:t>
            </a:r>
          </a:p>
          <a:p>
            <a:pPr marL="457200" lvl="1" indent="0">
              <a:buNone/>
            </a:pPr>
            <a:r>
              <a:rPr lang="en-US" dirty="0"/>
              <a:t>}</a:t>
            </a:r>
          </a:p>
        </p:txBody>
      </p:sp>
    </p:spTree>
    <p:extLst>
      <p:ext uri="{BB962C8B-B14F-4D97-AF65-F5344CB8AC3E}">
        <p14:creationId xmlns:p14="http://schemas.microsoft.com/office/powerpoint/2010/main" val="1848385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54C84-C7C8-CDB0-668D-FA5E8DB8FF17}"/>
              </a:ext>
            </a:extLst>
          </p:cNvPr>
          <p:cNvSpPr>
            <a:spLocks noGrp="1"/>
          </p:cNvSpPr>
          <p:nvPr>
            <p:ph idx="1"/>
          </p:nvPr>
        </p:nvSpPr>
        <p:spPr>
          <a:xfrm>
            <a:off x="515533" y="254744"/>
            <a:ext cx="10861128" cy="6111765"/>
          </a:xfrm>
        </p:spPr>
        <p:txBody>
          <a:bodyPr>
            <a:noAutofit/>
          </a:bodyPr>
          <a:lstStyle/>
          <a:p>
            <a:pPr marL="0" indent="0">
              <a:lnSpc>
                <a:spcPct val="100000"/>
              </a:lnSpc>
              <a:spcBef>
                <a:spcPts val="0"/>
              </a:spcBef>
              <a:buNone/>
            </a:pPr>
            <a:r>
              <a:rPr lang="en-US" sz="2000" b="1" dirty="0">
                <a:solidFill>
                  <a:srgbClr val="0070C0"/>
                </a:solidFill>
              </a:rPr>
              <a:t>Pass by reference : Example 2</a:t>
            </a:r>
            <a:endParaRPr lang="en-US" sz="2000" dirty="0"/>
          </a:p>
          <a:p>
            <a:pPr marL="0" indent="0">
              <a:lnSpc>
                <a:spcPct val="100000"/>
              </a:lnSpc>
              <a:spcBef>
                <a:spcPts val="0"/>
              </a:spcBef>
              <a:buNone/>
            </a:pPr>
            <a:endParaRPr lang="en-US" sz="2000" dirty="0"/>
          </a:p>
          <a:p>
            <a:pPr marL="0" indent="0">
              <a:lnSpc>
                <a:spcPct val="100000"/>
              </a:lnSpc>
              <a:spcBef>
                <a:spcPts val="0"/>
              </a:spcBef>
              <a:buNone/>
            </a:pPr>
            <a:r>
              <a:rPr lang="en-US" sz="2000" dirty="0"/>
              <a:t>#include &lt;</a:t>
            </a:r>
            <a:r>
              <a:rPr lang="en-US" sz="2000" dirty="0" err="1"/>
              <a:t>stdio.h</a:t>
            </a:r>
            <a:r>
              <a:rPr lang="en-US" sz="2000" dirty="0"/>
              <a:t>&gt;</a:t>
            </a:r>
          </a:p>
          <a:p>
            <a:pPr marL="0" indent="0">
              <a:lnSpc>
                <a:spcPct val="100000"/>
              </a:lnSpc>
              <a:spcBef>
                <a:spcPts val="0"/>
              </a:spcBef>
              <a:buNone/>
            </a:pPr>
            <a:endParaRPr lang="en-US" sz="2000" dirty="0"/>
          </a:p>
          <a:p>
            <a:pPr marL="0" indent="0">
              <a:lnSpc>
                <a:spcPct val="100000"/>
              </a:lnSpc>
              <a:spcBef>
                <a:spcPts val="0"/>
              </a:spcBef>
              <a:buNone/>
            </a:pPr>
            <a:r>
              <a:rPr lang="en-US" sz="2000" dirty="0"/>
              <a:t>void swap(int *a, int *b)</a:t>
            </a:r>
          </a:p>
          <a:p>
            <a:pPr marL="0" indent="0">
              <a:lnSpc>
                <a:spcPct val="100000"/>
              </a:lnSpc>
              <a:spcBef>
                <a:spcPts val="0"/>
              </a:spcBef>
              <a:buNone/>
            </a:pPr>
            <a:r>
              <a:rPr lang="en-US" sz="2000" dirty="0"/>
              <a:t>{</a:t>
            </a:r>
          </a:p>
          <a:p>
            <a:pPr marL="0" indent="0">
              <a:lnSpc>
                <a:spcPct val="100000"/>
              </a:lnSpc>
              <a:spcBef>
                <a:spcPts val="0"/>
              </a:spcBef>
              <a:buNone/>
            </a:pPr>
            <a:r>
              <a:rPr lang="en-US" sz="2000" dirty="0"/>
              <a:t>    int temp;</a:t>
            </a:r>
          </a:p>
          <a:p>
            <a:pPr marL="0" indent="0">
              <a:lnSpc>
                <a:spcPct val="100000"/>
              </a:lnSpc>
              <a:spcBef>
                <a:spcPts val="0"/>
              </a:spcBef>
              <a:buNone/>
            </a:pPr>
            <a:endParaRPr lang="en-US" sz="2000" dirty="0"/>
          </a:p>
          <a:p>
            <a:pPr marL="0" indent="0">
              <a:lnSpc>
                <a:spcPct val="100000"/>
              </a:lnSpc>
              <a:spcBef>
                <a:spcPts val="0"/>
              </a:spcBef>
              <a:buNone/>
            </a:pPr>
            <a:r>
              <a:rPr lang="en-US" sz="2000" dirty="0"/>
              <a:t>    temp = *a;</a:t>
            </a:r>
          </a:p>
          <a:p>
            <a:pPr marL="0" indent="0">
              <a:lnSpc>
                <a:spcPct val="100000"/>
              </a:lnSpc>
              <a:spcBef>
                <a:spcPts val="0"/>
              </a:spcBef>
              <a:buNone/>
            </a:pPr>
            <a:r>
              <a:rPr lang="en-US" sz="2000" dirty="0"/>
              <a:t>    *a = *b;</a:t>
            </a:r>
          </a:p>
          <a:p>
            <a:pPr marL="0" indent="0">
              <a:lnSpc>
                <a:spcPct val="100000"/>
              </a:lnSpc>
              <a:spcBef>
                <a:spcPts val="0"/>
              </a:spcBef>
              <a:buNone/>
            </a:pPr>
            <a:r>
              <a:rPr lang="en-US" sz="2000" dirty="0"/>
              <a:t>    *b = temp;</a:t>
            </a:r>
          </a:p>
          <a:p>
            <a:pPr marL="0" indent="0">
              <a:lnSpc>
                <a:spcPct val="100000"/>
              </a:lnSpc>
              <a:spcBef>
                <a:spcPts val="0"/>
              </a:spcBef>
              <a:buNone/>
            </a:pPr>
            <a:r>
              <a:rPr lang="en-US" sz="2000" dirty="0"/>
              <a:t>}</a:t>
            </a:r>
          </a:p>
          <a:p>
            <a:pPr marL="0" indent="0">
              <a:lnSpc>
                <a:spcPct val="100000"/>
              </a:lnSpc>
              <a:spcBef>
                <a:spcPts val="0"/>
              </a:spcBef>
              <a:buNone/>
            </a:pPr>
            <a:r>
              <a:rPr lang="en-US" sz="2000" dirty="0"/>
              <a:t>int main()</a:t>
            </a:r>
          </a:p>
          <a:p>
            <a:pPr marL="0" indent="0">
              <a:lnSpc>
                <a:spcPct val="100000"/>
              </a:lnSpc>
              <a:spcBef>
                <a:spcPts val="0"/>
              </a:spcBef>
              <a:buNone/>
            </a:pPr>
            <a:r>
              <a:rPr lang="en-US" sz="2000" dirty="0"/>
              <a:t>{</a:t>
            </a:r>
          </a:p>
          <a:p>
            <a:pPr marL="0" indent="0">
              <a:lnSpc>
                <a:spcPct val="100000"/>
              </a:lnSpc>
              <a:spcBef>
                <a:spcPts val="0"/>
              </a:spcBef>
              <a:buNone/>
            </a:pPr>
            <a:r>
              <a:rPr lang="en-US" sz="2000" dirty="0"/>
              <a:t>    int x = 10, y = 20;</a:t>
            </a:r>
          </a:p>
          <a:p>
            <a:pPr marL="0" indent="0">
              <a:lnSpc>
                <a:spcPct val="100000"/>
              </a:lnSpc>
              <a:spcBef>
                <a:spcPts val="0"/>
              </a:spcBef>
              <a:buNone/>
            </a:pPr>
            <a:r>
              <a:rPr lang="en-US" sz="2000" dirty="0"/>
              <a:t>    </a:t>
            </a:r>
            <a:r>
              <a:rPr lang="en-US" sz="2000" dirty="0" err="1"/>
              <a:t>printf</a:t>
            </a:r>
            <a:r>
              <a:rPr lang="en-US" sz="2000" dirty="0"/>
              <a:t>("Before swap: x = %d, y = %d\n", x, y);</a:t>
            </a:r>
          </a:p>
          <a:p>
            <a:pPr marL="0" indent="0">
              <a:lnSpc>
                <a:spcPct val="100000"/>
              </a:lnSpc>
              <a:spcBef>
                <a:spcPts val="0"/>
              </a:spcBef>
              <a:buNone/>
            </a:pPr>
            <a:r>
              <a:rPr lang="en-US" sz="2000" dirty="0"/>
              <a:t>    swap(&amp;x, &amp;y);</a:t>
            </a:r>
          </a:p>
          <a:p>
            <a:pPr marL="0" indent="0">
              <a:lnSpc>
                <a:spcPct val="100000"/>
              </a:lnSpc>
              <a:spcBef>
                <a:spcPts val="0"/>
              </a:spcBef>
              <a:buNone/>
            </a:pPr>
            <a:r>
              <a:rPr lang="en-US" sz="2000" dirty="0"/>
              <a:t>    </a:t>
            </a:r>
            <a:r>
              <a:rPr lang="en-US" sz="2000" dirty="0" err="1"/>
              <a:t>printf</a:t>
            </a:r>
            <a:r>
              <a:rPr lang="en-US" sz="2000" dirty="0"/>
              <a:t>("After swap: x = %d, y = %d\n", x, y);</a:t>
            </a:r>
          </a:p>
          <a:p>
            <a:pPr marL="0" indent="0">
              <a:lnSpc>
                <a:spcPct val="100000"/>
              </a:lnSpc>
              <a:spcBef>
                <a:spcPts val="0"/>
              </a:spcBef>
              <a:buNone/>
            </a:pPr>
            <a:r>
              <a:rPr lang="en-US" sz="2000" dirty="0"/>
              <a:t>    return 0;</a:t>
            </a:r>
          </a:p>
          <a:p>
            <a:pPr marL="0" indent="0">
              <a:lnSpc>
                <a:spcPct val="100000"/>
              </a:lnSpc>
              <a:spcBef>
                <a:spcPts val="0"/>
              </a:spcBef>
              <a:buNone/>
            </a:pPr>
            <a:r>
              <a:rPr lang="en-US" sz="2000" dirty="0"/>
              <a:t>}</a:t>
            </a:r>
          </a:p>
        </p:txBody>
      </p:sp>
      <p:sp>
        <p:nvSpPr>
          <p:cNvPr id="5" name="TextBox 4">
            <a:extLst>
              <a:ext uri="{FF2B5EF4-FFF2-40B4-BE49-F238E27FC236}">
                <a16:creationId xmlns:a16="http://schemas.microsoft.com/office/drawing/2014/main" id="{E6B5FB32-2DF5-2C73-FFDA-B9F87F251C24}"/>
              </a:ext>
            </a:extLst>
          </p:cNvPr>
          <p:cNvSpPr txBox="1"/>
          <p:nvPr/>
        </p:nvSpPr>
        <p:spPr>
          <a:xfrm>
            <a:off x="7430814" y="1805179"/>
            <a:ext cx="6096000" cy="2031325"/>
          </a:xfrm>
          <a:prstGeom prst="rect">
            <a:avLst/>
          </a:prstGeom>
          <a:noFill/>
        </p:spPr>
        <p:txBody>
          <a:bodyPr wrap="square">
            <a:spAutoFit/>
          </a:bodyPr>
          <a:lstStyle/>
          <a:p>
            <a:r>
              <a:rPr lang="en-US" dirty="0"/>
              <a:t>output :</a:t>
            </a:r>
          </a:p>
          <a:p>
            <a:endParaRPr lang="en-US" dirty="0"/>
          </a:p>
          <a:p>
            <a:r>
              <a:rPr lang="en-US" dirty="0"/>
              <a:t>Before swap: x = 10, y = 20</a:t>
            </a:r>
          </a:p>
          <a:p>
            <a:r>
              <a:rPr lang="en-US" dirty="0"/>
              <a:t>After swap: x = 20, y = 10</a:t>
            </a:r>
          </a:p>
          <a:p>
            <a:endParaRPr lang="en-US" dirty="0"/>
          </a:p>
          <a:p>
            <a:r>
              <a:rPr lang="en-IN" dirty="0"/>
              <a:t>passes the </a:t>
            </a:r>
            <a:r>
              <a:rPr lang="en-IN" b="1" dirty="0"/>
              <a:t>addresses</a:t>
            </a:r>
            <a:r>
              <a:rPr lang="en-IN" dirty="0"/>
              <a:t> of x and y.</a:t>
            </a:r>
          </a:p>
          <a:p>
            <a:endParaRPr lang="en-US" dirty="0"/>
          </a:p>
        </p:txBody>
      </p:sp>
    </p:spTree>
    <p:extLst>
      <p:ext uri="{BB962C8B-B14F-4D97-AF65-F5344CB8AC3E}">
        <p14:creationId xmlns:p14="http://schemas.microsoft.com/office/powerpoint/2010/main" val="744455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34835F-12A4-5FD4-023C-BCBAFE5E2CEE}"/>
              </a:ext>
            </a:extLst>
          </p:cNvPr>
          <p:cNvSpPr>
            <a:spLocks noGrp="1"/>
          </p:cNvSpPr>
          <p:nvPr>
            <p:ph idx="1"/>
          </p:nvPr>
        </p:nvSpPr>
        <p:spPr>
          <a:xfrm>
            <a:off x="430925" y="304800"/>
            <a:ext cx="11908220" cy="6264166"/>
          </a:xfrm>
        </p:spPr>
        <p:txBody>
          <a:bodyPr numCol="2">
            <a:noAutofit/>
          </a:bodyPr>
          <a:lstStyle/>
          <a:p>
            <a:pPr marL="0" indent="0">
              <a:spcBef>
                <a:spcPts val="0"/>
              </a:spcBef>
              <a:buNone/>
            </a:pPr>
            <a:r>
              <a:rPr lang="en-US" sz="2000" b="1" dirty="0">
                <a:solidFill>
                  <a:srgbClr val="0070C0"/>
                </a:solidFill>
              </a:rPr>
              <a:t>Pass by reference : Example 3</a:t>
            </a:r>
            <a:endParaRPr lang="en-US" sz="2000" dirty="0"/>
          </a:p>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void </a:t>
            </a:r>
            <a:r>
              <a:rPr lang="en-US" sz="2000" dirty="0" err="1"/>
              <a:t>findValues</a:t>
            </a:r>
            <a:r>
              <a:rPr lang="en-US" sz="2000" dirty="0"/>
              <a:t>(int a, int b, int *largest, int *smallest)</a:t>
            </a:r>
          </a:p>
          <a:p>
            <a:pPr marL="0" indent="0">
              <a:spcBef>
                <a:spcPts val="0"/>
              </a:spcBef>
              <a:buNone/>
            </a:pPr>
            <a:r>
              <a:rPr lang="en-US" sz="2000" dirty="0"/>
              <a:t>{</a:t>
            </a:r>
          </a:p>
          <a:p>
            <a:pPr marL="0" indent="0">
              <a:spcBef>
                <a:spcPts val="0"/>
              </a:spcBef>
              <a:buNone/>
            </a:pPr>
            <a:r>
              <a:rPr lang="en-US" sz="2000" dirty="0"/>
              <a:t>    if (a &gt; b)</a:t>
            </a:r>
          </a:p>
          <a:p>
            <a:pPr marL="0" indent="0">
              <a:spcBef>
                <a:spcPts val="0"/>
              </a:spcBef>
              <a:buNone/>
            </a:pPr>
            <a:r>
              <a:rPr lang="en-US" sz="2000" dirty="0"/>
              <a:t>    {</a:t>
            </a:r>
          </a:p>
          <a:p>
            <a:pPr marL="0" indent="0">
              <a:spcBef>
                <a:spcPts val="0"/>
              </a:spcBef>
              <a:buNone/>
            </a:pPr>
            <a:r>
              <a:rPr lang="en-US" sz="2000" dirty="0"/>
              <a:t>        *largest = a;</a:t>
            </a:r>
          </a:p>
          <a:p>
            <a:pPr marL="0" indent="0">
              <a:spcBef>
                <a:spcPts val="0"/>
              </a:spcBef>
              <a:buNone/>
            </a:pPr>
            <a:r>
              <a:rPr lang="en-US" sz="2000" dirty="0"/>
              <a:t>        *smallest = b;</a:t>
            </a:r>
          </a:p>
          <a:p>
            <a:pPr marL="0" indent="0">
              <a:spcBef>
                <a:spcPts val="0"/>
              </a:spcBef>
              <a:buNone/>
            </a:pPr>
            <a:r>
              <a:rPr lang="en-US" sz="2000" dirty="0"/>
              <a:t>    }</a:t>
            </a:r>
          </a:p>
          <a:p>
            <a:pPr marL="0" indent="0">
              <a:spcBef>
                <a:spcPts val="0"/>
              </a:spcBef>
              <a:buNone/>
            </a:pPr>
            <a:r>
              <a:rPr lang="en-US" sz="2000" dirty="0"/>
              <a:t>    else</a:t>
            </a:r>
          </a:p>
          <a:p>
            <a:pPr marL="0" indent="0">
              <a:spcBef>
                <a:spcPts val="0"/>
              </a:spcBef>
              <a:buNone/>
            </a:pPr>
            <a:r>
              <a:rPr lang="en-US" sz="2000" dirty="0"/>
              <a:t>    {</a:t>
            </a:r>
          </a:p>
          <a:p>
            <a:pPr marL="0" indent="0">
              <a:spcBef>
                <a:spcPts val="0"/>
              </a:spcBef>
              <a:buNone/>
            </a:pPr>
            <a:r>
              <a:rPr lang="en-US" sz="2000" dirty="0"/>
              <a:t>        *largest = b;</a:t>
            </a:r>
          </a:p>
          <a:p>
            <a:pPr marL="0" indent="0">
              <a:spcBef>
                <a:spcPts val="0"/>
              </a:spcBef>
              <a:buNone/>
            </a:pPr>
            <a:r>
              <a:rPr lang="en-US" sz="2000" dirty="0"/>
              <a:t>        *smallest = a;</a:t>
            </a:r>
          </a:p>
          <a:p>
            <a:pPr marL="0" indent="0">
              <a:spcBef>
                <a:spcPts val="0"/>
              </a:spcBef>
              <a:buNone/>
            </a:pPr>
            <a:r>
              <a:rPr lang="en-US" sz="2000" dirty="0"/>
              <a:t>    }</a:t>
            </a:r>
          </a:p>
          <a:p>
            <a:pPr marL="0" indent="0">
              <a:spcBef>
                <a:spcPts val="0"/>
              </a:spcBef>
              <a:buNone/>
            </a:pPr>
            <a:r>
              <a:rPr lang="en-US" sz="2000" dirty="0"/>
              <a:t>}</a:t>
            </a:r>
          </a:p>
          <a:p>
            <a:pPr marL="0" indent="0">
              <a:spcBef>
                <a:spcPts val="0"/>
              </a:spcBef>
              <a:buNone/>
            </a:pPr>
            <a:endParaRPr lang="en-US" sz="2000" dirty="0"/>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int a = 15, b = 25;</a:t>
            </a:r>
          </a:p>
          <a:p>
            <a:pPr marL="0" indent="0">
              <a:spcBef>
                <a:spcPts val="0"/>
              </a:spcBef>
              <a:buNone/>
            </a:pPr>
            <a:r>
              <a:rPr lang="en-US" sz="2000" dirty="0"/>
              <a:t>    int large, small;</a:t>
            </a:r>
          </a:p>
          <a:p>
            <a:pPr marL="0" indent="0">
              <a:spcBef>
                <a:spcPts val="0"/>
              </a:spcBef>
              <a:buNone/>
            </a:pPr>
            <a:endParaRPr lang="en-US" sz="2000" dirty="0"/>
          </a:p>
          <a:p>
            <a:pPr marL="0" indent="0">
              <a:spcBef>
                <a:spcPts val="0"/>
              </a:spcBef>
              <a:buNone/>
            </a:pPr>
            <a:r>
              <a:rPr lang="en-US" sz="2000" dirty="0"/>
              <a:t>    </a:t>
            </a:r>
            <a:r>
              <a:rPr lang="en-US" sz="2000" dirty="0" err="1"/>
              <a:t>findValues</a:t>
            </a:r>
            <a:r>
              <a:rPr lang="en-US" sz="2000" dirty="0"/>
              <a:t>(a, b, &amp;large, &amp;small);</a:t>
            </a:r>
          </a:p>
          <a:p>
            <a:pPr marL="0" indent="0">
              <a:spcBef>
                <a:spcPts val="0"/>
              </a:spcBef>
              <a:buNone/>
            </a:pPr>
            <a:endParaRPr lang="en-US" sz="2000" dirty="0"/>
          </a:p>
          <a:p>
            <a:pPr marL="0" indent="0">
              <a:spcBef>
                <a:spcPts val="0"/>
              </a:spcBef>
              <a:buNone/>
            </a:pPr>
            <a:r>
              <a:rPr lang="en-US" sz="2000" dirty="0"/>
              <a:t>    </a:t>
            </a:r>
            <a:r>
              <a:rPr lang="en-US" sz="2000" dirty="0" err="1"/>
              <a:t>printf</a:t>
            </a:r>
            <a:r>
              <a:rPr lang="en-US" sz="2000" dirty="0"/>
              <a:t>("Largest = %d\n", large);</a:t>
            </a:r>
          </a:p>
          <a:p>
            <a:pPr marL="0" indent="0">
              <a:spcBef>
                <a:spcPts val="0"/>
              </a:spcBef>
              <a:buNone/>
            </a:pPr>
            <a:r>
              <a:rPr lang="en-US" sz="2000" dirty="0"/>
              <a:t>    </a:t>
            </a:r>
            <a:r>
              <a:rPr lang="en-US" sz="2000" dirty="0" err="1"/>
              <a:t>printf</a:t>
            </a:r>
            <a:r>
              <a:rPr lang="en-US" sz="2000" dirty="0"/>
              <a:t>("Smallest = %d", small);</a:t>
            </a:r>
          </a:p>
          <a:p>
            <a:pPr marL="0" indent="0">
              <a:spcBef>
                <a:spcPts val="0"/>
              </a:spcBef>
              <a:buNone/>
            </a:pPr>
            <a:endParaRPr lang="en-US" sz="2000" dirty="0"/>
          </a:p>
          <a:p>
            <a:pPr marL="0" indent="0">
              <a:spcBef>
                <a:spcPts val="0"/>
              </a:spcBef>
              <a:buNone/>
            </a:pPr>
            <a:r>
              <a:rPr lang="en-US" sz="2000" dirty="0"/>
              <a:t>    return 0;</a:t>
            </a:r>
          </a:p>
          <a:p>
            <a:pPr marL="0" indent="0">
              <a:spcBef>
                <a:spcPts val="0"/>
              </a:spcBef>
              <a:buNone/>
            </a:pPr>
            <a:r>
              <a:rPr lang="en-US" sz="2000" dirty="0"/>
              <a:t>}</a:t>
            </a:r>
          </a:p>
          <a:p>
            <a:pPr marL="0" indent="0">
              <a:spcBef>
                <a:spcPts val="0"/>
              </a:spcBef>
              <a:buNone/>
            </a:pPr>
            <a:r>
              <a:rPr lang="en-US" sz="2000" b="1" dirty="0"/>
              <a:t>output :</a:t>
            </a:r>
          </a:p>
          <a:p>
            <a:pPr marL="0" indent="0">
              <a:spcBef>
                <a:spcPts val="0"/>
              </a:spcBef>
              <a:buNone/>
            </a:pPr>
            <a:r>
              <a:rPr lang="en-US" sz="2000" dirty="0"/>
              <a:t>Largest = 25</a:t>
            </a:r>
          </a:p>
          <a:p>
            <a:pPr marL="0" indent="0">
              <a:spcBef>
                <a:spcPts val="0"/>
              </a:spcBef>
              <a:buNone/>
            </a:pPr>
            <a:r>
              <a:rPr lang="en-US" sz="2000" dirty="0"/>
              <a:t>Smallest = 15</a:t>
            </a:r>
          </a:p>
        </p:txBody>
      </p:sp>
    </p:spTree>
    <p:extLst>
      <p:ext uri="{BB962C8B-B14F-4D97-AF65-F5344CB8AC3E}">
        <p14:creationId xmlns:p14="http://schemas.microsoft.com/office/powerpoint/2010/main" val="1402084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CF25007-8570-896D-F86A-45A2009251F9}"/>
              </a:ext>
            </a:extLst>
          </p:cNvPr>
          <p:cNvGraphicFramePr>
            <a:graphicFrameLocks noGrp="1"/>
          </p:cNvGraphicFramePr>
          <p:nvPr>
            <p:ph idx="1"/>
            <p:extLst>
              <p:ext uri="{D42A27DB-BD31-4B8C-83A1-F6EECF244321}">
                <p14:modId xmlns:p14="http://schemas.microsoft.com/office/powerpoint/2010/main" val="3332605508"/>
              </p:ext>
            </p:extLst>
          </p:nvPr>
        </p:nvGraphicFramePr>
        <p:xfrm>
          <a:off x="1975945" y="1135117"/>
          <a:ext cx="7651531" cy="3190832"/>
        </p:xfrm>
        <a:graphic>
          <a:graphicData uri="http://schemas.openxmlformats.org/drawingml/2006/table">
            <a:tbl>
              <a:tblPr/>
              <a:tblGrid>
                <a:gridCol w="2679331">
                  <a:extLst>
                    <a:ext uri="{9D8B030D-6E8A-4147-A177-3AD203B41FA5}">
                      <a16:colId xmlns:a16="http://schemas.microsoft.com/office/drawing/2014/main" val="3039657248"/>
                    </a:ext>
                  </a:extLst>
                </a:gridCol>
                <a:gridCol w="4972200">
                  <a:extLst>
                    <a:ext uri="{9D8B030D-6E8A-4147-A177-3AD203B41FA5}">
                      <a16:colId xmlns:a16="http://schemas.microsoft.com/office/drawing/2014/main" val="876589699"/>
                    </a:ext>
                  </a:extLst>
                </a:gridCol>
              </a:tblGrid>
              <a:tr h="637688">
                <a:tc>
                  <a:txBody>
                    <a:bodyPr/>
                    <a:lstStyle/>
                    <a:p>
                      <a:r>
                        <a:rPr lang="en-IN" b="1" dirty="0"/>
                        <a:t>Pass-by-Value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Pass-by-Reference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1001651"/>
                  </a:ext>
                </a:extLst>
              </a:tr>
              <a:tr h="637688">
                <a:tc>
                  <a:txBody>
                    <a:bodyPr/>
                    <a:lstStyle/>
                    <a:p>
                      <a:r>
                        <a:rPr lang="en-IN" dirty="0"/>
                        <a:t>Copy of value is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Address is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715178"/>
                  </a:ext>
                </a:extLst>
              </a:tr>
              <a:tr h="637688">
                <a:tc>
                  <a:txBody>
                    <a:bodyPr/>
                    <a:lstStyle/>
                    <a:p>
                      <a:r>
                        <a:rPr lang="en-IN" dirty="0"/>
                        <a:t>Uses normal parameters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Uses pointer parameters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045687"/>
                  </a:ext>
                </a:extLst>
              </a:tr>
              <a:tr h="637688">
                <a:tc>
                  <a:txBody>
                    <a:bodyPr/>
                    <a:lstStyle/>
                    <a:p>
                      <a:r>
                        <a:rPr lang="en-IN" dirty="0"/>
                        <a:t>Original variable is not changed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Original variable can be changed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541451"/>
                  </a:ext>
                </a:extLst>
              </a:tr>
              <a:tr h="637688">
                <a:tc>
                  <a:txBody>
                    <a:bodyPr/>
                    <a:lstStyle/>
                    <a:p>
                      <a:r>
                        <a:rPr lang="en-IN" dirty="0"/>
                        <a:t>Example: square(x)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Example: swap(&amp;x, &amp;y)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3197810"/>
                  </a:ext>
                </a:extLst>
              </a:tr>
            </a:tbl>
          </a:graphicData>
        </a:graphic>
      </p:graphicFrame>
      <p:sp>
        <p:nvSpPr>
          <p:cNvPr id="5" name="TextBox 4">
            <a:extLst>
              <a:ext uri="{FF2B5EF4-FFF2-40B4-BE49-F238E27FC236}">
                <a16:creationId xmlns:a16="http://schemas.microsoft.com/office/drawing/2014/main" id="{8AE7CA9C-0CB2-A22B-517F-535C550016B4}"/>
              </a:ext>
            </a:extLst>
          </p:cNvPr>
          <p:cNvSpPr txBox="1"/>
          <p:nvPr/>
        </p:nvSpPr>
        <p:spPr>
          <a:xfrm>
            <a:off x="952499" y="2232149"/>
            <a:ext cx="10286999" cy="338554"/>
          </a:xfrm>
          <a:prstGeom prst="rect">
            <a:avLst/>
          </a:prstGeom>
          <a:noFill/>
        </p:spPr>
        <p:txBody>
          <a:bodyPr wrap="square">
            <a:spAutoFit/>
          </a:bodyPr>
          <a:lstStyle/>
          <a:p>
            <a:pPr marL="0" indent="0">
              <a:spcAft>
                <a:spcPts val="500"/>
              </a:spcAft>
              <a:buNone/>
              <a:defRPr sz="1700"/>
            </a:pPr>
            <a:r>
              <a:rPr lang="en-IN" sz="1600" dirty="0"/>
              <a:t>.</a:t>
            </a:r>
          </a:p>
        </p:txBody>
      </p:sp>
      <p:sp>
        <p:nvSpPr>
          <p:cNvPr id="9" name="TextBox 8">
            <a:extLst>
              <a:ext uri="{FF2B5EF4-FFF2-40B4-BE49-F238E27FC236}">
                <a16:creationId xmlns:a16="http://schemas.microsoft.com/office/drawing/2014/main" id="{28E7CA95-ABF4-0F43-1BA8-987D93DAE0D8}"/>
              </a:ext>
            </a:extLst>
          </p:cNvPr>
          <p:cNvSpPr txBox="1"/>
          <p:nvPr/>
        </p:nvSpPr>
        <p:spPr>
          <a:xfrm>
            <a:off x="1334814" y="401935"/>
            <a:ext cx="8292662" cy="461665"/>
          </a:xfrm>
          <a:prstGeom prst="rect">
            <a:avLst/>
          </a:prstGeom>
          <a:noFill/>
        </p:spPr>
        <p:txBody>
          <a:bodyPr wrap="square">
            <a:spAutoFit/>
          </a:bodyPr>
          <a:lstStyle/>
          <a:p>
            <a:r>
              <a:rPr lang="en-IN" sz="2400" b="1" dirty="0"/>
              <a:t>Difference Between Pass-by-Value and Pass-by-Reference</a:t>
            </a:r>
            <a:endParaRPr lang="en-US" sz="2400" b="1" dirty="0"/>
          </a:p>
        </p:txBody>
      </p:sp>
      <p:sp>
        <p:nvSpPr>
          <p:cNvPr id="11" name="TextBox 10">
            <a:extLst>
              <a:ext uri="{FF2B5EF4-FFF2-40B4-BE49-F238E27FC236}">
                <a16:creationId xmlns:a16="http://schemas.microsoft.com/office/drawing/2014/main" id="{70CBC7E0-65B5-92E3-FC93-5BCDD855D8CD}"/>
              </a:ext>
            </a:extLst>
          </p:cNvPr>
          <p:cNvSpPr txBox="1"/>
          <p:nvPr/>
        </p:nvSpPr>
        <p:spPr>
          <a:xfrm>
            <a:off x="683172" y="4822816"/>
            <a:ext cx="11508828" cy="2031325"/>
          </a:xfrm>
          <a:prstGeom prst="rect">
            <a:avLst/>
          </a:prstGeom>
          <a:noFill/>
        </p:spPr>
        <p:txBody>
          <a:bodyPr wrap="square">
            <a:spAutoFit/>
          </a:bodyPr>
          <a:lstStyle/>
          <a:p>
            <a:r>
              <a:rPr lang="en-IN" b="1" dirty="0"/>
              <a:t>Pass-by-value:</a:t>
            </a:r>
          </a:p>
          <a:p>
            <a:endParaRPr lang="en-IN" dirty="0"/>
          </a:p>
          <a:p>
            <a:pPr rtl="0"/>
            <a:r>
              <a:rPr lang="en-IN" dirty="0"/>
              <a:t>value → function</a:t>
            </a:r>
          </a:p>
          <a:p>
            <a:pPr rtl="0"/>
            <a:endParaRPr lang="en-IN" dirty="0"/>
          </a:p>
          <a:p>
            <a:r>
              <a:rPr lang="en-IN" b="1" dirty="0"/>
              <a:t>Pass-by-reference:</a:t>
            </a:r>
          </a:p>
          <a:p>
            <a:endParaRPr lang="en-IN" dirty="0"/>
          </a:p>
          <a:p>
            <a:pPr rtl="0"/>
            <a:r>
              <a:rPr lang="en-IN" dirty="0"/>
              <a:t>address → function → original value can change</a:t>
            </a:r>
          </a:p>
        </p:txBody>
      </p:sp>
    </p:spTree>
    <p:extLst>
      <p:ext uri="{BB962C8B-B14F-4D97-AF65-F5344CB8AC3E}">
        <p14:creationId xmlns:p14="http://schemas.microsoft.com/office/powerpoint/2010/main" val="250146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6C51-F686-7BD2-9B38-A8290F45E3AD}"/>
              </a:ext>
            </a:extLst>
          </p:cNvPr>
          <p:cNvSpPr>
            <a:spLocks noGrp="1"/>
          </p:cNvSpPr>
          <p:nvPr>
            <p:ph type="title"/>
          </p:nvPr>
        </p:nvSpPr>
        <p:spPr>
          <a:xfrm>
            <a:off x="553107" y="168659"/>
            <a:ext cx="10287000" cy="1147762"/>
          </a:xfrm>
        </p:spPr>
        <p:txBody>
          <a:bodyPr/>
          <a:lstStyle/>
          <a:p>
            <a:r>
              <a:rPr lang="en-US" dirty="0"/>
              <a:t>Pass By reference: Example 1 </a:t>
            </a:r>
          </a:p>
        </p:txBody>
      </p:sp>
      <p:sp>
        <p:nvSpPr>
          <p:cNvPr id="3" name="Content Placeholder 2">
            <a:extLst>
              <a:ext uri="{FF2B5EF4-FFF2-40B4-BE49-F238E27FC236}">
                <a16:creationId xmlns:a16="http://schemas.microsoft.com/office/drawing/2014/main" id="{39FDF039-1C2B-77C4-BDFA-2FFD717E8879}"/>
              </a:ext>
            </a:extLst>
          </p:cNvPr>
          <p:cNvSpPr>
            <a:spLocks noGrp="1"/>
          </p:cNvSpPr>
          <p:nvPr>
            <p:ph idx="1"/>
          </p:nvPr>
        </p:nvSpPr>
        <p:spPr>
          <a:xfrm>
            <a:off x="553107" y="1481959"/>
            <a:ext cx="11302561" cy="5376041"/>
          </a:xfrm>
        </p:spPr>
        <p:txBody>
          <a:bodyPr numCol="2">
            <a:noAutofit/>
          </a:bodyPr>
          <a:lstStyle/>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void change(int *n)</a:t>
            </a:r>
          </a:p>
          <a:p>
            <a:pPr marL="0" indent="0">
              <a:spcBef>
                <a:spcPts val="0"/>
              </a:spcBef>
              <a:buNone/>
            </a:pPr>
            <a:r>
              <a:rPr lang="en-US" sz="2000" dirty="0"/>
              <a:t>{</a:t>
            </a:r>
          </a:p>
          <a:p>
            <a:pPr marL="0" indent="0">
              <a:spcBef>
                <a:spcPts val="0"/>
              </a:spcBef>
              <a:buNone/>
            </a:pPr>
            <a:r>
              <a:rPr lang="en-US" sz="2000" dirty="0"/>
              <a:t>    *n = 100;</a:t>
            </a:r>
          </a:p>
          <a:p>
            <a:pPr marL="0" indent="0">
              <a:spcBef>
                <a:spcPts val="0"/>
              </a:spcBef>
              <a:buNone/>
            </a:pPr>
            <a:r>
              <a:rPr lang="en-US" sz="2000" dirty="0"/>
              <a:t>}</a:t>
            </a:r>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int x = 20;</a:t>
            </a:r>
          </a:p>
          <a:p>
            <a:pPr marL="0" indent="0">
              <a:spcBef>
                <a:spcPts val="0"/>
              </a:spcBef>
              <a:buNone/>
            </a:pPr>
            <a:r>
              <a:rPr lang="en-US" sz="2000" dirty="0"/>
              <a:t>    </a:t>
            </a:r>
            <a:r>
              <a:rPr lang="en-US" sz="2000" dirty="0" err="1"/>
              <a:t>printf</a:t>
            </a:r>
            <a:r>
              <a:rPr lang="en-US" sz="2000" dirty="0"/>
              <a:t>("Before = %d\n", x);</a:t>
            </a:r>
          </a:p>
          <a:p>
            <a:pPr marL="0" indent="0">
              <a:spcBef>
                <a:spcPts val="0"/>
              </a:spcBef>
              <a:buNone/>
            </a:pPr>
            <a:r>
              <a:rPr lang="en-US" sz="2000" dirty="0"/>
              <a:t>    change(&amp;x);</a:t>
            </a:r>
          </a:p>
          <a:p>
            <a:pPr marL="0" indent="0">
              <a:spcBef>
                <a:spcPts val="0"/>
              </a:spcBef>
              <a:buNone/>
            </a:pPr>
            <a:r>
              <a:rPr lang="en-US" sz="2000" dirty="0"/>
              <a:t>    </a:t>
            </a:r>
            <a:r>
              <a:rPr lang="en-US" sz="2000" dirty="0" err="1"/>
              <a:t>printf</a:t>
            </a:r>
            <a:r>
              <a:rPr lang="en-US" sz="2000" dirty="0"/>
              <a:t>("After = %d\n", x);</a:t>
            </a:r>
          </a:p>
          <a:p>
            <a:pPr marL="0" indent="0">
              <a:spcBef>
                <a:spcPts val="0"/>
              </a:spcBef>
              <a:buNone/>
            </a:pPr>
            <a:r>
              <a:rPr lang="en-US" sz="2000" dirty="0"/>
              <a:t>    return 0;</a:t>
            </a:r>
          </a:p>
          <a:p>
            <a:pPr marL="0" indent="0">
              <a:spcBef>
                <a:spcPts val="0"/>
              </a:spcBef>
              <a:buNone/>
            </a:pPr>
            <a:r>
              <a:rPr lang="en-US" sz="2000" dirty="0"/>
              <a:t>}</a:t>
            </a:r>
          </a:p>
          <a:p>
            <a:pPr marL="0" indent="0">
              <a:spcBef>
                <a:spcPts val="0"/>
              </a:spcBef>
              <a:buNone/>
            </a:pPr>
            <a:endParaRPr lang="en-US" sz="2000" dirty="0"/>
          </a:p>
          <a:p>
            <a:pPr marL="0" indent="0">
              <a:spcBef>
                <a:spcPts val="0"/>
              </a:spcBef>
              <a:buNone/>
            </a:pPr>
            <a:r>
              <a:rPr lang="en-US" sz="2000" dirty="0"/>
              <a:t>output :</a:t>
            </a:r>
          </a:p>
          <a:p>
            <a:pPr marL="0" indent="0">
              <a:spcBef>
                <a:spcPts val="0"/>
              </a:spcBef>
              <a:buNone/>
            </a:pPr>
            <a:r>
              <a:rPr lang="en-US" sz="2000" dirty="0"/>
              <a:t>Before = 20</a:t>
            </a:r>
          </a:p>
          <a:p>
            <a:pPr marL="0" indent="0">
              <a:spcBef>
                <a:spcPts val="0"/>
              </a:spcBef>
              <a:buNone/>
            </a:pPr>
            <a:r>
              <a:rPr lang="en-US" sz="2000" dirty="0"/>
              <a:t>After = 100</a:t>
            </a:r>
          </a:p>
          <a:p>
            <a:pPr marL="0" indent="0">
              <a:spcBef>
                <a:spcPts val="0"/>
              </a:spcBef>
              <a:buNone/>
            </a:pPr>
            <a:endParaRPr lang="en-US" sz="2000" dirty="0"/>
          </a:p>
          <a:p>
            <a:pPr marL="0" indent="0">
              <a:spcBef>
                <a:spcPts val="0"/>
              </a:spcBef>
              <a:buNone/>
            </a:pPr>
            <a:r>
              <a:rPr lang="en-IN" sz="2000" dirty="0"/>
              <a:t>this is achieved by </a:t>
            </a:r>
            <a:r>
              <a:rPr lang="en-IN" sz="2000" b="1" dirty="0"/>
              <a:t>passing addresses using pointers</a:t>
            </a:r>
            <a:r>
              <a:rPr lang="en-IN" sz="2000" dirty="0"/>
              <a:t>. The function can then modify the original variables.</a:t>
            </a:r>
            <a:endParaRPr lang="en-US" sz="2000" dirty="0"/>
          </a:p>
        </p:txBody>
      </p:sp>
    </p:spTree>
    <p:extLst>
      <p:ext uri="{BB962C8B-B14F-4D97-AF65-F5344CB8AC3E}">
        <p14:creationId xmlns:p14="http://schemas.microsoft.com/office/powerpoint/2010/main" val="4293457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40BC-2663-7119-D1CA-168E20B5F8A3}"/>
              </a:ext>
            </a:extLst>
          </p:cNvPr>
          <p:cNvSpPr>
            <a:spLocks noGrp="1"/>
          </p:cNvSpPr>
          <p:nvPr>
            <p:ph type="title"/>
          </p:nvPr>
        </p:nvSpPr>
        <p:spPr>
          <a:xfrm>
            <a:off x="332389" y="210700"/>
            <a:ext cx="10287000" cy="1147762"/>
          </a:xfrm>
        </p:spPr>
        <p:txBody>
          <a:bodyPr/>
          <a:lstStyle/>
          <a:p>
            <a:r>
              <a:rPr lang="en-US" dirty="0"/>
              <a:t>pass by reference : Example 2</a:t>
            </a:r>
          </a:p>
        </p:txBody>
      </p:sp>
      <p:sp>
        <p:nvSpPr>
          <p:cNvPr id="3" name="Content Placeholder 2">
            <a:extLst>
              <a:ext uri="{FF2B5EF4-FFF2-40B4-BE49-F238E27FC236}">
                <a16:creationId xmlns:a16="http://schemas.microsoft.com/office/drawing/2014/main" id="{6375C0CF-7072-4E61-77E3-B15FFF3E8E1F}"/>
              </a:ext>
            </a:extLst>
          </p:cNvPr>
          <p:cNvSpPr>
            <a:spLocks noGrp="1"/>
          </p:cNvSpPr>
          <p:nvPr>
            <p:ph idx="1"/>
          </p:nvPr>
        </p:nvSpPr>
        <p:spPr>
          <a:xfrm>
            <a:off x="332389" y="1358462"/>
            <a:ext cx="10907111" cy="4818501"/>
          </a:xfrm>
        </p:spPr>
        <p:txBody>
          <a:bodyPr numCol="2">
            <a:noAutofit/>
          </a:bodyPr>
          <a:lstStyle/>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void calculate(int a, int b, int *sum, int *diff)</a:t>
            </a:r>
          </a:p>
          <a:p>
            <a:pPr marL="0" indent="0">
              <a:spcBef>
                <a:spcPts val="0"/>
              </a:spcBef>
              <a:buNone/>
            </a:pPr>
            <a:r>
              <a:rPr lang="en-US" sz="2000" dirty="0"/>
              <a:t>{</a:t>
            </a:r>
          </a:p>
          <a:p>
            <a:pPr marL="0" indent="0">
              <a:spcBef>
                <a:spcPts val="0"/>
              </a:spcBef>
              <a:buNone/>
            </a:pPr>
            <a:r>
              <a:rPr lang="en-US" sz="2000" dirty="0"/>
              <a:t>    *sum = a + b;</a:t>
            </a:r>
          </a:p>
          <a:p>
            <a:pPr marL="0" indent="0">
              <a:spcBef>
                <a:spcPts val="0"/>
              </a:spcBef>
              <a:buNone/>
            </a:pPr>
            <a:r>
              <a:rPr lang="en-US" sz="2000" dirty="0"/>
              <a:t>    *diff = a - b;</a:t>
            </a:r>
          </a:p>
          <a:p>
            <a:pPr marL="0" indent="0">
              <a:spcBef>
                <a:spcPts val="0"/>
              </a:spcBef>
              <a:buNone/>
            </a:pPr>
            <a:r>
              <a:rPr lang="en-US" sz="2000" dirty="0"/>
              <a:t>}</a:t>
            </a:r>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int x = 20, y = 8;</a:t>
            </a:r>
          </a:p>
          <a:p>
            <a:pPr marL="0" indent="0">
              <a:spcBef>
                <a:spcPts val="0"/>
              </a:spcBef>
              <a:buNone/>
            </a:pPr>
            <a:r>
              <a:rPr lang="en-US" sz="2000" dirty="0"/>
              <a:t>    int sum, diff;</a:t>
            </a:r>
          </a:p>
          <a:p>
            <a:pPr marL="0" indent="0">
              <a:spcBef>
                <a:spcPts val="0"/>
              </a:spcBef>
              <a:buNone/>
            </a:pPr>
            <a:r>
              <a:rPr lang="en-US" sz="2000" dirty="0"/>
              <a:t>    calculate(x, y, &amp;sum, &amp;diff);</a:t>
            </a:r>
          </a:p>
          <a:p>
            <a:pPr marL="0" indent="0">
              <a:spcBef>
                <a:spcPts val="0"/>
              </a:spcBef>
              <a:buNone/>
            </a:pPr>
            <a:r>
              <a:rPr lang="en-US" sz="2000" dirty="0"/>
              <a:t>    </a:t>
            </a:r>
            <a:r>
              <a:rPr lang="en-US" sz="2000" dirty="0" err="1"/>
              <a:t>printf</a:t>
            </a:r>
            <a:r>
              <a:rPr lang="en-US" sz="2000" dirty="0"/>
              <a:t>("Sum = %d\n", sum);</a:t>
            </a:r>
          </a:p>
          <a:p>
            <a:pPr marL="0" indent="0">
              <a:spcBef>
                <a:spcPts val="0"/>
              </a:spcBef>
              <a:buNone/>
            </a:pPr>
            <a:r>
              <a:rPr lang="en-US" sz="2000" dirty="0"/>
              <a:t>    </a:t>
            </a:r>
            <a:r>
              <a:rPr lang="en-US" sz="2000" dirty="0" err="1"/>
              <a:t>printf</a:t>
            </a:r>
            <a:r>
              <a:rPr lang="en-US" sz="2000" dirty="0"/>
              <a:t>("Difference = %d\n", diff);</a:t>
            </a:r>
          </a:p>
          <a:p>
            <a:pPr marL="0" indent="0">
              <a:spcBef>
                <a:spcPts val="0"/>
              </a:spcBef>
              <a:buNone/>
            </a:pPr>
            <a:r>
              <a:rPr lang="en-US" sz="2000" dirty="0"/>
              <a:t>    return 0;</a:t>
            </a:r>
          </a:p>
          <a:p>
            <a:pPr marL="0" indent="0">
              <a:spcBef>
                <a:spcPts val="0"/>
              </a:spcBef>
              <a:buNone/>
            </a:pPr>
            <a:r>
              <a:rPr lang="en-US" sz="2000" dirty="0"/>
              <a:t>}</a:t>
            </a:r>
          </a:p>
          <a:p>
            <a:pPr marL="0" indent="0">
              <a:spcBef>
                <a:spcPts val="0"/>
              </a:spcBef>
              <a:buNone/>
            </a:pPr>
            <a:endParaRPr lang="en-US" sz="2000" dirty="0"/>
          </a:p>
          <a:p>
            <a:pPr marL="0" indent="0">
              <a:spcBef>
                <a:spcPts val="0"/>
              </a:spcBef>
              <a:buNone/>
            </a:pPr>
            <a:r>
              <a:rPr lang="en-US" sz="2000" dirty="0"/>
              <a:t>output :</a:t>
            </a:r>
          </a:p>
          <a:p>
            <a:pPr marL="0" indent="0" rtl="0">
              <a:buNone/>
            </a:pPr>
            <a:r>
              <a:rPr lang="en-IN" sz="2000" dirty="0"/>
              <a:t>Sum = 28 </a:t>
            </a:r>
          </a:p>
          <a:p>
            <a:pPr marL="0" indent="0" rtl="0">
              <a:buNone/>
            </a:pPr>
            <a:r>
              <a:rPr lang="en-IN" sz="2000" dirty="0"/>
              <a:t>Difference = 12</a:t>
            </a:r>
          </a:p>
          <a:p>
            <a:r>
              <a:rPr lang="en-IN" sz="2000" dirty="0"/>
              <a:t>The function modifies sum and diff through their addresses.</a:t>
            </a:r>
          </a:p>
          <a:p>
            <a:pPr marL="0" indent="0">
              <a:spcBef>
                <a:spcPts val="0"/>
              </a:spcBef>
              <a:buNone/>
            </a:pPr>
            <a:endParaRPr lang="en-US" sz="2000" dirty="0"/>
          </a:p>
        </p:txBody>
      </p:sp>
    </p:spTree>
    <p:extLst>
      <p:ext uri="{BB962C8B-B14F-4D97-AF65-F5344CB8AC3E}">
        <p14:creationId xmlns:p14="http://schemas.microsoft.com/office/powerpoint/2010/main" val="1216885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7A7C-D9F8-A875-C1FF-D214F29E1CC6}"/>
              </a:ext>
            </a:extLst>
          </p:cNvPr>
          <p:cNvSpPr>
            <a:spLocks noGrp="1"/>
          </p:cNvSpPr>
          <p:nvPr>
            <p:ph type="title"/>
          </p:nvPr>
        </p:nvSpPr>
        <p:spPr>
          <a:xfrm>
            <a:off x="273269" y="284272"/>
            <a:ext cx="10287000" cy="1147762"/>
          </a:xfrm>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D281676B-5A0B-F767-2FB3-7B13345D9A23}"/>
              </a:ext>
            </a:extLst>
          </p:cNvPr>
          <p:cNvSpPr>
            <a:spLocks noGrp="1"/>
          </p:cNvSpPr>
          <p:nvPr>
            <p:ph idx="1"/>
          </p:nvPr>
        </p:nvSpPr>
        <p:spPr>
          <a:xfrm>
            <a:off x="273269" y="1432034"/>
            <a:ext cx="10966231" cy="5263056"/>
          </a:xfrm>
        </p:spPr>
        <p:txBody>
          <a:bodyPr>
            <a:normAutofit fontScale="70000" lnSpcReduction="20000"/>
          </a:bodyPr>
          <a:lstStyle/>
          <a:p>
            <a:pPr marL="0" indent="0">
              <a:buNone/>
            </a:pPr>
            <a:r>
              <a:rPr lang="en-IN" dirty="0"/>
              <a:t>Q1. What will be the output?</a:t>
            </a:r>
          </a:p>
          <a:p>
            <a:pPr marL="0" indent="0" rtl="0">
              <a:buNone/>
            </a:pPr>
            <a:r>
              <a:rPr lang="en-IN" dirty="0"/>
              <a:t>#include &lt;</a:t>
            </a:r>
            <a:r>
              <a:rPr lang="en-IN" dirty="0" err="1"/>
              <a:t>stdio.h</a:t>
            </a:r>
            <a:r>
              <a:rPr lang="en-IN" dirty="0"/>
              <a:t>&gt; </a:t>
            </a:r>
          </a:p>
          <a:p>
            <a:pPr marL="0" indent="0" rtl="0">
              <a:buNone/>
            </a:pPr>
            <a:r>
              <a:rPr lang="en-IN" dirty="0"/>
              <a:t>void change(int x) </a:t>
            </a:r>
          </a:p>
          <a:p>
            <a:pPr marL="0" indent="0" rtl="0">
              <a:buNone/>
            </a:pPr>
            <a:r>
              <a:rPr lang="en-IN" dirty="0"/>
              <a:t>	{ </a:t>
            </a:r>
          </a:p>
          <a:p>
            <a:pPr marL="0" indent="0" rtl="0">
              <a:buNone/>
            </a:pPr>
            <a:r>
              <a:rPr lang="en-IN" dirty="0"/>
              <a:t>	x = 20;</a:t>
            </a:r>
          </a:p>
          <a:p>
            <a:pPr marL="0" indent="0" rtl="0">
              <a:buNone/>
            </a:pPr>
            <a:r>
              <a:rPr lang="en-IN" dirty="0"/>
              <a:t>	 }</a:t>
            </a:r>
          </a:p>
          <a:p>
            <a:pPr marL="0" indent="0" rtl="0">
              <a:buNone/>
            </a:pPr>
            <a:r>
              <a:rPr lang="en-IN" dirty="0"/>
              <a:t> int main() </a:t>
            </a:r>
          </a:p>
          <a:p>
            <a:pPr marL="0" indent="0" rtl="0">
              <a:buNone/>
            </a:pPr>
            <a:r>
              <a:rPr lang="en-IN" dirty="0"/>
              <a:t>	{ </a:t>
            </a:r>
          </a:p>
          <a:p>
            <a:pPr marL="0" indent="0" rtl="0">
              <a:buNone/>
            </a:pPr>
            <a:r>
              <a:rPr lang="en-IN" dirty="0"/>
              <a:t>	int a = 10; </a:t>
            </a:r>
          </a:p>
          <a:p>
            <a:pPr marL="0" indent="0" rtl="0">
              <a:buNone/>
            </a:pPr>
            <a:r>
              <a:rPr lang="en-IN" dirty="0"/>
              <a:t>	change(a); </a:t>
            </a:r>
          </a:p>
          <a:p>
            <a:pPr marL="0" indent="0" rtl="0">
              <a:buNone/>
            </a:pPr>
            <a:r>
              <a:rPr lang="en-IN" dirty="0"/>
              <a:t>	</a:t>
            </a:r>
            <a:r>
              <a:rPr lang="en-IN" dirty="0" err="1"/>
              <a:t>printf</a:t>
            </a:r>
            <a:r>
              <a:rPr lang="en-IN" dirty="0"/>
              <a:t>("%d", a);</a:t>
            </a:r>
          </a:p>
          <a:p>
            <a:pPr marL="0" indent="0" rtl="0">
              <a:buNone/>
            </a:pPr>
            <a:r>
              <a:rPr lang="en-IN" dirty="0"/>
              <a:t>	 return 0; </a:t>
            </a:r>
          </a:p>
          <a:p>
            <a:pPr marL="0" indent="0" rtl="0">
              <a:buNone/>
            </a:pPr>
            <a:r>
              <a:rPr lang="en-IN" dirty="0"/>
              <a:t>	}</a:t>
            </a:r>
          </a:p>
          <a:p>
            <a:pPr marL="0" indent="0">
              <a:buNone/>
            </a:pPr>
            <a:r>
              <a:rPr lang="en-IN" b="1" dirty="0"/>
              <a:t>Answer</a:t>
            </a:r>
          </a:p>
          <a:p>
            <a:pPr marL="0" indent="0" rtl="0">
              <a:buNone/>
            </a:pPr>
            <a:r>
              <a:rPr lang="en-IN" dirty="0"/>
              <a:t>	10</a:t>
            </a:r>
          </a:p>
          <a:p>
            <a:pPr marL="0" indent="0">
              <a:buNone/>
            </a:pPr>
            <a:r>
              <a:rPr lang="en-IN" b="1" dirty="0"/>
              <a:t>Reason:</a:t>
            </a:r>
            <a:r>
              <a:rPr lang="en-IN" dirty="0"/>
              <a:t> In pass-by-value, only a copy of a is passed to x. So the original a remains unchanged.</a:t>
            </a:r>
          </a:p>
          <a:p>
            <a:pPr marL="0" indent="0">
              <a:buNone/>
            </a:pPr>
            <a:endParaRPr lang="en-IN" dirty="0"/>
          </a:p>
        </p:txBody>
      </p:sp>
    </p:spTree>
    <p:extLst>
      <p:ext uri="{BB962C8B-B14F-4D97-AF65-F5344CB8AC3E}">
        <p14:creationId xmlns:p14="http://schemas.microsoft.com/office/powerpoint/2010/main" val="599411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C8A0-53F6-2202-528A-D13011ED3673}"/>
              </a:ext>
            </a:extLst>
          </p:cNvPr>
          <p:cNvSpPr>
            <a:spLocks noGrp="1"/>
          </p:cNvSpPr>
          <p:nvPr>
            <p:ph type="title"/>
          </p:nvPr>
        </p:nvSpPr>
        <p:spPr>
          <a:xfrm>
            <a:off x="721273" y="107157"/>
            <a:ext cx="10287000" cy="1147762"/>
          </a:xfrm>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12FAE042-951A-B24D-AB03-B28604BC740F}"/>
              </a:ext>
            </a:extLst>
          </p:cNvPr>
          <p:cNvSpPr>
            <a:spLocks noGrp="1"/>
          </p:cNvSpPr>
          <p:nvPr>
            <p:ph idx="1"/>
          </p:nvPr>
        </p:nvSpPr>
        <p:spPr>
          <a:xfrm>
            <a:off x="388883" y="1334815"/>
            <a:ext cx="10850617" cy="5416028"/>
          </a:xfrm>
        </p:spPr>
        <p:txBody>
          <a:bodyPr>
            <a:normAutofit fontScale="77500" lnSpcReduction="20000"/>
          </a:bodyPr>
          <a:lstStyle/>
          <a:p>
            <a:pPr marL="0" indent="0">
              <a:buNone/>
            </a:pPr>
            <a:r>
              <a:rPr lang="en-IN" b="1" dirty="0"/>
              <a:t>Q2. </a:t>
            </a:r>
            <a:r>
              <a:rPr lang="en-IN" dirty="0"/>
              <a:t>What will be the output?</a:t>
            </a:r>
          </a:p>
          <a:p>
            <a:pPr marL="0" indent="0" rtl="0">
              <a:buNone/>
            </a:pPr>
            <a:r>
              <a:rPr lang="en-IN" dirty="0"/>
              <a:t>#include &lt;</a:t>
            </a:r>
            <a:r>
              <a:rPr lang="en-IN" dirty="0" err="1"/>
              <a:t>stdio.h</a:t>
            </a:r>
            <a:r>
              <a:rPr lang="en-IN" dirty="0"/>
              <a:t>&gt;</a:t>
            </a:r>
          </a:p>
          <a:p>
            <a:pPr marL="0" indent="0" rtl="0">
              <a:buNone/>
            </a:pPr>
            <a:r>
              <a:rPr lang="en-IN" dirty="0"/>
              <a:t> void change(int *x) </a:t>
            </a:r>
          </a:p>
          <a:p>
            <a:pPr marL="0" indent="0" rtl="0">
              <a:buNone/>
            </a:pPr>
            <a:r>
              <a:rPr lang="en-IN" dirty="0"/>
              <a:t>	{ </a:t>
            </a:r>
          </a:p>
          <a:p>
            <a:pPr marL="0" indent="0" rtl="0">
              <a:buNone/>
            </a:pPr>
            <a:r>
              <a:rPr lang="en-IN" dirty="0"/>
              <a:t>	*x = 20;</a:t>
            </a:r>
          </a:p>
          <a:p>
            <a:pPr marL="0" indent="0" rtl="0">
              <a:buNone/>
            </a:pPr>
            <a:r>
              <a:rPr lang="en-IN" dirty="0"/>
              <a:t>	 } </a:t>
            </a:r>
          </a:p>
          <a:p>
            <a:pPr marL="0" indent="0" rtl="0">
              <a:buNone/>
            </a:pPr>
            <a:r>
              <a:rPr lang="en-IN" dirty="0"/>
              <a:t>int main() </a:t>
            </a:r>
          </a:p>
          <a:p>
            <a:pPr marL="0" indent="0" rtl="0">
              <a:buNone/>
            </a:pPr>
            <a:r>
              <a:rPr lang="en-IN" dirty="0"/>
              <a:t>	{ </a:t>
            </a:r>
          </a:p>
          <a:p>
            <a:pPr marL="0" indent="0" rtl="0">
              <a:buNone/>
            </a:pPr>
            <a:r>
              <a:rPr lang="en-IN" dirty="0"/>
              <a:t>	int a = 10; </a:t>
            </a:r>
          </a:p>
          <a:p>
            <a:pPr marL="0" indent="0" rtl="0">
              <a:buNone/>
            </a:pPr>
            <a:r>
              <a:rPr lang="en-IN" dirty="0"/>
              <a:t>	change(&amp;a);</a:t>
            </a:r>
          </a:p>
          <a:p>
            <a:pPr marL="0" indent="0" rtl="0">
              <a:buNone/>
            </a:pPr>
            <a:r>
              <a:rPr lang="en-IN" dirty="0"/>
              <a:t>	 </a:t>
            </a:r>
            <a:r>
              <a:rPr lang="en-IN" dirty="0" err="1"/>
              <a:t>printf</a:t>
            </a:r>
            <a:r>
              <a:rPr lang="en-IN" dirty="0"/>
              <a:t>("%d", a);</a:t>
            </a:r>
          </a:p>
          <a:p>
            <a:pPr marL="0" indent="0" rtl="0">
              <a:buNone/>
            </a:pPr>
            <a:r>
              <a:rPr lang="en-IN" dirty="0"/>
              <a:t> 	return 0; </a:t>
            </a:r>
          </a:p>
          <a:p>
            <a:pPr marL="0" indent="0" rtl="0">
              <a:buNone/>
            </a:pPr>
            <a:r>
              <a:rPr lang="en-IN" dirty="0"/>
              <a:t>	}</a:t>
            </a:r>
          </a:p>
          <a:p>
            <a:pPr marL="0" indent="0">
              <a:buNone/>
            </a:pPr>
            <a:r>
              <a:rPr lang="en-IN" b="1" dirty="0"/>
              <a:t>Answer</a:t>
            </a:r>
          </a:p>
          <a:p>
            <a:pPr marL="0" indent="0" rtl="0">
              <a:buNone/>
            </a:pPr>
            <a:r>
              <a:rPr lang="en-IN" dirty="0"/>
              <a:t>20</a:t>
            </a:r>
          </a:p>
          <a:p>
            <a:pPr marL="0" indent="0">
              <a:buNone/>
            </a:pPr>
            <a:r>
              <a:rPr lang="en-IN" b="1" dirty="0"/>
              <a:t>Reason:</a:t>
            </a:r>
            <a:r>
              <a:rPr lang="en-IN" dirty="0"/>
              <a:t> The address of a is passed, so the function changes the original value.</a:t>
            </a:r>
          </a:p>
          <a:p>
            <a:pPr marL="0" indent="0">
              <a:buNone/>
            </a:pPr>
            <a:endParaRPr lang="en-IN" dirty="0"/>
          </a:p>
        </p:txBody>
      </p:sp>
    </p:spTree>
    <p:extLst>
      <p:ext uri="{BB962C8B-B14F-4D97-AF65-F5344CB8AC3E}">
        <p14:creationId xmlns:p14="http://schemas.microsoft.com/office/powerpoint/2010/main" val="1225292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34D2-1429-3C02-9C13-DC31FF994257}"/>
              </a:ext>
            </a:extLst>
          </p:cNvPr>
          <p:cNvSpPr>
            <a:spLocks noGrp="1"/>
          </p:cNvSpPr>
          <p:nvPr>
            <p:ph type="title"/>
          </p:nvPr>
        </p:nvSpPr>
        <p:spPr>
          <a:xfrm>
            <a:off x="578069" y="221210"/>
            <a:ext cx="10287000" cy="1147762"/>
          </a:xfrm>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F089B5CB-9B42-F8E2-3D87-1A7FF453EEEF}"/>
              </a:ext>
            </a:extLst>
          </p:cNvPr>
          <p:cNvSpPr>
            <a:spLocks noGrp="1"/>
          </p:cNvSpPr>
          <p:nvPr>
            <p:ph idx="1"/>
          </p:nvPr>
        </p:nvSpPr>
        <p:spPr>
          <a:xfrm>
            <a:off x="578069" y="1629103"/>
            <a:ext cx="10661431" cy="5228897"/>
          </a:xfrm>
        </p:spPr>
        <p:txBody>
          <a:bodyPr>
            <a:normAutofit fontScale="77500" lnSpcReduction="20000"/>
          </a:bodyPr>
          <a:lstStyle/>
          <a:p>
            <a:pPr marL="0" indent="0">
              <a:buNone/>
            </a:pPr>
            <a:r>
              <a:rPr lang="en-IN" b="1" dirty="0"/>
              <a:t>Q3. </a:t>
            </a:r>
            <a:r>
              <a:rPr lang="en-IN" dirty="0"/>
              <a:t>Write a C program to add two numbers using pass-by-value.</a:t>
            </a:r>
          </a:p>
          <a:p>
            <a:pPr marL="0" indent="0">
              <a:buNone/>
            </a:pPr>
            <a:r>
              <a:rPr lang="en-IN" b="1" dirty="0"/>
              <a:t>Answer</a:t>
            </a:r>
          </a:p>
          <a:p>
            <a:pPr marL="0" indent="0" rtl="0">
              <a:buNone/>
            </a:pPr>
            <a:r>
              <a:rPr lang="en-IN" dirty="0"/>
              <a:t>#include &lt;</a:t>
            </a:r>
            <a:r>
              <a:rPr lang="en-IN" dirty="0" err="1"/>
              <a:t>stdio.h</a:t>
            </a:r>
            <a:r>
              <a:rPr lang="en-IN" dirty="0"/>
              <a:t>&gt;</a:t>
            </a:r>
          </a:p>
          <a:p>
            <a:pPr marL="0" indent="0" rtl="0">
              <a:buNone/>
            </a:pPr>
            <a:r>
              <a:rPr lang="en-IN" dirty="0"/>
              <a:t> int add(int a, int b) </a:t>
            </a:r>
          </a:p>
          <a:p>
            <a:pPr marL="0" indent="0" rtl="0">
              <a:buNone/>
            </a:pPr>
            <a:r>
              <a:rPr lang="en-IN" dirty="0"/>
              <a:t>{</a:t>
            </a:r>
          </a:p>
          <a:p>
            <a:pPr marL="0" indent="0" rtl="0">
              <a:buNone/>
            </a:pPr>
            <a:r>
              <a:rPr lang="en-IN" dirty="0"/>
              <a:t> return a + b; </a:t>
            </a:r>
          </a:p>
          <a:p>
            <a:pPr marL="0" indent="0" rtl="0">
              <a:buNone/>
            </a:pPr>
            <a:r>
              <a:rPr lang="en-IN" dirty="0"/>
              <a:t>}</a:t>
            </a:r>
          </a:p>
          <a:p>
            <a:pPr marL="0" indent="0" rtl="0">
              <a:buNone/>
            </a:pPr>
            <a:r>
              <a:rPr lang="en-IN" dirty="0"/>
              <a:t> int main() </a:t>
            </a:r>
          </a:p>
          <a:p>
            <a:pPr marL="0" indent="0" rtl="0">
              <a:buNone/>
            </a:pPr>
            <a:r>
              <a:rPr lang="en-IN" dirty="0"/>
              <a:t>{</a:t>
            </a:r>
          </a:p>
          <a:p>
            <a:pPr marL="0" indent="0" rtl="0">
              <a:buNone/>
            </a:pPr>
            <a:r>
              <a:rPr lang="en-IN" dirty="0"/>
              <a:t> int x = 10, y = 20;</a:t>
            </a:r>
          </a:p>
          <a:p>
            <a:pPr marL="0" indent="0" rtl="0">
              <a:buNone/>
            </a:pPr>
            <a:r>
              <a:rPr lang="en-IN" dirty="0"/>
              <a:t> </a:t>
            </a:r>
            <a:r>
              <a:rPr lang="en-IN" dirty="0" err="1"/>
              <a:t>printf</a:t>
            </a:r>
            <a:r>
              <a:rPr lang="en-IN" dirty="0"/>
              <a:t>("Sum = %d", add(x, y)); </a:t>
            </a:r>
          </a:p>
          <a:p>
            <a:pPr marL="0" indent="0" rtl="0">
              <a:buNone/>
            </a:pPr>
            <a:r>
              <a:rPr lang="en-IN" dirty="0"/>
              <a:t>return 0; </a:t>
            </a:r>
          </a:p>
          <a:p>
            <a:pPr marL="0" indent="0" rtl="0">
              <a:buNone/>
            </a:pPr>
            <a:r>
              <a:rPr lang="en-IN" dirty="0"/>
              <a:t>}</a:t>
            </a:r>
          </a:p>
          <a:p>
            <a:pPr marL="0" indent="0">
              <a:buNone/>
            </a:pPr>
            <a:r>
              <a:rPr lang="en-IN" b="1" dirty="0"/>
              <a:t>Output:</a:t>
            </a:r>
            <a:endParaRPr lang="en-IN" dirty="0"/>
          </a:p>
          <a:p>
            <a:pPr marL="0" indent="0" rtl="0">
              <a:buNone/>
            </a:pPr>
            <a:r>
              <a:rPr lang="en-IN" dirty="0"/>
              <a:t>Sum = 30</a:t>
            </a:r>
          </a:p>
          <a:p>
            <a:pPr marL="0" indent="0">
              <a:buNone/>
            </a:pPr>
            <a:endParaRPr lang="en-IN" dirty="0"/>
          </a:p>
        </p:txBody>
      </p:sp>
    </p:spTree>
    <p:extLst>
      <p:ext uri="{BB962C8B-B14F-4D97-AF65-F5344CB8AC3E}">
        <p14:creationId xmlns:p14="http://schemas.microsoft.com/office/powerpoint/2010/main" val="2106955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3BA7-FE39-0F6E-CB3E-1C8BB122DE1E}"/>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0F44A5BC-1908-7790-E564-28294F11592F}"/>
              </a:ext>
            </a:extLst>
          </p:cNvPr>
          <p:cNvSpPr>
            <a:spLocks noGrp="1"/>
          </p:cNvSpPr>
          <p:nvPr>
            <p:ph idx="1"/>
          </p:nvPr>
        </p:nvSpPr>
        <p:spPr>
          <a:xfrm>
            <a:off x="952500" y="2285997"/>
            <a:ext cx="10287000" cy="4419603"/>
          </a:xfrm>
        </p:spPr>
        <p:txBody>
          <a:bodyPr numCol="2">
            <a:normAutofit/>
          </a:bodyPr>
          <a:lstStyle/>
          <a:p>
            <a:pPr marL="0" indent="0">
              <a:buNone/>
            </a:pPr>
            <a:r>
              <a:rPr lang="en-IN" b="1" dirty="0"/>
              <a:t>Q4. </a:t>
            </a:r>
            <a:r>
              <a:rPr lang="en-IN" dirty="0"/>
              <a:t>Write a C program to double a number using pass-by-value.</a:t>
            </a:r>
          </a:p>
          <a:p>
            <a:pPr marL="0" indent="0">
              <a:buNone/>
            </a:pPr>
            <a:r>
              <a:rPr lang="en-IN" b="1" dirty="0"/>
              <a:t>Answer</a:t>
            </a:r>
          </a:p>
          <a:p>
            <a:pPr marL="0" indent="0" rtl="0">
              <a:buNone/>
            </a:pPr>
            <a:r>
              <a:rPr lang="en-IN" dirty="0"/>
              <a:t>#include &lt;</a:t>
            </a:r>
            <a:r>
              <a:rPr lang="en-IN" dirty="0" err="1"/>
              <a:t>stdio.h</a:t>
            </a:r>
            <a:r>
              <a:rPr lang="en-IN" dirty="0"/>
              <a:t>&gt; </a:t>
            </a:r>
          </a:p>
          <a:p>
            <a:pPr marL="0" indent="0" rtl="0">
              <a:buNone/>
            </a:pPr>
            <a:r>
              <a:rPr lang="en-IN" dirty="0"/>
              <a:t>int </a:t>
            </a:r>
            <a:r>
              <a:rPr lang="en-IN" dirty="0" err="1"/>
              <a:t>doubleValue</a:t>
            </a:r>
            <a:r>
              <a:rPr lang="en-IN" dirty="0"/>
              <a:t>(int n) </a:t>
            </a:r>
          </a:p>
          <a:p>
            <a:pPr marL="0" indent="0" rtl="0">
              <a:buNone/>
            </a:pPr>
            <a:r>
              <a:rPr lang="en-IN" dirty="0"/>
              <a:t>{</a:t>
            </a:r>
          </a:p>
          <a:p>
            <a:pPr marL="0" indent="0" rtl="0">
              <a:buNone/>
            </a:pPr>
            <a:r>
              <a:rPr lang="en-IN" dirty="0"/>
              <a:t> return n * 2; </a:t>
            </a:r>
          </a:p>
          <a:p>
            <a:pPr marL="0" indent="0" rtl="0">
              <a:buNone/>
            </a:pPr>
            <a:r>
              <a:rPr lang="en-IN" dirty="0"/>
              <a:t>} </a:t>
            </a:r>
          </a:p>
          <a:p>
            <a:pPr marL="0" indent="0" rtl="0">
              <a:buNone/>
            </a:pPr>
            <a:endParaRPr lang="en-IN" dirty="0"/>
          </a:p>
          <a:p>
            <a:pPr marL="0" indent="0" rtl="0">
              <a:buNone/>
            </a:pPr>
            <a:endParaRPr lang="en-IN" dirty="0"/>
          </a:p>
          <a:p>
            <a:pPr marL="0" indent="0" rtl="0">
              <a:buNone/>
            </a:pPr>
            <a:r>
              <a:rPr lang="en-IN" dirty="0"/>
              <a:t>int main() </a:t>
            </a:r>
          </a:p>
          <a:p>
            <a:pPr marL="0" indent="0" rtl="0">
              <a:buNone/>
            </a:pPr>
            <a:r>
              <a:rPr lang="en-IN" dirty="0"/>
              <a:t>{</a:t>
            </a:r>
          </a:p>
          <a:p>
            <a:pPr marL="0" indent="0" rtl="0">
              <a:buNone/>
            </a:pPr>
            <a:r>
              <a:rPr lang="en-IN" dirty="0"/>
              <a:t> int n = 5; </a:t>
            </a:r>
          </a:p>
          <a:p>
            <a:pPr marL="0" indent="0" rtl="0">
              <a:buNone/>
            </a:pPr>
            <a:r>
              <a:rPr lang="en-IN" dirty="0" err="1"/>
              <a:t>printf</a:t>
            </a:r>
            <a:r>
              <a:rPr lang="en-IN" dirty="0"/>
              <a:t>("Result = %d", </a:t>
            </a:r>
            <a:r>
              <a:rPr lang="en-IN" dirty="0" err="1"/>
              <a:t>doubleValue</a:t>
            </a:r>
            <a:r>
              <a:rPr lang="en-IN" dirty="0"/>
              <a:t>(n)); </a:t>
            </a:r>
          </a:p>
          <a:p>
            <a:pPr marL="0" indent="0" rtl="0">
              <a:buNone/>
            </a:pPr>
            <a:r>
              <a:rPr lang="en-IN" dirty="0"/>
              <a:t>return 0; </a:t>
            </a:r>
          </a:p>
          <a:p>
            <a:pPr marL="0" indent="0" rtl="0">
              <a:buNone/>
            </a:pPr>
            <a:r>
              <a:rPr lang="en-IN" dirty="0"/>
              <a:t>}</a:t>
            </a:r>
          </a:p>
          <a:p>
            <a:pPr marL="0" indent="0">
              <a:buNone/>
            </a:pPr>
            <a:r>
              <a:rPr lang="en-IN" b="1" dirty="0"/>
              <a:t>Output:</a:t>
            </a:r>
            <a:endParaRPr lang="en-IN" dirty="0"/>
          </a:p>
          <a:p>
            <a:pPr marL="0" indent="0" rtl="0">
              <a:buNone/>
            </a:pPr>
            <a:r>
              <a:rPr lang="en-IN" dirty="0"/>
              <a:t>Result = 10</a:t>
            </a:r>
          </a:p>
          <a:p>
            <a:pPr marL="0" indent="0">
              <a:buNone/>
            </a:pPr>
            <a:endParaRPr lang="en-IN" dirty="0"/>
          </a:p>
        </p:txBody>
      </p:sp>
    </p:spTree>
    <p:extLst>
      <p:ext uri="{BB962C8B-B14F-4D97-AF65-F5344CB8AC3E}">
        <p14:creationId xmlns:p14="http://schemas.microsoft.com/office/powerpoint/2010/main" val="2917434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2478-D2AE-6AA2-6DB5-7213FE995365}"/>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44411969-13E7-8123-5B49-D3F6D3C40D6F}"/>
              </a:ext>
            </a:extLst>
          </p:cNvPr>
          <p:cNvSpPr>
            <a:spLocks noGrp="1"/>
          </p:cNvSpPr>
          <p:nvPr>
            <p:ph idx="1"/>
          </p:nvPr>
        </p:nvSpPr>
        <p:spPr/>
        <p:txBody>
          <a:bodyPr numCol="2">
            <a:normAutofit lnSpcReduction="10000"/>
          </a:bodyPr>
          <a:lstStyle/>
          <a:p>
            <a:pPr marL="0" indent="0">
              <a:buNone/>
            </a:pPr>
            <a:r>
              <a:rPr lang="en-IN" b="1" dirty="0"/>
              <a:t>Q5. </a:t>
            </a:r>
            <a:r>
              <a:rPr lang="en-IN" dirty="0"/>
              <a:t>Write a C program to increase a number by 5 using pass-by-reference.</a:t>
            </a:r>
          </a:p>
          <a:p>
            <a:pPr marL="0" indent="0">
              <a:buNone/>
            </a:pPr>
            <a:r>
              <a:rPr lang="en-IN" b="1" dirty="0"/>
              <a:t>Answer</a:t>
            </a:r>
          </a:p>
          <a:p>
            <a:pPr marL="0" indent="0" rtl="0">
              <a:buNone/>
            </a:pPr>
            <a:r>
              <a:rPr lang="en-IN" dirty="0"/>
              <a:t>#include &lt;</a:t>
            </a:r>
            <a:r>
              <a:rPr lang="en-IN" dirty="0" err="1"/>
              <a:t>stdio.h</a:t>
            </a:r>
            <a:r>
              <a:rPr lang="en-IN" dirty="0"/>
              <a:t>&gt; </a:t>
            </a:r>
          </a:p>
          <a:p>
            <a:pPr marL="0" indent="0" rtl="0">
              <a:buNone/>
            </a:pPr>
            <a:r>
              <a:rPr lang="en-IN" dirty="0"/>
              <a:t>void increase(int *n) </a:t>
            </a:r>
          </a:p>
          <a:p>
            <a:pPr marL="0" indent="0" rtl="0">
              <a:buNone/>
            </a:pPr>
            <a:r>
              <a:rPr lang="en-IN" dirty="0"/>
              <a:t>{</a:t>
            </a:r>
          </a:p>
          <a:p>
            <a:pPr marL="0" indent="0" rtl="0">
              <a:buNone/>
            </a:pPr>
            <a:r>
              <a:rPr lang="en-IN" dirty="0"/>
              <a:t> *n = *n + 5; </a:t>
            </a:r>
          </a:p>
          <a:p>
            <a:pPr marL="0" indent="0" rtl="0">
              <a:buNone/>
            </a:pPr>
            <a:r>
              <a:rPr lang="en-IN" dirty="0"/>
              <a:t>}</a:t>
            </a:r>
          </a:p>
          <a:p>
            <a:pPr marL="0" indent="0" rtl="0">
              <a:buNone/>
            </a:pPr>
            <a:r>
              <a:rPr lang="en-IN" dirty="0"/>
              <a:t> int main()</a:t>
            </a:r>
          </a:p>
          <a:p>
            <a:pPr marL="0" indent="0" rtl="0">
              <a:buNone/>
            </a:pPr>
            <a:r>
              <a:rPr lang="en-IN" dirty="0"/>
              <a:t> {</a:t>
            </a:r>
          </a:p>
          <a:p>
            <a:pPr marL="0" indent="0" rtl="0">
              <a:buNone/>
            </a:pPr>
            <a:r>
              <a:rPr lang="en-IN" dirty="0"/>
              <a:t> int n = 10;</a:t>
            </a:r>
          </a:p>
          <a:p>
            <a:pPr marL="0" indent="0" rtl="0">
              <a:buNone/>
            </a:pPr>
            <a:r>
              <a:rPr lang="en-IN" dirty="0"/>
              <a:t> increase(&amp;n); </a:t>
            </a:r>
          </a:p>
          <a:p>
            <a:pPr marL="0" indent="0" rtl="0">
              <a:buNone/>
            </a:pPr>
            <a:r>
              <a:rPr lang="en-IN" dirty="0" err="1"/>
              <a:t>printf</a:t>
            </a:r>
            <a:r>
              <a:rPr lang="en-IN" dirty="0"/>
              <a:t>("Result = %d", n); </a:t>
            </a:r>
          </a:p>
          <a:p>
            <a:pPr marL="0" indent="0" rtl="0">
              <a:buNone/>
            </a:pPr>
            <a:r>
              <a:rPr lang="en-IN" dirty="0"/>
              <a:t>return 0;</a:t>
            </a:r>
          </a:p>
          <a:p>
            <a:pPr marL="0" indent="0" rtl="0">
              <a:buNone/>
            </a:pPr>
            <a:r>
              <a:rPr lang="en-IN" dirty="0"/>
              <a:t> }</a:t>
            </a:r>
          </a:p>
          <a:p>
            <a:pPr marL="0" indent="0">
              <a:buNone/>
            </a:pPr>
            <a:r>
              <a:rPr lang="en-IN" b="1" dirty="0"/>
              <a:t>Output:</a:t>
            </a:r>
            <a:endParaRPr lang="en-IN" dirty="0"/>
          </a:p>
          <a:p>
            <a:pPr marL="0" indent="0" rtl="0">
              <a:buNone/>
            </a:pPr>
            <a:r>
              <a:rPr lang="en-IN" dirty="0"/>
              <a:t>Result = 15</a:t>
            </a:r>
          </a:p>
          <a:p>
            <a:pPr marL="0" indent="0">
              <a:buNone/>
            </a:pPr>
            <a:endParaRPr lang="en-IN" dirty="0"/>
          </a:p>
        </p:txBody>
      </p:sp>
    </p:spTree>
    <p:extLst>
      <p:ext uri="{BB962C8B-B14F-4D97-AF65-F5344CB8AC3E}">
        <p14:creationId xmlns:p14="http://schemas.microsoft.com/office/powerpoint/2010/main" val="153749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214777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7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  3 </a:t>
            </a:r>
          </a:p>
          <a:p>
            <a:r>
              <a:rPr lang="en-IN" dirty="0">
                <a:cs typeface="Times New Roman" panose="02020603050405020304" pitchFamily="18" charset="0"/>
              </a:rPr>
              <a:t>SLO  1  : At the end of this session, the learners will be able to </a:t>
            </a:r>
            <a:r>
              <a:rPr lang="en-IN" dirty="0" err="1"/>
              <a:t>ecompose</a:t>
            </a:r>
            <a:r>
              <a:rPr lang="en-IN" dirty="0"/>
              <a:t> a complex problem, such as calculating a student’s scorecard, into smaller tasks for calculating the total, average, and grade, and organize each task using appropriate functions in C.</a:t>
            </a:r>
            <a:endParaRPr lang="en-IN" dirty="0">
              <a:highlight>
                <a:srgbClr val="FFFF00"/>
              </a:highlight>
              <a:cs typeface="Times New Roman" panose="02020603050405020304" pitchFamily="18" charset="0"/>
            </a:endParaRPr>
          </a:p>
        </p:txBody>
      </p:sp>
    </p:spTree>
    <p:extLst>
      <p:ext uri="{BB962C8B-B14F-4D97-AF65-F5344CB8AC3E}">
        <p14:creationId xmlns:p14="http://schemas.microsoft.com/office/powerpoint/2010/main" val="4271059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normAutofit/>
          </a:bodyPr>
          <a:lstStyle/>
          <a:p>
            <a:pPr marL="0" indent="0">
              <a:buNone/>
            </a:pPr>
            <a:r>
              <a:rPr lang="en-IN" dirty="0"/>
              <a:t>By the end of the lesson, students will be able to:</a:t>
            </a:r>
          </a:p>
          <a:p>
            <a:pPr>
              <a:buFont typeface="+mj-lt"/>
              <a:buAutoNum type="arabicPeriod"/>
            </a:pPr>
            <a:r>
              <a:rPr lang="en-IN" b="1" dirty="0"/>
              <a:t>Identify</a:t>
            </a:r>
            <a:r>
              <a:rPr lang="en-IN" dirty="0"/>
              <a:t> the different tasks involved in calculating a student’s scorecard. </a:t>
            </a:r>
          </a:p>
          <a:p>
            <a:pPr>
              <a:buFont typeface="+mj-lt"/>
              <a:buAutoNum type="arabicPeriod"/>
            </a:pPr>
            <a:r>
              <a:rPr lang="en-IN" b="1" dirty="0"/>
              <a:t>Decompose</a:t>
            </a:r>
            <a:r>
              <a:rPr lang="en-IN" dirty="0"/>
              <a:t> a complex problem into smaller and manageable sub-tasks. </a:t>
            </a:r>
          </a:p>
          <a:p>
            <a:pPr>
              <a:buFont typeface="+mj-lt"/>
              <a:buAutoNum type="arabicPeriod"/>
            </a:pPr>
            <a:r>
              <a:rPr lang="en-IN" b="1" dirty="0"/>
              <a:t>Determine</a:t>
            </a:r>
            <a:r>
              <a:rPr lang="en-IN" dirty="0"/>
              <a:t> the input and output required for each sub-task. </a:t>
            </a:r>
          </a:p>
          <a:p>
            <a:pPr>
              <a:buFont typeface="+mj-lt"/>
              <a:buAutoNum type="arabicPeriod"/>
            </a:pPr>
            <a:r>
              <a:rPr lang="en-IN" b="1" dirty="0"/>
              <a:t>Design</a:t>
            </a:r>
            <a:r>
              <a:rPr lang="en-IN" dirty="0"/>
              <a:t> separate functions for calculating total, average, and grade. </a:t>
            </a:r>
          </a:p>
          <a:p>
            <a:pPr>
              <a:buFont typeface="+mj-lt"/>
              <a:buAutoNum type="arabicPeriod"/>
            </a:pPr>
            <a:r>
              <a:rPr lang="en-IN" b="1" dirty="0"/>
              <a:t>Select</a:t>
            </a:r>
            <a:r>
              <a:rPr lang="en-IN" dirty="0"/>
              <a:t> appropriate function types for each sub-task. </a:t>
            </a:r>
          </a:p>
          <a:p>
            <a:pPr>
              <a:buFont typeface="+mj-lt"/>
              <a:buAutoNum type="arabicPeriod"/>
            </a:pPr>
            <a:r>
              <a:rPr lang="en-IN" b="1" dirty="0"/>
              <a:t>Develop</a:t>
            </a:r>
            <a:r>
              <a:rPr lang="en-IN" dirty="0"/>
              <a:t> a modular C program for calculating and displaying a student’s scorecard. </a:t>
            </a:r>
          </a:p>
          <a:p>
            <a:pPr>
              <a:buFont typeface="+mj-lt"/>
              <a:buAutoNum type="arabicPeriod"/>
            </a:pPr>
            <a:r>
              <a:rPr lang="en-IN" b="1" dirty="0"/>
              <a:t>Test and verify</a:t>
            </a:r>
            <a:r>
              <a:rPr lang="en-IN" dirty="0"/>
              <a:t> the correctness of each function and the overall program.</a:t>
            </a:r>
          </a:p>
          <a:p>
            <a:endParaRPr lang="en-IN" dirty="0"/>
          </a:p>
        </p:txBody>
      </p:sp>
    </p:spTree>
    <p:extLst>
      <p:ext uri="{BB962C8B-B14F-4D97-AF65-F5344CB8AC3E}">
        <p14:creationId xmlns:p14="http://schemas.microsoft.com/office/powerpoint/2010/main" val="3569144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5848-C553-D77F-A5F3-3EDEEA73751F}"/>
              </a:ext>
            </a:extLst>
          </p:cNvPr>
          <p:cNvSpPr>
            <a:spLocks noGrp="1"/>
          </p:cNvSpPr>
          <p:nvPr>
            <p:ph type="title"/>
          </p:nvPr>
        </p:nvSpPr>
        <p:spPr/>
        <p:txBody>
          <a:bodyPr/>
          <a:lstStyle/>
          <a:p>
            <a:r>
              <a:rPr lang="en-IN" dirty="0"/>
              <a:t>Guided Practice: Prime Number Using Helper Functions</a:t>
            </a:r>
          </a:p>
        </p:txBody>
      </p:sp>
      <p:sp>
        <p:nvSpPr>
          <p:cNvPr id="3" name="Content Placeholder 2">
            <a:extLst>
              <a:ext uri="{FF2B5EF4-FFF2-40B4-BE49-F238E27FC236}">
                <a16:creationId xmlns:a16="http://schemas.microsoft.com/office/drawing/2014/main" id="{0488572F-7F86-C522-F00B-568FAC7F8AC2}"/>
              </a:ext>
            </a:extLst>
          </p:cNvPr>
          <p:cNvSpPr>
            <a:spLocks noGrp="1"/>
          </p:cNvSpPr>
          <p:nvPr>
            <p:ph idx="1"/>
          </p:nvPr>
        </p:nvSpPr>
        <p:spPr>
          <a:xfrm>
            <a:off x="815866" y="1905000"/>
            <a:ext cx="10287000" cy="4493175"/>
          </a:xfrm>
        </p:spPr>
        <p:txBody>
          <a:bodyPr>
            <a:normAutofit fontScale="92500" lnSpcReduction="20000"/>
          </a:bodyPr>
          <a:lstStyle/>
          <a:p>
            <a:pPr marL="0" indent="0">
              <a:buNone/>
            </a:pPr>
            <a:r>
              <a:rPr lang="en-IN" b="1" dirty="0"/>
              <a:t>Problem Statement</a:t>
            </a:r>
          </a:p>
          <a:p>
            <a:r>
              <a:rPr lang="en-US" sz="1800" i="1" spc="-10" dirty="0">
                <a:effectLst/>
                <a:latin typeface="Arial" panose="020B0604020202020204" pitchFamily="34" charset="0"/>
                <a:ea typeface="Arial" panose="020B0604020202020204" pitchFamily="34" charset="0"/>
              </a:rPr>
              <a:t>Break</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a</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complex</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problem</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(“calculate</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the</a:t>
            </a:r>
            <a:r>
              <a:rPr lang="en-US" sz="1800" spc="20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scorecard</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of</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a</a:t>
            </a:r>
            <a:r>
              <a:rPr lang="en-US" sz="1800" spc="-2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student:</a:t>
            </a:r>
            <a:r>
              <a:rPr lang="en-US" sz="1800" spc="-2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total,</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average,</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grade”)</a:t>
            </a:r>
            <a:r>
              <a:rPr lang="en-US" sz="1800" spc="200" dirty="0">
                <a:effectLst/>
                <a:latin typeface="Times New Roman" panose="02020603050405020304" pitchFamily="18" charset="0"/>
                <a:ea typeface="Arial" panose="020B0604020202020204" pitchFamily="34" charset="0"/>
                <a:cs typeface="Arial" panose="020B0604020202020204" pitchFamily="34" charset="0"/>
              </a:rPr>
              <a:t> </a:t>
            </a:r>
            <a:r>
              <a:rPr lang="en-US" sz="1800" i="1" dirty="0">
                <a:effectLst/>
                <a:latin typeface="Arial" panose="020B0604020202020204" pitchFamily="34" charset="0"/>
                <a:ea typeface="Arial" panose="020B0604020202020204" pitchFamily="34" charset="0"/>
              </a:rPr>
              <a:t>into</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dirty="0">
                <a:effectLst/>
                <a:latin typeface="Arial" panose="020B0604020202020204" pitchFamily="34" charset="0"/>
                <a:ea typeface="Arial" panose="020B0604020202020204" pitchFamily="34" charset="0"/>
              </a:rPr>
              <a:t>smaller</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dirty="0">
                <a:effectLst/>
                <a:latin typeface="Arial" panose="020B0604020202020204" pitchFamily="34" charset="0"/>
                <a:ea typeface="Arial" panose="020B0604020202020204" pitchFamily="34" charset="0"/>
              </a:rPr>
              <a:t>tasks.</a:t>
            </a:r>
            <a:r>
              <a:rPr lang="en-IN" dirty="0">
                <a:effectLst/>
              </a:rPr>
              <a:t> </a:t>
            </a:r>
          </a:p>
          <a:p>
            <a:pPr marL="0" indent="0">
              <a:buNone/>
            </a:pPr>
            <a:r>
              <a:rPr lang="en-IN" dirty="0"/>
              <a:t>Break the problem into smaller tasks.</a:t>
            </a:r>
          </a:p>
          <a:p>
            <a:pPr marL="0" indent="0">
              <a:buNone/>
            </a:pPr>
            <a:r>
              <a:rPr lang="en-IN" dirty="0"/>
              <a:t>The complete problem can be divided into:</a:t>
            </a:r>
          </a:p>
          <a:p>
            <a:pPr rtl="0"/>
            <a:r>
              <a:rPr lang="en-IN" dirty="0"/>
              <a:t>Student Scorecard </a:t>
            </a:r>
          </a:p>
          <a:p>
            <a:pPr rtl="0"/>
            <a:r>
              <a:rPr lang="en-IN" dirty="0"/>
              <a:t> Read marks </a:t>
            </a:r>
          </a:p>
          <a:p>
            <a:pPr rtl="0"/>
            <a:r>
              <a:rPr lang="en-IN" dirty="0"/>
              <a:t>Calculate Total </a:t>
            </a:r>
          </a:p>
          <a:p>
            <a:pPr rtl="0"/>
            <a:r>
              <a:rPr lang="en-IN" dirty="0"/>
              <a:t> Calculate Average </a:t>
            </a:r>
          </a:p>
          <a:p>
            <a:pPr rtl="0"/>
            <a:r>
              <a:rPr lang="en-IN" dirty="0"/>
              <a:t>Calculate Grade </a:t>
            </a:r>
          </a:p>
          <a:p>
            <a:pPr rtl="0"/>
            <a:r>
              <a:rPr lang="en-IN" dirty="0"/>
              <a:t>Display Scorecard</a:t>
            </a:r>
          </a:p>
          <a:p>
            <a:pPr marL="0" indent="0">
              <a:buNone/>
            </a:pPr>
            <a:r>
              <a:rPr lang="en-IN" dirty="0"/>
              <a:t>Each task can be performed by a separate function.</a:t>
            </a:r>
          </a:p>
          <a:p>
            <a:pPr marL="0" indent="0">
              <a:buNone/>
            </a:pPr>
            <a:endParaRPr lang="en-IN" dirty="0"/>
          </a:p>
        </p:txBody>
      </p:sp>
    </p:spTree>
    <p:extLst>
      <p:ext uri="{BB962C8B-B14F-4D97-AF65-F5344CB8AC3E}">
        <p14:creationId xmlns:p14="http://schemas.microsoft.com/office/powerpoint/2010/main" val="423660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5E75-E86A-81A2-E065-EB82B4D419FA}"/>
              </a:ext>
            </a:extLst>
          </p:cNvPr>
          <p:cNvSpPr>
            <a:spLocks noGrp="1"/>
          </p:cNvSpPr>
          <p:nvPr>
            <p:ph type="title"/>
          </p:nvPr>
        </p:nvSpPr>
        <p:spPr/>
        <p:txBody>
          <a:bodyPr/>
          <a:lstStyle/>
          <a:p>
            <a:r>
              <a:rPr lang="en-IN" sz="2800" b="1" dirty="0"/>
              <a:t>Create functions for each task</a:t>
            </a:r>
            <a:br>
              <a:rPr lang="en-IN" sz="2800" b="1" dirty="0"/>
            </a:br>
            <a:endParaRPr lang="en-IN" dirty="0"/>
          </a:p>
        </p:txBody>
      </p:sp>
      <p:sp>
        <p:nvSpPr>
          <p:cNvPr id="3" name="Content Placeholder 2">
            <a:extLst>
              <a:ext uri="{FF2B5EF4-FFF2-40B4-BE49-F238E27FC236}">
                <a16:creationId xmlns:a16="http://schemas.microsoft.com/office/drawing/2014/main" id="{975356E6-09B9-CF0E-16D5-0F3BEB360E19}"/>
              </a:ext>
            </a:extLst>
          </p:cNvPr>
          <p:cNvSpPr>
            <a:spLocks noGrp="1"/>
          </p:cNvSpPr>
          <p:nvPr>
            <p:ph idx="1"/>
          </p:nvPr>
        </p:nvSpPr>
        <p:spPr>
          <a:xfrm>
            <a:off x="952500" y="1765739"/>
            <a:ext cx="11102866" cy="4411224"/>
          </a:xfrm>
        </p:spPr>
        <p:txBody>
          <a:bodyPr numCol="1">
            <a:normAutofit/>
          </a:bodyPr>
          <a:lstStyle/>
          <a:p>
            <a:pPr marL="0" indent="0">
              <a:buNone/>
            </a:pPr>
            <a:r>
              <a:rPr lang="en-IN" sz="2000" dirty="0"/>
              <a:t>We can use:</a:t>
            </a:r>
          </a:p>
          <a:p>
            <a:pPr rtl="0"/>
            <a:r>
              <a:rPr lang="en-IN" sz="2000" dirty="0" err="1"/>
              <a:t>readMarks</a:t>
            </a:r>
            <a:r>
              <a:rPr lang="en-IN" sz="2000" dirty="0"/>
              <a:t>() → read the marks </a:t>
            </a:r>
          </a:p>
          <a:p>
            <a:pPr rtl="0"/>
            <a:r>
              <a:rPr lang="en-IN" sz="2000" dirty="0" err="1"/>
              <a:t>calculateTotal</a:t>
            </a:r>
            <a:r>
              <a:rPr lang="en-IN" sz="2000" dirty="0"/>
              <a:t>() → calculate total </a:t>
            </a:r>
          </a:p>
          <a:p>
            <a:pPr rtl="0"/>
            <a:r>
              <a:rPr lang="en-IN" sz="2000" dirty="0" err="1"/>
              <a:t>calculateAverage</a:t>
            </a:r>
            <a:r>
              <a:rPr lang="en-IN" sz="2000" dirty="0"/>
              <a:t>()→ calculate average</a:t>
            </a:r>
          </a:p>
          <a:p>
            <a:pPr rtl="0"/>
            <a:r>
              <a:rPr lang="en-IN" sz="2000" dirty="0"/>
              <a:t> </a:t>
            </a:r>
            <a:r>
              <a:rPr lang="en-IN" sz="2000" dirty="0" err="1"/>
              <a:t>calculateGrade</a:t>
            </a:r>
            <a:r>
              <a:rPr lang="en-IN" sz="2000" dirty="0"/>
              <a:t>() → find grade </a:t>
            </a:r>
          </a:p>
          <a:p>
            <a:pPr rtl="0"/>
            <a:r>
              <a:rPr lang="en-IN" sz="2000" dirty="0" err="1"/>
              <a:t>displayScorecard</a:t>
            </a:r>
            <a:r>
              <a:rPr lang="en-IN" sz="2000" dirty="0"/>
              <a:t>()→ display the result</a:t>
            </a:r>
          </a:p>
          <a:p>
            <a:pPr marL="0" indent="0">
              <a:buNone/>
            </a:pPr>
            <a:r>
              <a:rPr lang="en-IN" sz="2000" dirty="0"/>
              <a:t>This makes the program easier to understand and maintain.</a:t>
            </a:r>
          </a:p>
          <a:p>
            <a:pPr marL="0" indent="0">
              <a:buNone/>
            </a:pPr>
            <a:endParaRPr lang="en-IN" sz="2000" dirty="0"/>
          </a:p>
        </p:txBody>
      </p:sp>
    </p:spTree>
    <p:extLst>
      <p:ext uri="{BB962C8B-B14F-4D97-AF65-F5344CB8AC3E}">
        <p14:creationId xmlns:p14="http://schemas.microsoft.com/office/powerpoint/2010/main" val="815027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8169-F375-7A56-3E8D-F73844AA4B3E}"/>
              </a:ext>
            </a:extLst>
          </p:cNvPr>
          <p:cNvSpPr>
            <a:spLocks noGrp="1"/>
          </p:cNvSpPr>
          <p:nvPr>
            <p:ph type="title"/>
          </p:nvPr>
        </p:nvSpPr>
        <p:spPr>
          <a:xfrm>
            <a:off x="521576" y="107157"/>
            <a:ext cx="10287000" cy="1147762"/>
          </a:xfrm>
        </p:spPr>
        <p:txBody>
          <a:bodyPr/>
          <a:lstStyle/>
          <a:p>
            <a:r>
              <a:rPr lang="en-US" dirty="0"/>
              <a:t>complete c program </a:t>
            </a:r>
          </a:p>
        </p:txBody>
      </p:sp>
      <p:sp>
        <p:nvSpPr>
          <p:cNvPr id="3" name="Content Placeholder 2">
            <a:extLst>
              <a:ext uri="{FF2B5EF4-FFF2-40B4-BE49-F238E27FC236}">
                <a16:creationId xmlns:a16="http://schemas.microsoft.com/office/drawing/2014/main" id="{5B3BBE2E-1518-513D-0646-AA8C308C86C8}"/>
              </a:ext>
            </a:extLst>
          </p:cNvPr>
          <p:cNvSpPr>
            <a:spLocks noGrp="1"/>
          </p:cNvSpPr>
          <p:nvPr>
            <p:ph idx="1"/>
          </p:nvPr>
        </p:nvSpPr>
        <p:spPr>
          <a:xfrm>
            <a:off x="294290" y="1254919"/>
            <a:ext cx="11708523" cy="5603081"/>
          </a:xfrm>
        </p:spPr>
        <p:txBody>
          <a:bodyPr numCol="3">
            <a:noAutofit/>
          </a:bodyPr>
          <a:lstStyle/>
          <a:p>
            <a:pPr marL="0" indent="0">
              <a:lnSpc>
                <a:spcPct val="100000"/>
              </a:lnSpc>
              <a:spcBef>
                <a:spcPts val="0"/>
              </a:spcBef>
              <a:buNone/>
            </a:pPr>
            <a:r>
              <a:rPr lang="en-US" sz="1200" dirty="0"/>
              <a:t>#include &lt;</a:t>
            </a:r>
            <a:r>
              <a:rPr lang="en-US" sz="1200" dirty="0" err="1"/>
              <a:t>stdio.h</a:t>
            </a:r>
            <a:r>
              <a:rPr lang="en-US" sz="1200" dirty="0"/>
              <a:t>&gt;</a:t>
            </a:r>
          </a:p>
          <a:p>
            <a:pPr marL="0" indent="0">
              <a:lnSpc>
                <a:spcPct val="100000"/>
              </a:lnSpc>
              <a:spcBef>
                <a:spcPts val="0"/>
              </a:spcBef>
              <a:buNone/>
            </a:pPr>
            <a:endParaRPr lang="en-US" sz="1200" dirty="0"/>
          </a:p>
          <a:p>
            <a:pPr marL="0" indent="0">
              <a:lnSpc>
                <a:spcPct val="100000"/>
              </a:lnSpc>
              <a:spcBef>
                <a:spcPts val="0"/>
              </a:spcBef>
              <a:buNone/>
            </a:pPr>
            <a:r>
              <a:rPr lang="en-US" sz="1200" dirty="0"/>
              <a:t>void </a:t>
            </a:r>
            <a:r>
              <a:rPr lang="en-US" sz="1200" dirty="0" err="1"/>
              <a:t>readMarks</a:t>
            </a:r>
            <a:r>
              <a:rPr lang="en-US" sz="1200" dirty="0"/>
              <a:t>(int marks[], int n)</a:t>
            </a:r>
          </a:p>
          <a:p>
            <a:pPr marL="0" indent="0">
              <a:lnSpc>
                <a:spcPct val="100000"/>
              </a:lnSpc>
              <a:spcBef>
                <a:spcPts val="0"/>
              </a:spcBef>
              <a:buNone/>
            </a:pPr>
            <a:r>
              <a:rPr lang="en-US" sz="1200" dirty="0"/>
              <a:t>{</a:t>
            </a:r>
          </a:p>
          <a:p>
            <a:pPr marL="0" indent="0">
              <a:lnSpc>
                <a:spcPct val="100000"/>
              </a:lnSpc>
              <a:spcBef>
                <a:spcPts val="0"/>
              </a:spcBef>
              <a:buNone/>
            </a:pPr>
            <a:r>
              <a:rPr lang="en-US" sz="1200" dirty="0"/>
              <a:t>    int </a:t>
            </a:r>
            <a:r>
              <a:rPr lang="en-US" sz="1200" dirty="0" err="1"/>
              <a:t>i</a:t>
            </a: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    </a:t>
            </a:r>
            <a:r>
              <a:rPr lang="en-US" sz="1200" dirty="0" err="1"/>
              <a:t>printf</a:t>
            </a:r>
            <a:r>
              <a:rPr lang="en-US" sz="1200" dirty="0"/>
              <a:t>("Enter marks for %d subjects:\n", n);</a:t>
            </a:r>
          </a:p>
          <a:p>
            <a:pPr marL="0" indent="0">
              <a:lnSpc>
                <a:spcPct val="100000"/>
              </a:lnSpc>
              <a:spcBef>
                <a:spcPts val="0"/>
              </a:spcBef>
              <a:buNone/>
            </a:pPr>
            <a:endParaRPr lang="en-US" sz="1200" dirty="0"/>
          </a:p>
          <a:p>
            <a:pPr marL="0" indent="0">
              <a:lnSpc>
                <a:spcPct val="100000"/>
              </a:lnSpc>
              <a:spcBef>
                <a:spcPts val="0"/>
              </a:spcBef>
              <a:buNone/>
            </a:pPr>
            <a:r>
              <a:rPr lang="en-US" sz="1200" dirty="0"/>
              <a:t>    for(</a:t>
            </a:r>
            <a:r>
              <a:rPr lang="en-US" sz="1200" dirty="0" err="1"/>
              <a:t>i</a:t>
            </a:r>
            <a:r>
              <a:rPr lang="en-US" sz="1200" dirty="0"/>
              <a:t> = 0; </a:t>
            </a:r>
            <a:r>
              <a:rPr lang="en-US" sz="1200" dirty="0" err="1"/>
              <a:t>i</a:t>
            </a:r>
            <a:r>
              <a:rPr lang="en-US" sz="1200" dirty="0"/>
              <a:t> &lt; n; </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r>
              <a:rPr lang="en-US" sz="1200" dirty="0"/>
              <a:t>        </a:t>
            </a:r>
            <a:r>
              <a:rPr lang="en-US" sz="1200" dirty="0" err="1"/>
              <a:t>scanf</a:t>
            </a:r>
            <a:r>
              <a:rPr lang="en-US" sz="1200" dirty="0"/>
              <a:t>("%d", &amp;marks[</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int </a:t>
            </a:r>
            <a:r>
              <a:rPr lang="en-US" sz="1200" dirty="0" err="1"/>
              <a:t>calculateTotal</a:t>
            </a:r>
            <a:r>
              <a:rPr lang="en-US" sz="1200" dirty="0"/>
              <a:t>(int marks[], int n)</a:t>
            </a:r>
          </a:p>
          <a:p>
            <a:pPr marL="0" indent="0">
              <a:lnSpc>
                <a:spcPct val="100000"/>
              </a:lnSpc>
              <a:spcBef>
                <a:spcPts val="0"/>
              </a:spcBef>
              <a:buNone/>
            </a:pPr>
            <a:r>
              <a:rPr lang="en-US" sz="1200" dirty="0"/>
              <a:t>{</a:t>
            </a:r>
          </a:p>
          <a:p>
            <a:pPr marL="0" indent="0">
              <a:lnSpc>
                <a:spcPct val="100000"/>
              </a:lnSpc>
              <a:spcBef>
                <a:spcPts val="0"/>
              </a:spcBef>
              <a:buNone/>
            </a:pPr>
            <a:r>
              <a:rPr lang="en-US" sz="1200" dirty="0"/>
              <a:t>    int </a:t>
            </a:r>
            <a:r>
              <a:rPr lang="en-US" sz="1200" dirty="0" err="1"/>
              <a:t>i</a:t>
            </a:r>
            <a:r>
              <a:rPr lang="en-US" sz="1200" dirty="0"/>
              <a:t>, total = 0;</a:t>
            </a:r>
          </a:p>
          <a:p>
            <a:pPr marL="0" indent="0">
              <a:lnSpc>
                <a:spcPct val="100000"/>
              </a:lnSpc>
              <a:spcBef>
                <a:spcPts val="0"/>
              </a:spcBef>
              <a:buNone/>
            </a:pPr>
            <a:endParaRPr lang="en-US" sz="1200" dirty="0"/>
          </a:p>
          <a:p>
            <a:pPr marL="0" indent="0">
              <a:lnSpc>
                <a:spcPct val="100000"/>
              </a:lnSpc>
              <a:spcBef>
                <a:spcPts val="0"/>
              </a:spcBef>
              <a:buNone/>
            </a:pPr>
            <a:r>
              <a:rPr lang="en-US" sz="1200" dirty="0"/>
              <a:t>    for(</a:t>
            </a:r>
            <a:r>
              <a:rPr lang="en-US" sz="1200" dirty="0" err="1"/>
              <a:t>i</a:t>
            </a:r>
            <a:r>
              <a:rPr lang="en-US" sz="1200" dirty="0"/>
              <a:t> = 0; </a:t>
            </a:r>
            <a:r>
              <a:rPr lang="en-US" sz="1200" dirty="0" err="1"/>
              <a:t>i</a:t>
            </a:r>
            <a:r>
              <a:rPr lang="en-US" sz="1200" dirty="0"/>
              <a:t> &lt; n; </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r>
              <a:rPr lang="en-US" sz="1200" dirty="0"/>
              <a:t>        total = total + marks[</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endParaRPr lang="en-US" sz="1200" dirty="0"/>
          </a:p>
          <a:p>
            <a:pPr marL="0" indent="0">
              <a:lnSpc>
                <a:spcPct val="100000"/>
              </a:lnSpc>
              <a:spcBef>
                <a:spcPts val="0"/>
              </a:spcBef>
              <a:buNone/>
            </a:pPr>
            <a:r>
              <a:rPr lang="en-US" sz="1200" dirty="0"/>
              <a:t>    return total;</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float </a:t>
            </a:r>
            <a:r>
              <a:rPr lang="en-US" sz="1200" dirty="0" err="1"/>
              <a:t>calculateAverage</a:t>
            </a:r>
            <a:r>
              <a:rPr lang="en-US" sz="1200" dirty="0"/>
              <a:t>(int total, int n)</a:t>
            </a:r>
          </a:p>
          <a:p>
            <a:pPr marL="0" indent="0">
              <a:lnSpc>
                <a:spcPct val="100000"/>
              </a:lnSpc>
              <a:spcBef>
                <a:spcPts val="0"/>
              </a:spcBef>
              <a:buNone/>
            </a:pPr>
            <a:r>
              <a:rPr lang="en-US" sz="1200" dirty="0"/>
              <a:t>{</a:t>
            </a:r>
          </a:p>
          <a:p>
            <a:pPr marL="0" indent="0">
              <a:lnSpc>
                <a:spcPct val="100000"/>
              </a:lnSpc>
              <a:spcBef>
                <a:spcPts val="0"/>
              </a:spcBef>
              <a:buNone/>
            </a:pPr>
            <a:r>
              <a:rPr lang="en-US" sz="1200" dirty="0"/>
              <a:t>    return (float)total / n;</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char </a:t>
            </a:r>
            <a:r>
              <a:rPr lang="en-US" sz="1200" dirty="0" err="1"/>
              <a:t>calculateGrade</a:t>
            </a:r>
            <a:r>
              <a:rPr lang="en-US" sz="1200" dirty="0"/>
              <a:t>(float average)</a:t>
            </a:r>
          </a:p>
          <a:p>
            <a:pPr marL="0" indent="0">
              <a:lnSpc>
                <a:spcPct val="100000"/>
              </a:lnSpc>
              <a:spcBef>
                <a:spcPts val="0"/>
              </a:spcBef>
              <a:buNone/>
            </a:pPr>
            <a:r>
              <a:rPr lang="en-US" sz="1200" dirty="0"/>
              <a:t>{</a:t>
            </a:r>
          </a:p>
          <a:p>
            <a:pPr marL="0" indent="0">
              <a:lnSpc>
                <a:spcPct val="100000"/>
              </a:lnSpc>
              <a:spcBef>
                <a:spcPts val="0"/>
              </a:spcBef>
              <a:buNone/>
            </a:pPr>
            <a:r>
              <a:rPr lang="en-US" sz="1200" dirty="0"/>
              <a:t>    if(average &gt;= 90)</a:t>
            </a:r>
          </a:p>
          <a:p>
            <a:pPr marL="0" indent="0">
              <a:lnSpc>
                <a:spcPct val="100000"/>
              </a:lnSpc>
              <a:spcBef>
                <a:spcPts val="0"/>
              </a:spcBef>
              <a:buNone/>
            </a:pPr>
            <a:r>
              <a:rPr lang="en-US" sz="1200" dirty="0"/>
              <a:t>        return 'A';</a:t>
            </a:r>
          </a:p>
          <a:p>
            <a:pPr marL="0" indent="0">
              <a:lnSpc>
                <a:spcPct val="100000"/>
              </a:lnSpc>
              <a:spcBef>
                <a:spcPts val="0"/>
              </a:spcBef>
              <a:buNone/>
            </a:pPr>
            <a:r>
              <a:rPr lang="en-US" sz="1200" dirty="0"/>
              <a:t>    else if(average &gt;= 75)</a:t>
            </a:r>
          </a:p>
          <a:p>
            <a:pPr marL="0" indent="0">
              <a:lnSpc>
                <a:spcPct val="100000"/>
              </a:lnSpc>
              <a:spcBef>
                <a:spcPts val="0"/>
              </a:spcBef>
              <a:buNone/>
            </a:pPr>
            <a:r>
              <a:rPr lang="en-US" sz="1200" dirty="0"/>
              <a:t>        return 'B';</a:t>
            </a:r>
          </a:p>
          <a:p>
            <a:pPr marL="0" indent="0">
              <a:lnSpc>
                <a:spcPct val="100000"/>
              </a:lnSpc>
              <a:spcBef>
                <a:spcPts val="0"/>
              </a:spcBef>
              <a:buNone/>
            </a:pPr>
            <a:r>
              <a:rPr lang="en-US" sz="1200" dirty="0"/>
              <a:t>    else if(average &gt;= 60)</a:t>
            </a:r>
          </a:p>
          <a:p>
            <a:pPr marL="0" indent="0">
              <a:lnSpc>
                <a:spcPct val="100000"/>
              </a:lnSpc>
              <a:spcBef>
                <a:spcPts val="0"/>
              </a:spcBef>
              <a:buNone/>
            </a:pPr>
            <a:r>
              <a:rPr lang="en-US" sz="1200" dirty="0"/>
              <a:t>        return 'C';</a:t>
            </a:r>
          </a:p>
          <a:p>
            <a:pPr marL="0" indent="0">
              <a:lnSpc>
                <a:spcPct val="100000"/>
              </a:lnSpc>
              <a:spcBef>
                <a:spcPts val="0"/>
              </a:spcBef>
              <a:buNone/>
            </a:pPr>
            <a:r>
              <a:rPr lang="en-US" sz="1200" dirty="0"/>
              <a:t>    else if(average &gt;= 50)</a:t>
            </a:r>
          </a:p>
          <a:p>
            <a:pPr marL="0" indent="0">
              <a:lnSpc>
                <a:spcPct val="100000"/>
              </a:lnSpc>
              <a:spcBef>
                <a:spcPts val="0"/>
              </a:spcBef>
              <a:buNone/>
            </a:pPr>
            <a:r>
              <a:rPr lang="en-US" sz="1200" dirty="0"/>
              <a:t>        return 'D';</a:t>
            </a:r>
          </a:p>
          <a:p>
            <a:pPr marL="0" indent="0">
              <a:lnSpc>
                <a:spcPct val="100000"/>
              </a:lnSpc>
              <a:spcBef>
                <a:spcPts val="0"/>
              </a:spcBef>
              <a:buNone/>
            </a:pPr>
            <a:r>
              <a:rPr lang="en-US" sz="1200" dirty="0"/>
              <a:t>    else</a:t>
            </a:r>
          </a:p>
          <a:p>
            <a:pPr marL="0" indent="0">
              <a:lnSpc>
                <a:spcPct val="100000"/>
              </a:lnSpc>
              <a:spcBef>
                <a:spcPts val="0"/>
              </a:spcBef>
              <a:buNone/>
            </a:pPr>
            <a:r>
              <a:rPr lang="en-US" sz="1200" dirty="0"/>
              <a:t>        return 'F';</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void </a:t>
            </a:r>
            <a:r>
              <a:rPr lang="en-US" sz="1200" dirty="0" err="1"/>
              <a:t>displayScorecard</a:t>
            </a:r>
            <a:r>
              <a:rPr lang="en-US" sz="1200" dirty="0"/>
              <a:t>(int total, float average, char grade)</a:t>
            </a:r>
          </a:p>
          <a:p>
            <a:pPr marL="0" indent="0">
              <a:lnSpc>
                <a:spcPct val="100000"/>
              </a:lnSpc>
              <a:spcBef>
                <a:spcPts val="0"/>
              </a:spcBef>
              <a:buNone/>
            </a:pPr>
            <a:r>
              <a:rPr lang="en-US" sz="1200" dirty="0"/>
              <a:t>{</a:t>
            </a:r>
          </a:p>
          <a:p>
            <a:pPr marL="0" indent="0">
              <a:lnSpc>
                <a:spcPct val="100000"/>
              </a:lnSpc>
              <a:spcBef>
                <a:spcPts val="0"/>
              </a:spcBef>
              <a:buNone/>
            </a:pPr>
            <a:r>
              <a:rPr lang="en-US" sz="1200" dirty="0"/>
              <a:t>    </a:t>
            </a:r>
            <a:r>
              <a:rPr lang="en-US" sz="1200" dirty="0" err="1"/>
              <a:t>printf</a:t>
            </a:r>
            <a:r>
              <a:rPr lang="en-US" sz="1200" dirty="0"/>
              <a:t>("\n--- Student Scorecard ---\n");</a:t>
            </a:r>
          </a:p>
          <a:p>
            <a:pPr marL="0" indent="0">
              <a:lnSpc>
                <a:spcPct val="100000"/>
              </a:lnSpc>
              <a:spcBef>
                <a:spcPts val="0"/>
              </a:spcBef>
              <a:buNone/>
            </a:pPr>
            <a:r>
              <a:rPr lang="en-US" sz="1200" dirty="0"/>
              <a:t>    </a:t>
            </a:r>
            <a:r>
              <a:rPr lang="en-US" sz="1200" dirty="0" err="1"/>
              <a:t>printf</a:t>
            </a:r>
            <a:r>
              <a:rPr lang="en-US" sz="1200" dirty="0"/>
              <a:t>("Total   = %d\n", total);</a:t>
            </a:r>
          </a:p>
          <a:p>
            <a:pPr marL="0" indent="0">
              <a:lnSpc>
                <a:spcPct val="100000"/>
              </a:lnSpc>
              <a:spcBef>
                <a:spcPts val="0"/>
              </a:spcBef>
              <a:buNone/>
            </a:pPr>
            <a:r>
              <a:rPr lang="en-US" sz="1200" dirty="0"/>
              <a:t>    </a:t>
            </a:r>
            <a:r>
              <a:rPr lang="en-US" sz="1200" dirty="0" err="1"/>
              <a:t>printf</a:t>
            </a:r>
            <a:r>
              <a:rPr lang="en-US" sz="1200" dirty="0"/>
              <a:t>("Average = %.2f\n", average);</a:t>
            </a:r>
          </a:p>
          <a:p>
            <a:pPr marL="0" indent="0">
              <a:lnSpc>
                <a:spcPct val="100000"/>
              </a:lnSpc>
              <a:spcBef>
                <a:spcPts val="0"/>
              </a:spcBef>
              <a:buNone/>
            </a:pPr>
            <a:r>
              <a:rPr lang="en-US" sz="1200" dirty="0"/>
              <a:t>    </a:t>
            </a:r>
            <a:r>
              <a:rPr lang="en-US" sz="1200" dirty="0" err="1"/>
              <a:t>printf</a:t>
            </a:r>
            <a:r>
              <a:rPr lang="en-US" sz="1200" dirty="0"/>
              <a:t>("Grade   = %c\n", grade);</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int main()</a:t>
            </a:r>
          </a:p>
          <a:p>
            <a:pPr marL="0" indent="0">
              <a:lnSpc>
                <a:spcPct val="100000"/>
              </a:lnSpc>
              <a:spcBef>
                <a:spcPts val="0"/>
              </a:spcBef>
              <a:buNone/>
            </a:pPr>
            <a:r>
              <a:rPr lang="en-US" sz="1200" dirty="0"/>
              <a:t>{</a:t>
            </a:r>
          </a:p>
          <a:p>
            <a:pPr marL="0" indent="0">
              <a:lnSpc>
                <a:spcPct val="100000"/>
              </a:lnSpc>
              <a:spcBef>
                <a:spcPts val="0"/>
              </a:spcBef>
              <a:buNone/>
            </a:pPr>
            <a:r>
              <a:rPr lang="en-US" sz="1200" dirty="0"/>
              <a:t>    int marks[5];</a:t>
            </a:r>
          </a:p>
          <a:p>
            <a:pPr marL="0" indent="0">
              <a:lnSpc>
                <a:spcPct val="100000"/>
              </a:lnSpc>
              <a:spcBef>
                <a:spcPts val="0"/>
              </a:spcBef>
              <a:buNone/>
            </a:pPr>
            <a:r>
              <a:rPr lang="en-US" sz="1200" dirty="0"/>
              <a:t>    int total;</a:t>
            </a:r>
          </a:p>
          <a:p>
            <a:pPr marL="0" indent="0">
              <a:lnSpc>
                <a:spcPct val="100000"/>
              </a:lnSpc>
              <a:spcBef>
                <a:spcPts val="0"/>
              </a:spcBef>
              <a:buNone/>
            </a:pPr>
            <a:r>
              <a:rPr lang="en-US" sz="1200" dirty="0"/>
              <a:t>    float average;</a:t>
            </a:r>
          </a:p>
          <a:p>
            <a:pPr marL="0" indent="0">
              <a:lnSpc>
                <a:spcPct val="100000"/>
              </a:lnSpc>
              <a:spcBef>
                <a:spcPts val="0"/>
              </a:spcBef>
              <a:buNone/>
            </a:pPr>
            <a:r>
              <a:rPr lang="en-US" sz="1200" dirty="0"/>
              <a:t>    char grade;</a:t>
            </a:r>
          </a:p>
          <a:p>
            <a:pPr marL="0" indent="0">
              <a:lnSpc>
                <a:spcPct val="100000"/>
              </a:lnSpc>
              <a:spcBef>
                <a:spcPts val="0"/>
              </a:spcBef>
              <a:buNone/>
            </a:pPr>
            <a:endParaRPr lang="en-US" sz="1200" dirty="0"/>
          </a:p>
          <a:p>
            <a:pPr marL="0" indent="0">
              <a:lnSpc>
                <a:spcPct val="100000"/>
              </a:lnSpc>
              <a:spcBef>
                <a:spcPts val="0"/>
              </a:spcBef>
              <a:buNone/>
            </a:pPr>
            <a:r>
              <a:rPr lang="en-US" sz="1200" dirty="0"/>
              <a:t>    </a:t>
            </a:r>
            <a:r>
              <a:rPr lang="en-US" sz="1200" dirty="0" err="1"/>
              <a:t>readMarks</a:t>
            </a:r>
            <a:r>
              <a:rPr lang="en-US" sz="1200" dirty="0"/>
              <a:t>(marks, 5);</a:t>
            </a:r>
          </a:p>
          <a:p>
            <a:pPr marL="0" indent="0">
              <a:lnSpc>
                <a:spcPct val="100000"/>
              </a:lnSpc>
              <a:spcBef>
                <a:spcPts val="0"/>
              </a:spcBef>
              <a:buNone/>
            </a:pPr>
            <a:endParaRPr lang="en-US" sz="1200" dirty="0"/>
          </a:p>
          <a:p>
            <a:pPr marL="0" indent="0">
              <a:lnSpc>
                <a:spcPct val="100000"/>
              </a:lnSpc>
              <a:spcBef>
                <a:spcPts val="0"/>
              </a:spcBef>
              <a:buNone/>
            </a:pPr>
            <a:r>
              <a:rPr lang="en-US" sz="1200" dirty="0"/>
              <a:t>    total = </a:t>
            </a:r>
            <a:r>
              <a:rPr lang="en-US" sz="1200" dirty="0" err="1"/>
              <a:t>calculateTotal</a:t>
            </a:r>
            <a:r>
              <a:rPr lang="en-US" sz="1200" dirty="0"/>
              <a:t>(marks, 5);</a:t>
            </a:r>
          </a:p>
          <a:p>
            <a:pPr marL="0" indent="0">
              <a:lnSpc>
                <a:spcPct val="100000"/>
              </a:lnSpc>
              <a:spcBef>
                <a:spcPts val="0"/>
              </a:spcBef>
              <a:buNone/>
            </a:pPr>
            <a:endParaRPr lang="en-US" sz="1200" dirty="0"/>
          </a:p>
          <a:p>
            <a:pPr marL="0" indent="0">
              <a:lnSpc>
                <a:spcPct val="100000"/>
              </a:lnSpc>
              <a:spcBef>
                <a:spcPts val="0"/>
              </a:spcBef>
              <a:buNone/>
            </a:pPr>
            <a:r>
              <a:rPr lang="en-US" sz="1200" dirty="0"/>
              <a:t>    average = </a:t>
            </a:r>
            <a:r>
              <a:rPr lang="en-US" sz="1200" dirty="0" err="1"/>
              <a:t>calculateAverage</a:t>
            </a:r>
            <a:r>
              <a:rPr lang="en-US" sz="1200" dirty="0"/>
              <a:t>(total, 5);</a:t>
            </a:r>
          </a:p>
          <a:p>
            <a:pPr marL="0" indent="0">
              <a:lnSpc>
                <a:spcPct val="100000"/>
              </a:lnSpc>
              <a:spcBef>
                <a:spcPts val="0"/>
              </a:spcBef>
              <a:buNone/>
            </a:pPr>
            <a:endParaRPr lang="en-US" sz="1200" dirty="0"/>
          </a:p>
          <a:p>
            <a:pPr marL="0" indent="0">
              <a:lnSpc>
                <a:spcPct val="100000"/>
              </a:lnSpc>
              <a:spcBef>
                <a:spcPts val="0"/>
              </a:spcBef>
              <a:buNone/>
            </a:pPr>
            <a:r>
              <a:rPr lang="en-US" sz="1200" dirty="0"/>
              <a:t>    grade = </a:t>
            </a:r>
            <a:r>
              <a:rPr lang="en-US" sz="1200" dirty="0" err="1"/>
              <a:t>calculateGrade</a:t>
            </a:r>
            <a:r>
              <a:rPr lang="en-US" sz="1200" dirty="0"/>
              <a:t>(average);</a:t>
            </a:r>
          </a:p>
          <a:p>
            <a:pPr marL="0" indent="0">
              <a:lnSpc>
                <a:spcPct val="100000"/>
              </a:lnSpc>
              <a:spcBef>
                <a:spcPts val="0"/>
              </a:spcBef>
              <a:buNone/>
            </a:pPr>
            <a:endParaRPr lang="en-US" sz="1200" dirty="0"/>
          </a:p>
          <a:p>
            <a:pPr marL="0" indent="0">
              <a:lnSpc>
                <a:spcPct val="100000"/>
              </a:lnSpc>
              <a:spcBef>
                <a:spcPts val="0"/>
              </a:spcBef>
              <a:buNone/>
            </a:pPr>
            <a:r>
              <a:rPr lang="en-US" sz="1200" dirty="0"/>
              <a:t>    </a:t>
            </a:r>
            <a:r>
              <a:rPr lang="en-US" sz="1200" dirty="0" err="1"/>
              <a:t>displayScorecard</a:t>
            </a:r>
            <a:r>
              <a:rPr lang="en-US" sz="1200" dirty="0"/>
              <a:t>(total, average, grade);</a:t>
            </a:r>
          </a:p>
          <a:p>
            <a:pPr marL="0" indent="0">
              <a:lnSpc>
                <a:spcPct val="100000"/>
              </a:lnSpc>
              <a:spcBef>
                <a:spcPts val="0"/>
              </a:spcBef>
              <a:buNone/>
            </a:pPr>
            <a:endParaRPr lang="en-US" sz="1200" dirty="0"/>
          </a:p>
          <a:p>
            <a:pPr marL="0" indent="0">
              <a:lnSpc>
                <a:spcPct val="100000"/>
              </a:lnSpc>
              <a:spcBef>
                <a:spcPts val="0"/>
              </a:spcBef>
              <a:buNone/>
            </a:pPr>
            <a:r>
              <a:rPr lang="en-US" sz="1200" dirty="0"/>
              <a:t>    return 0;</a:t>
            </a:r>
          </a:p>
          <a:p>
            <a:pPr marL="0" indent="0">
              <a:lnSpc>
                <a:spcPct val="100000"/>
              </a:lnSpc>
              <a:spcBef>
                <a:spcPts val="0"/>
              </a:spcBef>
              <a:buNone/>
            </a:pPr>
            <a:r>
              <a:rPr lang="en-US" sz="1200" dirty="0"/>
              <a:t>}</a:t>
            </a:r>
          </a:p>
        </p:txBody>
      </p:sp>
    </p:spTree>
    <p:extLst>
      <p:ext uri="{BB962C8B-B14F-4D97-AF65-F5344CB8AC3E}">
        <p14:creationId xmlns:p14="http://schemas.microsoft.com/office/powerpoint/2010/main" val="29031237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FC21-8CD1-A879-A79A-83C5F5C503C5}"/>
              </a:ext>
            </a:extLst>
          </p:cNvPr>
          <p:cNvSpPr>
            <a:spLocks noGrp="1"/>
          </p:cNvSpPr>
          <p:nvPr>
            <p:ph type="title"/>
          </p:nvPr>
        </p:nvSpPr>
        <p:spPr>
          <a:xfrm>
            <a:off x="784335" y="347334"/>
            <a:ext cx="10287000" cy="1147762"/>
          </a:xfrm>
        </p:spPr>
        <p:txBody>
          <a:bodyPr/>
          <a:lstStyle/>
          <a:p>
            <a:r>
              <a:rPr lang="en-IN" dirty="0"/>
              <a:t>Understand the decomposition</a:t>
            </a:r>
          </a:p>
        </p:txBody>
      </p:sp>
      <p:sp>
        <p:nvSpPr>
          <p:cNvPr id="3" name="Content Placeholder 2">
            <a:extLst>
              <a:ext uri="{FF2B5EF4-FFF2-40B4-BE49-F238E27FC236}">
                <a16:creationId xmlns:a16="http://schemas.microsoft.com/office/drawing/2014/main" id="{569A3F15-5DFF-F6EB-E75B-A9784221DF96}"/>
              </a:ext>
            </a:extLst>
          </p:cNvPr>
          <p:cNvSpPr>
            <a:spLocks noGrp="1"/>
          </p:cNvSpPr>
          <p:nvPr>
            <p:ph idx="1"/>
          </p:nvPr>
        </p:nvSpPr>
        <p:spPr>
          <a:xfrm>
            <a:off x="283779" y="2285997"/>
            <a:ext cx="11908221" cy="3890965"/>
          </a:xfrm>
        </p:spPr>
        <p:txBody>
          <a:bodyPr numCol="2">
            <a:normAutofit/>
          </a:bodyPr>
          <a:lstStyle/>
          <a:p>
            <a:pPr marL="0" indent="0">
              <a:buNone/>
            </a:pPr>
            <a:r>
              <a:rPr lang="en-IN" b="1" dirty="0"/>
              <a:t>1. </a:t>
            </a:r>
            <a:r>
              <a:rPr lang="en-IN" b="1" dirty="0" err="1"/>
              <a:t>readMarks</a:t>
            </a:r>
            <a:r>
              <a:rPr lang="en-IN" b="1" dirty="0"/>
              <a:t>()</a:t>
            </a:r>
          </a:p>
          <a:p>
            <a:pPr marL="0" indent="0" rtl="0">
              <a:buNone/>
            </a:pPr>
            <a:r>
              <a:rPr lang="en-IN" dirty="0"/>
              <a:t>void </a:t>
            </a:r>
            <a:r>
              <a:rPr lang="en-IN" dirty="0" err="1"/>
              <a:t>readMarks</a:t>
            </a:r>
            <a:r>
              <a:rPr lang="en-IN" dirty="0"/>
              <a:t>(int marks[], int n)</a:t>
            </a:r>
          </a:p>
          <a:p>
            <a:pPr marL="0" indent="0">
              <a:buNone/>
            </a:pPr>
            <a:r>
              <a:rPr lang="en-IN" b="1" dirty="0"/>
              <a:t>Task:</a:t>
            </a:r>
            <a:r>
              <a:rPr lang="en-IN" dirty="0"/>
              <a:t> Gets the marks of the student.</a:t>
            </a:r>
          </a:p>
          <a:p>
            <a:pPr marL="0" indent="0">
              <a:buNone/>
            </a:pPr>
            <a:r>
              <a:rPr lang="en-IN" dirty="0"/>
              <a:t>It does not return a value, so the return type is void.</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b="1" dirty="0"/>
              <a:t>2. </a:t>
            </a:r>
            <a:r>
              <a:rPr lang="en-IN" b="1" dirty="0" err="1"/>
              <a:t>calculateTotal</a:t>
            </a:r>
            <a:r>
              <a:rPr lang="en-IN" b="1" dirty="0"/>
              <a:t>()</a:t>
            </a:r>
          </a:p>
          <a:p>
            <a:pPr marL="0" indent="0" rtl="0">
              <a:buNone/>
            </a:pPr>
            <a:r>
              <a:rPr lang="en-IN" dirty="0"/>
              <a:t>int </a:t>
            </a:r>
            <a:r>
              <a:rPr lang="en-IN" dirty="0" err="1"/>
              <a:t>calculateTotal</a:t>
            </a:r>
            <a:r>
              <a:rPr lang="en-IN" dirty="0"/>
              <a:t>(int marks[], int n)</a:t>
            </a:r>
          </a:p>
          <a:p>
            <a:pPr marL="0" indent="0">
              <a:buNone/>
            </a:pPr>
            <a:r>
              <a:rPr lang="en-IN" b="1" dirty="0"/>
              <a:t>Task:</a:t>
            </a:r>
            <a:r>
              <a:rPr lang="en-IN" dirty="0"/>
              <a:t> Adds all the marks.</a:t>
            </a:r>
          </a:p>
          <a:p>
            <a:pPr marL="0" indent="0">
              <a:buNone/>
            </a:pPr>
            <a:r>
              <a:rPr lang="en-IN" dirty="0"/>
              <a:t>It receives the marks as arguments and returns the total.</a:t>
            </a:r>
          </a:p>
          <a:p>
            <a:pPr marL="0" indent="0">
              <a:buNone/>
            </a:pPr>
            <a:r>
              <a:rPr lang="en-IN" dirty="0"/>
              <a:t>So:</a:t>
            </a:r>
          </a:p>
          <a:p>
            <a:pPr marL="0" indent="0" rtl="0">
              <a:buNone/>
            </a:pPr>
            <a:r>
              <a:rPr lang="en-IN" dirty="0"/>
              <a:t>Arguments + Return value</a:t>
            </a:r>
          </a:p>
          <a:p>
            <a:pPr marL="0" indent="0">
              <a:buNone/>
            </a:pPr>
            <a:endParaRPr lang="en-IN" dirty="0"/>
          </a:p>
        </p:txBody>
      </p:sp>
    </p:spTree>
    <p:extLst>
      <p:ext uri="{BB962C8B-B14F-4D97-AF65-F5344CB8AC3E}">
        <p14:creationId xmlns:p14="http://schemas.microsoft.com/office/powerpoint/2010/main" val="772709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BB80-07E4-D17E-44C3-DC280C086062}"/>
              </a:ext>
            </a:extLst>
          </p:cNvPr>
          <p:cNvSpPr>
            <a:spLocks noGrp="1"/>
          </p:cNvSpPr>
          <p:nvPr>
            <p:ph type="title"/>
          </p:nvPr>
        </p:nvSpPr>
        <p:spPr/>
        <p:txBody>
          <a:bodyPr/>
          <a:lstStyle/>
          <a:p>
            <a:r>
              <a:rPr lang="en-IN" dirty="0"/>
              <a:t>Understand the decomposition</a:t>
            </a:r>
          </a:p>
        </p:txBody>
      </p:sp>
      <p:sp>
        <p:nvSpPr>
          <p:cNvPr id="3" name="Content Placeholder 2">
            <a:extLst>
              <a:ext uri="{FF2B5EF4-FFF2-40B4-BE49-F238E27FC236}">
                <a16:creationId xmlns:a16="http://schemas.microsoft.com/office/drawing/2014/main" id="{29F095A4-6F5A-42A9-FB4B-955385EEDD9D}"/>
              </a:ext>
            </a:extLst>
          </p:cNvPr>
          <p:cNvSpPr>
            <a:spLocks noGrp="1"/>
          </p:cNvSpPr>
          <p:nvPr>
            <p:ph idx="1"/>
          </p:nvPr>
        </p:nvSpPr>
        <p:spPr>
          <a:xfrm>
            <a:off x="241738" y="2285997"/>
            <a:ext cx="10997762" cy="4572003"/>
          </a:xfrm>
        </p:spPr>
        <p:txBody>
          <a:bodyPr numCol="3">
            <a:normAutofit fontScale="25000" lnSpcReduction="20000"/>
          </a:bodyPr>
          <a:lstStyle/>
          <a:p>
            <a:pPr marL="0" indent="0">
              <a:buNone/>
            </a:pPr>
            <a:r>
              <a:rPr lang="en-IN" sz="8000" b="1" dirty="0"/>
              <a:t>3. </a:t>
            </a:r>
            <a:r>
              <a:rPr lang="en-IN" sz="8000" b="1" dirty="0" err="1"/>
              <a:t>calculateAverage</a:t>
            </a:r>
            <a:r>
              <a:rPr lang="en-IN" sz="8000" b="1" dirty="0"/>
              <a:t>()</a:t>
            </a:r>
          </a:p>
          <a:p>
            <a:pPr marL="0" indent="0" rtl="0">
              <a:buNone/>
            </a:pPr>
            <a:r>
              <a:rPr lang="en-IN" sz="8000" dirty="0"/>
              <a:t>float </a:t>
            </a:r>
            <a:r>
              <a:rPr lang="en-IN" sz="8000" dirty="0" err="1"/>
              <a:t>calculateAverage</a:t>
            </a:r>
            <a:r>
              <a:rPr lang="en-IN" sz="8000" dirty="0"/>
              <a:t>(int total, int n)</a:t>
            </a:r>
          </a:p>
          <a:p>
            <a:pPr marL="0" indent="0">
              <a:buNone/>
            </a:pPr>
            <a:r>
              <a:rPr lang="en-IN" sz="8000" b="1" dirty="0"/>
              <a:t>Task:</a:t>
            </a:r>
            <a:r>
              <a:rPr lang="en-IN" sz="8000" dirty="0"/>
              <a:t> Calculates:</a:t>
            </a:r>
          </a:p>
          <a:p>
            <a:pPr marL="0" indent="0" rtl="0">
              <a:buNone/>
            </a:pPr>
            <a:r>
              <a:rPr lang="en-IN" sz="8000" dirty="0"/>
              <a:t>Average = Total / Number of subjects</a:t>
            </a:r>
          </a:p>
          <a:p>
            <a:pPr marL="0" indent="0">
              <a:buNone/>
            </a:pPr>
            <a:r>
              <a:rPr lang="en-IN" sz="8000" dirty="0"/>
              <a:t>It receives total and n, and returns the average.</a:t>
            </a:r>
          </a:p>
          <a:p>
            <a:pPr marL="0" indent="0">
              <a:buNone/>
            </a:pPr>
            <a:r>
              <a:rPr lang="en-IN" sz="8000" dirty="0"/>
              <a:t>Again:</a:t>
            </a:r>
          </a:p>
          <a:p>
            <a:pPr marL="0" indent="0" rtl="0">
              <a:buNone/>
            </a:pPr>
            <a:r>
              <a:rPr lang="en-IN" sz="8000" dirty="0"/>
              <a:t>Arguments + Return value</a:t>
            </a:r>
          </a:p>
          <a:p>
            <a:pPr marL="0" indent="0">
              <a:buNone/>
            </a:pPr>
            <a:r>
              <a:rPr lang="en-IN" sz="8000" b="1" dirty="0"/>
              <a:t>4. </a:t>
            </a:r>
            <a:r>
              <a:rPr lang="en-IN" sz="8000" b="1" dirty="0" err="1"/>
              <a:t>calculateGrade</a:t>
            </a:r>
            <a:r>
              <a:rPr lang="en-IN" sz="8000" b="1" dirty="0"/>
              <a:t>()</a:t>
            </a:r>
          </a:p>
          <a:p>
            <a:pPr marL="0" indent="0" rtl="0">
              <a:buNone/>
            </a:pPr>
            <a:r>
              <a:rPr lang="en-IN" sz="8000" dirty="0"/>
              <a:t>char </a:t>
            </a:r>
            <a:r>
              <a:rPr lang="en-IN" sz="8000" dirty="0" err="1"/>
              <a:t>calculateGrade</a:t>
            </a:r>
            <a:r>
              <a:rPr lang="en-IN" sz="8000" dirty="0"/>
              <a:t>(float average)</a:t>
            </a:r>
          </a:p>
          <a:p>
            <a:pPr marL="0" indent="0">
              <a:buNone/>
            </a:pPr>
            <a:r>
              <a:rPr lang="en-IN" sz="8000" b="1" dirty="0"/>
              <a:t>Task:</a:t>
            </a:r>
            <a:r>
              <a:rPr lang="en-IN" sz="8000" dirty="0"/>
              <a:t> Decides the grade based on the average.</a:t>
            </a:r>
          </a:p>
          <a:p>
            <a:pPr marL="0" indent="0">
              <a:buNone/>
            </a:pPr>
            <a:r>
              <a:rPr lang="en-IN" sz="8000" dirty="0"/>
              <a:t>For example:</a:t>
            </a:r>
          </a:p>
          <a:p>
            <a:pPr marL="0" indent="0" rtl="0">
              <a:buNone/>
            </a:pPr>
            <a:r>
              <a:rPr lang="en-IN" sz="8000" dirty="0"/>
              <a:t>90 and above → A 75–89 → B 60–74 → C 50–59 → D Below 50 → F</a:t>
            </a:r>
          </a:p>
          <a:p>
            <a:pPr marL="0" indent="0">
              <a:buNone/>
            </a:pPr>
            <a:r>
              <a:rPr lang="en-IN" sz="8000" dirty="0"/>
              <a:t>It receives the average and returns a character.</a:t>
            </a:r>
          </a:p>
          <a:p>
            <a:pPr marL="0" indent="0" rtl="0">
              <a:buNone/>
            </a:pPr>
            <a:r>
              <a:rPr lang="en-IN" sz="8000" dirty="0"/>
              <a:t>Arguments + Return value</a:t>
            </a:r>
          </a:p>
          <a:p>
            <a:pPr marL="0" indent="0">
              <a:buNone/>
            </a:pPr>
            <a:endParaRPr lang="en-IN" sz="8000" b="1" dirty="0"/>
          </a:p>
          <a:p>
            <a:pPr marL="0" indent="0">
              <a:buNone/>
            </a:pPr>
            <a:r>
              <a:rPr lang="en-IN" sz="8000" b="1" dirty="0"/>
              <a:t>5. </a:t>
            </a:r>
            <a:r>
              <a:rPr lang="en-IN" sz="8000" b="1" dirty="0" err="1"/>
              <a:t>displayScorecard</a:t>
            </a:r>
            <a:r>
              <a:rPr lang="en-IN" sz="8000" b="1" dirty="0"/>
              <a:t>()</a:t>
            </a:r>
          </a:p>
          <a:p>
            <a:pPr marL="0" indent="0" rtl="0">
              <a:buNone/>
            </a:pPr>
            <a:r>
              <a:rPr lang="en-IN" sz="8000" dirty="0"/>
              <a:t>void </a:t>
            </a:r>
            <a:r>
              <a:rPr lang="en-IN" sz="8000" dirty="0" err="1"/>
              <a:t>displayScorecard</a:t>
            </a:r>
            <a:r>
              <a:rPr lang="en-IN" sz="8000" dirty="0"/>
              <a:t>(int total, float average, char grade)</a:t>
            </a:r>
          </a:p>
          <a:p>
            <a:pPr marL="0" indent="0">
              <a:buNone/>
            </a:pPr>
            <a:r>
              <a:rPr lang="en-IN" sz="8000" b="1" dirty="0"/>
              <a:t>Task:</a:t>
            </a:r>
            <a:r>
              <a:rPr lang="en-IN" sz="8000" dirty="0"/>
              <a:t> Displays the final scorecard.</a:t>
            </a:r>
          </a:p>
          <a:p>
            <a:pPr marL="0" indent="0">
              <a:buNone/>
            </a:pPr>
            <a:r>
              <a:rPr lang="en-IN" sz="8000" dirty="0"/>
              <a:t>It receives values but does not return anything.</a:t>
            </a:r>
          </a:p>
          <a:p>
            <a:pPr marL="0" indent="0" rtl="0">
              <a:buNone/>
            </a:pPr>
            <a:r>
              <a:rPr lang="en-IN" sz="8000" dirty="0"/>
              <a:t>Arguments + No return value</a:t>
            </a:r>
          </a:p>
          <a:p>
            <a:pPr marL="0" indent="0">
              <a:buNone/>
            </a:pPr>
            <a:endParaRPr lang="en-IN" dirty="0"/>
          </a:p>
        </p:txBody>
      </p:sp>
    </p:spTree>
    <p:extLst>
      <p:ext uri="{BB962C8B-B14F-4D97-AF65-F5344CB8AC3E}">
        <p14:creationId xmlns:p14="http://schemas.microsoft.com/office/powerpoint/2010/main" val="36881693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B3B-0B8A-FD89-5133-2CB81B5492D2}"/>
              </a:ext>
            </a:extLst>
          </p:cNvPr>
          <p:cNvSpPr>
            <a:spLocks noGrp="1"/>
          </p:cNvSpPr>
          <p:nvPr>
            <p:ph type="title"/>
          </p:nvPr>
        </p:nvSpPr>
        <p:spPr>
          <a:xfrm>
            <a:off x="584638" y="107156"/>
            <a:ext cx="10287000" cy="1147762"/>
          </a:xfrm>
        </p:spPr>
        <p:txBody>
          <a:bodyPr>
            <a:normAutofit fontScale="90000"/>
          </a:bodyPr>
          <a:lstStyle/>
          <a:p>
            <a:r>
              <a:rPr lang="en-IN" dirty="0" err="1"/>
              <a:t>PrOGRAM</a:t>
            </a:r>
            <a:r>
              <a:rPr lang="en-IN" dirty="0"/>
              <a:t> FLOW  - </a:t>
            </a:r>
            <a:r>
              <a:rPr lang="en-IN" sz="1800" dirty="0"/>
              <a:t>The main() function now becomes very simple:</a:t>
            </a:r>
            <a:br>
              <a:rPr lang="en-IN" sz="1800" dirty="0"/>
            </a:br>
            <a:endParaRPr lang="en-IN" sz="1800" dirty="0"/>
          </a:p>
        </p:txBody>
      </p:sp>
      <p:sp>
        <p:nvSpPr>
          <p:cNvPr id="3" name="Content Placeholder 2">
            <a:extLst>
              <a:ext uri="{FF2B5EF4-FFF2-40B4-BE49-F238E27FC236}">
                <a16:creationId xmlns:a16="http://schemas.microsoft.com/office/drawing/2014/main" id="{E4E72A31-37F4-AAF8-1F33-4B12819FA961}"/>
              </a:ext>
            </a:extLst>
          </p:cNvPr>
          <p:cNvSpPr>
            <a:spLocks noGrp="1"/>
          </p:cNvSpPr>
          <p:nvPr>
            <p:ph idx="1"/>
          </p:nvPr>
        </p:nvSpPr>
        <p:spPr>
          <a:xfrm>
            <a:off x="504497" y="1254918"/>
            <a:ext cx="10735003" cy="5692420"/>
          </a:xfrm>
        </p:spPr>
        <p:txBody>
          <a:bodyPr numCol="2">
            <a:normAutofit/>
          </a:bodyPr>
          <a:lstStyle/>
          <a:p>
            <a:pPr marL="0" indent="0">
              <a:buNone/>
            </a:pPr>
            <a:r>
              <a:rPr lang="en-IN" dirty="0"/>
              <a:t>             main()</a:t>
            </a:r>
          </a:p>
          <a:p>
            <a:pPr marL="0" indent="0">
              <a:buNone/>
            </a:pPr>
            <a:r>
              <a:rPr lang="en-IN" dirty="0"/>
              <a:t>	↓</a:t>
            </a:r>
          </a:p>
          <a:p>
            <a:pPr marL="0" indent="0">
              <a:buNone/>
            </a:pPr>
            <a:r>
              <a:rPr lang="en-IN" dirty="0"/>
              <a:t>          </a:t>
            </a:r>
            <a:r>
              <a:rPr lang="en-IN" dirty="0" err="1"/>
              <a:t>readMarks</a:t>
            </a:r>
            <a:r>
              <a:rPr lang="en-IN" dirty="0"/>
              <a:t>()</a:t>
            </a:r>
          </a:p>
          <a:p>
            <a:pPr marL="0" indent="0">
              <a:buNone/>
            </a:pPr>
            <a:r>
              <a:rPr lang="en-IN" dirty="0"/>
              <a:t>                ↓</a:t>
            </a:r>
          </a:p>
          <a:p>
            <a:pPr marL="0" indent="0">
              <a:buNone/>
            </a:pPr>
            <a:r>
              <a:rPr lang="en-IN" dirty="0"/>
              <a:t>       </a:t>
            </a:r>
            <a:r>
              <a:rPr lang="en-IN" dirty="0" err="1"/>
              <a:t>calculateTotal</a:t>
            </a:r>
            <a:r>
              <a:rPr lang="en-IN" dirty="0"/>
              <a:t>()</a:t>
            </a:r>
          </a:p>
          <a:p>
            <a:pPr marL="0" indent="0">
              <a:buNone/>
            </a:pPr>
            <a:r>
              <a:rPr lang="en-IN" dirty="0"/>
              <a:t>                ↓</a:t>
            </a:r>
          </a:p>
          <a:p>
            <a:pPr marL="0" indent="0">
              <a:buNone/>
            </a:pPr>
            <a:r>
              <a:rPr lang="en-IN" dirty="0"/>
              <a:t>      </a:t>
            </a:r>
            <a:r>
              <a:rPr lang="en-IN" dirty="0" err="1"/>
              <a:t>calculateAverage</a:t>
            </a:r>
            <a:r>
              <a:rPr lang="en-IN" dirty="0"/>
              <a:t>()</a:t>
            </a:r>
          </a:p>
          <a:p>
            <a:pPr marL="0" indent="0">
              <a:buNone/>
            </a:pPr>
            <a:r>
              <a:rPr lang="en-IN" dirty="0"/>
              <a:t>                ↓</a:t>
            </a:r>
          </a:p>
          <a:p>
            <a:pPr marL="0" indent="0">
              <a:buNone/>
            </a:pPr>
            <a:r>
              <a:rPr lang="en-IN" dirty="0"/>
              <a:t>       </a:t>
            </a:r>
            <a:r>
              <a:rPr lang="en-IN" dirty="0" err="1"/>
              <a:t>calculateGrade</a:t>
            </a:r>
            <a:r>
              <a:rPr lang="en-IN" dirty="0"/>
              <a:t>()</a:t>
            </a:r>
          </a:p>
          <a:p>
            <a:pPr marL="0" indent="0">
              <a:buNone/>
            </a:pPr>
            <a:r>
              <a:rPr lang="en-IN" dirty="0"/>
              <a:t>                ↓</a:t>
            </a:r>
          </a:p>
          <a:p>
            <a:pPr marL="0" indent="0">
              <a:buNone/>
            </a:pPr>
            <a:r>
              <a:rPr lang="en-IN" dirty="0"/>
              <a:t>      </a:t>
            </a:r>
            <a:r>
              <a:rPr lang="en-IN" dirty="0" err="1"/>
              <a:t>displayScorecard</a:t>
            </a:r>
            <a:r>
              <a:rPr lang="en-IN" dirty="0"/>
              <a:t>()</a:t>
            </a:r>
          </a:p>
          <a:p>
            <a:pPr marL="0" indent="0">
              <a:buNone/>
            </a:pPr>
            <a:endParaRPr lang="en-IN" dirty="0"/>
          </a:p>
          <a:p>
            <a:pPr marL="0" indent="0">
              <a:buNone/>
            </a:pPr>
            <a:r>
              <a:rPr lang="en-IN" dirty="0"/>
              <a:t>For example, </a:t>
            </a:r>
          </a:p>
          <a:p>
            <a:pPr marL="0" indent="0">
              <a:buNone/>
            </a:pPr>
            <a:r>
              <a:rPr lang="en-IN" dirty="0"/>
              <a:t>suppose the marks are:</a:t>
            </a:r>
          </a:p>
          <a:p>
            <a:pPr marL="0" indent="0" rtl="0">
              <a:buNone/>
            </a:pPr>
            <a:r>
              <a:rPr lang="en-IN" dirty="0"/>
              <a:t>80 70 90 85 75</a:t>
            </a:r>
          </a:p>
          <a:p>
            <a:pPr marL="0" indent="0">
              <a:buNone/>
            </a:pPr>
            <a:r>
              <a:rPr lang="en-IN" dirty="0"/>
              <a:t>Then:</a:t>
            </a:r>
          </a:p>
          <a:p>
            <a:pPr marL="0" indent="0" rtl="0">
              <a:buNone/>
            </a:pPr>
            <a:r>
              <a:rPr lang="en-IN" dirty="0"/>
              <a:t>Total = 400 </a:t>
            </a:r>
          </a:p>
          <a:p>
            <a:pPr marL="0" indent="0" rtl="0">
              <a:buNone/>
            </a:pPr>
            <a:r>
              <a:rPr lang="en-IN" dirty="0"/>
              <a:t>Average = 80 </a:t>
            </a:r>
          </a:p>
          <a:p>
            <a:pPr marL="0" indent="0" rtl="0">
              <a:buNone/>
            </a:pPr>
            <a:r>
              <a:rPr lang="en-IN" dirty="0"/>
              <a:t>Grade = B</a:t>
            </a:r>
          </a:p>
          <a:p>
            <a:pPr marL="0" indent="0">
              <a:buNone/>
            </a:pPr>
            <a:endParaRPr lang="en-IN" dirty="0"/>
          </a:p>
        </p:txBody>
      </p:sp>
    </p:spTree>
    <p:extLst>
      <p:ext uri="{BB962C8B-B14F-4D97-AF65-F5344CB8AC3E}">
        <p14:creationId xmlns:p14="http://schemas.microsoft.com/office/powerpoint/2010/main" val="1564053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A1FD0-A79E-5E78-A891-7EAC05FCB978}"/>
              </a:ext>
            </a:extLst>
          </p:cNvPr>
          <p:cNvSpPr>
            <a:spLocks noGrp="1"/>
          </p:cNvSpPr>
          <p:nvPr>
            <p:ph type="title"/>
          </p:nvPr>
        </p:nvSpPr>
        <p:spPr/>
        <p:txBody>
          <a:bodyPr/>
          <a:lstStyle/>
          <a:p>
            <a:r>
              <a:rPr lang="en-IN" b="1" dirty="0"/>
              <a:t>Why is this called decomposition?</a:t>
            </a:r>
            <a:br>
              <a:rPr lang="en-IN" b="1" dirty="0"/>
            </a:br>
            <a:endParaRPr lang="en-US" dirty="0"/>
          </a:p>
        </p:txBody>
      </p:sp>
      <p:sp>
        <p:nvSpPr>
          <p:cNvPr id="3" name="Content Placeholder 2">
            <a:extLst>
              <a:ext uri="{FF2B5EF4-FFF2-40B4-BE49-F238E27FC236}">
                <a16:creationId xmlns:a16="http://schemas.microsoft.com/office/drawing/2014/main" id="{5818BC73-FCE6-F92D-9BBF-F613FEFAA27F}"/>
              </a:ext>
            </a:extLst>
          </p:cNvPr>
          <p:cNvSpPr>
            <a:spLocks noGrp="1"/>
          </p:cNvSpPr>
          <p:nvPr>
            <p:ph idx="1"/>
          </p:nvPr>
        </p:nvSpPr>
        <p:spPr>
          <a:xfrm>
            <a:off x="346841" y="1524000"/>
            <a:ext cx="10892659" cy="5213131"/>
          </a:xfrm>
        </p:spPr>
        <p:txBody>
          <a:bodyPr>
            <a:normAutofit fontScale="85000" lnSpcReduction="20000"/>
          </a:bodyPr>
          <a:lstStyle/>
          <a:p>
            <a:pPr marL="0" indent="0">
              <a:buNone/>
            </a:pPr>
            <a:r>
              <a:rPr lang="en-IN" dirty="0"/>
              <a:t>The original problem:</a:t>
            </a:r>
          </a:p>
          <a:p>
            <a:r>
              <a:rPr lang="en-IN" b="1" dirty="0"/>
              <a:t>Calculate a student's scorecard</a:t>
            </a:r>
            <a:endParaRPr lang="en-IN" dirty="0"/>
          </a:p>
          <a:p>
            <a:r>
              <a:rPr lang="en-IN" dirty="0"/>
              <a:t>is a </a:t>
            </a:r>
            <a:r>
              <a:rPr lang="en-IN" b="1" dirty="0"/>
              <a:t>complex problem</a:t>
            </a:r>
            <a:r>
              <a:rPr lang="en-IN" dirty="0"/>
              <a:t> because it involves several operations.</a:t>
            </a:r>
          </a:p>
          <a:p>
            <a:pPr marL="0" indent="0" algn="ctr">
              <a:buNone/>
            </a:pPr>
            <a:r>
              <a:rPr lang="en-IN" dirty="0"/>
              <a:t>We decompose it into:</a:t>
            </a:r>
          </a:p>
          <a:p>
            <a:pPr marL="0" indent="0" algn="ctr" rtl="0">
              <a:buNone/>
            </a:pPr>
            <a:r>
              <a:rPr lang="en-IN" dirty="0"/>
              <a:t>Read marks</a:t>
            </a:r>
          </a:p>
          <a:p>
            <a:pPr marL="0" indent="0" algn="ctr" rtl="0">
              <a:buNone/>
            </a:pPr>
            <a:r>
              <a:rPr lang="en-IN" dirty="0"/>
              <a:t> ↓ </a:t>
            </a:r>
          </a:p>
          <a:p>
            <a:pPr marL="0" indent="0" algn="ctr" rtl="0">
              <a:buNone/>
            </a:pPr>
            <a:r>
              <a:rPr lang="en-IN" dirty="0"/>
              <a:t>Find total</a:t>
            </a:r>
          </a:p>
          <a:p>
            <a:pPr marL="0" indent="0" algn="ctr" rtl="0">
              <a:buNone/>
            </a:pPr>
            <a:r>
              <a:rPr lang="en-IN" dirty="0"/>
              <a:t> ↓ </a:t>
            </a:r>
          </a:p>
          <a:p>
            <a:pPr marL="0" indent="0" algn="ctr" rtl="0">
              <a:buNone/>
            </a:pPr>
            <a:r>
              <a:rPr lang="en-IN" dirty="0"/>
              <a:t>Find average </a:t>
            </a:r>
          </a:p>
          <a:p>
            <a:pPr marL="0" indent="0" algn="ctr" rtl="0">
              <a:buNone/>
            </a:pPr>
            <a:r>
              <a:rPr lang="en-IN" dirty="0"/>
              <a:t>↓ </a:t>
            </a:r>
          </a:p>
          <a:p>
            <a:pPr marL="0" indent="0" algn="ctr" rtl="0">
              <a:buNone/>
            </a:pPr>
            <a:r>
              <a:rPr lang="en-IN" dirty="0"/>
              <a:t>Find grade</a:t>
            </a:r>
          </a:p>
          <a:p>
            <a:pPr marL="0" indent="0" algn="ctr" rtl="0">
              <a:buNone/>
            </a:pPr>
            <a:r>
              <a:rPr lang="en-IN" dirty="0"/>
              <a:t> ↓ </a:t>
            </a:r>
          </a:p>
          <a:p>
            <a:pPr marL="0" indent="0" algn="ctr" rtl="0">
              <a:buNone/>
            </a:pPr>
            <a:r>
              <a:rPr lang="en-IN" dirty="0"/>
              <a:t>Display result</a:t>
            </a:r>
          </a:p>
          <a:p>
            <a:r>
              <a:rPr lang="en-IN" dirty="0"/>
              <a:t>Each smaller task is handled by a function.</a:t>
            </a:r>
          </a:p>
          <a:p>
            <a:pPr marL="0" indent="0">
              <a:buNone/>
            </a:pPr>
            <a:endParaRPr lang="en-US" dirty="0"/>
          </a:p>
        </p:txBody>
      </p:sp>
    </p:spTree>
    <p:extLst>
      <p:ext uri="{BB962C8B-B14F-4D97-AF65-F5344CB8AC3E}">
        <p14:creationId xmlns:p14="http://schemas.microsoft.com/office/powerpoint/2010/main" val="22361710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6D1AAF7-819C-AB1F-C578-018D395C3128}"/>
              </a:ext>
            </a:extLst>
          </p:cNvPr>
          <p:cNvGraphicFramePr>
            <a:graphicFrameLocks noGrp="1"/>
          </p:cNvGraphicFramePr>
          <p:nvPr>
            <p:ph idx="1"/>
            <p:extLst>
              <p:ext uri="{D42A27DB-BD31-4B8C-83A1-F6EECF244321}">
                <p14:modId xmlns:p14="http://schemas.microsoft.com/office/powerpoint/2010/main" val="4023636316"/>
              </p:ext>
            </p:extLst>
          </p:nvPr>
        </p:nvGraphicFramePr>
        <p:xfrm>
          <a:off x="980090" y="2177759"/>
          <a:ext cx="8937734" cy="2194560"/>
        </p:xfrm>
        <a:graphic>
          <a:graphicData uri="http://schemas.openxmlformats.org/drawingml/2006/table">
            <a:tbl>
              <a:tblPr>
                <a:tableStyleId>{5940675A-B579-460E-94D1-54222C63F5DA}</a:tableStyleId>
              </a:tblPr>
              <a:tblGrid>
                <a:gridCol w="2757652">
                  <a:extLst>
                    <a:ext uri="{9D8B030D-6E8A-4147-A177-3AD203B41FA5}">
                      <a16:colId xmlns:a16="http://schemas.microsoft.com/office/drawing/2014/main" val="3707275122"/>
                    </a:ext>
                  </a:extLst>
                </a:gridCol>
                <a:gridCol w="2543503">
                  <a:extLst>
                    <a:ext uri="{9D8B030D-6E8A-4147-A177-3AD203B41FA5}">
                      <a16:colId xmlns:a16="http://schemas.microsoft.com/office/drawing/2014/main" val="4174660573"/>
                    </a:ext>
                  </a:extLst>
                </a:gridCol>
                <a:gridCol w="3636579">
                  <a:extLst>
                    <a:ext uri="{9D8B030D-6E8A-4147-A177-3AD203B41FA5}">
                      <a16:colId xmlns:a16="http://schemas.microsoft.com/office/drawing/2014/main" val="2658350346"/>
                    </a:ext>
                  </a:extLst>
                </a:gridCol>
              </a:tblGrid>
              <a:tr h="0">
                <a:tc>
                  <a:txBody>
                    <a:bodyPr/>
                    <a:lstStyle/>
                    <a:p>
                      <a:r>
                        <a:rPr lang="en-IN" b="1" dirty="0"/>
                        <a:t>Task</a:t>
                      </a:r>
                    </a:p>
                  </a:txBody>
                  <a:tcPr anchor="ctr"/>
                </a:tc>
                <a:tc>
                  <a:txBody>
                    <a:bodyPr/>
                    <a:lstStyle/>
                    <a:p>
                      <a:r>
                        <a:rPr lang="en-IN" b="1" dirty="0"/>
                        <a:t>Function</a:t>
                      </a:r>
                    </a:p>
                  </a:txBody>
                  <a:tcPr anchor="ctr"/>
                </a:tc>
                <a:tc>
                  <a:txBody>
                    <a:bodyPr/>
                    <a:lstStyle/>
                    <a:p>
                      <a:r>
                        <a:rPr lang="en-IN" b="1" dirty="0"/>
                        <a:t>Function Type</a:t>
                      </a:r>
                    </a:p>
                  </a:txBody>
                  <a:tcPr anchor="ctr"/>
                </a:tc>
                <a:extLst>
                  <a:ext uri="{0D108BD9-81ED-4DB2-BD59-A6C34878D82A}">
                    <a16:rowId xmlns:a16="http://schemas.microsoft.com/office/drawing/2014/main" val="3433345894"/>
                  </a:ext>
                </a:extLst>
              </a:tr>
              <a:tr h="0">
                <a:tc>
                  <a:txBody>
                    <a:bodyPr/>
                    <a:lstStyle/>
                    <a:p>
                      <a:r>
                        <a:rPr lang="en-IN"/>
                        <a:t>Read marks</a:t>
                      </a:r>
                    </a:p>
                  </a:txBody>
                  <a:tcPr anchor="ctr"/>
                </a:tc>
                <a:tc>
                  <a:txBody>
                    <a:bodyPr/>
                    <a:lstStyle/>
                    <a:p>
                      <a:r>
                        <a:rPr lang="en-IN" dirty="0" err="1"/>
                        <a:t>readMarks</a:t>
                      </a:r>
                      <a:r>
                        <a:rPr lang="en-IN" dirty="0"/>
                        <a:t>()</a:t>
                      </a:r>
                    </a:p>
                  </a:txBody>
                  <a:tcPr anchor="ctr"/>
                </a:tc>
                <a:tc>
                  <a:txBody>
                    <a:bodyPr/>
                    <a:lstStyle/>
                    <a:p>
                      <a:r>
                        <a:rPr lang="en-IN"/>
                        <a:t>Arguments + No return value</a:t>
                      </a:r>
                    </a:p>
                  </a:txBody>
                  <a:tcPr anchor="ctr"/>
                </a:tc>
                <a:extLst>
                  <a:ext uri="{0D108BD9-81ED-4DB2-BD59-A6C34878D82A}">
                    <a16:rowId xmlns:a16="http://schemas.microsoft.com/office/drawing/2014/main" val="184289988"/>
                  </a:ext>
                </a:extLst>
              </a:tr>
              <a:tr h="0">
                <a:tc>
                  <a:txBody>
                    <a:bodyPr/>
                    <a:lstStyle/>
                    <a:p>
                      <a:r>
                        <a:rPr lang="en-IN"/>
                        <a:t>Calculate total</a:t>
                      </a:r>
                    </a:p>
                  </a:txBody>
                  <a:tcPr anchor="ctr"/>
                </a:tc>
                <a:tc>
                  <a:txBody>
                    <a:bodyPr/>
                    <a:lstStyle/>
                    <a:p>
                      <a:r>
                        <a:rPr lang="en-IN"/>
                        <a:t>calculateTotal()</a:t>
                      </a:r>
                    </a:p>
                  </a:txBody>
                  <a:tcPr anchor="ctr"/>
                </a:tc>
                <a:tc>
                  <a:txBody>
                    <a:bodyPr/>
                    <a:lstStyle/>
                    <a:p>
                      <a:r>
                        <a:rPr lang="en-IN"/>
                        <a:t>Arguments + Return value</a:t>
                      </a:r>
                    </a:p>
                  </a:txBody>
                  <a:tcPr anchor="ctr"/>
                </a:tc>
                <a:extLst>
                  <a:ext uri="{0D108BD9-81ED-4DB2-BD59-A6C34878D82A}">
                    <a16:rowId xmlns:a16="http://schemas.microsoft.com/office/drawing/2014/main" val="669973812"/>
                  </a:ext>
                </a:extLst>
              </a:tr>
              <a:tr h="0">
                <a:tc>
                  <a:txBody>
                    <a:bodyPr/>
                    <a:lstStyle/>
                    <a:p>
                      <a:r>
                        <a:rPr lang="en-IN"/>
                        <a:t>Calculate average</a:t>
                      </a:r>
                    </a:p>
                  </a:txBody>
                  <a:tcPr anchor="ctr"/>
                </a:tc>
                <a:tc>
                  <a:txBody>
                    <a:bodyPr/>
                    <a:lstStyle/>
                    <a:p>
                      <a:r>
                        <a:rPr lang="en-IN"/>
                        <a:t>calculateAverage()</a:t>
                      </a:r>
                    </a:p>
                  </a:txBody>
                  <a:tcPr anchor="ctr"/>
                </a:tc>
                <a:tc>
                  <a:txBody>
                    <a:bodyPr/>
                    <a:lstStyle/>
                    <a:p>
                      <a:r>
                        <a:rPr lang="en-IN"/>
                        <a:t>Arguments + Return value</a:t>
                      </a:r>
                    </a:p>
                  </a:txBody>
                  <a:tcPr anchor="ctr"/>
                </a:tc>
                <a:extLst>
                  <a:ext uri="{0D108BD9-81ED-4DB2-BD59-A6C34878D82A}">
                    <a16:rowId xmlns:a16="http://schemas.microsoft.com/office/drawing/2014/main" val="4248124002"/>
                  </a:ext>
                </a:extLst>
              </a:tr>
              <a:tr h="0">
                <a:tc>
                  <a:txBody>
                    <a:bodyPr/>
                    <a:lstStyle/>
                    <a:p>
                      <a:r>
                        <a:rPr lang="en-IN"/>
                        <a:t>Calculate grade</a:t>
                      </a:r>
                    </a:p>
                  </a:txBody>
                  <a:tcPr anchor="ctr"/>
                </a:tc>
                <a:tc>
                  <a:txBody>
                    <a:bodyPr/>
                    <a:lstStyle/>
                    <a:p>
                      <a:r>
                        <a:rPr lang="en-IN"/>
                        <a:t>calculateGrade()</a:t>
                      </a:r>
                    </a:p>
                  </a:txBody>
                  <a:tcPr anchor="ctr"/>
                </a:tc>
                <a:tc>
                  <a:txBody>
                    <a:bodyPr/>
                    <a:lstStyle/>
                    <a:p>
                      <a:r>
                        <a:rPr lang="en-IN"/>
                        <a:t>Arguments + Return value</a:t>
                      </a:r>
                    </a:p>
                  </a:txBody>
                  <a:tcPr anchor="ctr"/>
                </a:tc>
                <a:extLst>
                  <a:ext uri="{0D108BD9-81ED-4DB2-BD59-A6C34878D82A}">
                    <a16:rowId xmlns:a16="http://schemas.microsoft.com/office/drawing/2014/main" val="4186893028"/>
                  </a:ext>
                </a:extLst>
              </a:tr>
              <a:tr h="0">
                <a:tc>
                  <a:txBody>
                    <a:bodyPr/>
                    <a:lstStyle/>
                    <a:p>
                      <a:r>
                        <a:rPr lang="en-IN" dirty="0"/>
                        <a:t>Display scorecard</a:t>
                      </a:r>
                    </a:p>
                  </a:txBody>
                  <a:tcPr anchor="ctr"/>
                </a:tc>
                <a:tc>
                  <a:txBody>
                    <a:bodyPr/>
                    <a:lstStyle/>
                    <a:p>
                      <a:r>
                        <a:rPr lang="en-IN" dirty="0" err="1"/>
                        <a:t>displayScorecard</a:t>
                      </a:r>
                      <a:r>
                        <a:rPr lang="en-IN" dirty="0"/>
                        <a:t>()</a:t>
                      </a:r>
                    </a:p>
                  </a:txBody>
                  <a:tcPr anchor="ctr"/>
                </a:tc>
                <a:tc>
                  <a:txBody>
                    <a:bodyPr/>
                    <a:lstStyle/>
                    <a:p>
                      <a:r>
                        <a:rPr lang="en-IN" dirty="0"/>
                        <a:t>Arguments + No return value</a:t>
                      </a:r>
                    </a:p>
                  </a:txBody>
                  <a:tcPr anchor="ctr"/>
                </a:tc>
                <a:extLst>
                  <a:ext uri="{0D108BD9-81ED-4DB2-BD59-A6C34878D82A}">
                    <a16:rowId xmlns:a16="http://schemas.microsoft.com/office/drawing/2014/main" val="2703705592"/>
                  </a:ext>
                </a:extLst>
              </a:tr>
            </a:tbl>
          </a:graphicData>
        </a:graphic>
      </p:graphicFrame>
      <p:sp>
        <p:nvSpPr>
          <p:cNvPr id="7" name="TextBox 6">
            <a:extLst>
              <a:ext uri="{FF2B5EF4-FFF2-40B4-BE49-F238E27FC236}">
                <a16:creationId xmlns:a16="http://schemas.microsoft.com/office/drawing/2014/main" id="{CC343898-B088-766A-78AF-776D0200AA15}"/>
              </a:ext>
            </a:extLst>
          </p:cNvPr>
          <p:cNvSpPr txBox="1"/>
          <p:nvPr/>
        </p:nvSpPr>
        <p:spPr>
          <a:xfrm>
            <a:off x="952500" y="711190"/>
            <a:ext cx="10997762" cy="16312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The main idea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Large problem → Smaller tasks → Functions → Complete solution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j-lt"/>
              </a:rPr>
              <a:t>This is exactly how </a:t>
            </a:r>
            <a:r>
              <a:rPr kumimoji="0" lang="en-US" altLang="en-US" sz="2000" b="1" i="0" u="none" strike="noStrike" cap="none" normalizeH="0" baseline="0" dirty="0">
                <a:ln>
                  <a:noFill/>
                </a:ln>
                <a:solidFill>
                  <a:schemeClr val="tx1"/>
                </a:solidFill>
                <a:effectLst/>
                <a:latin typeface="+mj-lt"/>
              </a:rPr>
              <a:t>decomposition</a:t>
            </a:r>
            <a:r>
              <a:rPr kumimoji="0" lang="en-US" altLang="en-US" sz="2000" b="0" i="0" u="none" strike="noStrike" cap="none" normalizeH="0" baseline="0" dirty="0">
                <a:ln>
                  <a:noFill/>
                </a:ln>
                <a:solidFill>
                  <a:schemeClr val="tx1"/>
                </a:solidFill>
                <a:effectLst/>
                <a:latin typeface="+mj-lt"/>
              </a:rPr>
              <a:t> makes a program modular and easier to understand.</a:t>
            </a:r>
            <a:endParaRPr kumimoji="0" lang="en-US" altLang="en-US" sz="20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j-lt"/>
            </a:endParaRPr>
          </a:p>
        </p:txBody>
      </p:sp>
      <p:sp>
        <p:nvSpPr>
          <p:cNvPr id="9" name="TextBox 8">
            <a:extLst>
              <a:ext uri="{FF2B5EF4-FFF2-40B4-BE49-F238E27FC236}">
                <a16:creationId xmlns:a16="http://schemas.microsoft.com/office/drawing/2014/main" id="{763679A8-6928-1FDF-5ABD-DF5E32FDE7EF}"/>
              </a:ext>
            </a:extLst>
          </p:cNvPr>
          <p:cNvSpPr txBox="1"/>
          <p:nvPr/>
        </p:nvSpPr>
        <p:spPr>
          <a:xfrm>
            <a:off x="847397" y="4761636"/>
            <a:ext cx="10997762" cy="1200329"/>
          </a:xfrm>
          <a:prstGeom prst="rect">
            <a:avLst/>
          </a:prstGeom>
          <a:noFill/>
        </p:spPr>
        <p:txBody>
          <a:bodyPr wrap="square">
            <a:spAutoFit/>
          </a:bodyPr>
          <a:lstStyle/>
          <a:p>
            <a:r>
              <a:rPr lang="en-IN" dirty="0"/>
              <a:t>Decomposition is the process of breaking a complex problem into smaller sub-tasks. In the student scorecard problem, the tasks of reading marks, calculating the total, calculating the average, finding the grade, and displaying the result are implemented using separate functions. This makes the program easier to understand, test, debug, and maintain.</a:t>
            </a:r>
            <a:endParaRPr lang="en-US" dirty="0"/>
          </a:p>
        </p:txBody>
      </p:sp>
    </p:spTree>
    <p:extLst>
      <p:ext uri="{BB962C8B-B14F-4D97-AF65-F5344CB8AC3E}">
        <p14:creationId xmlns:p14="http://schemas.microsoft.com/office/powerpoint/2010/main" val="1119787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23828242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717452" y="4920137"/>
            <a:ext cx="10781128" cy="1122363"/>
          </a:xfrm>
        </p:spPr>
        <p:txBody>
          <a:bodyPr>
            <a:normAutofit fontScale="4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sz="3600" b="1" dirty="0">
                <a:cs typeface="Times New Roman" panose="02020603050405020304" pitchFamily="18" charset="0"/>
              </a:rPr>
              <a:t>Session</a:t>
            </a:r>
            <a:r>
              <a:rPr lang="en-IN" sz="3600" b="1" dirty="0">
                <a:highlight>
                  <a:srgbClr val="FFFF00"/>
                </a:highlight>
                <a:cs typeface="Times New Roman" panose="02020603050405020304" pitchFamily="18" charset="0"/>
              </a:rPr>
              <a:t> 4 </a:t>
            </a:r>
          </a:p>
          <a:p>
            <a:r>
              <a:rPr lang="en-IN" sz="3600" b="1" dirty="0" err="1">
                <a:cs typeface="Times New Roman" panose="02020603050405020304" pitchFamily="18" charset="0"/>
              </a:rPr>
              <a:t>SLO:At</a:t>
            </a:r>
            <a:r>
              <a:rPr lang="en-IN" sz="3600" b="1" dirty="0">
                <a:cs typeface="Times New Roman" panose="02020603050405020304" pitchFamily="18" charset="0"/>
              </a:rPr>
              <a:t> the end of this session, the learners will be able to </a:t>
            </a:r>
            <a:r>
              <a:rPr lang="en-IN" sz="3600" b="1" dirty="0"/>
              <a:t>decompose the problem into smaller sub-tasks and design a C function using pass-by-value to compute the sum of the first n even numbers.</a:t>
            </a:r>
            <a:endParaRPr lang="en-IN" sz="3600" dirty="0"/>
          </a:p>
          <a:p>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2406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a:xfrm>
            <a:off x="952500" y="2285997"/>
            <a:ext cx="11239500" cy="3890965"/>
          </a:xfrm>
        </p:spPr>
        <p:txBody>
          <a:bodyPr/>
          <a:lstStyle/>
          <a:p>
            <a:pPr marL="0" indent="0">
              <a:buNone/>
            </a:pPr>
            <a:r>
              <a:rPr lang="en-IN" dirty="0"/>
              <a:t>By the end of the lesson, students will be able to:</a:t>
            </a:r>
          </a:p>
          <a:p>
            <a:pPr>
              <a:buFont typeface="+mj-lt"/>
              <a:buAutoNum type="arabicPeriod"/>
            </a:pPr>
            <a:r>
              <a:rPr lang="en-IN" b="1" dirty="0"/>
              <a:t>Explain</a:t>
            </a:r>
            <a:r>
              <a:rPr lang="en-IN" dirty="0"/>
              <a:t> the concept of pass-by-value in C. </a:t>
            </a:r>
          </a:p>
          <a:p>
            <a:pPr>
              <a:buFont typeface="+mj-lt"/>
              <a:buAutoNum type="arabicPeriod"/>
            </a:pPr>
            <a:r>
              <a:rPr lang="en-IN" b="1" dirty="0"/>
              <a:t>Identify</a:t>
            </a:r>
            <a:r>
              <a:rPr lang="en-IN" dirty="0"/>
              <a:t> the sub-tasks involved in finding the sum of the first n even numbers. </a:t>
            </a:r>
          </a:p>
          <a:p>
            <a:pPr>
              <a:buFont typeface="+mj-lt"/>
              <a:buAutoNum type="arabicPeriod"/>
            </a:pPr>
            <a:r>
              <a:rPr lang="en-IN" b="1" dirty="0"/>
              <a:t>Decompose</a:t>
            </a:r>
            <a:r>
              <a:rPr lang="en-IN" dirty="0"/>
              <a:t> the problem into smaller and manageable tasks. </a:t>
            </a:r>
          </a:p>
          <a:p>
            <a:pPr>
              <a:buFont typeface="+mj-lt"/>
              <a:buAutoNum type="arabicPeriod"/>
            </a:pPr>
            <a:r>
              <a:rPr lang="en-IN" b="1" dirty="0"/>
              <a:t>Design</a:t>
            </a:r>
            <a:r>
              <a:rPr lang="en-IN" dirty="0"/>
              <a:t> a function that accepts n as a parameter and computes the required sum. </a:t>
            </a:r>
          </a:p>
          <a:p>
            <a:pPr>
              <a:buFont typeface="+mj-lt"/>
              <a:buAutoNum type="arabicPeriod"/>
            </a:pPr>
            <a:r>
              <a:rPr lang="en-IN" b="1" dirty="0"/>
              <a:t>Apply</a:t>
            </a:r>
            <a:r>
              <a:rPr lang="en-IN" dirty="0"/>
              <a:t> pass-by-value to pass the value of n to the function. </a:t>
            </a:r>
          </a:p>
          <a:p>
            <a:pPr>
              <a:buFont typeface="+mj-lt"/>
              <a:buAutoNum type="arabicPeriod"/>
            </a:pPr>
            <a:r>
              <a:rPr lang="en-IN" b="1" dirty="0"/>
              <a:t>Implement</a:t>
            </a:r>
            <a:r>
              <a:rPr lang="en-IN" dirty="0"/>
              <a:t> the solution using a loop and appropriate C syntax. </a:t>
            </a:r>
          </a:p>
          <a:p>
            <a:pPr>
              <a:buFont typeface="+mj-lt"/>
              <a:buAutoNum type="arabicPeriod"/>
            </a:pPr>
            <a:r>
              <a:rPr lang="en-IN" b="1" dirty="0"/>
              <a:t>Test and verify</a:t>
            </a:r>
            <a:r>
              <a:rPr lang="en-IN" dirty="0"/>
              <a:t> the function using different values of n.</a:t>
            </a:r>
          </a:p>
          <a:p>
            <a:endParaRPr lang="en-IN" dirty="0"/>
          </a:p>
        </p:txBody>
      </p:sp>
    </p:spTree>
    <p:extLst>
      <p:ext uri="{BB962C8B-B14F-4D97-AF65-F5344CB8AC3E}">
        <p14:creationId xmlns:p14="http://schemas.microsoft.com/office/powerpoint/2010/main" val="19923418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D6F0A-3CD2-735A-706B-2C0886E79101}"/>
              </a:ext>
            </a:extLst>
          </p:cNvPr>
          <p:cNvSpPr>
            <a:spLocks noGrp="1"/>
          </p:cNvSpPr>
          <p:nvPr>
            <p:ph type="title"/>
          </p:nvPr>
        </p:nvSpPr>
        <p:spPr/>
        <p:txBody>
          <a:bodyPr>
            <a:normAutofit fontScale="90000"/>
          </a:bodyPr>
          <a:lstStyle/>
          <a:p>
            <a:r>
              <a:rPr lang="en-IN" dirty="0"/>
              <a:t>Using pass-by-value, design a function to compute the sum of the first n even numbers by breaking the problem into sub-tasks.</a:t>
            </a:r>
            <a:endParaRPr lang="en-US" dirty="0"/>
          </a:p>
        </p:txBody>
      </p:sp>
      <p:sp>
        <p:nvSpPr>
          <p:cNvPr id="3" name="Content Placeholder 2">
            <a:extLst>
              <a:ext uri="{FF2B5EF4-FFF2-40B4-BE49-F238E27FC236}">
                <a16:creationId xmlns:a16="http://schemas.microsoft.com/office/drawing/2014/main" id="{B7AD4774-509A-6BB7-1C59-EF96C5E22D38}"/>
              </a:ext>
            </a:extLst>
          </p:cNvPr>
          <p:cNvSpPr>
            <a:spLocks noGrp="1"/>
          </p:cNvSpPr>
          <p:nvPr>
            <p:ph idx="1"/>
          </p:nvPr>
        </p:nvSpPr>
        <p:spPr>
          <a:xfrm>
            <a:off x="609600" y="1905001"/>
            <a:ext cx="10629900" cy="4271962"/>
          </a:xfrm>
        </p:spPr>
        <p:txBody>
          <a:bodyPr>
            <a:normAutofit fontScale="70000" lnSpcReduction="20000"/>
          </a:bodyPr>
          <a:lstStyle/>
          <a:p>
            <a:pPr marL="0" indent="0">
              <a:buNone/>
            </a:pPr>
            <a:r>
              <a:rPr lang="en-IN" b="1" dirty="0"/>
              <a:t>Step 1: Break the problem into smaller tasks</a:t>
            </a:r>
          </a:p>
          <a:p>
            <a:pPr marL="0" indent="0">
              <a:buNone/>
            </a:pPr>
            <a:r>
              <a:rPr lang="en-IN" dirty="0"/>
              <a:t>The problem can be divided into:</a:t>
            </a:r>
          </a:p>
          <a:p>
            <a:pPr marL="0" indent="0" algn="ctr" rtl="0">
              <a:buNone/>
            </a:pPr>
            <a:r>
              <a:rPr lang="en-IN" dirty="0"/>
              <a:t>Find the sum of the first n even numbers </a:t>
            </a:r>
          </a:p>
          <a:p>
            <a:pPr marL="27432" lvl="1" algn="ctr"/>
            <a:endParaRPr lang="en-IN" dirty="0"/>
          </a:p>
          <a:p>
            <a:pPr marL="0" indent="0" algn="ctr" rtl="0">
              <a:buNone/>
            </a:pPr>
            <a:r>
              <a:rPr lang="en-IN" dirty="0"/>
              <a:t> Read n </a:t>
            </a:r>
          </a:p>
          <a:p>
            <a:pPr marL="0" indent="0" algn="ctr" rtl="0">
              <a:buNone/>
            </a:pPr>
            <a:r>
              <a:rPr lang="en-IN" dirty="0"/>
              <a:t> </a:t>
            </a:r>
          </a:p>
          <a:p>
            <a:pPr marL="0" indent="0" algn="ctr" rtl="0">
              <a:buNone/>
            </a:pPr>
            <a:r>
              <a:rPr lang="en-IN" dirty="0"/>
              <a:t>Generate even numbers </a:t>
            </a:r>
          </a:p>
          <a:p>
            <a:pPr marL="0" indent="0" algn="ctr" rtl="0">
              <a:buNone/>
            </a:pPr>
            <a:endParaRPr lang="en-IN" dirty="0"/>
          </a:p>
          <a:p>
            <a:pPr marL="0" indent="0" algn="ctr" rtl="0">
              <a:buNone/>
            </a:pPr>
            <a:r>
              <a:rPr lang="en-IN" dirty="0"/>
              <a:t>  Calculate sum </a:t>
            </a:r>
          </a:p>
          <a:p>
            <a:pPr marL="0" indent="0" algn="ctr" rtl="0">
              <a:buNone/>
            </a:pPr>
            <a:endParaRPr lang="en-IN" dirty="0"/>
          </a:p>
          <a:p>
            <a:pPr marL="0" indent="0" algn="ctr" rtl="0">
              <a:buNone/>
            </a:pPr>
            <a:r>
              <a:rPr lang="en-IN" dirty="0"/>
              <a:t>  Display result</a:t>
            </a:r>
          </a:p>
          <a:p>
            <a:pPr marL="0" indent="0">
              <a:buNone/>
            </a:pPr>
            <a:endParaRPr lang="en-IN" dirty="0"/>
          </a:p>
          <a:p>
            <a:pPr marL="0" indent="0">
              <a:buNone/>
            </a:pPr>
            <a:r>
              <a:rPr lang="en-IN" dirty="0"/>
              <a:t>For the calculation, we can create a function that receives n </a:t>
            </a:r>
            <a:r>
              <a:rPr lang="en-IN" b="1" dirty="0"/>
              <a:t>by value</a:t>
            </a:r>
            <a:r>
              <a:rPr lang="en-IN" dirty="0"/>
              <a:t>.</a:t>
            </a:r>
          </a:p>
          <a:p>
            <a:pPr marL="0" indent="0">
              <a:buNone/>
            </a:pPr>
            <a:endParaRPr lang="en-US" dirty="0"/>
          </a:p>
        </p:txBody>
      </p:sp>
      <p:sp>
        <p:nvSpPr>
          <p:cNvPr id="11" name="Down Arrow 10">
            <a:extLst>
              <a:ext uri="{FF2B5EF4-FFF2-40B4-BE49-F238E27FC236}">
                <a16:creationId xmlns:a16="http://schemas.microsoft.com/office/drawing/2014/main" id="{2DDC0A12-F4F6-EAD8-B847-3D5C04894E63}"/>
              </a:ext>
            </a:extLst>
          </p:cNvPr>
          <p:cNvSpPr/>
          <p:nvPr/>
        </p:nvSpPr>
        <p:spPr>
          <a:xfrm>
            <a:off x="5924550" y="2764221"/>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FA1102A3-D365-508A-BBAD-B3506185B540}"/>
              </a:ext>
            </a:extLst>
          </p:cNvPr>
          <p:cNvSpPr/>
          <p:nvPr/>
        </p:nvSpPr>
        <p:spPr>
          <a:xfrm>
            <a:off x="5924549" y="3429000"/>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89916D61-75C4-5391-D0D3-D1E73FCD4A3C}"/>
              </a:ext>
            </a:extLst>
          </p:cNvPr>
          <p:cNvSpPr/>
          <p:nvPr/>
        </p:nvSpPr>
        <p:spPr>
          <a:xfrm>
            <a:off x="5945032" y="4069884"/>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B7A161FD-0F5F-AD7A-4E12-FA79255089E5}"/>
              </a:ext>
            </a:extLst>
          </p:cNvPr>
          <p:cNvSpPr/>
          <p:nvPr/>
        </p:nvSpPr>
        <p:spPr>
          <a:xfrm>
            <a:off x="5916646" y="4745051"/>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52089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B4C995-C032-FDFE-9AB7-9015C2F4DB47}"/>
              </a:ext>
            </a:extLst>
          </p:cNvPr>
          <p:cNvSpPr>
            <a:spLocks noGrp="1"/>
          </p:cNvSpPr>
          <p:nvPr>
            <p:ph idx="1"/>
          </p:nvPr>
        </p:nvSpPr>
        <p:spPr>
          <a:xfrm>
            <a:off x="798786" y="756745"/>
            <a:ext cx="10440714" cy="5420217"/>
          </a:xfrm>
        </p:spPr>
        <p:txBody>
          <a:bodyPr/>
          <a:lstStyle/>
          <a:p>
            <a:pPr marL="0" indent="0">
              <a:buNone/>
            </a:pPr>
            <a:r>
              <a:rPr lang="en-IN" sz="2400" dirty="0"/>
              <a:t>Step 2: Understand the first n even number</a:t>
            </a:r>
            <a:r>
              <a:rPr lang="en-IN" sz="2400" b="1" dirty="0"/>
              <a:t>s</a:t>
            </a:r>
            <a:endParaRPr lang="en-IN" b="1" dirty="0"/>
          </a:p>
          <a:p>
            <a:pPr marL="0" indent="0">
              <a:buNone/>
            </a:pPr>
            <a:endParaRPr lang="en-IN" dirty="0"/>
          </a:p>
          <a:p>
            <a:pPr marL="0" indent="0">
              <a:buNone/>
            </a:pPr>
            <a:r>
              <a:rPr lang="en-IN" dirty="0"/>
              <a:t>The even numbers are:</a:t>
            </a:r>
          </a:p>
          <a:p>
            <a:pPr marL="0" indent="0" rtl="0">
              <a:buNone/>
            </a:pPr>
            <a:r>
              <a:rPr lang="en-IN" dirty="0"/>
              <a:t>	2, 4, 6, 8, 10, ...</a:t>
            </a:r>
          </a:p>
          <a:p>
            <a:pPr marL="0" indent="0">
              <a:buNone/>
            </a:pPr>
            <a:r>
              <a:rPr lang="en-IN" dirty="0"/>
              <a:t>	For n = 5:</a:t>
            </a:r>
          </a:p>
          <a:p>
            <a:pPr marL="0" indent="0" rtl="0">
              <a:buNone/>
            </a:pPr>
            <a:r>
              <a:rPr lang="en-IN" dirty="0"/>
              <a:t>	2 + 4 + 6 + 8 + 10 = 30</a:t>
            </a:r>
          </a:p>
          <a:p>
            <a:pPr marL="0" indent="0">
              <a:buNone/>
            </a:pPr>
            <a:endParaRPr lang="en-IN" dirty="0"/>
          </a:p>
          <a:p>
            <a:pPr marL="0" indent="0">
              <a:buNone/>
            </a:pPr>
            <a:r>
              <a:rPr lang="en-IN" dirty="0"/>
              <a:t>The </a:t>
            </a:r>
            <a:r>
              <a:rPr lang="en-IN" dirty="0" err="1"/>
              <a:t>ith</a:t>
            </a:r>
            <a:r>
              <a:rPr lang="en-IN" dirty="0"/>
              <a:t> even number can be obtained using:</a:t>
            </a:r>
          </a:p>
          <a:p>
            <a:pPr marL="0" indent="0" rtl="0">
              <a:buNone/>
            </a:pPr>
            <a:r>
              <a:rPr lang="en-IN" dirty="0"/>
              <a:t>	2 * </a:t>
            </a:r>
            <a:r>
              <a:rPr lang="en-IN" dirty="0" err="1"/>
              <a:t>i</a:t>
            </a:r>
            <a:endParaRPr lang="en-IN" dirty="0"/>
          </a:p>
          <a:p>
            <a:pPr marL="0" indent="0">
              <a:buNone/>
            </a:pPr>
            <a:endParaRPr lang="en-US" dirty="0"/>
          </a:p>
        </p:txBody>
      </p:sp>
    </p:spTree>
    <p:extLst>
      <p:ext uri="{BB962C8B-B14F-4D97-AF65-F5344CB8AC3E}">
        <p14:creationId xmlns:p14="http://schemas.microsoft.com/office/powerpoint/2010/main" val="26873762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CA5CE40F-2FAC-0BFC-F664-B079023CC211}"/>
              </a:ext>
            </a:extLst>
          </p:cNvPr>
          <p:cNvSpPr>
            <a:spLocks noGrp="1"/>
          </p:cNvSpPr>
          <p:nvPr>
            <p:ph idx="1"/>
          </p:nvPr>
        </p:nvSpPr>
        <p:spPr>
          <a:xfrm>
            <a:off x="567559" y="283779"/>
            <a:ext cx="10671941" cy="5893183"/>
          </a:xfrm>
        </p:spPr>
        <p:txBody>
          <a:bodyPr numCol="2">
            <a:noAutofit/>
          </a:bodyPr>
          <a:lstStyle/>
          <a:p>
            <a:pPr marL="0" indent="0">
              <a:spcBef>
                <a:spcPts val="0"/>
              </a:spcBef>
              <a:buNone/>
            </a:pPr>
            <a:r>
              <a:rPr lang="en-IN" sz="2400" b="1" dirty="0"/>
              <a:t>Step 3: C Program Using </a:t>
            </a:r>
          </a:p>
          <a:p>
            <a:pPr marL="0" indent="0">
              <a:spcBef>
                <a:spcPts val="0"/>
              </a:spcBef>
              <a:buNone/>
            </a:pPr>
            <a:r>
              <a:rPr lang="en-IN" sz="2400" b="1" dirty="0"/>
              <a:t>Pass-by-Value</a:t>
            </a:r>
          </a:p>
          <a:p>
            <a:pPr marL="0" indent="0">
              <a:spcBef>
                <a:spcPts val="0"/>
              </a:spcBef>
              <a:buNone/>
            </a:pPr>
            <a:r>
              <a:rPr lang="en-US" sz="2400" dirty="0"/>
              <a:t>#include &lt;</a:t>
            </a:r>
            <a:r>
              <a:rPr lang="en-US" sz="2400" dirty="0" err="1"/>
              <a:t>stdio.h</a:t>
            </a:r>
            <a:r>
              <a:rPr lang="en-US" sz="2400" dirty="0"/>
              <a:t>&gt;</a:t>
            </a:r>
          </a:p>
          <a:p>
            <a:pPr marL="0" indent="0">
              <a:spcBef>
                <a:spcPts val="0"/>
              </a:spcBef>
              <a:buNone/>
            </a:pPr>
            <a:r>
              <a:rPr lang="en-US" sz="2400" dirty="0"/>
              <a:t>int </a:t>
            </a:r>
            <a:r>
              <a:rPr lang="en-US" sz="2400" dirty="0" err="1"/>
              <a:t>sumEven</a:t>
            </a:r>
            <a:r>
              <a:rPr lang="en-US" sz="2400" dirty="0"/>
              <a:t>(int n)</a:t>
            </a:r>
          </a:p>
          <a:p>
            <a:pPr marL="0" indent="0">
              <a:spcBef>
                <a:spcPts val="0"/>
              </a:spcBef>
              <a:buNone/>
            </a:pPr>
            <a:r>
              <a:rPr lang="en-US" sz="2400" dirty="0"/>
              <a:t>{</a:t>
            </a:r>
          </a:p>
          <a:p>
            <a:pPr marL="0" indent="0">
              <a:spcBef>
                <a:spcPts val="0"/>
              </a:spcBef>
              <a:buNone/>
            </a:pPr>
            <a:r>
              <a:rPr lang="en-US" sz="2400" dirty="0"/>
              <a:t>    int </a:t>
            </a:r>
            <a:r>
              <a:rPr lang="en-US" sz="2400" dirty="0" err="1"/>
              <a:t>i</a:t>
            </a:r>
            <a:r>
              <a:rPr lang="en-US" sz="2400" dirty="0"/>
              <a:t>;</a:t>
            </a:r>
          </a:p>
          <a:p>
            <a:pPr marL="0" indent="0">
              <a:spcBef>
                <a:spcPts val="0"/>
              </a:spcBef>
              <a:buNone/>
            </a:pPr>
            <a:r>
              <a:rPr lang="en-US" sz="2400" dirty="0"/>
              <a:t>    int sum = 0;</a:t>
            </a:r>
          </a:p>
          <a:p>
            <a:pPr marL="0" indent="0">
              <a:spcBef>
                <a:spcPts val="0"/>
              </a:spcBef>
              <a:buNone/>
            </a:pPr>
            <a:r>
              <a:rPr lang="en-US" sz="2400" dirty="0"/>
              <a:t>    for(</a:t>
            </a:r>
            <a:r>
              <a:rPr lang="en-US" sz="2400" dirty="0" err="1"/>
              <a:t>i</a:t>
            </a:r>
            <a:r>
              <a:rPr lang="en-US" sz="2400" dirty="0"/>
              <a:t> = 1; </a:t>
            </a:r>
            <a:r>
              <a:rPr lang="en-US" sz="2400" dirty="0" err="1"/>
              <a:t>i</a:t>
            </a:r>
            <a:r>
              <a:rPr lang="en-US" sz="2400" dirty="0"/>
              <a:t> &lt;= n; </a:t>
            </a:r>
            <a:r>
              <a:rPr lang="en-US" sz="2400" dirty="0" err="1"/>
              <a:t>i</a:t>
            </a:r>
            <a:r>
              <a:rPr lang="en-US" sz="2400" dirty="0"/>
              <a:t>++)</a:t>
            </a:r>
          </a:p>
          <a:p>
            <a:pPr marL="0" indent="0">
              <a:spcBef>
                <a:spcPts val="0"/>
              </a:spcBef>
              <a:buNone/>
            </a:pPr>
            <a:r>
              <a:rPr lang="en-US" sz="2400" dirty="0"/>
              <a:t>    {</a:t>
            </a:r>
          </a:p>
          <a:p>
            <a:pPr marL="0" indent="0">
              <a:spcBef>
                <a:spcPts val="0"/>
              </a:spcBef>
              <a:buNone/>
            </a:pPr>
            <a:r>
              <a:rPr lang="en-US" sz="2400" dirty="0"/>
              <a:t>        sum = sum + (2 * </a:t>
            </a:r>
            <a:r>
              <a:rPr lang="en-US" sz="2400" dirty="0" err="1"/>
              <a:t>i</a:t>
            </a:r>
            <a:r>
              <a:rPr lang="en-US" sz="2400" dirty="0"/>
              <a:t>);</a:t>
            </a:r>
          </a:p>
          <a:p>
            <a:pPr marL="0" indent="0">
              <a:spcBef>
                <a:spcPts val="0"/>
              </a:spcBef>
              <a:buNone/>
            </a:pPr>
            <a:r>
              <a:rPr lang="en-US" sz="2400" dirty="0"/>
              <a:t>    }</a:t>
            </a:r>
          </a:p>
          <a:p>
            <a:pPr marL="0" indent="0">
              <a:spcBef>
                <a:spcPts val="0"/>
              </a:spcBef>
              <a:buNone/>
            </a:pPr>
            <a:r>
              <a:rPr lang="en-US" sz="2400" dirty="0"/>
              <a:t>    return sum;</a:t>
            </a:r>
          </a:p>
          <a:p>
            <a:pPr marL="0" indent="0">
              <a:spcBef>
                <a:spcPts val="0"/>
              </a:spcBef>
              <a:buNone/>
            </a:pPr>
            <a:r>
              <a:rPr lang="en-US" sz="2400" dirty="0"/>
              <a:t>}</a:t>
            </a:r>
          </a:p>
          <a:p>
            <a:pPr marL="0" indent="0">
              <a:spcBef>
                <a:spcPts val="0"/>
              </a:spcBef>
              <a:buNone/>
            </a:pPr>
            <a:r>
              <a:rPr lang="en-US" sz="2400" dirty="0"/>
              <a:t>int main()</a:t>
            </a:r>
          </a:p>
          <a:p>
            <a:pPr marL="0" indent="0">
              <a:spcBef>
                <a:spcPts val="0"/>
              </a:spcBef>
              <a:buNone/>
            </a:pPr>
            <a:r>
              <a:rPr lang="en-US" sz="2400" dirty="0"/>
              <a:t>{</a:t>
            </a:r>
          </a:p>
          <a:p>
            <a:pPr marL="0" indent="0">
              <a:spcBef>
                <a:spcPts val="0"/>
              </a:spcBef>
              <a:buNone/>
            </a:pPr>
            <a:r>
              <a:rPr lang="en-US" sz="2400" dirty="0"/>
              <a:t>    int n, result;</a:t>
            </a:r>
          </a:p>
          <a:p>
            <a:pPr marL="0" indent="0">
              <a:spcBef>
                <a:spcPts val="0"/>
              </a:spcBef>
              <a:buNone/>
            </a:pPr>
            <a:r>
              <a:rPr lang="en-US" sz="2400" dirty="0"/>
              <a:t>    </a:t>
            </a:r>
            <a:r>
              <a:rPr lang="en-US" sz="2400" dirty="0" err="1"/>
              <a:t>printf</a:t>
            </a:r>
            <a:r>
              <a:rPr lang="en-US" sz="2400" dirty="0"/>
              <a:t>("Enter the number of even numbers: ");</a:t>
            </a:r>
          </a:p>
          <a:p>
            <a:pPr marL="0" indent="0">
              <a:spcBef>
                <a:spcPts val="0"/>
              </a:spcBef>
              <a:buNone/>
            </a:pPr>
            <a:r>
              <a:rPr lang="en-US" sz="2400" dirty="0"/>
              <a:t>    </a:t>
            </a:r>
            <a:r>
              <a:rPr lang="en-US" sz="2400" dirty="0" err="1"/>
              <a:t>scanf</a:t>
            </a:r>
            <a:r>
              <a:rPr lang="en-US" sz="2400" dirty="0"/>
              <a:t>("%d", &amp;n);</a:t>
            </a:r>
          </a:p>
          <a:p>
            <a:pPr marL="0" indent="0">
              <a:spcBef>
                <a:spcPts val="0"/>
              </a:spcBef>
              <a:buNone/>
            </a:pPr>
            <a:r>
              <a:rPr lang="en-US" sz="2400" dirty="0"/>
              <a:t>    result = </a:t>
            </a:r>
            <a:r>
              <a:rPr lang="en-US" sz="2400" dirty="0" err="1"/>
              <a:t>sumEven</a:t>
            </a:r>
            <a:r>
              <a:rPr lang="en-US" sz="2400" dirty="0"/>
              <a:t>(n);</a:t>
            </a:r>
          </a:p>
          <a:p>
            <a:pPr marL="0" indent="0">
              <a:spcBef>
                <a:spcPts val="0"/>
              </a:spcBef>
              <a:buNone/>
            </a:pPr>
            <a:r>
              <a:rPr lang="en-US" sz="2400" dirty="0"/>
              <a:t>    </a:t>
            </a:r>
            <a:r>
              <a:rPr lang="en-US" sz="2400" dirty="0" err="1"/>
              <a:t>printf</a:t>
            </a:r>
            <a:r>
              <a:rPr lang="en-US" sz="2400" dirty="0"/>
              <a:t>("Sum of first %d even numbers = %d", n, result);</a:t>
            </a:r>
          </a:p>
          <a:p>
            <a:pPr marL="0" indent="0">
              <a:spcBef>
                <a:spcPts val="0"/>
              </a:spcBef>
              <a:buNone/>
            </a:pPr>
            <a:r>
              <a:rPr lang="en-US" sz="2400" dirty="0"/>
              <a:t>    return 0;</a:t>
            </a:r>
          </a:p>
          <a:p>
            <a:pPr marL="0" indent="0">
              <a:spcBef>
                <a:spcPts val="0"/>
              </a:spcBef>
              <a:buNone/>
            </a:pPr>
            <a:r>
              <a:rPr lang="en-US" sz="2400" dirty="0"/>
              <a:t>}</a:t>
            </a:r>
          </a:p>
        </p:txBody>
      </p:sp>
    </p:spTree>
    <p:extLst>
      <p:ext uri="{BB962C8B-B14F-4D97-AF65-F5344CB8AC3E}">
        <p14:creationId xmlns:p14="http://schemas.microsoft.com/office/powerpoint/2010/main" val="42696128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95F822-A791-875D-BA03-43D8115FD095}"/>
              </a:ext>
            </a:extLst>
          </p:cNvPr>
          <p:cNvSpPr>
            <a:spLocks noGrp="1"/>
          </p:cNvSpPr>
          <p:nvPr>
            <p:ph idx="1"/>
          </p:nvPr>
        </p:nvSpPr>
        <p:spPr>
          <a:xfrm>
            <a:off x="788276" y="546539"/>
            <a:ext cx="10451224" cy="5630424"/>
          </a:xfrm>
        </p:spPr>
        <p:txBody>
          <a:bodyPr/>
          <a:lstStyle/>
          <a:p>
            <a:pPr marL="0" indent="0">
              <a:buNone/>
            </a:pPr>
            <a:r>
              <a:rPr lang="en-IN" b="1" dirty="0"/>
              <a:t>Example : </a:t>
            </a:r>
          </a:p>
          <a:p>
            <a:pPr marL="0" indent="0">
              <a:buNone/>
            </a:pPr>
            <a:r>
              <a:rPr lang="en-IN" b="1" dirty="0"/>
              <a:t>Input:</a:t>
            </a:r>
            <a:endParaRPr lang="en-IN" dirty="0"/>
          </a:p>
          <a:p>
            <a:pPr marL="0" indent="0" rtl="0">
              <a:buNone/>
            </a:pPr>
            <a:r>
              <a:rPr lang="en-IN" dirty="0"/>
              <a:t>5</a:t>
            </a:r>
          </a:p>
          <a:p>
            <a:pPr marL="0" indent="0">
              <a:buNone/>
            </a:pPr>
            <a:r>
              <a:rPr lang="en-IN" b="1" dirty="0"/>
              <a:t>Calculation:</a:t>
            </a:r>
            <a:endParaRPr lang="en-IN" dirty="0"/>
          </a:p>
          <a:p>
            <a:pPr marL="0" indent="0" rtl="0">
              <a:buNone/>
            </a:pPr>
            <a:r>
              <a:rPr lang="en-IN" dirty="0"/>
              <a:t>2 + 4 + 6 + 8 + 10 = 30</a:t>
            </a:r>
          </a:p>
          <a:p>
            <a:pPr marL="0" indent="0">
              <a:buNone/>
            </a:pPr>
            <a:r>
              <a:rPr lang="en-IN" b="1" dirty="0"/>
              <a:t>Output:</a:t>
            </a:r>
            <a:endParaRPr lang="en-IN" dirty="0"/>
          </a:p>
          <a:p>
            <a:pPr marL="0" indent="0" rtl="0">
              <a:buNone/>
            </a:pPr>
            <a:r>
              <a:rPr lang="en-IN" dirty="0"/>
              <a:t>Sum of first 5 even numbers = 30</a:t>
            </a:r>
          </a:p>
          <a:p>
            <a:pPr marL="0" indent="0">
              <a:buNone/>
            </a:pPr>
            <a:endParaRPr lang="en-US" dirty="0"/>
          </a:p>
        </p:txBody>
      </p:sp>
    </p:spTree>
    <p:extLst>
      <p:ext uri="{BB962C8B-B14F-4D97-AF65-F5344CB8AC3E}">
        <p14:creationId xmlns:p14="http://schemas.microsoft.com/office/powerpoint/2010/main" val="5102373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93ECC-6831-AFF0-1C4C-D1125599A83B}"/>
              </a:ext>
            </a:extLst>
          </p:cNvPr>
          <p:cNvSpPr>
            <a:spLocks noGrp="1"/>
          </p:cNvSpPr>
          <p:nvPr>
            <p:ph idx="1"/>
          </p:nvPr>
        </p:nvSpPr>
        <p:spPr>
          <a:xfrm>
            <a:off x="136634" y="882869"/>
            <a:ext cx="12055366" cy="5294093"/>
          </a:xfrm>
        </p:spPr>
        <p:txBody>
          <a:bodyPr>
            <a:normAutofit fontScale="92500" lnSpcReduction="10000"/>
          </a:bodyPr>
          <a:lstStyle/>
          <a:p>
            <a:pPr marL="0" indent="0">
              <a:buNone/>
            </a:pPr>
            <a:r>
              <a:rPr lang="en-IN" b="1" dirty="0"/>
              <a:t>How is this pass-by-value?</a:t>
            </a:r>
          </a:p>
          <a:p>
            <a:pPr marL="0" indent="0">
              <a:buNone/>
            </a:pPr>
            <a:r>
              <a:rPr lang="en-IN" dirty="0"/>
              <a:t>result = </a:t>
            </a:r>
            <a:r>
              <a:rPr lang="en-IN" dirty="0" err="1"/>
              <a:t>sumEven</a:t>
            </a:r>
            <a:r>
              <a:rPr lang="en-IN" dirty="0"/>
              <a:t>(n);</a:t>
            </a:r>
          </a:p>
          <a:p>
            <a:r>
              <a:rPr lang="en-IN" dirty="0"/>
              <a:t>The </a:t>
            </a:r>
            <a:r>
              <a:rPr lang="en-IN" b="1" dirty="0"/>
              <a:t>function copies the value of n into its parameter n.</a:t>
            </a:r>
            <a:endParaRPr lang="en-IN" dirty="0"/>
          </a:p>
          <a:p>
            <a:pPr marL="64008" lvl="2" indent="0" algn="ctr">
              <a:buNone/>
            </a:pPr>
            <a:r>
              <a:rPr lang="en-IN" sz="2400" dirty="0">
                <a:solidFill>
                  <a:srgbClr val="0070C0"/>
                </a:solidFill>
              </a:rPr>
              <a:t>main()</a:t>
            </a:r>
          </a:p>
          <a:p>
            <a:pPr marL="64008" lvl="2" indent="0" algn="ctr">
              <a:buNone/>
            </a:pPr>
            <a:r>
              <a:rPr lang="en-IN" sz="2400" dirty="0"/>
              <a:t> n</a:t>
            </a:r>
          </a:p>
          <a:p>
            <a:pPr marL="64008" lvl="2" indent="0" algn="ctr">
              <a:buNone/>
            </a:pPr>
            <a:r>
              <a:rPr lang="en-IN" sz="2400" dirty="0"/>
              <a:t> ↓ </a:t>
            </a:r>
          </a:p>
          <a:p>
            <a:pPr marL="64008" lvl="2" indent="0" algn="ctr">
              <a:buNone/>
            </a:pPr>
            <a:r>
              <a:rPr lang="en-IN" sz="2400" dirty="0" err="1"/>
              <a:t>sumEven</a:t>
            </a:r>
            <a:r>
              <a:rPr lang="en-IN" sz="2400" dirty="0"/>
              <a:t>(n) </a:t>
            </a:r>
          </a:p>
          <a:p>
            <a:pPr marL="64008" lvl="2" indent="0" algn="ctr">
              <a:buNone/>
            </a:pPr>
            <a:r>
              <a:rPr lang="en-IN" sz="2400" dirty="0"/>
              <a:t>↓ </a:t>
            </a:r>
          </a:p>
          <a:p>
            <a:pPr marL="64008" lvl="2" indent="0" algn="ctr">
              <a:buNone/>
            </a:pPr>
            <a:r>
              <a:rPr lang="en-IN" sz="2400" dirty="0"/>
              <a:t>calculate sum </a:t>
            </a:r>
          </a:p>
          <a:p>
            <a:pPr marL="64008" lvl="2" indent="0" algn="ctr">
              <a:buNone/>
            </a:pPr>
            <a:r>
              <a:rPr lang="en-IN" sz="2400" dirty="0"/>
              <a:t> ↓</a:t>
            </a:r>
          </a:p>
          <a:p>
            <a:pPr marL="64008" lvl="2" indent="0" algn="ctr">
              <a:buNone/>
            </a:pPr>
            <a:r>
              <a:rPr lang="en-IN" sz="2400" dirty="0"/>
              <a:t> return result</a:t>
            </a:r>
          </a:p>
          <a:p>
            <a:r>
              <a:rPr lang="en-IN" dirty="0"/>
              <a:t>The function does not modify the original n.</a:t>
            </a:r>
          </a:p>
          <a:p>
            <a:pPr marL="0" indent="0">
              <a:buNone/>
            </a:pPr>
            <a:endParaRPr lang="en-US" dirty="0"/>
          </a:p>
        </p:txBody>
      </p:sp>
    </p:spTree>
    <p:extLst>
      <p:ext uri="{BB962C8B-B14F-4D97-AF65-F5344CB8AC3E}">
        <p14:creationId xmlns:p14="http://schemas.microsoft.com/office/powerpoint/2010/main" val="36908558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B33DF06-BD7F-8160-C45A-856BE8E92DDB}"/>
              </a:ext>
            </a:extLst>
          </p:cNvPr>
          <p:cNvGraphicFramePr>
            <a:graphicFrameLocks noGrp="1"/>
          </p:cNvGraphicFramePr>
          <p:nvPr>
            <p:ph idx="1"/>
            <p:extLst>
              <p:ext uri="{D42A27DB-BD31-4B8C-83A1-F6EECF244321}">
                <p14:modId xmlns:p14="http://schemas.microsoft.com/office/powerpoint/2010/main" val="3482579810"/>
              </p:ext>
            </p:extLst>
          </p:nvPr>
        </p:nvGraphicFramePr>
        <p:xfrm>
          <a:off x="833437" y="2201545"/>
          <a:ext cx="7396163" cy="2286000"/>
        </p:xfrm>
        <a:graphic>
          <a:graphicData uri="http://schemas.openxmlformats.org/drawingml/2006/table">
            <a:tbl>
              <a:tblPr>
                <a:tableStyleId>{5940675A-B579-460E-94D1-54222C63F5DA}</a:tableStyleId>
              </a:tblPr>
              <a:tblGrid>
                <a:gridCol w="3433763">
                  <a:extLst>
                    <a:ext uri="{9D8B030D-6E8A-4147-A177-3AD203B41FA5}">
                      <a16:colId xmlns:a16="http://schemas.microsoft.com/office/drawing/2014/main" val="1945305236"/>
                    </a:ext>
                  </a:extLst>
                </a:gridCol>
                <a:gridCol w="3962400">
                  <a:extLst>
                    <a:ext uri="{9D8B030D-6E8A-4147-A177-3AD203B41FA5}">
                      <a16:colId xmlns:a16="http://schemas.microsoft.com/office/drawing/2014/main" val="3902401890"/>
                    </a:ext>
                  </a:extLst>
                </a:gridCol>
              </a:tblGrid>
              <a:tr h="0">
                <a:tc>
                  <a:txBody>
                    <a:bodyPr/>
                    <a:lstStyle/>
                    <a:p>
                      <a:r>
                        <a:rPr lang="en-IN" sz="2400" b="1" dirty="0"/>
                        <a:t>Sub-task</a:t>
                      </a:r>
                    </a:p>
                  </a:txBody>
                  <a:tcPr anchor="ctr"/>
                </a:tc>
                <a:tc>
                  <a:txBody>
                    <a:bodyPr/>
                    <a:lstStyle/>
                    <a:p>
                      <a:r>
                        <a:rPr lang="en-IN" sz="2400" b="1" dirty="0"/>
                        <a:t>Code</a:t>
                      </a:r>
                    </a:p>
                  </a:txBody>
                  <a:tcPr anchor="ctr"/>
                </a:tc>
                <a:extLst>
                  <a:ext uri="{0D108BD9-81ED-4DB2-BD59-A6C34878D82A}">
                    <a16:rowId xmlns:a16="http://schemas.microsoft.com/office/drawing/2014/main" val="1516333302"/>
                  </a:ext>
                </a:extLst>
              </a:tr>
              <a:tr h="0">
                <a:tc>
                  <a:txBody>
                    <a:bodyPr/>
                    <a:lstStyle/>
                    <a:p>
                      <a:r>
                        <a:rPr lang="en-IN" dirty="0"/>
                        <a:t>Read n</a:t>
                      </a:r>
                    </a:p>
                  </a:txBody>
                  <a:tcPr anchor="ctr"/>
                </a:tc>
                <a:tc>
                  <a:txBody>
                    <a:bodyPr/>
                    <a:lstStyle/>
                    <a:p>
                      <a:r>
                        <a:rPr lang="en-IN" dirty="0" err="1"/>
                        <a:t>scanf</a:t>
                      </a:r>
                      <a:r>
                        <a:rPr lang="en-IN" dirty="0"/>
                        <a:t>() in main()</a:t>
                      </a:r>
                    </a:p>
                  </a:txBody>
                  <a:tcPr anchor="ctr"/>
                </a:tc>
                <a:extLst>
                  <a:ext uri="{0D108BD9-81ED-4DB2-BD59-A6C34878D82A}">
                    <a16:rowId xmlns:a16="http://schemas.microsoft.com/office/drawing/2014/main" val="2641346242"/>
                  </a:ext>
                </a:extLst>
              </a:tr>
              <a:tr h="0">
                <a:tc>
                  <a:txBody>
                    <a:bodyPr/>
                    <a:lstStyle/>
                    <a:p>
                      <a:r>
                        <a:rPr lang="en-IN" dirty="0"/>
                        <a:t>Generate even numbers</a:t>
                      </a:r>
                    </a:p>
                  </a:txBody>
                  <a:tcPr anchor="ctr"/>
                </a:tc>
                <a:tc>
                  <a:txBody>
                    <a:bodyPr/>
                    <a:lstStyle/>
                    <a:p>
                      <a:r>
                        <a:rPr lang="en-IN"/>
                        <a:t>2 * i</a:t>
                      </a:r>
                    </a:p>
                  </a:txBody>
                  <a:tcPr anchor="ctr"/>
                </a:tc>
                <a:extLst>
                  <a:ext uri="{0D108BD9-81ED-4DB2-BD59-A6C34878D82A}">
                    <a16:rowId xmlns:a16="http://schemas.microsoft.com/office/drawing/2014/main" val="774566250"/>
                  </a:ext>
                </a:extLst>
              </a:tr>
              <a:tr h="0">
                <a:tc>
                  <a:txBody>
                    <a:bodyPr/>
                    <a:lstStyle/>
                    <a:p>
                      <a:r>
                        <a:rPr lang="en-IN" dirty="0"/>
                        <a:t>Calculate sum</a:t>
                      </a:r>
                    </a:p>
                  </a:txBody>
                  <a:tcPr anchor="ctr"/>
                </a:tc>
                <a:tc>
                  <a:txBody>
                    <a:bodyPr/>
                    <a:lstStyle/>
                    <a:p>
                      <a:r>
                        <a:rPr lang="en-IN"/>
                        <a:t>sumEven()</a:t>
                      </a:r>
                    </a:p>
                  </a:txBody>
                  <a:tcPr anchor="ctr"/>
                </a:tc>
                <a:extLst>
                  <a:ext uri="{0D108BD9-81ED-4DB2-BD59-A6C34878D82A}">
                    <a16:rowId xmlns:a16="http://schemas.microsoft.com/office/drawing/2014/main" val="4002177213"/>
                  </a:ext>
                </a:extLst>
              </a:tr>
              <a:tr h="0">
                <a:tc>
                  <a:txBody>
                    <a:bodyPr/>
                    <a:lstStyle/>
                    <a:p>
                      <a:r>
                        <a:rPr lang="en-IN" dirty="0"/>
                        <a:t>Return answer</a:t>
                      </a:r>
                    </a:p>
                  </a:txBody>
                  <a:tcPr anchor="ctr"/>
                </a:tc>
                <a:tc>
                  <a:txBody>
                    <a:bodyPr/>
                    <a:lstStyle/>
                    <a:p>
                      <a:r>
                        <a:rPr lang="en-IN"/>
                        <a:t>return sum</a:t>
                      </a:r>
                    </a:p>
                  </a:txBody>
                  <a:tcPr anchor="ctr"/>
                </a:tc>
                <a:extLst>
                  <a:ext uri="{0D108BD9-81ED-4DB2-BD59-A6C34878D82A}">
                    <a16:rowId xmlns:a16="http://schemas.microsoft.com/office/drawing/2014/main" val="1377027731"/>
                  </a:ext>
                </a:extLst>
              </a:tr>
              <a:tr h="0">
                <a:tc>
                  <a:txBody>
                    <a:bodyPr/>
                    <a:lstStyle/>
                    <a:p>
                      <a:r>
                        <a:rPr lang="en-IN" dirty="0"/>
                        <a:t>Display result</a:t>
                      </a:r>
                    </a:p>
                  </a:txBody>
                  <a:tcPr anchor="ctr"/>
                </a:tc>
                <a:tc>
                  <a:txBody>
                    <a:bodyPr/>
                    <a:lstStyle/>
                    <a:p>
                      <a:r>
                        <a:rPr lang="en-IN" dirty="0" err="1"/>
                        <a:t>printf</a:t>
                      </a:r>
                      <a:r>
                        <a:rPr lang="en-IN" dirty="0"/>
                        <a:t>() in main()</a:t>
                      </a:r>
                    </a:p>
                  </a:txBody>
                  <a:tcPr anchor="ctr"/>
                </a:tc>
                <a:extLst>
                  <a:ext uri="{0D108BD9-81ED-4DB2-BD59-A6C34878D82A}">
                    <a16:rowId xmlns:a16="http://schemas.microsoft.com/office/drawing/2014/main" val="3194674775"/>
                  </a:ext>
                </a:extLst>
              </a:tr>
            </a:tbl>
          </a:graphicData>
        </a:graphic>
      </p:graphicFrame>
      <p:sp>
        <p:nvSpPr>
          <p:cNvPr id="7" name="TextBox 6">
            <a:extLst>
              <a:ext uri="{FF2B5EF4-FFF2-40B4-BE49-F238E27FC236}">
                <a16:creationId xmlns:a16="http://schemas.microsoft.com/office/drawing/2014/main" id="{1F3D21CB-4CA4-85D6-3702-5692EEA57596}"/>
              </a:ext>
            </a:extLst>
          </p:cNvPr>
          <p:cNvSpPr txBox="1"/>
          <p:nvPr/>
        </p:nvSpPr>
        <p:spPr>
          <a:xfrm>
            <a:off x="1240220" y="966216"/>
            <a:ext cx="60960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Decomposition Used</a:t>
            </a:r>
          </a:p>
        </p:txBody>
      </p:sp>
      <p:sp>
        <p:nvSpPr>
          <p:cNvPr id="9" name="TextBox 8">
            <a:extLst>
              <a:ext uri="{FF2B5EF4-FFF2-40B4-BE49-F238E27FC236}">
                <a16:creationId xmlns:a16="http://schemas.microsoft.com/office/drawing/2014/main" id="{8069D571-AD37-5B5B-8A8B-99D9D460F545}"/>
              </a:ext>
            </a:extLst>
          </p:cNvPr>
          <p:cNvSpPr txBox="1"/>
          <p:nvPr/>
        </p:nvSpPr>
        <p:spPr>
          <a:xfrm>
            <a:off x="536028" y="4879851"/>
            <a:ext cx="11214537" cy="923330"/>
          </a:xfrm>
          <a:prstGeom prst="rect">
            <a:avLst/>
          </a:prstGeom>
          <a:noFill/>
        </p:spPr>
        <p:txBody>
          <a:bodyPr wrap="square">
            <a:spAutoFit/>
          </a:bodyPr>
          <a:lstStyle/>
          <a:p>
            <a:r>
              <a:rPr lang="en-IN" dirty="0"/>
              <a:t>The problem breaks down into smaller tasks: read the value of n, generate the first n even numbers, calculate their sum, and display the result. The </a:t>
            </a:r>
            <a:r>
              <a:rPr lang="en-IN" dirty="0" err="1"/>
              <a:t>sumEven</a:t>
            </a:r>
            <a:r>
              <a:rPr lang="en-IN" dirty="0"/>
              <a:t>() function receives n by value, calculates the sum, and returns the result to the calling function.</a:t>
            </a:r>
            <a:endParaRPr lang="en-US" dirty="0"/>
          </a:p>
        </p:txBody>
      </p:sp>
    </p:spTree>
    <p:extLst>
      <p:ext uri="{BB962C8B-B14F-4D97-AF65-F5344CB8AC3E}">
        <p14:creationId xmlns:p14="http://schemas.microsoft.com/office/powerpoint/2010/main" val="17675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E480-9AEF-D3CF-FD31-FCDFC4A20FFF}"/>
              </a:ext>
            </a:extLst>
          </p:cNvPr>
          <p:cNvSpPr>
            <a:spLocks noGrp="1"/>
          </p:cNvSpPr>
          <p:nvPr>
            <p:ph type="title"/>
          </p:nvPr>
        </p:nvSpPr>
        <p:spPr>
          <a:xfrm>
            <a:off x="409903" y="0"/>
            <a:ext cx="11550869" cy="1147762"/>
          </a:xfrm>
        </p:spPr>
        <p:txBody>
          <a:bodyPr/>
          <a:lstStyle/>
          <a:p>
            <a:r>
              <a:rPr lang="en-IN" dirty="0"/>
              <a:t>Practice 1: </a:t>
            </a:r>
            <a:r>
              <a:rPr lang="en-IN" b="1" dirty="0"/>
              <a:t>Employee Salary </a:t>
            </a:r>
            <a:r>
              <a:rPr lang="en-IN" dirty="0"/>
              <a:t>Analysis</a:t>
            </a:r>
          </a:p>
        </p:txBody>
      </p:sp>
      <p:sp>
        <p:nvSpPr>
          <p:cNvPr id="3" name="Content Placeholder 2">
            <a:extLst>
              <a:ext uri="{FF2B5EF4-FFF2-40B4-BE49-F238E27FC236}">
                <a16:creationId xmlns:a16="http://schemas.microsoft.com/office/drawing/2014/main" id="{DD459200-8D4F-59B1-0752-B3F34A6421AB}"/>
              </a:ext>
            </a:extLst>
          </p:cNvPr>
          <p:cNvSpPr>
            <a:spLocks noGrp="1"/>
          </p:cNvSpPr>
          <p:nvPr>
            <p:ph idx="1"/>
          </p:nvPr>
        </p:nvSpPr>
        <p:spPr>
          <a:xfrm>
            <a:off x="409903" y="1292772"/>
            <a:ext cx="10829597" cy="5402317"/>
          </a:xfrm>
        </p:spPr>
        <p:txBody>
          <a:bodyPr>
            <a:normAutofit fontScale="85000" lnSpcReduction="20000"/>
          </a:bodyPr>
          <a:lstStyle/>
          <a:p>
            <a:pPr marL="0" indent="0">
              <a:buNone/>
            </a:pPr>
            <a:r>
              <a:rPr lang="en-IN" b="1" dirty="0"/>
              <a:t>Example:  Calculate an Employee Salary</a:t>
            </a:r>
          </a:p>
          <a:p>
            <a:pPr marL="0" indent="0">
              <a:buNone/>
            </a:pPr>
            <a:r>
              <a:rPr lang="en-IN" b="1" dirty="0"/>
              <a:t>Problem : </a:t>
            </a:r>
          </a:p>
          <a:p>
            <a:r>
              <a:rPr lang="en-IN" b="1" dirty="0"/>
              <a:t>Calculate the salary of an employee: Basic Salary, HRA, DA and Gross Salary.</a:t>
            </a:r>
            <a:endParaRPr lang="en-IN" dirty="0"/>
          </a:p>
          <a:p>
            <a:pPr marL="0" indent="0">
              <a:buNone/>
            </a:pPr>
            <a:r>
              <a:rPr lang="en-IN" b="1" dirty="0"/>
              <a:t>Decompose the problem into smaller tasks :</a:t>
            </a:r>
          </a:p>
          <a:p>
            <a:pPr marL="0" indent="0" algn="ctr">
              <a:buNone/>
            </a:pPr>
            <a:r>
              <a:rPr lang="en-IN" b="1" dirty="0"/>
              <a:t>Calculate Employee Salary</a:t>
            </a:r>
          </a:p>
          <a:p>
            <a:pPr marL="0" indent="0" algn="ctr">
              <a:buNone/>
            </a:pPr>
            <a:r>
              <a:rPr lang="en-IN" b="1" dirty="0"/>
              <a:t>          |</a:t>
            </a:r>
          </a:p>
          <a:p>
            <a:pPr marL="0" indent="0" algn="ctr">
              <a:buNone/>
            </a:pPr>
            <a:r>
              <a:rPr lang="en-IN" b="1" dirty="0"/>
              <a:t>          basic salary</a:t>
            </a:r>
          </a:p>
          <a:p>
            <a:pPr marL="0" indent="0" algn="ctr">
              <a:buNone/>
            </a:pPr>
            <a:r>
              <a:rPr lang="en-IN" b="1" dirty="0"/>
              <a:t>          |</a:t>
            </a:r>
          </a:p>
          <a:p>
            <a:pPr marL="0" indent="0" algn="ctr">
              <a:buNone/>
            </a:pPr>
            <a:r>
              <a:rPr lang="en-IN" b="1" dirty="0"/>
              <a:t>          Calculate HRA</a:t>
            </a:r>
          </a:p>
          <a:p>
            <a:pPr marL="0" indent="0" algn="ctr">
              <a:buNone/>
            </a:pPr>
            <a:r>
              <a:rPr lang="en-IN" b="1" dirty="0"/>
              <a:t>          |</a:t>
            </a:r>
          </a:p>
          <a:p>
            <a:pPr marL="0" indent="0" algn="ctr">
              <a:buNone/>
            </a:pPr>
            <a:r>
              <a:rPr lang="en-IN" b="1" dirty="0"/>
              <a:t>          Calculate DA</a:t>
            </a:r>
          </a:p>
          <a:p>
            <a:pPr marL="0" indent="0" algn="ctr">
              <a:buNone/>
            </a:pPr>
            <a:r>
              <a:rPr lang="en-IN" b="1" dirty="0"/>
              <a:t>          |</a:t>
            </a:r>
          </a:p>
          <a:p>
            <a:pPr marL="0" indent="0" algn="ctr">
              <a:buNone/>
            </a:pPr>
            <a:r>
              <a:rPr lang="en-IN" b="1" dirty="0"/>
              <a:t>    Calculate Gross Salary</a:t>
            </a:r>
          </a:p>
          <a:p>
            <a:pPr marL="0" indent="0" algn="ctr">
              <a:buNone/>
            </a:pPr>
            <a:r>
              <a:rPr lang="en-IN" b="1" dirty="0"/>
              <a:t>          |</a:t>
            </a:r>
          </a:p>
          <a:p>
            <a:pPr marL="0" indent="0" algn="ctr">
              <a:buNone/>
            </a:pPr>
            <a:r>
              <a:rPr lang="en-IN" b="1" dirty="0"/>
              <a:t>         Display salary details</a:t>
            </a:r>
          </a:p>
          <a:p>
            <a:endParaRPr lang="en-IN" b="1" dirty="0"/>
          </a:p>
          <a:p>
            <a:pPr marL="0" indent="0">
              <a:buNone/>
            </a:pPr>
            <a:endParaRPr lang="en-IN" dirty="0"/>
          </a:p>
        </p:txBody>
      </p:sp>
    </p:spTree>
    <p:extLst>
      <p:ext uri="{BB962C8B-B14F-4D97-AF65-F5344CB8AC3E}">
        <p14:creationId xmlns:p14="http://schemas.microsoft.com/office/powerpoint/2010/main" val="26221408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F528A4-379A-C2E4-D918-D013E77A62EB}"/>
              </a:ext>
            </a:extLst>
          </p:cNvPr>
          <p:cNvSpPr>
            <a:spLocks noGrp="1"/>
          </p:cNvSpPr>
          <p:nvPr>
            <p:ph type="title"/>
          </p:nvPr>
        </p:nvSpPr>
        <p:spPr>
          <a:xfrm>
            <a:off x="952500" y="757238"/>
            <a:ext cx="10287000" cy="5012941"/>
          </a:xfrm>
        </p:spPr>
        <p:txBody>
          <a:bodyPr/>
          <a:lstStyle/>
          <a:p>
            <a:pPr algn="ctr"/>
            <a:r>
              <a:rPr lang="en-IN" dirty="0" err="1"/>
              <a:t>readSalary</a:t>
            </a:r>
            <a:r>
              <a:rPr lang="en-IN" dirty="0"/>
              <a:t>()</a:t>
            </a:r>
            <a:br>
              <a:rPr lang="en-IN" dirty="0"/>
            </a:br>
            <a:r>
              <a:rPr lang="en-IN" dirty="0"/>
              <a:t>     ↓</a:t>
            </a:r>
            <a:br>
              <a:rPr lang="en-IN" dirty="0"/>
            </a:br>
            <a:r>
              <a:rPr lang="en-IN" dirty="0" err="1"/>
              <a:t>calculateHRA</a:t>
            </a:r>
            <a:r>
              <a:rPr lang="en-IN" dirty="0"/>
              <a:t>()</a:t>
            </a:r>
            <a:br>
              <a:rPr lang="en-IN" dirty="0"/>
            </a:br>
            <a:r>
              <a:rPr lang="en-IN" dirty="0"/>
              <a:t>     ↓</a:t>
            </a:r>
            <a:br>
              <a:rPr lang="en-IN" dirty="0"/>
            </a:br>
            <a:r>
              <a:rPr lang="en-IN" dirty="0" err="1"/>
              <a:t>calculateDA</a:t>
            </a:r>
            <a:r>
              <a:rPr lang="en-IN" dirty="0"/>
              <a:t>()</a:t>
            </a:r>
            <a:br>
              <a:rPr lang="en-IN" dirty="0"/>
            </a:br>
            <a:r>
              <a:rPr lang="en-IN" dirty="0"/>
              <a:t>     ↓</a:t>
            </a:r>
            <a:br>
              <a:rPr lang="en-IN" dirty="0"/>
            </a:br>
            <a:r>
              <a:rPr lang="en-IN" dirty="0" err="1"/>
              <a:t>calculateGrossSalary</a:t>
            </a:r>
            <a:r>
              <a:rPr lang="en-IN" dirty="0"/>
              <a:t>()</a:t>
            </a:r>
            <a:br>
              <a:rPr lang="en-IN" dirty="0"/>
            </a:br>
            <a:r>
              <a:rPr lang="en-IN" dirty="0"/>
              <a:t>     ↓</a:t>
            </a:r>
            <a:br>
              <a:rPr lang="en-IN" dirty="0"/>
            </a:br>
            <a:r>
              <a:rPr lang="en-IN" dirty="0" err="1"/>
              <a:t>displaySalary</a:t>
            </a:r>
            <a:r>
              <a:rPr lang="en-IN" dirty="0"/>
              <a:t>()</a:t>
            </a:r>
            <a:endParaRPr lang="en-US" dirty="0"/>
          </a:p>
        </p:txBody>
      </p:sp>
    </p:spTree>
    <p:extLst>
      <p:ext uri="{BB962C8B-B14F-4D97-AF65-F5344CB8AC3E}">
        <p14:creationId xmlns:p14="http://schemas.microsoft.com/office/powerpoint/2010/main" val="4722656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9A986-0A91-D5A2-9374-F0445EC9C225}"/>
              </a:ext>
            </a:extLst>
          </p:cNvPr>
          <p:cNvSpPr>
            <a:spLocks noGrp="1"/>
          </p:cNvSpPr>
          <p:nvPr>
            <p:ph type="title"/>
          </p:nvPr>
        </p:nvSpPr>
        <p:spPr>
          <a:xfrm>
            <a:off x="952500" y="757238"/>
            <a:ext cx="10287000" cy="5419724"/>
          </a:xfrm>
        </p:spPr>
        <p:txBody>
          <a:bodyPr/>
          <a:lstStyle/>
          <a:p>
            <a:r>
              <a:rPr lang="en-IN" b="1" dirty="0"/>
              <a:t>Example values</a:t>
            </a:r>
            <a:br>
              <a:rPr lang="en-IN" b="1" dirty="0"/>
            </a:br>
            <a:r>
              <a:rPr lang="en-IN" dirty="0"/>
              <a:t>Suppose:</a:t>
            </a:r>
            <a:br>
              <a:rPr lang="en-IN" dirty="0"/>
            </a:br>
            <a:r>
              <a:rPr lang="en-IN" dirty="0"/>
              <a:t>Basic Salary = ₹30,000 HRA = 20% of Basic = ₹6,000 DA = 10% of Basic = ₹3,000</a:t>
            </a:r>
            <a:br>
              <a:rPr lang="en-IN" dirty="0"/>
            </a:br>
            <a:r>
              <a:rPr lang="en-IN" dirty="0"/>
              <a:t>Therefore:</a:t>
            </a:r>
            <a:br>
              <a:rPr lang="en-IN" dirty="0"/>
            </a:br>
            <a:r>
              <a:rPr lang="en-IN" dirty="0"/>
              <a:t>Gross Salary = 30,000 + 6,000 + 3,000 = ₹39,000</a:t>
            </a:r>
            <a:br>
              <a:rPr lang="en-IN" dirty="0"/>
            </a:br>
            <a:endParaRPr lang="en-US" dirty="0"/>
          </a:p>
        </p:txBody>
      </p:sp>
    </p:spTree>
    <p:extLst>
      <p:ext uri="{BB962C8B-B14F-4D97-AF65-F5344CB8AC3E}">
        <p14:creationId xmlns:p14="http://schemas.microsoft.com/office/powerpoint/2010/main" val="24548565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3DF45-5B44-4C67-5E68-9A3B4317A877}"/>
              </a:ext>
            </a:extLst>
          </p:cNvPr>
          <p:cNvSpPr>
            <a:spLocks noGrp="1"/>
          </p:cNvSpPr>
          <p:nvPr>
            <p:ph idx="1"/>
          </p:nvPr>
        </p:nvSpPr>
        <p:spPr>
          <a:xfrm>
            <a:off x="196948" y="196948"/>
            <a:ext cx="11760590" cy="5980015"/>
          </a:xfrm>
        </p:spPr>
        <p:txBody>
          <a:bodyPr numCol="2">
            <a:noAutofit/>
          </a:bodyPr>
          <a:lstStyle/>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float </a:t>
            </a:r>
            <a:r>
              <a:rPr lang="en-US" sz="2000" dirty="0" err="1"/>
              <a:t>calculateHRA</a:t>
            </a:r>
            <a:r>
              <a:rPr lang="en-US" sz="2000" dirty="0"/>
              <a:t>(float basic)</a:t>
            </a:r>
          </a:p>
          <a:p>
            <a:pPr marL="0" indent="0">
              <a:spcBef>
                <a:spcPts val="0"/>
              </a:spcBef>
              <a:buNone/>
            </a:pPr>
            <a:r>
              <a:rPr lang="en-US" sz="2000" dirty="0"/>
              <a:t>{</a:t>
            </a:r>
          </a:p>
          <a:p>
            <a:pPr marL="0" indent="0">
              <a:spcBef>
                <a:spcPts val="0"/>
              </a:spcBef>
              <a:buNone/>
            </a:pPr>
            <a:r>
              <a:rPr lang="en-US" sz="2000" dirty="0"/>
              <a:t>    return basic * 0.20;</a:t>
            </a:r>
          </a:p>
          <a:p>
            <a:pPr marL="0" indent="0">
              <a:spcBef>
                <a:spcPts val="0"/>
              </a:spcBef>
              <a:buNone/>
            </a:pPr>
            <a:r>
              <a:rPr lang="en-US" sz="2000" dirty="0"/>
              <a:t>}</a:t>
            </a:r>
          </a:p>
          <a:p>
            <a:pPr marL="0" indent="0">
              <a:spcBef>
                <a:spcPts val="0"/>
              </a:spcBef>
              <a:buNone/>
            </a:pPr>
            <a:r>
              <a:rPr lang="en-US" sz="2000" dirty="0"/>
              <a:t>float </a:t>
            </a:r>
            <a:r>
              <a:rPr lang="en-US" sz="2000" dirty="0" err="1"/>
              <a:t>calculateDA</a:t>
            </a:r>
            <a:r>
              <a:rPr lang="en-US" sz="2000" dirty="0"/>
              <a:t>(float basic)</a:t>
            </a:r>
          </a:p>
          <a:p>
            <a:pPr marL="0" indent="0">
              <a:spcBef>
                <a:spcPts val="0"/>
              </a:spcBef>
              <a:buNone/>
            </a:pPr>
            <a:r>
              <a:rPr lang="en-US" sz="2000" dirty="0"/>
              <a:t>{</a:t>
            </a:r>
          </a:p>
          <a:p>
            <a:pPr marL="0" indent="0">
              <a:spcBef>
                <a:spcPts val="0"/>
              </a:spcBef>
              <a:buNone/>
            </a:pPr>
            <a:r>
              <a:rPr lang="en-US" sz="2000" dirty="0"/>
              <a:t>    return basic * 0.10;</a:t>
            </a:r>
          </a:p>
          <a:p>
            <a:pPr marL="0" indent="0">
              <a:spcBef>
                <a:spcPts val="0"/>
              </a:spcBef>
              <a:buNone/>
            </a:pPr>
            <a:r>
              <a:rPr lang="en-US" sz="2000" dirty="0"/>
              <a:t>}</a:t>
            </a:r>
          </a:p>
          <a:p>
            <a:pPr marL="0" indent="0">
              <a:spcBef>
                <a:spcPts val="0"/>
              </a:spcBef>
              <a:buNone/>
            </a:pPr>
            <a:r>
              <a:rPr lang="en-US" sz="2000" dirty="0"/>
              <a:t>float </a:t>
            </a:r>
            <a:r>
              <a:rPr lang="en-US" sz="2000" dirty="0" err="1"/>
              <a:t>calculateGross</a:t>
            </a:r>
            <a:r>
              <a:rPr lang="en-US" sz="2000" dirty="0"/>
              <a:t>(float basic, float </a:t>
            </a:r>
            <a:r>
              <a:rPr lang="en-US" sz="2000" dirty="0" err="1"/>
              <a:t>hra</a:t>
            </a:r>
            <a:r>
              <a:rPr lang="en-US" sz="2000" dirty="0"/>
              <a:t>, float da)</a:t>
            </a:r>
          </a:p>
          <a:p>
            <a:pPr marL="0" indent="0">
              <a:spcBef>
                <a:spcPts val="0"/>
              </a:spcBef>
              <a:buNone/>
            </a:pPr>
            <a:r>
              <a:rPr lang="en-US" sz="2000" dirty="0"/>
              <a:t>{</a:t>
            </a:r>
          </a:p>
          <a:p>
            <a:pPr marL="0" indent="0">
              <a:spcBef>
                <a:spcPts val="0"/>
              </a:spcBef>
              <a:buNone/>
            </a:pPr>
            <a:r>
              <a:rPr lang="en-US" sz="2000" dirty="0"/>
              <a:t>    return basic + </a:t>
            </a:r>
            <a:r>
              <a:rPr lang="en-US" sz="2000" dirty="0" err="1"/>
              <a:t>hra</a:t>
            </a:r>
            <a:r>
              <a:rPr lang="en-US" sz="2000" dirty="0"/>
              <a:t> + da;</a:t>
            </a:r>
          </a:p>
          <a:p>
            <a:pPr marL="0" indent="0">
              <a:spcBef>
                <a:spcPts val="0"/>
              </a:spcBef>
              <a:buNone/>
            </a:pPr>
            <a:r>
              <a:rPr lang="en-US" sz="2000" dirty="0"/>
              <a:t>}</a:t>
            </a:r>
          </a:p>
          <a:p>
            <a:pPr marL="0" indent="0">
              <a:spcBef>
                <a:spcPts val="0"/>
              </a:spcBef>
              <a:buNone/>
            </a:pPr>
            <a:r>
              <a:rPr lang="en-US" sz="2000" dirty="0"/>
              <a:t>void </a:t>
            </a:r>
            <a:r>
              <a:rPr lang="en-US" sz="2000" dirty="0" err="1"/>
              <a:t>displaySalary</a:t>
            </a:r>
            <a:r>
              <a:rPr lang="en-US" sz="2000" dirty="0"/>
              <a:t>(float basic, float </a:t>
            </a:r>
            <a:r>
              <a:rPr lang="en-US" sz="2000" dirty="0" err="1"/>
              <a:t>hra</a:t>
            </a:r>
            <a:r>
              <a:rPr lang="en-US" sz="2000" dirty="0"/>
              <a:t>, float da, float gross)</a:t>
            </a:r>
          </a:p>
          <a:p>
            <a:pPr marL="0" indent="0">
              <a:spcBef>
                <a:spcPts val="0"/>
              </a:spcBef>
              <a:buNone/>
            </a:pPr>
            <a:r>
              <a:rPr lang="en-US" sz="2000" dirty="0"/>
              <a:t>{</a:t>
            </a:r>
          </a:p>
          <a:p>
            <a:pPr marL="0" indent="0">
              <a:spcBef>
                <a:spcPts val="0"/>
              </a:spcBef>
              <a:buNone/>
            </a:pPr>
            <a:r>
              <a:rPr lang="en-US" sz="2000" dirty="0"/>
              <a:t>    </a:t>
            </a:r>
            <a:r>
              <a:rPr lang="en-US" sz="2000" dirty="0" err="1"/>
              <a:t>printf</a:t>
            </a:r>
            <a:r>
              <a:rPr lang="en-US" sz="2000" dirty="0"/>
              <a:t>("Basic Salary = %.2f\n", basic);</a:t>
            </a:r>
          </a:p>
          <a:p>
            <a:pPr marL="0" indent="0">
              <a:spcBef>
                <a:spcPts val="0"/>
              </a:spcBef>
              <a:buNone/>
            </a:pPr>
            <a:r>
              <a:rPr lang="en-US" sz="2000" dirty="0"/>
              <a:t>    </a:t>
            </a:r>
            <a:r>
              <a:rPr lang="en-US" sz="2000" dirty="0" err="1"/>
              <a:t>printf</a:t>
            </a:r>
            <a:r>
              <a:rPr lang="en-US" sz="2000" dirty="0"/>
              <a:t>("HRA = %.2f\n", </a:t>
            </a:r>
            <a:r>
              <a:rPr lang="en-US" sz="2000" dirty="0" err="1"/>
              <a:t>hra</a:t>
            </a:r>
            <a:r>
              <a:rPr lang="en-US" sz="2000" dirty="0"/>
              <a:t>);</a:t>
            </a:r>
          </a:p>
          <a:p>
            <a:pPr marL="0" indent="0">
              <a:spcBef>
                <a:spcPts val="0"/>
              </a:spcBef>
              <a:buNone/>
            </a:pPr>
            <a:r>
              <a:rPr lang="en-US" sz="2000" dirty="0"/>
              <a:t>    </a:t>
            </a:r>
            <a:r>
              <a:rPr lang="en-US" sz="2000" dirty="0" err="1"/>
              <a:t>printf</a:t>
            </a:r>
            <a:r>
              <a:rPr lang="en-US" sz="2000" dirty="0"/>
              <a:t>("DA = %.2f\n", da);</a:t>
            </a:r>
          </a:p>
          <a:p>
            <a:pPr marL="0" indent="0">
              <a:spcBef>
                <a:spcPts val="0"/>
              </a:spcBef>
              <a:buNone/>
            </a:pPr>
            <a:r>
              <a:rPr lang="en-US" sz="2000" dirty="0"/>
              <a:t>    </a:t>
            </a:r>
            <a:r>
              <a:rPr lang="en-US" sz="2000" dirty="0" err="1"/>
              <a:t>printf</a:t>
            </a:r>
            <a:r>
              <a:rPr lang="en-US" sz="2000" dirty="0"/>
              <a:t>("Gross Salary = %.2f\n", gross);</a:t>
            </a:r>
          </a:p>
          <a:p>
            <a:pPr marL="0" indent="0">
              <a:spcBef>
                <a:spcPts val="0"/>
              </a:spcBef>
              <a:buNone/>
            </a:pPr>
            <a:r>
              <a:rPr lang="en-US" sz="2000" dirty="0"/>
              <a:t>}</a:t>
            </a:r>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float basic, </a:t>
            </a:r>
            <a:r>
              <a:rPr lang="en-US" sz="2000" dirty="0" err="1"/>
              <a:t>hra</a:t>
            </a:r>
            <a:r>
              <a:rPr lang="en-US" sz="2000" dirty="0"/>
              <a:t>, da, gross;</a:t>
            </a:r>
          </a:p>
          <a:p>
            <a:pPr marL="0" indent="0">
              <a:spcBef>
                <a:spcPts val="0"/>
              </a:spcBef>
              <a:buNone/>
            </a:pPr>
            <a:r>
              <a:rPr lang="en-US" sz="2000" dirty="0"/>
              <a:t>    </a:t>
            </a:r>
            <a:r>
              <a:rPr lang="en-US" sz="2000" dirty="0" err="1"/>
              <a:t>printf</a:t>
            </a:r>
            <a:r>
              <a:rPr lang="en-US" sz="2000" dirty="0"/>
              <a:t>("Enter basic salary: ");</a:t>
            </a:r>
          </a:p>
          <a:p>
            <a:pPr marL="0" indent="0">
              <a:spcBef>
                <a:spcPts val="0"/>
              </a:spcBef>
              <a:buNone/>
            </a:pPr>
            <a:r>
              <a:rPr lang="en-US" sz="2000" dirty="0"/>
              <a:t>    </a:t>
            </a:r>
            <a:r>
              <a:rPr lang="en-US" sz="2000" dirty="0" err="1"/>
              <a:t>scanf</a:t>
            </a:r>
            <a:r>
              <a:rPr lang="en-US" sz="2000" dirty="0"/>
              <a:t>("%f", &amp;basic);</a:t>
            </a:r>
          </a:p>
          <a:p>
            <a:pPr marL="0" indent="0">
              <a:spcBef>
                <a:spcPts val="0"/>
              </a:spcBef>
              <a:buNone/>
            </a:pPr>
            <a:r>
              <a:rPr lang="en-US" sz="2000" dirty="0"/>
              <a:t>    </a:t>
            </a:r>
            <a:r>
              <a:rPr lang="en-US" sz="2000" dirty="0" err="1"/>
              <a:t>hra</a:t>
            </a:r>
            <a:r>
              <a:rPr lang="en-US" sz="2000" dirty="0"/>
              <a:t> = </a:t>
            </a:r>
            <a:r>
              <a:rPr lang="en-US" sz="2000" dirty="0" err="1"/>
              <a:t>calculateHRA</a:t>
            </a:r>
            <a:r>
              <a:rPr lang="en-US" sz="2000" dirty="0"/>
              <a:t>(basic);</a:t>
            </a:r>
          </a:p>
          <a:p>
            <a:pPr marL="0" indent="0">
              <a:spcBef>
                <a:spcPts val="0"/>
              </a:spcBef>
              <a:buNone/>
            </a:pPr>
            <a:r>
              <a:rPr lang="en-US" sz="2000" dirty="0"/>
              <a:t>    da = </a:t>
            </a:r>
            <a:r>
              <a:rPr lang="en-US" sz="2000" dirty="0" err="1"/>
              <a:t>calculateDA</a:t>
            </a:r>
            <a:r>
              <a:rPr lang="en-US" sz="2000" dirty="0"/>
              <a:t>(basic);</a:t>
            </a:r>
          </a:p>
          <a:p>
            <a:pPr marL="0" indent="0">
              <a:spcBef>
                <a:spcPts val="0"/>
              </a:spcBef>
              <a:buNone/>
            </a:pPr>
            <a:r>
              <a:rPr lang="en-US" sz="2000" dirty="0"/>
              <a:t>    gross = </a:t>
            </a:r>
            <a:r>
              <a:rPr lang="en-US" sz="2000" dirty="0" err="1"/>
              <a:t>calculateGross</a:t>
            </a:r>
            <a:r>
              <a:rPr lang="en-US" sz="2000" dirty="0"/>
              <a:t>(basic, </a:t>
            </a:r>
            <a:r>
              <a:rPr lang="en-US" sz="2000" dirty="0" err="1"/>
              <a:t>hra</a:t>
            </a:r>
            <a:r>
              <a:rPr lang="en-US" sz="2000" dirty="0"/>
              <a:t>, da);</a:t>
            </a:r>
          </a:p>
          <a:p>
            <a:pPr marL="0" indent="0">
              <a:spcBef>
                <a:spcPts val="0"/>
              </a:spcBef>
              <a:buNone/>
            </a:pPr>
            <a:r>
              <a:rPr lang="en-US" sz="2000" dirty="0"/>
              <a:t>    </a:t>
            </a:r>
            <a:r>
              <a:rPr lang="en-US" sz="2000" dirty="0" err="1"/>
              <a:t>displaySalary</a:t>
            </a:r>
            <a:r>
              <a:rPr lang="en-US" sz="2000" dirty="0"/>
              <a:t>(basic, </a:t>
            </a:r>
            <a:r>
              <a:rPr lang="en-US" sz="2000" dirty="0" err="1"/>
              <a:t>hra</a:t>
            </a:r>
            <a:r>
              <a:rPr lang="en-US" sz="2000" dirty="0"/>
              <a:t>, da, gross);</a:t>
            </a:r>
          </a:p>
          <a:p>
            <a:pPr marL="0" indent="0">
              <a:spcBef>
                <a:spcPts val="0"/>
              </a:spcBef>
              <a:buNone/>
            </a:pPr>
            <a:r>
              <a:rPr lang="en-US" sz="2000" dirty="0"/>
              <a:t>    return 0;</a:t>
            </a:r>
          </a:p>
          <a:p>
            <a:pPr marL="0" indent="0">
              <a:spcBef>
                <a:spcPts val="0"/>
              </a:spcBef>
              <a:buNone/>
            </a:pPr>
            <a:r>
              <a:rPr lang="en-US" sz="2000" dirty="0"/>
              <a:t>}</a:t>
            </a:r>
          </a:p>
        </p:txBody>
      </p:sp>
    </p:spTree>
    <p:extLst>
      <p:ext uri="{BB962C8B-B14F-4D97-AF65-F5344CB8AC3E}">
        <p14:creationId xmlns:p14="http://schemas.microsoft.com/office/powerpoint/2010/main" val="6270560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5F5CB-88E0-A18E-EB1B-4D2ACA99413B}"/>
              </a:ext>
            </a:extLst>
          </p:cNvPr>
          <p:cNvSpPr>
            <a:spLocks noGrp="1"/>
          </p:cNvSpPr>
          <p:nvPr>
            <p:ph type="title"/>
          </p:nvPr>
        </p:nvSpPr>
        <p:spPr>
          <a:xfrm>
            <a:off x="952500" y="757238"/>
            <a:ext cx="10287000" cy="5080854"/>
          </a:xfrm>
        </p:spPr>
        <p:txBody>
          <a:bodyPr>
            <a:normAutofit/>
          </a:bodyPr>
          <a:lstStyle/>
          <a:p>
            <a:br>
              <a:rPr lang="en-US" dirty="0"/>
            </a:br>
            <a:br>
              <a:rPr lang="en-US" dirty="0"/>
            </a:b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52B699D2-708D-6C57-C8CF-2F760794140E}"/>
              </a:ext>
            </a:extLst>
          </p:cNvPr>
          <p:cNvSpPr txBox="1"/>
          <p:nvPr/>
        </p:nvSpPr>
        <p:spPr>
          <a:xfrm>
            <a:off x="1448971" y="1019908"/>
            <a:ext cx="9664505" cy="3046988"/>
          </a:xfrm>
          <a:prstGeom prst="rect">
            <a:avLst/>
          </a:prstGeom>
          <a:noFill/>
        </p:spPr>
        <p:txBody>
          <a:bodyPr wrap="square">
            <a:spAutoFit/>
          </a:bodyPr>
          <a:lstStyle/>
          <a:p>
            <a:r>
              <a:rPr lang="en-IN" sz="2400" b="1" dirty="0"/>
              <a:t>Decomposition idea :</a:t>
            </a:r>
          </a:p>
          <a:p>
            <a:endParaRPr lang="en-IN" sz="2400" b="1" dirty="0"/>
          </a:p>
          <a:p>
            <a:endParaRPr lang="en-IN" sz="2400" b="1" dirty="0"/>
          </a:p>
          <a:p>
            <a:r>
              <a:rPr lang="en-IN" sz="2400" b="1" dirty="0"/>
              <a:t>Large problem → smaller tasks → separate functions → final solution</a:t>
            </a:r>
            <a:endParaRPr lang="en-IN" sz="2400" dirty="0"/>
          </a:p>
          <a:p>
            <a:endParaRPr lang="en-IN" sz="2400" dirty="0"/>
          </a:p>
          <a:p>
            <a:r>
              <a:rPr lang="en-IN" sz="2400" dirty="0"/>
              <a:t>This example also shows how to select different function types depending on whether a function needs </a:t>
            </a:r>
            <a:r>
              <a:rPr lang="en-IN" sz="2400" b="1" dirty="0"/>
              <a:t>arguments</a:t>
            </a:r>
            <a:r>
              <a:rPr lang="en-IN" sz="2400" dirty="0"/>
              <a:t> and whether it needs to </a:t>
            </a:r>
            <a:r>
              <a:rPr lang="en-IN" sz="2400" b="1" dirty="0"/>
              <a:t>return a value</a:t>
            </a:r>
            <a:r>
              <a:rPr lang="en-IN" dirty="0"/>
              <a:t>.</a:t>
            </a:r>
          </a:p>
        </p:txBody>
      </p:sp>
    </p:spTree>
    <p:extLst>
      <p:ext uri="{BB962C8B-B14F-4D97-AF65-F5344CB8AC3E}">
        <p14:creationId xmlns:p14="http://schemas.microsoft.com/office/powerpoint/2010/main" val="2564725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C40C49-6D13-D35D-7864-4EB48CBB3827}"/>
              </a:ext>
            </a:extLst>
          </p:cNvPr>
          <p:cNvSpPr>
            <a:spLocks noGrp="1"/>
          </p:cNvSpPr>
          <p:nvPr>
            <p:ph idx="1"/>
          </p:nvPr>
        </p:nvSpPr>
        <p:spPr>
          <a:xfrm>
            <a:off x="745588" y="168813"/>
            <a:ext cx="11446412" cy="6689188"/>
          </a:xfrm>
        </p:spPr>
        <p:txBody>
          <a:bodyPr>
            <a:normAutofit/>
          </a:bodyPr>
          <a:lstStyle/>
          <a:p>
            <a:pPr marL="0" indent="0">
              <a:buNone/>
            </a:pPr>
            <a:r>
              <a:rPr lang="en-IN" sz="2200" b="1" dirty="0"/>
              <a:t>Practice Questions – Decomposition Using Functions in C</a:t>
            </a:r>
          </a:p>
          <a:p>
            <a:pPr marL="0" indent="0">
              <a:buNone/>
            </a:pPr>
            <a:r>
              <a:rPr lang="en-IN" sz="2200" b="1" dirty="0"/>
              <a:t>Questions</a:t>
            </a:r>
          </a:p>
          <a:p>
            <a:pPr marL="0" indent="0">
              <a:buNone/>
            </a:pPr>
            <a:r>
              <a:rPr lang="en-IN" sz="2200" b="1" dirty="0"/>
              <a:t>1. Student Scorecard</a:t>
            </a:r>
          </a:p>
          <a:p>
            <a:pPr marL="0" indent="0">
              <a:buNone/>
            </a:pPr>
            <a:r>
              <a:rPr lang="en-IN" sz="2200" dirty="0"/>
              <a:t>Break the problem </a:t>
            </a:r>
            <a:r>
              <a:rPr lang="en-IN" sz="2200" b="1" dirty="0"/>
              <a:t>“Calculate the scorecard of a student: total, average and grade”</a:t>
            </a:r>
            <a:r>
              <a:rPr lang="en-IN" sz="2200" dirty="0"/>
              <a:t> into smaller sub-tasks and identify suitable functions for each task.</a:t>
            </a:r>
          </a:p>
          <a:p>
            <a:pPr marL="0" indent="0">
              <a:buNone/>
            </a:pPr>
            <a:r>
              <a:rPr lang="en-IN" sz="2200" b="1" dirty="0"/>
              <a:t>2. Electricity Bill</a:t>
            </a:r>
          </a:p>
          <a:p>
            <a:pPr marL="0" indent="0">
              <a:buNone/>
            </a:pPr>
            <a:r>
              <a:rPr lang="en-IN" sz="2200" dirty="0"/>
              <a:t>Break the problem </a:t>
            </a:r>
            <a:r>
              <a:rPr lang="en-IN" sz="2200" b="1" dirty="0"/>
              <a:t>“Calculate an electricity bill based on units consumed”</a:t>
            </a:r>
            <a:r>
              <a:rPr lang="en-IN" sz="2200" dirty="0"/>
              <a:t> into smaller functions.</a:t>
            </a:r>
          </a:p>
          <a:p>
            <a:pPr marL="0" indent="0">
              <a:buNone/>
            </a:pPr>
            <a:r>
              <a:rPr lang="en-IN" sz="2200" b="1" dirty="0"/>
              <a:t>3. Simple Calculator</a:t>
            </a:r>
          </a:p>
          <a:p>
            <a:pPr marL="0" indent="0">
              <a:buNone/>
            </a:pPr>
            <a:r>
              <a:rPr lang="en-IN" sz="2200" dirty="0"/>
              <a:t>Break the problem </a:t>
            </a:r>
            <a:r>
              <a:rPr lang="en-IN" sz="2200" b="1" dirty="0"/>
              <a:t>“Perform addition, subtraction, multiplication and division of two numbers”</a:t>
            </a:r>
            <a:r>
              <a:rPr lang="en-IN" sz="2200" dirty="0"/>
              <a:t> into smaller sub-tasks.</a:t>
            </a:r>
          </a:p>
          <a:p>
            <a:pPr marL="0" indent="0">
              <a:buNone/>
            </a:pPr>
            <a:endParaRPr lang="en-US" dirty="0"/>
          </a:p>
        </p:txBody>
      </p:sp>
    </p:spTree>
    <p:extLst>
      <p:ext uri="{BB962C8B-B14F-4D97-AF65-F5344CB8AC3E}">
        <p14:creationId xmlns:p14="http://schemas.microsoft.com/office/powerpoint/2010/main" val="34420307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4EC3A-5A08-03DC-7C94-01F5FB894851}"/>
              </a:ext>
            </a:extLst>
          </p:cNvPr>
          <p:cNvSpPr>
            <a:spLocks noGrp="1"/>
          </p:cNvSpPr>
          <p:nvPr>
            <p:ph idx="1"/>
          </p:nvPr>
        </p:nvSpPr>
        <p:spPr>
          <a:xfrm>
            <a:off x="858129" y="675249"/>
            <a:ext cx="10381371" cy="5894363"/>
          </a:xfrm>
        </p:spPr>
        <p:txBody>
          <a:bodyPr numCol="2">
            <a:normAutofit/>
          </a:bodyPr>
          <a:lstStyle/>
          <a:p>
            <a:pPr marL="0" indent="0">
              <a:buNone/>
            </a:pPr>
            <a:r>
              <a:rPr lang="en-US" dirty="0"/>
              <a:t>1. </a:t>
            </a:r>
            <a:r>
              <a:rPr lang="en-IN" sz="2400" dirty="0"/>
              <a:t>Student Scorecard</a:t>
            </a:r>
            <a:endParaRPr lang="en-US" sz="2400" dirty="0"/>
          </a:p>
          <a:p>
            <a:pPr marL="0" indent="0">
              <a:buNone/>
            </a:pPr>
            <a:r>
              <a:rPr lang="en-US" dirty="0"/>
              <a:t>Student Scorecard</a:t>
            </a:r>
          </a:p>
          <a:p>
            <a:pPr marL="0" indent="0">
              <a:buNone/>
            </a:pPr>
            <a:r>
              <a:rPr lang="en-US" dirty="0"/>
              <a:t>       |</a:t>
            </a:r>
          </a:p>
          <a:p>
            <a:pPr marL="0" indent="0">
              <a:buNone/>
            </a:pPr>
            <a:r>
              <a:rPr lang="en-US" dirty="0"/>
              <a:t>       Read marks</a:t>
            </a:r>
          </a:p>
          <a:p>
            <a:pPr marL="0" indent="0">
              <a:buNone/>
            </a:pPr>
            <a:r>
              <a:rPr lang="en-US" dirty="0"/>
              <a:t>       |</a:t>
            </a:r>
          </a:p>
          <a:p>
            <a:pPr marL="0" indent="0">
              <a:buNone/>
            </a:pPr>
            <a:r>
              <a:rPr lang="en-US" dirty="0"/>
              <a:t>       Calculate total</a:t>
            </a:r>
          </a:p>
          <a:p>
            <a:pPr marL="0" indent="0">
              <a:buNone/>
            </a:pPr>
            <a:r>
              <a:rPr lang="en-US" dirty="0"/>
              <a:t>       |</a:t>
            </a:r>
          </a:p>
          <a:p>
            <a:pPr marL="0" indent="0">
              <a:buNone/>
            </a:pPr>
            <a:r>
              <a:rPr lang="en-US" dirty="0"/>
              <a:t>       Calculate average</a:t>
            </a:r>
          </a:p>
          <a:p>
            <a:pPr marL="0" indent="0">
              <a:buNone/>
            </a:pPr>
            <a:r>
              <a:rPr lang="en-US" dirty="0"/>
              <a:t>       |</a:t>
            </a:r>
          </a:p>
          <a:p>
            <a:pPr marL="0" indent="0">
              <a:buNone/>
            </a:pPr>
            <a:r>
              <a:rPr lang="en-US" dirty="0"/>
              <a:t>        Calculate grade</a:t>
            </a:r>
          </a:p>
          <a:p>
            <a:pPr marL="0" indent="0">
              <a:buNone/>
            </a:pPr>
            <a:r>
              <a:rPr lang="en-US" dirty="0"/>
              <a:t>       |</a:t>
            </a:r>
          </a:p>
          <a:p>
            <a:pPr marL="0" indent="0">
              <a:buNone/>
            </a:pPr>
            <a:r>
              <a:rPr lang="en-US" dirty="0"/>
              <a:t>       Display scorecard</a:t>
            </a:r>
          </a:p>
          <a:p>
            <a:pPr marL="0" indent="0">
              <a:buNone/>
            </a:pPr>
            <a:r>
              <a:rPr lang="en-IN" sz="2400" b="1" dirty="0"/>
              <a:t>Functions:</a:t>
            </a:r>
            <a:endParaRPr lang="en-US" sz="2400" b="1" dirty="0"/>
          </a:p>
          <a:p>
            <a:pPr marL="0" indent="0">
              <a:buNone/>
            </a:pPr>
            <a:r>
              <a:rPr lang="en-US" dirty="0" err="1"/>
              <a:t>readMarks</a:t>
            </a:r>
            <a:r>
              <a:rPr lang="en-US" dirty="0"/>
              <a:t>()</a:t>
            </a:r>
          </a:p>
          <a:p>
            <a:pPr marL="0" indent="0">
              <a:buNone/>
            </a:pPr>
            <a:r>
              <a:rPr lang="en-US" dirty="0" err="1"/>
              <a:t>calculateTotal</a:t>
            </a:r>
            <a:r>
              <a:rPr lang="en-US" dirty="0"/>
              <a:t>()</a:t>
            </a:r>
          </a:p>
          <a:p>
            <a:pPr marL="0" indent="0">
              <a:buNone/>
            </a:pPr>
            <a:r>
              <a:rPr lang="en-US" dirty="0" err="1"/>
              <a:t>calculateAverage</a:t>
            </a:r>
            <a:r>
              <a:rPr lang="en-US" dirty="0"/>
              <a:t>()</a:t>
            </a:r>
          </a:p>
          <a:p>
            <a:pPr marL="0" indent="0">
              <a:buNone/>
            </a:pPr>
            <a:r>
              <a:rPr lang="en-US" dirty="0" err="1"/>
              <a:t>calculateGrade</a:t>
            </a:r>
            <a:r>
              <a:rPr lang="en-US" dirty="0"/>
              <a:t>()</a:t>
            </a:r>
          </a:p>
          <a:p>
            <a:pPr marL="0" indent="0">
              <a:buNone/>
            </a:pPr>
            <a:r>
              <a:rPr lang="en-US" dirty="0" err="1"/>
              <a:t>displayScorecard</a:t>
            </a:r>
            <a:r>
              <a:rPr lang="en-US" dirty="0"/>
              <a:t>()</a:t>
            </a:r>
          </a:p>
        </p:txBody>
      </p:sp>
    </p:spTree>
    <p:extLst>
      <p:ext uri="{BB962C8B-B14F-4D97-AF65-F5344CB8AC3E}">
        <p14:creationId xmlns:p14="http://schemas.microsoft.com/office/powerpoint/2010/main" val="10424306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5C150-6D47-B005-B00C-A861FBBDEDD3}"/>
              </a:ext>
            </a:extLst>
          </p:cNvPr>
          <p:cNvSpPr>
            <a:spLocks noGrp="1"/>
          </p:cNvSpPr>
          <p:nvPr>
            <p:ph idx="1"/>
          </p:nvPr>
        </p:nvSpPr>
        <p:spPr>
          <a:xfrm>
            <a:off x="942535" y="731521"/>
            <a:ext cx="10296965" cy="5445442"/>
          </a:xfrm>
        </p:spPr>
        <p:txBody>
          <a:bodyPr numCol="2">
            <a:normAutofit/>
          </a:bodyPr>
          <a:lstStyle/>
          <a:p>
            <a:pPr marL="0" indent="0">
              <a:buNone/>
            </a:pPr>
            <a:r>
              <a:rPr lang="en-US" dirty="0"/>
              <a:t>2. </a:t>
            </a:r>
            <a:r>
              <a:rPr lang="en-IN" dirty="0"/>
              <a:t>Electricity Bill</a:t>
            </a:r>
          </a:p>
          <a:p>
            <a:pPr marL="0" indent="0">
              <a:buNone/>
            </a:pPr>
            <a:r>
              <a:rPr lang="en-US" dirty="0"/>
              <a:t>Electricity Bill</a:t>
            </a:r>
          </a:p>
          <a:p>
            <a:pPr marL="0" indent="0">
              <a:buNone/>
            </a:pPr>
            <a:r>
              <a:rPr lang="en-US" dirty="0"/>
              <a:t>       |</a:t>
            </a:r>
          </a:p>
          <a:p>
            <a:pPr marL="0" indent="0">
              <a:buNone/>
            </a:pPr>
            <a:r>
              <a:rPr lang="en-US" dirty="0"/>
              <a:t>      Read units consumed</a:t>
            </a:r>
          </a:p>
          <a:p>
            <a:pPr marL="0" indent="0">
              <a:buNone/>
            </a:pPr>
            <a:r>
              <a:rPr lang="en-US" dirty="0"/>
              <a:t>       |</a:t>
            </a:r>
          </a:p>
          <a:p>
            <a:pPr marL="0" indent="0">
              <a:buNone/>
            </a:pPr>
            <a:r>
              <a:rPr lang="en-US" dirty="0"/>
              <a:t>       Calculate bill amount</a:t>
            </a:r>
          </a:p>
          <a:p>
            <a:pPr marL="0" indent="0">
              <a:buNone/>
            </a:pPr>
            <a:r>
              <a:rPr lang="en-US" dirty="0"/>
              <a:t>       |</a:t>
            </a:r>
          </a:p>
          <a:p>
            <a:pPr marL="0" indent="0">
              <a:buNone/>
            </a:pPr>
            <a:r>
              <a:rPr lang="en-US" dirty="0"/>
              <a:t>       Add additional charges, if any</a:t>
            </a:r>
          </a:p>
          <a:p>
            <a:pPr marL="0" indent="0">
              <a:buNone/>
            </a:pPr>
            <a:r>
              <a:rPr lang="en-US" dirty="0"/>
              <a:t>       |</a:t>
            </a:r>
          </a:p>
          <a:p>
            <a:pPr marL="0" indent="0">
              <a:buNone/>
            </a:pPr>
            <a:r>
              <a:rPr lang="en-US" dirty="0"/>
              <a:t>       Display bill</a:t>
            </a:r>
          </a:p>
          <a:p>
            <a:pPr marL="0" indent="0">
              <a:buNone/>
            </a:pPr>
            <a:endParaRPr lang="en-US" dirty="0"/>
          </a:p>
          <a:p>
            <a:pPr marL="0" indent="0">
              <a:buNone/>
            </a:pPr>
            <a:endParaRPr lang="en-US" dirty="0"/>
          </a:p>
          <a:p>
            <a:pPr marL="0" indent="0">
              <a:buNone/>
            </a:pPr>
            <a:endParaRPr lang="en-US" dirty="0"/>
          </a:p>
          <a:p>
            <a:pPr marL="0" indent="0">
              <a:buNone/>
            </a:pPr>
            <a:r>
              <a:rPr lang="en-IN" dirty="0"/>
              <a:t>Functions:</a:t>
            </a:r>
          </a:p>
          <a:p>
            <a:pPr rtl="0"/>
            <a:r>
              <a:rPr lang="en-IN" dirty="0" err="1"/>
              <a:t>readUnits</a:t>
            </a:r>
            <a:r>
              <a:rPr lang="en-IN" dirty="0"/>
              <a:t>() </a:t>
            </a:r>
          </a:p>
          <a:p>
            <a:pPr rtl="0"/>
            <a:r>
              <a:rPr lang="en-IN" dirty="0" err="1"/>
              <a:t>calculateBill</a:t>
            </a:r>
            <a:r>
              <a:rPr lang="en-IN" dirty="0"/>
              <a:t>() </a:t>
            </a:r>
          </a:p>
          <a:p>
            <a:pPr rtl="0"/>
            <a:r>
              <a:rPr lang="en-IN" dirty="0" err="1"/>
              <a:t>calculateCharges</a:t>
            </a:r>
            <a:r>
              <a:rPr lang="en-IN" dirty="0"/>
              <a:t>()</a:t>
            </a:r>
          </a:p>
          <a:p>
            <a:pPr rtl="0"/>
            <a:r>
              <a:rPr lang="en-IN" dirty="0"/>
              <a:t> </a:t>
            </a:r>
            <a:r>
              <a:rPr lang="en-IN" dirty="0" err="1"/>
              <a:t>displayBill</a:t>
            </a:r>
            <a:r>
              <a:rPr lang="en-IN" dirty="0"/>
              <a:t>()</a:t>
            </a:r>
          </a:p>
          <a:p>
            <a:pPr marL="0" indent="0">
              <a:buNone/>
            </a:pPr>
            <a:endParaRPr lang="en-US" dirty="0"/>
          </a:p>
        </p:txBody>
      </p:sp>
    </p:spTree>
    <p:extLst>
      <p:ext uri="{BB962C8B-B14F-4D97-AF65-F5344CB8AC3E}">
        <p14:creationId xmlns:p14="http://schemas.microsoft.com/office/powerpoint/2010/main" val="11249355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28233B-074A-9339-B223-DFE8580964AE}"/>
              </a:ext>
            </a:extLst>
          </p:cNvPr>
          <p:cNvSpPr>
            <a:spLocks noGrp="1"/>
          </p:cNvSpPr>
          <p:nvPr>
            <p:ph idx="1"/>
          </p:nvPr>
        </p:nvSpPr>
        <p:spPr>
          <a:xfrm>
            <a:off x="984738" y="450166"/>
            <a:ext cx="10254762" cy="6407833"/>
          </a:xfrm>
        </p:spPr>
        <p:txBody>
          <a:bodyPr numCol="2">
            <a:normAutofit/>
          </a:bodyPr>
          <a:lstStyle/>
          <a:p>
            <a:pPr marL="0" indent="0">
              <a:buNone/>
            </a:pPr>
            <a:r>
              <a:rPr lang="en-US" dirty="0"/>
              <a:t>3. Simple Calculator</a:t>
            </a:r>
          </a:p>
          <a:p>
            <a:pPr marL="0" indent="0">
              <a:buNone/>
            </a:pPr>
            <a:r>
              <a:rPr lang="en-US" dirty="0"/>
              <a:t>       |</a:t>
            </a:r>
          </a:p>
          <a:p>
            <a:pPr marL="0" indent="0">
              <a:buNone/>
            </a:pPr>
            <a:r>
              <a:rPr lang="en-US" dirty="0"/>
              <a:t>        Read two numbers</a:t>
            </a:r>
          </a:p>
          <a:p>
            <a:pPr marL="0" indent="0">
              <a:buNone/>
            </a:pPr>
            <a:r>
              <a:rPr lang="en-US" dirty="0"/>
              <a:t>       |</a:t>
            </a:r>
          </a:p>
          <a:p>
            <a:pPr marL="0" indent="0">
              <a:buNone/>
            </a:pPr>
            <a:r>
              <a:rPr lang="en-US" dirty="0"/>
              <a:t>        Add numbers</a:t>
            </a:r>
          </a:p>
          <a:p>
            <a:pPr marL="0" indent="0">
              <a:buNone/>
            </a:pPr>
            <a:r>
              <a:rPr lang="en-US" dirty="0"/>
              <a:t>       |</a:t>
            </a:r>
          </a:p>
          <a:p>
            <a:pPr marL="0" indent="0">
              <a:buNone/>
            </a:pPr>
            <a:r>
              <a:rPr lang="en-US" dirty="0"/>
              <a:t>       Subtract numbers</a:t>
            </a:r>
          </a:p>
          <a:p>
            <a:pPr marL="0" indent="0">
              <a:buNone/>
            </a:pPr>
            <a:r>
              <a:rPr lang="en-US" dirty="0"/>
              <a:t>       |</a:t>
            </a:r>
          </a:p>
          <a:p>
            <a:pPr marL="0" indent="0">
              <a:buNone/>
            </a:pPr>
            <a:r>
              <a:rPr lang="en-US" dirty="0"/>
              <a:t>       Multiply numbers</a:t>
            </a:r>
          </a:p>
          <a:p>
            <a:pPr marL="0" indent="0">
              <a:buNone/>
            </a:pPr>
            <a:r>
              <a:rPr lang="en-US" dirty="0"/>
              <a:t>       |</a:t>
            </a:r>
          </a:p>
          <a:p>
            <a:pPr marL="0" indent="0">
              <a:buNone/>
            </a:pPr>
            <a:r>
              <a:rPr lang="en-US" dirty="0"/>
              <a:t>       Divide numbers</a:t>
            </a:r>
          </a:p>
          <a:p>
            <a:pPr marL="0" indent="0">
              <a:buNone/>
            </a:pPr>
            <a:r>
              <a:rPr lang="en-US" dirty="0"/>
              <a:t>       |</a:t>
            </a:r>
          </a:p>
          <a:p>
            <a:pPr marL="0" indent="0">
              <a:buNone/>
            </a:pPr>
            <a:r>
              <a:rPr lang="en-US" dirty="0"/>
              <a:t>        Display result</a:t>
            </a:r>
          </a:p>
          <a:p>
            <a:pPr marL="0" indent="0">
              <a:buNone/>
            </a:pPr>
            <a:endParaRPr lang="en-US" dirty="0"/>
          </a:p>
          <a:p>
            <a:pPr marL="0" indent="0">
              <a:buNone/>
            </a:pPr>
            <a:r>
              <a:rPr lang="en-IN" dirty="0"/>
              <a:t>Functions:</a:t>
            </a:r>
          </a:p>
          <a:p>
            <a:pPr rtl="0"/>
            <a:r>
              <a:rPr lang="en-IN" dirty="0"/>
              <a:t>add() </a:t>
            </a:r>
          </a:p>
          <a:p>
            <a:pPr rtl="0"/>
            <a:r>
              <a:rPr lang="en-IN" dirty="0"/>
              <a:t>subtract() </a:t>
            </a:r>
          </a:p>
          <a:p>
            <a:pPr rtl="0"/>
            <a:r>
              <a:rPr lang="en-IN" dirty="0"/>
              <a:t>multiply() </a:t>
            </a:r>
          </a:p>
          <a:p>
            <a:pPr rtl="0"/>
            <a:r>
              <a:rPr lang="en-IN" dirty="0"/>
              <a:t>divide() </a:t>
            </a:r>
          </a:p>
          <a:p>
            <a:pPr rtl="0"/>
            <a:r>
              <a:rPr lang="en-IN" dirty="0" err="1"/>
              <a:t>displayResult</a:t>
            </a:r>
            <a:r>
              <a:rPr lang="en-IN" dirty="0"/>
              <a:t>()</a:t>
            </a:r>
          </a:p>
          <a:p>
            <a:pPr marL="0" indent="0">
              <a:buNone/>
            </a:pPr>
            <a:endParaRPr lang="en-US" dirty="0"/>
          </a:p>
        </p:txBody>
      </p:sp>
    </p:spTree>
    <p:extLst>
      <p:ext uri="{BB962C8B-B14F-4D97-AF65-F5344CB8AC3E}">
        <p14:creationId xmlns:p14="http://schemas.microsoft.com/office/powerpoint/2010/main" val="26797857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marL="0" lvl="0" indent="0">
              <a:buNone/>
            </a:pPr>
            <a:r>
              <a:rPr lang="en-IN" dirty="0"/>
              <a:t>[1] B. W. Kernighan and D. M. Ritchie, </a:t>
            </a:r>
            <a:r>
              <a:rPr lang="en-IN" i="1" dirty="0"/>
              <a:t>The C Programming Language</a:t>
            </a:r>
            <a:r>
              <a:rPr lang="en-IN" dirty="0"/>
              <a:t>, 2nd Ed., Prentice Hall, 1988.</a:t>
            </a:r>
            <a:br>
              <a:rPr lang="en-IN" dirty="0"/>
            </a:br>
            <a:r>
              <a:rPr lang="en-IN" dirty="0"/>
              <a:t>[2] Y. Kanetkar, </a:t>
            </a:r>
            <a:r>
              <a:rPr lang="en-IN" i="1" dirty="0"/>
              <a:t>Let Us C</a:t>
            </a:r>
            <a:r>
              <a:rPr lang="en-IN" dirty="0"/>
              <a:t>, BPB Publications.</a:t>
            </a:r>
            <a:br>
              <a:rPr lang="en-IN" dirty="0"/>
            </a:br>
            <a:r>
              <a:rPr lang="en-IN" dirty="0"/>
              <a:t>[3] H. Schildt, </a:t>
            </a:r>
            <a:r>
              <a:rPr lang="en-IN" i="1" dirty="0"/>
              <a:t>C: The Complete Reference</a:t>
            </a:r>
            <a:r>
              <a:rPr lang="en-IN" dirty="0"/>
              <a:t>, McGraw-Hill Education.</a:t>
            </a:r>
            <a:br>
              <a:rPr lang="en-IN" dirty="0"/>
            </a:br>
            <a:r>
              <a:rPr lang="en-IN" dirty="0"/>
              <a:t>[4] GNU Project, </a:t>
            </a:r>
            <a:r>
              <a:rPr lang="en-IN" i="1" dirty="0"/>
              <a:t>GNU C Language Manual</a:t>
            </a:r>
            <a:r>
              <a:rPr lang="en-IN" dirty="0"/>
              <a:t>.</a:t>
            </a:r>
            <a:br>
              <a:rPr lang="en-IN" dirty="0"/>
            </a:br>
            <a:r>
              <a:rPr lang="en-IN" dirty="0"/>
              <a:t>[5] </a:t>
            </a:r>
            <a:r>
              <a:rPr lang="en-IN" dirty="0" err="1"/>
              <a:t>cppreference</a:t>
            </a:r>
            <a:r>
              <a:rPr lang="en-IN" dirty="0"/>
              <a:t>, </a:t>
            </a:r>
            <a:r>
              <a:rPr lang="en-IN" i="1" dirty="0"/>
              <a:t>C Language – Functions</a:t>
            </a:r>
            <a:r>
              <a:rPr lang="en-IN" dirty="0"/>
              <a:t>.</a:t>
            </a:r>
          </a:p>
        </p:txBody>
      </p:sp>
    </p:spTree>
    <p:extLst>
      <p:ext uri="{BB962C8B-B14F-4D97-AF65-F5344CB8AC3E}">
        <p14:creationId xmlns:p14="http://schemas.microsoft.com/office/powerpoint/2010/main" val="12592538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vert="horz" lIns="91440" tIns="45720" rIns="91440" bIns="45720" rtlCol="0" anchor="t">
            <a:normAutofit fontScale="77500" lnSpcReduction="20000"/>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Session: 5 (SLO 1)</a:t>
            </a:r>
          </a:p>
          <a:p>
            <a:pPr>
              <a:lnSpc>
                <a:spcPct val="110000"/>
              </a:lnSpc>
            </a:pPr>
            <a:r>
              <a:rPr lang="en-IN" b="1" dirty="0">
                <a:latin typeface="Times New Roman"/>
                <a:cs typeface="Times New Roman"/>
              </a:rPr>
              <a:t>SLO :</a:t>
            </a:r>
            <a:r>
              <a:rPr lang="en-IN" b="1" dirty="0">
                <a:latin typeface="Times New Roman"/>
                <a:ea typeface="+mn-lt"/>
                <a:cs typeface="Times New Roman"/>
              </a:rPr>
              <a:t>At the end of this session the learners will be able to </a:t>
            </a:r>
            <a:r>
              <a:rPr lang="en-US" b="1" dirty="0">
                <a:latin typeface="Times New Roman"/>
                <a:ea typeface="+mn-lt"/>
                <a:cs typeface="Times New Roman"/>
              </a:rPr>
              <a:t>Explain pointer concepts and apply pointer variables to access and manipulate memory in C programs.</a:t>
            </a: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2279642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5138-7FDC-57A2-E06D-1F5467F3666F}"/>
              </a:ext>
            </a:extLst>
          </p:cNvPr>
          <p:cNvSpPr>
            <a:spLocks noGrp="1"/>
          </p:cNvSpPr>
          <p:nvPr>
            <p:ph type="title"/>
          </p:nvPr>
        </p:nvSpPr>
        <p:spPr/>
        <p:txBody>
          <a:bodyPr>
            <a:normAutofit/>
          </a:bodyPr>
          <a:lstStyle/>
          <a:p>
            <a:r>
              <a:rPr lang="en-IN" dirty="0"/>
              <a:t>POINTERS IN C</a:t>
            </a:r>
          </a:p>
        </p:txBody>
      </p:sp>
      <p:sp>
        <p:nvSpPr>
          <p:cNvPr id="3" name="Content Placeholder 2">
            <a:extLst>
              <a:ext uri="{FF2B5EF4-FFF2-40B4-BE49-F238E27FC236}">
                <a16:creationId xmlns:a16="http://schemas.microsoft.com/office/drawing/2014/main" id="{2CF42559-D2C7-6A13-4E91-1EAA23D76A59}"/>
              </a:ext>
            </a:extLst>
          </p:cNvPr>
          <p:cNvSpPr>
            <a:spLocks noGrp="1"/>
          </p:cNvSpPr>
          <p:nvPr>
            <p:ph idx="1"/>
          </p:nvPr>
        </p:nvSpPr>
        <p:spPr/>
        <p:txBody>
          <a:bodyPr/>
          <a:lstStyle/>
          <a:p>
            <a:pPr algn="just"/>
            <a:r>
              <a:rPr lang="en-IN" dirty="0"/>
              <a:t>A special variable that stores the </a:t>
            </a:r>
            <a:r>
              <a:rPr lang="en-IN" b="1" dirty="0"/>
              <a:t>memory address</a:t>
            </a:r>
            <a:r>
              <a:rPr lang="en-IN" dirty="0"/>
              <a:t> of another variable instead of storing a direct value.</a:t>
            </a:r>
            <a:endParaRPr lang="en-US" dirty="0"/>
          </a:p>
          <a:p>
            <a:pPr algn="just"/>
            <a:r>
              <a:rPr lang="en-US" dirty="0"/>
              <a:t>Used to Accessing and Manipulating Memory Using Pointer Variables.</a:t>
            </a:r>
          </a:p>
          <a:p>
            <a:pPr algn="just"/>
            <a:endParaRPr lang="en-US" dirty="0"/>
          </a:p>
          <a:p>
            <a:pPr algn="just"/>
            <a:endParaRPr lang="en-US" dirty="0"/>
          </a:p>
          <a:p>
            <a:pPr algn="just"/>
            <a:endParaRPr lang="en-US" dirty="0"/>
          </a:p>
          <a:p>
            <a:pPr algn="just"/>
            <a:endParaRPr lang="en-US" dirty="0"/>
          </a:p>
          <a:p>
            <a:pPr algn="just"/>
            <a:r>
              <a:rPr lang="en-IN" dirty="0"/>
              <a:t>They are the backbone of low-level memory manipulation, dynamic allocation, and efficient data handling in C programming</a:t>
            </a:r>
            <a:endParaRPr lang="en-US" dirty="0"/>
          </a:p>
          <a:p>
            <a:pPr algn="just"/>
            <a:endParaRPr lang="en-IN" dirty="0"/>
          </a:p>
        </p:txBody>
      </p:sp>
      <p:sp>
        <p:nvSpPr>
          <p:cNvPr id="5" name="Rounded Rectangle 5">
            <a:extLst>
              <a:ext uri="{FF2B5EF4-FFF2-40B4-BE49-F238E27FC236}">
                <a16:creationId xmlns:a16="http://schemas.microsoft.com/office/drawing/2014/main" id="{DF438109-9FB6-F31C-E321-B322314AE072}"/>
              </a:ext>
            </a:extLst>
          </p:cNvPr>
          <p:cNvSpPr/>
          <p:nvPr/>
        </p:nvSpPr>
        <p:spPr>
          <a:xfrm>
            <a:off x="2536722" y="3355253"/>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0B80B0DA-D57C-6BAE-6E3A-1CBCF7C989F0}"/>
              </a:ext>
            </a:extLst>
          </p:cNvPr>
          <p:cNvSpPr txBox="1"/>
          <p:nvPr/>
        </p:nvSpPr>
        <p:spPr>
          <a:xfrm>
            <a:off x="2628162" y="3446692"/>
            <a:ext cx="1783080" cy="274320"/>
          </a:xfrm>
          <a:prstGeom prst="rect">
            <a:avLst/>
          </a:prstGeom>
          <a:noFill/>
        </p:spPr>
        <p:txBody>
          <a:bodyPr wrap="square">
            <a:spAutoFit/>
          </a:bodyPr>
          <a:lstStyle/>
          <a:p>
            <a:pPr algn="ctr">
              <a:defRPr sz="1500" b="1">
                <a:solidFill>
                  <a:srgbClr val="182B49"/>
                </a:solidFill>
              </a:defRPr>
            </a:pPr>
            <a:r>
              <a:t>10</a:t>
            </a:r>
          </a:p>
        </p:txBody>
      </p:sp>
      <p:sp>
        <p:nvSpPr>
          <p:cNvPr id="9" name="TextBox 8">
            <a:extLst>
              <a:ext uri="{FF2B5EF4-FFF2-40B4-BE49-F238E27FC236}">
                <a16:creationId xmlns:a16="http://schemas.microsoft.com/office/drawing/2014/main" id="{D2F949A1-EBBC-000B-26D7-A17B3AADC6DB}"/>
              </a:ext>
            </a:extLst>
          </p:cNvPr>
          <p:cNvSpPr txBox="1"/>
          <p:nvPr/>
        </p:nvSpPr>
        <p:spPr>
          <a:xfrm>
            <a:off x="2628162" y="3785020"/>
            <a:ext cx="1783080" cy="320040"/>
          </a:xfrm>
          <a:prstGeom prst="rect">
            <a:avLst/>
          </a:prstGeom>
          <a:noFill/>
        </p:spPr>
        <p:txBody>
          <a:bodyPr wrap="square">
            <a:spAutoFit/>
          </a:bodyPr>
          <a:lstStyle/>
          <a:p>
            <a:pPr algn="ctr">
              <a:defRPr sz="2200" b="1">
                <a:solidFill>
                  <a:srgbClr val="23272F"/>
                </a:solidFill>
              </a:defRPr>
            </a:pPr>
            <a:r>
              <a:t>1000</a:t>
            </a:r>
          </a:p>
        </p:txBody>
      </p:sp>
      <p:sp>
        <p:nvSpPr>
          <p:cNvPr id="11" name="TextBox 10">
            <a:extLst>
              <a:ext uri="{FF2B5EF4-FFF2-40B4-BE49-F238E27FC236}">
                <a16:creationId xmlns:a16="http://schemas.microsoft.com/office/drawing/2014/main" id="{1113F339-9070-24F2-DAD5-329347198F3D}"/>
              </a:ext>
            </a:extLst>
          </p:cNvPr>
          <p:cNvSpPr txBox="1"/>
          <p:nvPr/>
        </p:nvSpPr>
        <p:spPr>
          <a:xfrm>
            <a:off x="2628162" y="4178213"/>
            <a:ext cx="1783080" cy="228600"/>
          </a:xfrm>
          <a:prstGeom prst="rect">
            <a:avLst/>
          </a:prstGeom>
          <a:noFill/>
        </p:spPr>
        <p:txBody>
          <a:bodyPr wrap="square">
            <a:spAutoFit/>
          </a:bodyPr>
          <a:lstStyle/>
          <a:p>
            <a:pPr algn="ctr">
              <a:defRPr sz="1000" b="0">
                <a:solidFill>
                  <a:srgbClr val="69707A"/>
                </a:solidFill>
              </a:defRPr>
            </a:pPr>
            <a:r>
              <a:t>Address: F7F9FC</a:t>
            </a:r>
          </a:p>
        </p:txBody>
      </p:sp>
      <p:sp>
        <p:nvSpPr>
          <p:cNvPr id="13" name="Rounded Rectangle 9">
            <a:extLst>
              <a:ext uri="{FF2B5EF4-FFF2-40B4-BE49-F238E27FC236}">
                <a16:creationId xmlns:a16="http://schemas.microsoft.com/office/drawing/2014/main" id="{904ED729-F256-A9DA-5398-F87C7EF943C2}"/>
              </a:ext>
            </a:extLst>
          </p:cNvPr>
          <p:cNvSpPr/>
          <p:nvPr/>
        </p:nvSpPr>
        <p:spPr>
          <a:xfrm>
            <a:off x="4091202" y="3355253"/>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D3C698E-F5E0-87D5-E05C-F81CDAC4BC2F}"/>
              </a:ext>
            </a:extLst>
          </p:cNvPr>
          <p:cNvSpPr txBox="1"/>
          <p:nvPr/>
        </p:nvSpPr>
        <p:spPr>
          <a:xfrm>
            <a:off x="4182642" y="3446692"/>
            <a:ext cx="1783080" cy="274320"/>
          </a:xfrm>
          <a:prstGeom prst="rect">
            <a:avLst/>
          </a:prstGeom>
          <a:noFill/>
        </p:spPr>
        <p:txBody>
          <a:bodyPr wrap="square">
            <a:spAutoFit/>
          </a:bodyPr>
          <a:lstStyle/>
          <a:p>
            <a:pPr algn="ctr">
              <a:defRPr sz="1500" b="1">
                <a:solidFill>
                  <a:srgbClr val="182B49"/>
                </a:solidFill>
              </a:defRPr>
            </a:pPr>
            <a:r>
              <a:t>&amp;x</a:t>
            </a:r>
          </a:p>
        </p:txBody>
      </p:sp>
      <p:sp>
        <p:nvSpPr>
          <p:cNvPr id="17" name="TextBox 16">
            <a:extLst>
              <a:ext uri="{FF2B5EF4-FFF2-40B4-BE49-F238E27FC236}">
                <a16:creationId xmlns:a16="http://schemas.microsoft.com/office/drawing/2014/main" id="{9D87DB4B-A08E-893B-D4E4-68287072196C}"/>
              </a:ext>
            </a:extLst>
          </p:cNvPr>
          <p:cNvSpPr txBox="1"/>
          <p:nvPr/>
        </p:nvSpPr>
        <p:spPr>
          <a:xfrm>
            <a:off x="4182642" y="3785020"/>
            <a:ext cx="1783080" cy="320040"/>
          </a:xfrm>
          <a:prstGeom prst="rect">
            <a:avLst/>
          </a:prstGeom>
          <a:noFill/>
        </p:spPr>
        <p:txBody>
          <a:bodyPr wrap="square">
            <a:spAutoFit/>
          </a:bodyPr>
          <a:lstStyle/>
          <a:p>
            <a:pPr algn="ctr">
              <a:defRPr sz="2200" b="1">
                <a:solidFill>
                  <a:srgbClr val="23272F"/>
                </a:solidFill>
              </a:defRPr>
            </a:pPr>
            <a:r>
              <a:t>1001</a:t>
            </a:r>
          </a:p>
        </p:txBody>
      </p:sp>
      <p:sp>
        <p:nvSpPr>
          <p:cNvPr id="19" name="TextBox 18">
            <a:extLst>
              <a:ext uri="{FF2B5EF4-FFF2-40B4-BE49-F238E27FC236}">
                <a16:creationId xmlns:a16="http://schemas.microsoft.com/office/drawing/2014/main" id="{7DCB81B2-03B5-A988-745E-F6923F5A3537}"/>
              </a:ext>
            </a:extLst>
          </p:cNvPr>
          <p:cNvSpPr txBox="1"/>
          <p:nvPr/>
        </p:nvSpPr>
        <p:spPr>
          <a:xfrm>
            <a:off x="4182642" y="4178213"/>
            <a:ext cx="1783080" cy="228600"/>
          </a:xfrm>
          <a:prstGeom prst="rect">
            <a:avLst/>
          </a:prstGeom>
          <a:noFill/>
        </p:spPr>
        <p:txBody>
          <a:bodyPr wrap="square">
            <a:spAutoFit/>
          </a:bodyPr>
          <a:lstStyle/>
          <a:p>
            <a:pPr algn="ctr">
              <a:defRPr sz="1000" b="0">
                <a:solidFill>
                  <a:srgbClr val="69707A"/>
                </a:solidFill>
              </a:defRPr>
            </a:pPr>
            <a:r>
              <a:t>Address: F7F9FC</a:t>
            </a:r>
          </a:p>
        </p:txBody>
      </p:sp>
      <p:sp>
        <p:nvSpPr>
          <p:cNvPr id="21" name="Rounded Rectangle 13">
            <a:extLst>
              <a:ext uri="{FF2B5EF4-FFF2-40B4-BE49-F238E27FC236}">
                <a16:creationId xmlns:a16="http://schemas.microsoft.com/office/drawing/2014/main" id="{9206CAAC-A85D-95D7-9DDE-AF98CD75A671}"/>
              </a:ext>
            </a:extLst>
          </p:cNvPr>
          <p:cNvSpPr/>
          <p:nvPr/>
        </p:nvSpPr>
        <p:spPr>
          <a:xfrm>
            <a:off x="5645682" y="3355253"/>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E2CCB86-39A8-4E58-8F45-4A34955368D9}"/>
              </a:ext>
            </a:extLst>
          </p:cNvPr>
          <p:cNvSpPr txBox="1"/>
          <p:nvPr/>
        </p:nvSpPr>
        <p:spPr>
          <a:xfrm>
            <a:off x="5737122" y="3446692"/>
            <a:ext cx="1783080" cy="274320"/>
          </a:xfrm>
          <a:prstGeom prst="rect">
            <a:avLst/>
          </a:prstGeom>
          <a:noFill/>
        </p:spPr>
        <p:txBody>
          <a:bodyPr wrap="square">
            <a:spAutoFit/>
          </a:bodyPr>
          <a:lstStyle/>
          <a:p>
            <a:pPr algn="ctr">
              <a:defRPr sz="1500" b="1">
                <a:solidFill>
                  <a:srgbClr val="182B49"/>
                </a:solidFill>
              </a:defRPr>
            </a:pPr>
            <a:r>
              <a:t>*p</a:t>
            </a:r>
          </a:p>
        </p:txBody>
      </p:sp>
      <p:sp>
        <p:nvSpPr>
          <p:cNvPr id="25" name="TextBox 24">
            <a:extLst>
              <a:ext uri="{FF2B5EF4-FFF2-40B4-BE49-F238E27FC236}">
                <a16:creationId xmlns:a16="http://schemas.microsoft.com/office/drawing/2014/main" id="{AC2FD777-C017-DC1E-CC6A-086442B3211E}"/>
              </a:ext>
            </a:extLst>
          </p:cNvPr>
          <p:cNvSpPr txBox="1"/>
          <p:nvPr/>
        </p:nvSpPr>
        <p:spPr>
          <a:xfrm>
            <a:off x="5737122" y="3785020"/>
            <a:ext cx="1783080" cy="320040"/>
          </a:xfrm>
          <a:prstGeom prst="rect">
            <a:avLst/>
          </a:prstGeom>
          <a:noFill/>
        </p:spPr>
        <p:txBody>
          <a:bodyPr wrap="square">
            <a:spAutoFit/>
          </a:bodyPr>
          <a:lstStyle/>
          <a:p>
            <a:pPr algn="ctr">
              <a:defRPr sz="2200" b="1">
                <a:solidFill>
                  <a:srgbClr val="23272F"/>
                </a:solidFill>
              </a:defRPr>
            </a:pPr>
            <a:r>
              <a:t>1002</a:t>
            </a:r>
          </a:p>
        </p:txBody>
      </p:sp>
      <p:sp>
        <p:nvSpPr>
          <p:cNvPr id="27" name="TextBox 26">
            <a:extLst>
              <a:ext uri="{FF2B5EF4-FFF2-40B4-BE49-F238E27FC236}">
                <a16:creationId xmlns:a16="http://schemas.microsoft.com/office/drawing/2014/main" id="{5E02EDFD-C51B-89F4-EFDB-171F5825C60E}"/>
              </a:ext>
            </a:extLst>
          </p:cNvPr>
          <p:cNvSpPr txBox="1"/>
          <p:nvPr/>
        </p:nvSpPr>
        <p:spPr>
          <a:xfrm>
            <a:off x="5737122" y="4178213"/>
            <a:ext cx="1783080" cy="228600"/>
          </a:xfrm>
          <a:prstGeom prst="rect">
            <a:avLst/>
          </a:prstGeom>
          <a:noFill/>
        </p:spPr>
        <p:txBody>
          <a:bodyPr wrap="square">
            <a:spAutoFit/>
          </a:bodyPr>
          <a:lstStyle/>
          <a:p>
            <a:pPr algn="ctr">
              <a:defRPr sz="1000" b="0">
                <a:solidFill>
                  <a:srgbClr val="69707A"/>
                </a:solidFill>
              </a:defRPr>
            </a:pPr>
            <a:r>
              <a:t>Address: F7F9FC</a:t>
            </a:r>
          </a:p>
        </p:txBody>
      </p:sp>
    </p:spTree>
    <p:extLst>
      <p:ext uri="{BB962C8B-B14F-4D97-AF65-F5344CB8AC3E}">
        <p14:creationId xmlns:p14="http://schemas.microsoft.com/office/powerpoint/2010/main" val="4923146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71C38-3E03-51C8-1779-57AB29BD5FC7}"/>
              </a:ext>
            </a:extLst>
          </p:cNvPr>
          <p:cNvSpPr>
            <a:spLocks noGrp="1"/>
          </p:cNvSpPr>
          <p:nvPr>
            <p:ph type="title"/>
          </p:nvPr>
        </p:nvSpPr>
        <p:spPr/>
        <p:txBody>
          <a:bodyPr/>
          <a:lstStyle/>
          <a:p>
            <a:r>
              <a:rPr lang="en-US" dirty="0"/>
              <a:t>Why Do We Need Pointers?</a:t>
            </a:r>
            <a:endParaRPr lang="en-IN" dirty="0"/>
          </a:p>
        </p:txBody>
      </p:sp>
      <p:sp>
        <p:nvSpPr>
          <p:cNvPr id="7" name="Rounded Rectangle 5">
            <a:extLst>
              <a:ext uri="{FF2B5EF4-FFF2-40B4-BE49-F238E27FC236}">
                <a16:creationId xmlns:a16="http://schemas.microsoft.com/office/drawing/2014/main" id="{2965431E-306C-3EBA-4E07-73123D94EC68}"/>
              </a:ext>
            </a:extLst>
          </p:cNvPr>
          <p:cNvSpPr/>
          <p:nvPr/>
        </p:nvSpPr>
        <p:spPr>
          <a:xfrm>
            <a:off x="645979" y="239661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A4E0BCA-B0B2-E142-8267-C343EAE4E4C5}"/>
              </a:ext>
            </a:extLst>
          </p:cNvPr>
          <p:cNvSpPr/>
          <p:nvPr/>
        </p:nvSpPr>
        <p:spPr>
          <a:xfrm>
            <a:off x="645979" y="2396611"/>
            <a:ext cx="73152" cy="173736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8D4C98A-41D1-2864-55EF-3D9A1886E3ED}"/>
              </a:ext>
            </a:extLst>
          </p:cNvPr>
          <p:cNvSpPr txBox="1"/>
          <p:nvPr/>
        </p:nvSpPr>
        <p:spPr>
          <a:xfrm>
            <a:off x="828858" y="2542915"/>
            <a:ext cx="3108960" cy="320040"/>
          </a:xfrm>
          <a:prstGeom prst="rect">
            <a:avLst/>
          </a:prstGeom>
          <a:noFill/>
        </p:spPr>
        <p:txBody>
          <a:bodyPr wrap="square">
            <a:spAutoFit/>
          </a:bodyPr>
          <a:lstStyle/>
          <a:p>
            <a:pPr algn="l">
              <a:defRPr sz="1700" b="1">
                <a:solidFill>
                  <a:srgbClr val="182B49"/>
                </a:solidFill>
              </a:defRPr>
            </a:pPr>
            <a:r>
              <a:t>Efficient arrays</a:t>
            </a:r>
          </a:p>
        </p:txBody>
      </p:sp>
      <p:sp>
        <p:nvSpPr>
          <p:cNvPr id="13" name="TextBox 12">
            <a:extLst>
              <a:ext uri="{FF2B5EF4-FFF2-40B4-BE49-F238E27FC236}">
                <a16:creationId xmlns:a16="http://schemas.microsoft.com/office/drawing/2014/main" id="{43DDD625-9A1F-8E1A-D5F0-86B5DD968370}"/>
              </a:ext>
            </a:extLst>
          </p:cNvPr>
          <p:cNvSpPr txBox="1"/>
          <p:nvPr/>
        </p:nvSpPr>
        <p:spPr>
          <a:xfrm>
            <a:off x="828858" y="2963539"/>
            <a:ext cx="3108960" cy="1051560"/>
          </a:xfrm>
          <a:prstGeom prst="rect">
            <a:avLst/>
          </a:prstGeom>
          <a:noFill/>
        </p:spPr>
        <p:txBody>
          <a:bodyPr wrap="square">
            <a:spAutoFit/>
          </a:bodyPr>
          <a:lstStyle/>
          <a:p>
            <a:pPr algn="l">
              <a:defRPr sz="1400" b="0">
                <a:solidFill>
                  <a:srgbClr val="23272F"/>
                </a:solidFill>
              </a:defRPr>
            </a:pPr>
            <a:r>
              <a:t>Traverse and manipulate arrays without copying data.</a:t>
            </a:r>
          </a:p>
        </p:txBody>
      </p:sp>
      <p:sp>
        <p:nvSpPr>
          <p:cNvPr id="15" name="Rounded Rectangle 9">
            <a:extLst>
              <a:ext uri="{FF2B5EF4-FFF2-40B4-BE49-F238E27FC236}">
                <a16:creationId xmlns:a16="http://schemas.microsoft.com/office/drawing/2014/main" id="{AE677E9A-88E8-7CAA-8696-CECE66184560}"/>
              </a:ext>
            </a:extLst>
          </p:cNvPr>
          <p:cNvSpPr/>
          <p:nvPr/>
        </p:nvSpPr>
        <p:spPr>
          <a:xfrm>
            <a:off x="4440739" y="239661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8922532-6A4D-CC80-345C-D7300C53FD15}"/>
              </a:ext>
            </a:extLst>
          </p:cNvPr>
          <p:cNvSpPr/>
          <p:nvPr/>
        </p:nvSpPr>
        <p:spPr>
          <a:xfrm>
            <a:off x="4440739" y="2396611"/>
            <a:ext cx="73152" cy="173736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61C284E6-33D6-5390-415F-128B06D280C2}"/>
              </a:ext>
            </a:extLst>
          </p:cNvPr>
          <p:cNvSpPr txBox="1"/>
          <p:nvPr/>
        </p:nvSpPr>
        <p:spPr>
          <a:xfrm>
            <a:off x="4623619" y="2542915"/>
            <a:ext cx="3108960" cy="320040"/>
          </a:xfrm>
          <a:prstGeom prst="rect">
            <a:avLst/>
          </a:prstGeom>
          <a:noFill/>
        </p:spPr>
        <p:txBody>
          <a:bodyPr wrap="square">
            <a:spAutoFit/>
          </a:bodyPr>
          <a:lstStyle/>
          <a:p>
            <a:pPr algn="l">
              <a:defRPr sz="1700" b="1">
                <a:solidFill>
                  <a:srgbClr val="182B49"/>
                </a:solidFill>
              </a:defRPr>
            </a:pPr>
            <a:r>
              <a:t>Functions</a:t>
            </a:r>
          </a:p>
        </p:txBody>
      </p:sp>
      <p:sp>
        <p:nvSpPr>
          <p:cNvPr id="21" name="TextBox 20">
            <a:extLst>
              <a:ext uri="{FF2B5EF4-FFF2-40B4-BE49-F238E27FC236}">
                <a16:creationId xmlns:a16="http://schemas.microsoft.com/office/drawing/2014/main" id="{2E36B0B5-E2FA-4E1A-0A14-EAE4613501BD}"/>
              </a:ext>
            </a:extLst>
          </p:cNvPr>
          <p:cNvSpPr txBox="1"/>
          <p:nvPr/>
        </p:nvSpPr>
        <p:spPr>
          <a:xfrm>
            <a:off x="4623619" y="2963539"/>
            <a:ext cx="3108960" cy="1051560"/>
          </a:xfrm>
          <a:prstGeom prst="rect">
            <a:avLst/>
          </a:prstGeom>
          <a:noFill/>
        </p:spPr>
        <p:txBody>
          <a:bodyPr wrap="square">
            <a:spAutoFit/>
          </a:bodyPr>
          <a:lstStyle/>
          <a:p>
            <a:pPr algn="l">
              <a:defRPr sz="1400" b="0">
                <a:solidFill>
                  <a:srgbClr val="23272F"/>
                </a:solidFill>
              </a:defRPr>
            </a:pPr>
            <a:r>
              <a:t>Pass addresses so functions can modify original variables.</a:t>
            </a:r>
          </a:p>
        </p:txBody>
      </p:sp>
      <p:sp>
        <p:nvSpPr>
          <p:cNvPr id="23" name="Rounded Rectangle 13">
            <a:extLst>
              <a:ext uri="{FF2B5EF4-FFF2-40B4-BE49-F238E27FC236}">
                <a16:creationId xmlns:a16="http://schemas.microsoft.com/office/drawing/2014/main" id="{2490DFC7-16E2-0BE6-78DC-F289E9CE0FC8}"/>
              </a:ext>
            </a:extLst>
          </p:cNvPr>
          <p:cNvSpPr/>
          <p:nvPr/>
        </p:nvSpPr>
        <p:spPr>
          <a:xfrm>
            <a:off x="8235499" y="239661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F9B25948-8300-62CF-2A05-F8F0FAB23442}"/>
              </a:ext>
            </a:extLst>
          </p:cNvPr>
          <p:cNvSpPr/>
          <p:nvPr/>
        </p:nvSpPr>
        <p:spPr>
          <a:xfrm>
            <a:off x="8235499" y="2396611"/>
            <a:ext cx="73152" cy="17373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F7D2CFD4-D9E1-6A0D-501F-ABDA4079FBB7}"/>
              </a:ext>
            </a:extLst>
          </p:cNvPr>
          <p:cNvSpPr txBox="1"/>
          <p:nvPr/>
        </p:nvSpPr>
        <p:spPr>
          <a:xfrm>
            <a:off x="8418379" y="2542915"/>
            <a:ext cx="3108960" cy="320040"/>
          </a:xfrm>
          <a:prstGeom prst="rect">
            <a:avLst/>
          </a:prstGeom>
          <a:noFill/>
        </p:spPr>
        <p:txBody>
          <a:bodyPr wrap="square">
            <a:spAutoFit/>
          </a:bodyPr>
          <a:lstStyle/>
          <a:p>
            <a:pPr algn="l">
              <a:defRPr sz="1700" b="1">
                <a:solidFill>
                  <a:srgbClr val="182B49"/>
                </a:solidFill>
              </a:defRPr>
            </a:pPr>
            <a:r>
              <a:t>Dynamic memory</a:t>
            </a:r>
          </a:p>
        </p:txBody>
      </p:sp>
      <p:sp>
        <p:nvSpPr>
          <p:cNvPr id="29" name="TextBox 28">
            <a:extLst>
              <a:ext uri="{FF2B5EF4-FFF2-40B4-BE49-F238E27FC236}">
                <a16:creationId xmlns:a16="http://schemas.microsoft.com/office/drawing/2014/main" id="{F15B51F9-0C7E-7E78-23BB-41D5C6E4CA18}"/>
              </a:ext>
            </a:extLst>
          </p:cNvPr>
          <p:cNvSpPr txBox="1"/>
          <p:nvPr/>
        </p:nvSpPr>
        <p:spPr>
          <a:xfrm>
            <a:off x="8418379" y="2963539"/>
            <a:ext cx="3108960" cy="1051560"/>
          </a:xfrm>
          <a:prstGeom prst="rect">
            <a:avLst/>
          </a:prstGeom>
          <a:noFill/>
        </p:spPr>
        <p:txBody>
          <a:bodyPr wrap="square">
            <a:spAutoFit/>
          </a:bodyPr>
          <a:lstStyle/>
          <a:p>
            <a:pPr algn="l">
              <a:defRPr sz="1400" b="0">
                <a:solidFill>
                  <a:srgbClr val="23272F"/>
                </a:solidFill>
              </a:defRPr>
            </a:pPr>
            <a:r>
              <a:t>Work with memory allocated using malloc(), calloc() and realloc().</a:t>
            </a:r>
          </a:p>
        </p:txBody>
      </p:sp>
      <p:sp>
        <p:nvSpPr>
          <p:cNvPr id="31" name="Rounded Rectangle 17">
            <a:extLst>
              <a:ext uri="{FF2B5EF4-FFF2-40B4-BE49-F238E27FC236}">
                <a16:creationId xmlns:a16="http://schemas.microsoft.com/office/drawing/2014/main" id="{70A7D798-DE61-D039-7291-B297F9FAF390}"/>
              </a:ext>
            </a:extLst>
          </p:cNvPr>
          <p:cNvSpPr/>
          <p:nvPr/>
        </p:nvSpPr>
        <p:spPr>
          <a:xfrm>
            <a:off x="645979" y="454545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07183964-1D5C-46AA-E897-2DB8DCE5787B}"/>
              </a:ext>
            </a:extLst>
          </p:cNvPr>
          <p:cNvSpPr/>
          <p:nvPr/>
        </p:nvSpPr>
        <p:spPr>
          <a:xfrm>
            <a:off x="645979" y="4545451"/>
            <a:ext cx="73152" cy="1737360"/>
          </a:xfrm>
          <a:prstGeom prst="rect">
            <a:avLst/>
          </a:prstGeom>
          <a:solidFill>
            <a:srgbClr val="278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BDB9AE01-24AA-1088-D34C-27A4FE437481}"/>
              </a:ext>
            </a:extLst>
          </p:cNvPr>
          <p:cNvSpPr txBox="1"/>
          <p:nvPr/>
        </p:nvSpPr>
        <p:spPr>
          <a:xfrm>
            <a:off x="828858" y="4691755"/>
            <a:ext cx="3108960" cy="320040"/>
          </a:xfrm>
          <a:prstGeom prst="rect">
            <a:avLst/>
          </a:prstGeom>
          <a:noFill/>
        </p:spPr>
        <p:txBody>
          <a:bodyPr wrap="square">
            <a:spAutoFit/>
          </a:bodyPr>
          <a:lstStyle/>
          <a:p>
            <a:pPr algn="l">
              <a:defRPr sz="1700" b="1">
                <a:solidFill>
                  <a:srgbClr val="182B49"/>
                </a:solidFill>
              </a:defRPr>
            </a:pPr>
            <a:r>
              <a:t>Data structures</a:t>
            </a:r>
          </a:p>
        </p:txBody>
      </p:sp>
      <p:sp>
        <p:nvSpPr>
          <p:cNvPr id="37" name="TextBox 36">
            <a:extLst>
              <a:ext uri="{FF2B5EF4-FFF2-40B4-BE49-F238E27FC236}">
                <a16:creationId xmlns:a16="http://schemas.microsoft.com/office/drawing/2014/main" id="{9795FE4B-3FC2-999D-0EFD-00075C077709}"/>
              </a:ext>
            </a:extLst>
          </p:cNvPr>
          <p:cNvSpPr txBox="1"/>
          <p:nvPr/>
        </p:nvSpPr>
        <p:spPr>
          <a:xfrm>
            <a:off x="828858" y="5112379"/>
            <a:ext cx="3108960" cy="1051560"/>
          </a:xfrm>
          <a:prstGeom prst="rect">
            <a:avLst/>
          </a:prstGeom>
          <a:noFill/>
        </p:spPr>
        <p:txBody>
          <a:bodyPr wrap="square">
            <a:spAutoFit/>
          </a:bodyPr>
          <a:lstStyle/>
          <a:p>
            <a:pPr algn="l">
              <a:defRPr sz="1400" b="0">
                <a:solidFill>
                  <a:srgbClr val="23272F"/>
                </a:solidFill>
              </a:defRPr>
            </a:pPr>
            <a:r>
              <a:t>Build linked lists, trees, graphs and other dynamic structures.</a:t>
            </a:r>
          </a:p>
        </p:txBody>
      </p:sp>
      <p:sp>
        <p:nvSpPr>
          <p:cNvPr id="39" name="Rounded Rectangle 21">
            <a:extLst>
              <a:ext uri="{FF2B5EF4-FFF2-40B4-BE49-F238E27FC236}">
                <a16:creationId xmlns:a16="http://schemas.microsoft.com/office/drawing/2014/main" id="{C036C738-3131-BF0F-85A1-97DC21113506}"/>
              </a:ext>
            </a:extLst>
          </p:cNvPr>
          <p:cNvSpPr/>
          <p:nvPr/>
        </p:nvSpPr>
        <p:spPr>
          <a:xfrm>
            <a:off x="4440739" y="454545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a:extLst>
              <a:ext uri="{FF2B5EF4-FFF2-40B4-BE49-F238E27FC236}">
                <a16:creationId xmlns:a16="http://schemas.microsoft.com/office/drawing/2014/main" id="{DC073624-9D2F-8A78-5D6D-691B7AC5A4C5}"/>
              </a:ext>
            </a:extLst>
          </p:cNvPr>
          <p:cNvSpPr/>
          <p:nvPr/>
        </p:nvSpPr>
        <p:spPr>
          <a:xfrm>
            <a:off x="4440739" y="4545451"/>
            <a:ext cx="73152" cy="17373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CA4FC6DE-95F2-F5DE-03B2-0E55B7971C10}"/>
              </a:ext>
            </a:extLst>
          </p:cNvPr>
          <p:cNvSpPr txBox="1"/>
          <p:nvPr/>
        </p:nvSpPr>
        <p:spPr>
          <a:xfrm>
            <a:off x="4623619" y="4691755"/>
            <a:ext cx="3108960" cy="320040"/>
          </a:xfrm>
          <a:prstGeom prst="rect">
            <a:avLst/>
          </a:prstGeom>
          <a:noFill/>
        </p:spPr>
        <p:txBody>
          <a:bodyPr wrap="square">
            <a:spAutoFit/>
          </a:bodyPr>
          <a:lstStyle/>
          <a:p>
            <a:pPr algn="l">
              <a:defRPr sz="1700" b="1">
                <a:solidFill>
                  <a:srgbClr val="182B49"/>
                </a:solidFill>
              </a:defRPr>
            </a:pPr>
            <a:r>
              <a:t>Low-level control</a:t>
            </a:r>
          </a:p>
        </p:txBody>
      </p:sp>
      <p:sp>
        <p:nvSpPr>
          <p:cNvPr id="45" name="TextBox 44">
            <a:extLst>
              <a:ext uri="{FF2B5EF4-FFF2-40B4-BE49-F238E27FC236}">
                <a16:creationId xmlns:a16="http://schemas.microsoft.com/office/drawing/2014/main" id="{B16DBE93-1B9C-0062-2823-497111604F99}"/>
              </a:ext>
            </a:extLst>
          </p:cNvPr>
          <p:cNvSpPr txBox="1"/>
          <p:nvPr/>
        </p:nvSpPr>
        <p:spPr>
          <a:xfrm>
            <a:off x="4623619" y="5112379"/>
            <a:ext cx="3108960" cy="1051560"/>
          </a:xfrm>
          <a:prstGeom prst="rect">
            <a:avLst/>
          </a:prstGeom>
          <a:noFill/>
        </p:spPr>
        <p:txBody>
          <a:bodyPr wrap="square">
            <a:spAutoFit/>
          </a:bodyPr>
          <a:lstStyle/>
          <a:p>
            <a:pPr algn="l">
              <a:defRPr sz="1400" b="0">
                <a:solidFill>
                  <a:srgbClr val="23272F"/>
                </a:solidFill>
              </a:defRPr>
            </a:pPr>
            <a:r>
              <a:t>Useful in systems programming, buffers and hardware-oriented code.</a:t>
            </a:r>
          </a:p>
        </p:txBody>
      </p:sp>
    </p:spTree>
    <p:extLst>
      <p:ext uri="{BB962C8B-B14F-4D97-AF65-F5344CB8AC3E}">
        <p14:creationId xmlns:p14="http://schemas.microsoft.com/office/powerpoint/2010/main" val="15472125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Understanding Memory &amp; Addresses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r>
              <a:rPr lang="en-US" dirty="0"/>
              <a:t>Every variable occupies a location in memory.</a:t>
            </a:r>
          </a:p>
          <a:p>
            <a:pPr lvl="1"/>
            <a:endParaRPr lang="en-IN" dirty="0"/>
          </a:p>
        </p:txBody>
      </p:sp>
      <p:sp>
        <p:nvSpPr>
          <p:cNvPr id="4" name="Rounded Rectangle 5">
            <a:extLst>
              <a:ext uri="{FF2B5EF4-FFF2-40B4-BE49-F238E27FC236}">
                <a16:creationId xmlns:a16="http://schemas.microsoft.com/office/drawing/2014/main" id="{F8C97888-83BE-D280-81D8-B9F0BE7D4A68}"/>
              </a:ext>
            </a:extLst>
          </p:cNvPr>
          <p:cNvSpPr/>
          <p:nvPr/>
        </p:nvSpPr>
        <p:spPr>
          <a:xfrm>
            <a:off x="1197565" y="3285934"/>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0209B0F-7395-1195-6830-F827D5512701}"/>
              </a:ext>
            </a:extLst>
          </p:cNvPr>
          <p:cNvSpPr txBox="1"/>
          <p:nvPr/>
        </p:nvSpPr>
        <p:spPr>
          <a:xfrm>
            <a:off x="1289005" y="3377374"/>
            <a:ext cx="1783080" cy="274320"/>
          </a:xfrm>
          <a:prstGeom prst="rect">
            <a:avLst/>
          </a:prstGeom>
          <a:noFill/>
        </p:spPr>
        <p:txBody>
          <a:bodyPr wrap="square">
            <a:spAutoFit/>
          </a:bodyPr>
          <a:lstStyle/>
          <a:p>
            <a:pPr algn="ctr">
              <a:defRPr sz="1500" b="1">
                <a:solidFill>
                  <a:srgbClr val="182B49"/>
                </a:solidFill>
              </a:defRPr>
            </a:pPr>
            <a:r>
              <a:t>x</a:t>
            </a:r>
          </a:p>
        </p:txBody>
      </p:sp>
      <p:sp>
        <p:nvSpPr>
          <p:cNvPr id="6" name="TextBox 5">
            <a:extLst>
              <a:ext uri="{FF2B5EF4-FFF2-40B4-BE49-F238E27FC236}">
                <a16:creationId xmlns:a16="http://schemas.microsoft.com/office/drawing/2014/main" id="{906C4F0F-A388-F8D8-F73E-60B880BBCAF8}"/>
              </a:ext>
            </a:extLst>
          </p:cNvPr>
          <p:cNvSpPr txBox="1"/>
          <p:nvPr/>
        </p:nvSpPr>
        <p:spPr>
          <a:xfrm>
            <a:off x="1289005" y="3715702"/>
            <a:ext cx="1783080" cy="320040"/>
          </a:xfrm>
          <a:prstGeom prst="rect">
            <a:avLst/>
          </a:prstGeom>
          <a:noFill/>
        </p:spPr>
        <p:txBody>
          <a:bodyPr wrap="square">
            <a:spAutoFit/>
          </a:bodyPr>
          <a:lstStyle/>
          <a:p>
            <a:pPr algn="ctr">
              <a:defRPr sz="2200" b="1">
                <a:solidFill>
                  <a:srgbClr val="23272F"/>
                </a:solidFill>
              </a:defRPr>
            </a:pPr>
            <a:r>
              <a:t>10</a:t>
            </a:r>
          </a:p>
        </p:txBody>
      </p:sp>
      <p:sp>
        <p:nvSpPr>
          <p:cNvPr id="7" name="TextBox 6">
            <a:extLst>
              <a:ext uri="{FF2B5EF4-FFF2-40B4-BE49-F238E27FC236}">
                <a16:creationId xmlns:a16="http://schemas.microsoft.com/office/drawing/2014/main" id="{530692B5-763D-983E-26C1-D22E1EE27A4C}"/>
              </a:ext>
            </a:extLst>
          </p:cNvPr>
          <p:cNvSpPr txBox="1"/>
          <p:nvPr/>
        </p:nvSpPr>
        <p:spPr>
          <a:xfrm>
            <a:off x="1289005" y="4108894"/>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8" name="TextBox 7">
            <a:extLst>
              <a:ext uri="{FF2B5EF4-FFF2-40B4-BE49-F238E27FC236}">
                <a16:creationId xmlns:a16="http://schemas.microsoft.com/office/drawing/2014/main" id="{D5DF2345-929D-28BA-4576-14CDA29FF234}"/>
              </a:ext>
            </a:extLst>
          </p:cNvPr>
          <p:cNvSpPr txBox="1"/>
          <p:nvPr/>
        </p:nvSpPr>
        <p:spPr>
          <a:xfrm>
            <a:off x="1380445" y="4703254"/>
            <a:ext cx="1645920" cy="365760"/>
          </a:xfrm>
          <a:prstGeom prst="rect">
            <a:avLst/>
          </a:prstGeom>
          <a:noFill/>
        </p:spPr>
        <p:txBody>
          <a:bodyPr wrap="square">
            <a:spAutoFit/>
          </a:bodyPr>
          <a:lstStyle/>
          <a:p>
            <a:pPr algn="ctr">
              <a:defRPr sz="1400" b="1">
                <a:solidFill>
                  <a:srgbClr val="69707A"/>
                </a:solidFill>
              </a:defRPr>
            </a:pPr>
            <a:r>
              <a:t>Variable</a:t>
            </a:r>
          </a:p>
        </p:txBody>
      </p:sp>
      <p:cxnSp>
        <p:nvCxnSpPr>
          <p:cNvPr id="9" name="Connector 10">
            <a:extLst>
              <a:ext uri="{FF2B5EF4-FFF2-40B4-BE49-F238E27FC236}">
                <a16:creationId xmlns:a16="http://schemas.microsoft.com/office/drawing/2014/main" id="{133F121F-275C-8C5B-2248-AEA1EBC4D1D0}"/>
              </a:ext>
            </a:extLst>
          </p:cNvPr>
          <p:cNvCxnSpPr/>
          <p:nvPr/>
        </p:nvCxnSpPr>
        <p:spPr>
          <a:xfrm>
            <a:off x="3300685" y="3880294"/>
            <a:ext cx="1737360" cy="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BC1BA9B-3D9A-EBB3-7C18-462D8FD2D395}"/>
              </a:ext>
            </a:extLst>
          </p:cNvPr>
          <p:cNvSpPr txBox="1"/>
          <p:nvPr/>
        </p:nvSpPr>
        <p:spPr>
          <a:xfrm>
            <a:off x="3163525" y="3295075"/>
            <a:ext cx="2011680" cy="320040"/>
          </a:xfrm>
          <a:prstGeom prst="rect">
            <a:avLst/>
          </a:prstGeom>
          <a:noFill/>
        </p:spPr>
        <p:txBody>
          <a:bodyPr wrap="square">
            <a:spAutoFit/>
          </a:bodyPr>
          <a:lstStyle/>
          <a:p>
            <a:pPr algn="ctr">
              <a:defRPr sz="1500" b="1">
                <a:solidFill>
                  <a:srgbClr val="008489"/>
                </a:solidFill>
              </a:defRPr>
            </a:pPr>
            <a:r>
              <a:t>&amp;x gives the address</a:t>
            </a:r>
          </a:p>
        </p:txBody>
      </p:sp>
      <p:sp>
        <p:nvSpPr>
          <p:cNvPr id="11" name="Rounded Rectangle 12">
            <a:extLst>
              <a:ext uri="{FF2B5EF4-FFF2-40B4-BE49-F238E27FC236}">
                <a16:creationId xmlns:a16="http://schemas.microsoft.com/office/drawing/2014/main" id="{DD47F401-C125-C75F-8A56-C3D1EC120C5F}"/>
              </a:ext>
            </a:extLst>
          </p:cNvPr>
          <p:cNvSpPr/>
          <p:nvPr/>
        </p:nvSpPr>
        <p:spPr>
          <a:xfrm>
            <a:off x="5175205" y="2965894"/>
            <a:ext cx="2743200" cy="18288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A36F4D6E-2CF7-A5A6-7CC7-D67F0B0989EB}"/>
              </a:ext>
            </a:extLst>
          </p:cNvPr>
          <p:cNvSpPr/>
          <p:nvPr/>
        </p:nvSpPr>
        <p:spPr>
          <a:xfrm>
            <a:off x="5175205" y="2965894"/>
            <a:ext cx="73152" cy="182880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BA54098-BCE0-9214-D9C8-EACDC5EAF8D3}"/>
              </a:ext>
            </a:extLst>
          </p:cNvPr>
          <p:cNvSpPr txBox="1"/>
          <p:nvPr/>
        </p:nvSpPr>
        <p:spPr>
          <a:xfrm>
            <a:off x="5358085" y="3112197"/>
            <a:ext cx="2423160" cy="320040"/>
          </a:xfrm>
          <a:prstGeom prst="rect">
            <a:avLst/>
          </a:prstGeom>
          <a:noFill/>
        </p:spPr>
        <p:txBody>
          <a:bodyPr wrap="square">
            <a:spAutoFit/>
          </a:bodyPr>
          <a:lstStyle/>
          <a:p>
            <a:pPr algn="l">
              <a:defRPr sz="1700" b="1">
                <a:solidFill>
                  <a:srgbClr val="182B49"/>
                </a:solidFill>
              </a:defRPr>
            </a:pPr>
            <a:r>
              <a:t>Address</a:t>
            </a:r>
          </a:p>
        </p:txBody>
      </p:sp>
      <p:sp>
        <p:nvSpPr>
          <p:cNvPr id="14" name="TextBox 13">
            <a:extLst>
              <a:ext uri="{FF2B5EF4-FFF2-40B4-BE49-F238E27FC236}">
                <a16:creationId xmlns:a16="http://schemas.microsoft.com/office/drawing/2014/main" id="{34DFE5E2-11BE-31F3-DDC0-5F1F068E5DDA}"/>
              </a:ext>
            </a:extLst>
          </p:cNvPr>
          <p:cNvSpPr txBox="1"/>
          <p:nvPr/>
        </p:nvSpPr>
        <p:spPr>
          <a:xfrm>
            <a:off x="5358085" y="3532822"/>
            <a:ext cx="2423160" cy="1143000"/>
          </a:xfrm>
          <a:prstGeom prst="rect">
            <a:avLst/>
          </a:prstGeom>
          <a:noFill/>
        </p:spPr>
        <p:txBody>
          <a:bodyPr wrap="square">
            <a:spAutoFit/>
          </a:bodyPr>
          <a:lstStyle/>
          <a:p>
            <a:pPr algn="l">
              <a:defRPr sz="1400" b="0">
                <a:solidFill>
                  <a:srgbClr val="23272F"/>
                </a:solidFill>
              </a:defRPr>
            </a:pPr>
            <a:r>
              <a:t>A memory location can be represented by an address such as 1000.</a:t>
            </a:r>
          </a:p>
        </p:txBody>
      </p:sp>
      <p:sp>
        <p:nvSpPr>
          <p:cNvPr id="15" name="Rounded Rectangle 16">
            <a:extLst>
              <a:ext uri="{FF2B5EF4-FFF2-40B4-BE49-F238E27FC236}">
                <a16:creationId xmlns:a16="http://schemas.microsoft.com/office/drawing/2014/main" id="{4F2004F3-A736-32CD-9CF1-F3D9BB0AA169}"/>
              </a:ext>
            </a:extLst>
          </p:cNvPr>
          <p:cNvSpPr/>
          <p:nvPr/>
        </p:nvSpPr>
        <p:spPr>
          <a:xfrm>
            <a:off x="8284165" y="2965894"/>
            <a:ext cx="2743200" cy="18288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81245482-1B2A-046B-87AF-0E31A86174DA}"/>
              </a:ext>
            </a:extLst>
          </p:cNvPr>
          <p:cNvSpPr/>
          <p:nvPr/>
        </p:nvSpPr>
        <p:spPr>
          <a:xfrm>
            <a:off x="8284165" y="2965894"/>
            <a:ext cx="73152" cy="182880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FD23BC92-CA07-67C8-5D89-42178BBC2885}"/>
              </a:ext>
            </a:extLst>
          </p:cNvPr>
          <p:cNvSpPr txBox="1"/>
          <p:nvPr/>
        </p:nvSpPr>
        <p:spPr>
          <a:xfrm>
            <a:off x="8467044" y="3112197"/>
            <a:ext cx="2423160" cy="320040"/>
          </a:xfrm>
          <a:prstGeom prst="rect">
            <a:avLst/>
          </a:prstGeom>
          <a:noFill/>
        </p:spPr>
        <p:txBody>
          <a:bodyPr wrap="square">
            <a:spAutoFit/>
          </a:bodyPr>
          <a:lstStyle/>
          <a:p>
            <a:pPr algn="l">
              <a:defRPr sz="1700" b="1">
                <a:solidFill>
                  <a:srgbClr val="182B49"/>
                </a:solidFill>
              </a:defRPr>
            </a:pPr>
            <a:r>
              <a:t>Pointer</a:t>
            </a:r>
          </a:p>
        </p:txBody>
      </p:sp>
      <p:sp>
        <p:nvSpPr>
          <p:cNvPr id="18" name="TextBox 17">
            <a:extLst>
              <a:ext uri="{FF2B5EF4-FFF2-40B4-BE49-F238E27FC236}">
                <a16:creationId xmlns:a16="http://schemas.microsoft.com/office/drawing/2014/main" id="{DFD13C0D-8237-F838-B247-7FB0546FE8A9}"/>
              </a:ext>
            </a:extLst>
          </p:cNvPr>
          <p:cNvSpPr txBox="1"/>
          <p:nvPr/>
        </p:nvSpPr>
        <p:spPr>
          <a:xfrm>
            <a:off x="8467044" y="3532822"/>
            <a:ext cx="2423160" cy="1143000"/>
          </a:xfrm>
          <a:prstGeom prst="rect">
            <a:avLst/>
          </a:prstGeom>
          <a:noFill/>
        </p:spPr>
        <p:txBody>
          <a:bodyPr wrap="square">
            <a:spAutoFit/>
          </a:bodyPr>
          <a:lstStyle/>
          <a:p>
            <a:pPr algn="l">
              <a:defRPr sz="1400" b="0">
                <a:solidFill>
                  <a:srgbClr val="23272F"/>
                </a:solidFill>
              </a:defRPr>
            </a:pPr>
            <a:r>
              <a:t>A pointer stores that address so the program can reach the memory location.</a:t>
            </a:r>
          </a:p>
        </p:txBody>
      </p:sp>
      <p:sp>
        <p:nvSpPr>
          <p:cNvPr id="19" name="Rounded Rectangle 20">
            <a:extLst>
              <a:ext uri="{FF2B5EF4-FFF2-40B4-BE49-F238E27FC236}">
                <a16:creationId xmlns:a16="http://schemas.microsoft.com/office/drawing/2014/main" id="{281CC3AF-C323-8BF1-3095-FB16E91DF368}"/>
              </a:ext>
            </a:extLst>
          </p:cNvPr>
          <p:cNvSpPr/>
          <p:nvPr/>
        </p:nvSpPr>
        <p:spPr>
          <a:xfrm>
            <a:off x="3026365" y="5617654"/>
            <a:ext cx="6583680" cy="10515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1799A3D-0673-6170-D4D5-F154B2905EFD}"/>
              </a:ext>
            </a:extLst>
          </p:cNvPr>
          <p:cNvSpPr txBox="1"/>
          <p:nvPr/>
        </p:nvSpPr>
        <p:spPr>
          <a:xfrm>
            <a:off x="3190957" y="5727382"/>
            <a:ext cx="6254496" cy="832103"/>
          </a:xfrm>
          <a:prstGeom prst="rect">
            <a:avLst/>
          </a:prstGeom>
          <a:noFill/>
        </p:spPr>
        <p:txBody>
          <a:bodyPr wrap="none">
            <a:spAutoFit/>
          </a:bodyPr>
          <a:lstStyle/>
          <a:p>
            <a:pPr>
              <a:defRPr sz="1600">
                <a:solidFill>
                  <a:srgbClr val="FFFFFF"/>
                </a:solidFill>
                <a:latin typeface="Consolas"/>
              </a:defRPr>
            </a:pPr>
            <a:r>
              <a:t>int x = 10;</a:t>
            </a:r>
            <a:br/>
            <a:r>
              <a:t>printf("%p", (void*)&amp;x);</a:t>
            </a:r>
          </a:p>
        </p:txBody>
      </p:sp>
    </p:spTree>
    <p:extLst>
      <p:ext uri="{BB962C8B-B14F-4D97-AF65-F5344CB8AC3E}">
        <p14:creationId xmlns:p14="http://schemas.microsoft.com/office/powerpoint/2010/main" val="19148755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CAEA-B921-B267-16AC-31938C5D1565}"/>
              </a:ext>
            </a:extLst>
          </p:cNvPr>
          <p:cNvSpPr>
            <a:spLocks noGrp="1"/>
          </p:cNvSpPr>
          <p:nvPr>
            <p:ph type="title"/>
          </p:nvPr>
        </p:nvSpPr>
        <p:spPr/>
        <p:txBody>
          <a:bodyPr/>
          <a:lstStyle/>
          <a:p>
            <a:r>
              <a:rPr lang="en-IN" dirty="0"/>
              <a:t>What Is a Pointer?</a:t>
            </a:r>
          </a:p>
        </p:txBody>
      </p:sp>
      <p:sp>
        <p:nvSpPr>
          <p:cNvPr id="3" name="Content Placeholder 2">
            <a:extLst>
              <a:ext uri="{FF2B5EF4-FFF2-40B4-BE49-F238E27FC236}">
                <a16:creationId xmlns:a16="http://schemas.microsoft.com/office/drawing/2014/main" id="{E32A11A7-4649-83EE-2A20-59F368358E0D}"/>
              </a:ext>
            </a:extLst>
          </p:cNvPr>
          <p:cNvSpPr>
            <a:spLocks noGrp="1"/>
          </p:cNvSpPr>
          <p:nvPr>
            <p:ph idx="1"/>
          </p:nvPr>
        </p:nvSpPr>
        <p:spPr/>
        <p:txBody>
          <a:bodyPr/>
          <a:lstStyle/>
          <a:p>
            <a:r>
              <a:rPr lang="en-US" dirty="0"/>
              <a:t>A pointer is a variable that stores the address of another variable.</a:t>
            </a:r>
          </a:p>
          <a:p>
            <a:endParaRPr lang="en-IN" dirty="0"/>
          </a:p>
        </p:txBody>
      </p:sp>
      <p:sp>
        <p:nvSpPr>
          <p:cNvPr id="4" name="Rounded Rectangle 5">
            <a:extLst>
              <a:ext uri="{FF2B5EF4-FFF2-40B4-BE49-F238E27FC236}">
                <a16:creationId xmlns:a16="http://schemas.microsoft.com/office/drawing/2014/main" id="{DF60C895-40F9-9458-C632-2FBCD295F2F9}"/>
              </a:ext>
            </a:extLst>
          </p:cNvPr>
          <p:cNvSpPr/>
          <p:nvPr/>
        </p:nvSpPr>
        <p:spPr>
          <a:xfrm>
            <a:off x="999941" y="3234321"/>
            <a:ext cx="4572000" cy="15087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7C1AB12-685F-B7EA-93AB-EA0B32C00CF9}"/>
              </a:ext>
            </a:extLst>
          </p:cNvPr>
          <p:cNvSpPr txBox="1"/>
          <p:nvPr/>
        </p:nvSpPr>
        <p:spPr>
          <a:xfrm>
            <a:off x="1164533" y="3344049"/>
            <a:ext cx="4242816" cy="1289304"/>
          </a:xfrm>
          <a:prstGeom prst="rect">
            <a:avLst/>
          </a:prstGeom>
          <a:noFill/>
        </p:spPr>
        <p:txBody>
          <a:bodyPr wrap="none">
            <a:spAutoFit/>
          </a:bodyPr>
          <a:lstStyle/>
          <a:p>
            <a:pPr>
              <a:defRPr sz="1900">
                <a:solidFill>
                  <a:srgbClr val="FFFFFF"/>
                </a:solidFill>
                <a:latin typeface="Consolas"/>
              </a:defRPr>
            </a:pPr>
            <a:r>
              <a:t>int x = 10;</a:t>
            </a:r>
            <a:br/>
            <a:r>
              <a:t>int *p;</a:t>
            </a:r>
            <a:br/>
            <a:r>
              <a:t>p = &amp;x;</a:t>
            </a:r>
          </a:p>
        </p:txBody>
      </p:sp>
      <p:sp>
        <p:nvSpPr>
          <p:cNvPr id="6" name="Rounded Rectangle 7">
            <a:extLst>
              <a:ext uri="{FF2B5EF4-FFF2-40B4-BE49-F238E27FC236}">
                <a16:creationId xmlns:a16="http://schemas.microsoft.com/office/drawing/2014/main" id="{FEEE628D-3C3E-72D6-27AE-846E9568145D}"/>
              </a:ext>
            </a:extLst>
          </p:cNvPr>
          <p:cNvSpPr/>
          <p:nvPr/>
        </p:nvSpPr>
        <p:spPr>
          <a:xfrm>
            <a:off x="6760661" y="3234321"/>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6438FAB-C896-A1A0-72FD-BF5D16115EBE}"/>
              </a:ext>
            </a:extLst>
          </p:cNvPr>
          <p:cNvSpPr txBox="1"/>
          <p:nvPr/>
        </p:nvSpPr>
        <p:spPr>
          <a:xfrm>
            <a:off x="6852101" y="3325761"/>
            <a:ext cx="1783080" cy="274320"/>
          </a:xfrm>
          <a:prstGeom prst="rect">
            <a:avLst/>
          </a:prstGeom>
          <a:noFill/>
        </p:spPr>
        <p:txBody>
          <a:bodyPr wrap="square">
            <a:spAutoFit/>
          </a:bodyPr>
          <a:lstStyle/>
          <a:p>
            <a:pPr algn="ctr">
              <a:defRPr sz="1500" b="1">
                <a:solidFill>
                  <a:srgbClr val="182B49"/>
                </a:solidFill>
              </a:defRPr>
            </a:pPr>
            <a:r>
              <a:t>x</a:t>
            </a:r>
          </a:p>
        </p:txBody>
      </p:sp>
      <p:sp>
        <p:nvSpPr>
          <p:cNvPr id="8" name="TextBox 7">
            <a:extLst>
              <a:ext uri="{FF2B5EF4-FFF2-40B4-BE49-F238E27FC236}">
                <a16:creationId xmlns:a16="http://schemas.microsoft.com/office/drawing/2014/main" id="{FA8BDEDA-9B08-57E9-6FFE-AE9D33EFB8F6}"/>
              </a:ext>
            </a:extLst>
          </p:cNvPr>
          <p:cNvSpPr txBox="1"/>
          <p:nvPr/>
        </p:nvSpPr>
        <p:spPr>
          <a:xfrm>
            <a:off x="6852101" y="3664089"/>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53D3B6A3-E45C-C9AC-AD1D-ACEF95798282}"/>
              </a:ext>
            </a:extLst>
          </p:cNvPr>
          <p:cNvSpPr txBox="1"/>
          <p:nvPr/>
        </p:nvSpPr>
        <p:spPr>
          <a:xfrm>
            <a:off x="6852101" y="4057281"/>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B8BA5585-B236-2245-2A37-A6FA3B582080}"/>
              </a:ext>
            </a:extLst>
          </p:cNvPr>
          <p:cNvSpPr/>
          <p:nvPr/>
        </p:nvSpPr>
        <p:spPr>
          <a:xfrm>
            <a:off x="6760661" y="4971681"/>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684D8DC3-59BE-046D-CC86-B8AFB4BCA9AF}"/>
              </a:ext>
            </a:extLst>
          </p:cNvPr>
          <p:cNvSpPr txBox="1"/>
          <p:nvPr/>
        </p:nvSpPr>
        <p:spPr>
          <a:xfrm>
            <a:off x="6852101" y="5063121"/>
            <a:ext cx="1783080" cy="274320"/>
          </a:xfrm>
          <a:prstGeom prst="rect">
            <a:avLst/>
          </a:prstGeom>
          <a:noFill/>
        </p:spPr>
        <p:txBody>
          <a:bodyPr wrap="square">
            <a:spAutoFit/>
          </a:bodyPr>
          <a:lstStyle/>
          <a:p>
            <a:pPr algn="ctr">
              <a:defRPr sz="1500" b="1">
                <a:solidFill>
                  <a:srgbClr val="182B49"/>
                </a:solidFill>
              </a:defRPr>
            </a:pPr>
            <a:r>
              <a:t>p</a:t>
            </a:r>
          </a:p>
        </p:txBody>
      </p:sp>
      <p:sp>
        <p:nvSpPr>
          <p:cNvPr id="12" name="TextBox 11">
            <a:extLst>
              <a:ext uri="{FF2B5EF4-FFF2-40B4-BE49-F238E27FC236}">
                <a16:creationId xmlns:a16="http://schemas.microsoft.com/office/drawing/2014/main" id="{C1A72248-AA57-9BC4-607B-6E07D20F988A}"/>
              </a:ext>
            </a:extLst>
          </p:cNvPr>
          <p:cNvSpPr txBox="1"/>
          <p:nvPr/>
        </p:nvSpPr>
        <p:spPr>
          <a:xfrm>
            <a:off x="6852101" y="5401449"/>
            <a:ext cx="1783080" cy="320040"/>
          </a:xfrm>
          <a:prstGeom prst="rect">
            <a:avLst/>
          </a:prstGeom>
          <a:noFill/>
        </p:spPr>
        <p:txBody>
          <a:bodyPr wrap="square">
            <a:spAutoFit/>
          </a:bodyPr>
          <a:lstStyle/>
          <a:p>
            <a:pPr algn="ctr">
              <a:defRPr sz="2200" b="1">
                <a:solidFill>
                  <a:srgbClr val="23272F"/>
                </a:solidFill>
              </a:defRPr>
            </a:pPr>
            <a:r>
              <a:t>1000</a:t>
            </a:r>
          </a:p>
        </p:txBody>
      </p:sp>
      <p:sp>
        <p:nvSpPr>
          <p:cNvPr id="13" name="TextBox 12">
            <a:extLst>
              <a:ext uri="{FF2B5EF4-FFF2-40B4-BE49-F238E27FC236}">
                <a16:creationId xmlns:a16="http://schemas.microsoft.com/office/drawing/2014/main" id="{021FFBFC-EF6C-2364-A928-8C93D3B0601F}"/>
              </a:ext>
            </a:extLst>
          </p:cNvPr>
          <p:cNvSpPr txBox="1"/>
          <p:nvPr/>
        </p:nvSpPr>
        <p:spPr>
          <a:xfrm>
            <a:off x="6852101" y="5794641"/>
            <a:ext cx="1783080" cy="228600"/>
          </a:xfrm>
          <a:prstGeom prst="rect">
            <a:avLst/>
          </a:prstGeom>
          <a:noFill/>
        </p:spPr>
        <p:txBody>
          <a:bodyPr wrap="square">
            <a:spAutoFit/>
          </a:bodyPr>
          <a:lstStyle/>
          <a:p>
            <a:pPr algn="ctr">
              <a:defRPr sz="1000" b="0">
                <a:solidFill>
                  <a:srgbClr val="69707A"/>
                </a:solidFill>
              </a:defRPr>
            </a:pPr>
            <a:r>
              <a:t>Address: 2000</a:t>
            </a:r>
          </a:p>
        </p:txBody>
      </p:sp>
      <p:cxnSp>
        <p:nvCxnSpPr>
          <p:cNvPr id="14" name="Connector 15">
            <a:extLst>
              <a:ext uri="{FF2B5EF4-FFF2-40B4-BE49-F238E27FC236}">
                <a16:creationId xmlns:a16="http://schemas.microsoft.com/office/drawing/2014/main" id="{B003AFD2-89A9-4340-1EA5-0C1AD68D3A83}"/>
              </a:ext>
            </a:extLst>
          </p:cNvPr>
          <p:cNvCxnSpPr>
            <a:cxnSpLocks/>
          </p:cNvCxnSpPr>
          <p:nvPr/>
        </p:nvCxnSpPr>
        <p:spPr>
          <a:xfrm flipV="1">
            <a:off x="7812221" y="4331601"/>
            <a:ext cx="0" cy="64008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E6580F3-F239-8659-A154-B92F9B4A7839}"/>
              </a:ext>
            </a:extLst>
          </p:cNvPr>
          <p:cNvSpPr txBox="1"/>
          <p:nvPr/>
        </p:nvSpPr>
        <p:spPr>
          <a:xfrm>
            <a:off x="9046661" y="4880241"/>
            <a:ext cx="2103120" cy="594360"/>
          </a:xfrm>
          <a:prstGeom prst="rect">
            <a:avLst/>
          </a:prstGeom>
          <a:noFill/>
        </p:spPr>
        <p:txBody>
          <a:bodyPr wrap="square">
            <a:spAutoFit/>
          </a:bodyPr>
          <a:lstStyle/>
          <a:p>
            <a:pPr algn="ctr">
              <a:defRPr sz="1800" b="1">
                <a:solidFill>
                  <a:srgbClr val="008489"/>
                </a:solidFill>
              </a:defRPr>
            </a:pPr>
            <a:r>
              <a:t>p points to x</a:t>
            </a:r>
          </a:p>
        </p:txBody>
      </p:sp>
      <p:sp>
        <p:nvSpPr>
          <p:cNvPr id="16" name="TextBox 15">
            <a:extLst>
              <a:ext uri="{FF2B5EF4-FFF2-40B4-BE49-F238E27FC236}">
                <a16:creationId xmlns:a16="http://schemas.microsoft.com/office/drawing/2014/main" id="{59947896-B19D-EE25-F30C-AA72C4111F47}"/>
              </a:ext>
            </a:extLst>
          </p:cNvPr>
          <p:cNvSpPr txBox="1"/>
          <p:nvPr/>
        </p:nvSpPr>
        <p:spPr>
          <a:xfrm>
            <a:off x="1091381" y="5611761"/>
            <a:ext cx="4754880" cy="1143000"/>
          </a:xfrm>
          <a:prstGeom prst="rect">
            <a:avLst/>
          </a:prstGeom>
          <a:noFill/>
        </p:spPr>
        <p:txBody>
          <a:bodyPr wrap="square">
            <a:spAutoFit/>
          </a:bodyPr>
          <a:lstStyle/>
          <a:p>
            <a:pPr algn="l">
              <a:defRPr sz="1800" b="1">
                <a:solidFill>
                  <a:srgbClr val="23272F"/>
                </a:solidFill>
              </a:defRPr>
            </a:pPr>
            <a:r>
              <a:t>Key idea:</a:t>
            </a:r>
            <a:br/>
            <a:r>
              <a:t>p contains the address of x.</a:t>
            </a:r>
            <a:br/>
            <a:r>
              <a:t>*p accesses the value stored at that address.</a:t>
            </a:r>
          </a:p>
        </p:txBody>
      </p:sp>
    </p:spTree>
    <p:extLst>
      <p:ext uri="{BB962C8B-B14F-4D97-AF65-F5344CB8AC3E}">
        <p14:creationId xmlns:p14="http://schemas.microsoft.com/office/powerpoint/2010/main" val="35277920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FDE08-84F8-EB5B-50DC-2B82E5D4F4F6}"/>
              </a:ext>
            </a:extLst>
          </p:cNvPr>
          <p:cNvSpPr>
            <a:spLocks noGrp="1"/>
          </p:cNvSpPr>
          <p:nvPr>
            <p:ph type="title"/>
          </p:nvPr>
        </p:nvSpPr>
        <p:spPr/>
        <p:txBody>
          <a:bodyPr/>
          <a:lstStyle/>
          <a:p>
            <a:r>
              <a:rPr lang="en-IN" dirty="0"/>
              <a:t>The &amp; and * Operators</a:t>
            </a:r>
          </a:p>
        </p:txBody>
      </p:sp>
      <p:sp>
        <p:nvSpPr>
          <p:cNvPr id="25" name="Rounded Rectangle 5">
            <a:extLst>
              <a:ext uri="{FF2B5EF4-FFF2-40B4-BE49-F238E27FC236}">
                <a16:creationId xmlns:a16="http://schemas.microsoft.com/office/drawing/2014/main" id="{9A4750F0-D051-9470-E31F-63BD22D5085B}"/>
              </a:ext>
            </a:extLst>
          </p:cNvPr>
          <p:cNvSpPr/>
          <p:nvPr/>
        </p:nvSpPr>
        <p:spPr>
          <a:xfrm>
            <a:off x="1020589" y="2382202"/>
            <a:ext cx="5212080" cy="192024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46F1F74D-75FB-39BC-CE96-70A39258C660}"/>
              </a:ext>
            </a:extLst>
          </p:cNvPr>
          <p:cNvSpPr/>
          <p:nvPr/>
        </p:nvSpPr>
        <p:spPr>
          <a:xfrm>
            <a:off x="1020589" y="2382202"/>
            <a:ext cx="73152" cy="192024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3BA3597F-B919-0AF3-A3BD-C572C1062D9C}"/>
              </a:ext>
            </a:extLst>
          </p:cNvPr>
          <p:cNvSpPr txBox="1"/>
          <p:nvPr/>
        </p:nvSpPr>
        <p:spPr>
          <a:xfrm>
            <a:off x="1203469" y="2528506"/>
            <a:ext cx="4892040" cy="320040"/>
          </a:xfrm>
          <a:prstGeom prst="rect">
            <a:avLst/>
          </a:prstGeom>
          <a:noFill/>
        </p:spPr>
        <p:txBody>
          <a:bodyPr wrap="square">
            <a:spAutoFit/>
          </a:bodyPr>
          <a:lstStyle/>
          <a:p>
            <a:pPr algn="l">
              <a:defRPr sz="1700" b="1">
                <a:solidFill>
                  <a:srgbClr val="182B49"/>
                </a:solidFill>
              </a:defRPr>
            </a:pPr>
            <a:r>
              <a:t>&amp; — Address-of</a:t>
            </a:r>
          </a:p>
        </p:txBody>
      </p:sp>
      <p:sp>
        <p:nvSpPr>
          <p:cNvPr id="31" name="TextBox 30">
            <a:extLst>
              <a:ext uri="{FF2B5EF4-FFF2-40B4-BE49-F238E27FC236}">
                <a16:creationId xmlns:a16="http://schemas.microsoft.com/office/drawing/2014/main" id="{67BA1B65-214C-B073-E8A0-A9AC723F373C}"/>
              </a:ext>
            </a:extLst>
          </p:cNvPr>
          <p:cNvSpPr txBox="1"/>
          <p:nvPr/>
        </p:nvSpPr>
        <p:spPr>
          <a:xfrm>
            <a:off x="1203469" y="2949129"/>
            <a:ext cx="4892040" cy="1234440"/>
          </a:xfrm>
          <a:prstGeom prst="rect">
            <a:avLst/>
          </a:prstGeom>
          <a:noFill/>
        </p:spPr>
        <p:txBody>
          <a:bodyPr wrap="square">
            <a:spAutoFit/>
          </a:bodyPr>
          <a:lstStyle/>
          <a:p>
            <a:pPr algn="l">
              <a:defRPr sz="1400" b="0">
                <a:solidFill>
                  <a:srgbClr val="23272F"/>
                </a:solidFill>
              </a:defRPr>
            </a:pPr>
            <a:r>
              <a:t>&amp;x means: obtain the memory address of x.</a:t>
            </a:r>
            <a:br/>
            <a:br/>
            <a:r>
              <a:t>Example: p = &amp;x;</a:t>
            </a:r>
          </a:p>
        </p:txBody>
      </p:sp>
      <p:sp>
        <p:nvSpPr>
          <p:cNvPr id="33" name="Rounded Rectangle 9">
            <a:extLst>
              <a:ext uri="{FF2B5EF4-FFF2-40B4-BE49-F238E27FC236}">
                <a16:creationId xmlns:a16="http://schemas.microsoft.com/office/drawing/2014/main" id="{A6ADBF15-5A81-4FF9-299C-92D54E0B519D}"/>
              </a:ext>
            </a:extLst>
          </p:cNvPr>
          <p:cNvSpPr/>
          <p:nvPr/>
        </p:nvSpPr>
        <p:spPr>
          <a:xfrm>
            <a:off x="6506989" y="2382202"/>
            <a:ext cx="5212080" cy="192024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F6B0FD05-C68F-36CF-CB4B-42551A42CE65}"/>
              </a:ext>
            </a:extLst>
          </p:cNvPr>
          <p:cNvSpPr/>
          <p:nvPr/>
        </p:nvSpPr>
        <p:spPr>
          <a:xfrm>
            <a:off x="6506989" y="2382202"/>
            <a:ext cx="73152" cy="192024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6AD58A1-B492-DEBD-5619-976BADAC56EE}"/>
              </a:ext>
            </a:extLst>
          </p:cNvPr>
          <p:cNvSpPr txBox="1"/>
          <p:nvPr/>
        </p:nvSpPr>
        <p:spPr>
          <a:xfrm>
            <a:off x="6689869" y="2528506"/>
            <a:ext cx="4892040" cy="320040"/>
          </a:xfrm>
          <a:prstGeom prst="rect">
            <a:avLst/>
          </a:prstGeom>
          <a:noFill/>
        </p:spPr>
        <p:txBody>
          <a:bodyPr wrap="square">
            <a:spAutoFit/>
          </a:bodyPr>
          <a:lstStyle/>
          <a:p>
            <a:pPr algn="l">
              <a:defRPr sz="1700" b="1">
                <a:solidFill>
                  <a:srgbClr val="182B49"/>
                </a:solidFill>
              </a:defRPr>
            </a:pPr>
            <a:r>
              <a:t>* — Dereference</a:t>
            </a:r>
          </a:p>
        </p:txBody>
      </p:sp>
      <p:sp>
        <p:nvSpPr>
          <p:cNvPr id="39" name="TextBox 38">
            <a:extLst>
              <a:ext uri="{FF2B5EF4-FFF2-40B4-BE49-F238E27FC236}">
                <a16:creationId xmlns:a16="http://schemas.microsoft.com/office/drawing/2014/main" id="{417400C8-DE53-2FC1-633E-E3D038DA3F4D}"/>
              </a:ext>
            </a:extLst>
          </p:cNvPr>
          <p:cNvSpPr txBox="1"/>
          <p:nvPr/>
        </p:nvSpPr>
        <p:spPr>
          <a:xfrm>
            <a:off x="6689869" y="2949129"/>
            <a:ext cx="4892040" cy="1234440"/>
          </a:xfrm>
          <a:prstGeom prst="rect">
            <a:avLst/>
          </a:prstGeom>
          <a:noFill/>
        </p:spPr>
        <p:txBody>
          <a:bodyPr wrap="square">
            <a:spAutoFit/>
          </a:bodyPr>
          <a:lstStyle/>
          <a:p>
            <a:pPr algn="l">
              <a:defRPr sz="1400" b="0">
                <a:solidFill>
                  <a:srgbClr val="23272F"/>
                </a:solidFill>
              </a:defRPr>
            </a:pPr>
            <a:r>
              <a:t>*p means: access the value stored at the address contained in p.</a:t>
            </a:r>
            <a:br/>
            <a:br/>
            <a:r>
              <a:t>Example: printf("%d", *p);</a:t>
            </a:r>
          </a:p>
        </p:txBody>
      </p:sp>
      <p:sp>
        <p:nvSpPr>
          <p:cNvPr id="41" name="TextBox 40">
            <a:extLst>
              <a:ext uri="{FF2B5EF4-FFF2-40B4-BE49-F238E27FC236}">
                <a16:creationId xmlns:a16="http://schemas.microsoft.com/office/drawing/2014/main" id="{F917956E-49B7-91F1-C13A-3E7829E4507A}"/>
              </a:ext>
            </a:extLst>
          </p:cNvPr>
          <p:cNvSpPr txBox="1"/>
          <p:nvPr/>
        </p:nvSpPr>
        <p:spPr>
          <a:xfrm>
            <a:off x="1203469" y="4805361"/>
            <a:ext cx="10241280" cy="502920"/>
          </a:xfrm>
          <a:prstGeom prst="rect">
            <a:avLst/>
          </a:prstGeom>
          <a:noFill/>
        </p:spPr>
        <p:txBody>
          <a:bodyPr wrap="square">
            <a:spAutoFit/>
          </a:bodyPr>
          <a:lstStyle/>
          <a:p>
            <a:pPr algn="ctr">
              <a:defRPr sz="2000" b="1">
                <a:solidFill>
                  <a:srgbClr val="182B49"/>
                </a:solidFill>
              </a:defRPr>
            </a:pPr>
            <a:r>
              <a:t>For  int x = 10;  int *p = &amp;x;</a:t>
            </a:r>
          </a:p>
        </p:txBody>
      </p:sp>
      <p:sp>
        <p:nvSpPr>
          <p:cNvPr id="43" name="TextBox 42">
            <a:extLst>
              <a:ext uri="{FF2B5EF4-FFF2-40B4-BE49-F238E27FC236}">
                <a16:creationId xmlns:a16="http://schemas.microsoft.com/office/drawing/2014/main" id="{4B7D63CE-CE74-D560-C95C-30967502B90F}"/>
              </a:ext>
            </a:extLst>
          </p:cNvPr>
          <p:cNvSpPr txBox="1"/>
          <p:nvPr/>
        </p:nvSpPr>
        <p:spPr>
          <a:xfrm>
            <a:off x="1203469" y="5491162"/>
            <a:ext cx="10241280" cy="685800"/>
          </a:xfrm>
          <a:prstGeom prst="rect">
            <a:avLst/>
          </a:prstGeom>
          <a:noFill/>
        </p:spPr>
        <p:txBody>
          <a:bodyPr wrap="square">
            <a:spAutoFit/>
          </a:bodyPr>
          <a:lstStyle/>
          <a:p>
            <a:pPr algn="ctr">
              <a:defRPr sz="2100" b="1">
                <a:solidFill>
                  <a:srgbClr val="23272F"/>
                </a:solidFill>
              </a:defRPr>
            </a:pPr>
            <a:r>
              <a:t>x → 10       &amp;x → address of x       p → address of x       *p → 10</a:t>
            </a:r>
          </a:p>
        </p:txBody>
      </p:sp>
    </p:spTree>
    <p:extLst>
      <p:ext uri="{BB962C8B-B14F-4D97-AF65-F5344CB8AC3E}">
        <p14:creationId xmlns:p14="http://schemas.microsoft.com/office/powerpoint/2010/main" val="38920803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E0E4-1006-01B0-405E-267B6B53B7C9}"/>
              </a:ext>
            </a:extLst>
          </p:cNvPr>
          <p:cNvSpPr>
            <a:spLocks noGrp="1"/>
          </p:cNvSpPr>
          <p:nvPr>
            <p:ph type="title"/>
          </p:nvPr>
        </p:nvSpPr>
        <p:spPr/>
        <p:txBody>
          <a:bodyPr/>
          <a:lstStyle/>
          <a:p>
            <a:r>
              <a:rPr lang="en-IN" dirty="0"/>
              <a:t>Basic Pointer Program</a:t>
            </a:r>
          </a:p>
        </p:txBody>
      </p:sp>
      <p:sp>
        <p:nvSpPr>
          <p:cNvPr id="3" name="Content Placeholder 2">
            <a:extLst>
              <a:ext uri="{FF2B5EF4-FFF2-40B4-BE49-F238E27FC236}">
                <a16:creationId xmlns:a16="http://schemas.microsoft.com/office/drawing/2014/main" id="{CEEA79FC-B943-7516-E3CA-4C647D51FB93}"/>
              </a:ext>
            </a:extLst>
          </p:cNvPr>
          <p:cNvSpPr>
            <a:spLocks noGrp="1"/>
          </p:cNvSpPr>
          <p:nvPr>
            <p:ph idx="1"/>
          </p:nvPr>
        </p:nvSpPr>
        <p:spPr/>
        <p:txBody>
          <a:bodyPr/>
          <a:lstStyle/>
          <a:p>
            <a:endParaRPr lang="en-IN"/>
          </a:p>
        </p:txBody>
      </p:sp>
      <p:sp>
        <p:nvSpPr>
          <p:cNvPr id="5" name="Rounded Rectangle 5">
            <a:extLst>
              <a:ext uri="{FF2B5EF4-FFF2-40B4-BE49-F238E27FC236}">
                <a16:creationId xmlns:a16="http://schemas.microsoft.com/office/drawing/2014/main" id="{0C57781B-67DF-B2A2-1B98-E0BEC2E1211C}"/>
              </a:ext>
            </a:extLst>
          </p:cNvPr>
          <p:cNvSpPr/>
          <p:nvPr/>
        </p:nvSpPr>
        <p:spPr>
          <a:xfrm>
            <a:off x="758067" y="2148840"/>
            <a:ext cx="6766560" cy="44805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3BD2A89-F228-B92E-29C8-5ACAAFEA6CE2}"/>
              </a:ext>
            </a:extLst>
          </p:cNvPr>
          <p:cNvSpPr txBox="1"/>
          <p:nvPr/>
        </p:nvSpPr>
        <p:spPr>
          <a:xfrm>
            <a:off x="922658" y="2258568"/>
            <a:ext cx="6437376" cy="4261104"/>
          </a:xfrm>
          <a:prstGeom prst="rect">
            <a:avLst/>
          </a:prstGeom>
          <a:noFill/>
        </p:spPr>
        <p:txBody>
          <a:bodyPr wrap="none">
            <a:spAutoFit/>
          </a:bodyPr>
          <a:lstStyle/>
          <a:p>
            <a:pPr>
              <a:defRPr sz="1500">
                <a:solidFill>
                  <a:srgbClr val="FFFFFF"/>
                </a:solidFill>
                <a:latin typeface="Consolas"/>
              </a:defRPr>
            </a:pPr>
            <a:r>
              <a:rPr dirty="0"/>
              <a:t>#include &lt;</a:t>
            </a:r>
            <a:r>
              <a:rPr dirty="0" err="1"/>
              <a:t>stdio.h</a:t>
            </a:r>
            <a:r>
              <a:rPr dirty="0"/>
              <a:t>&gt;</a:t>
            </a:r>
            <a:br>
              <a:rPr dirty="0"/>
            </a:br>
            <a:br>
              <a:rPr dirty="0"/>
            </a:br>
            <a:r>
              <a:rPr dirty="0"/>
              <a:t>int main()</a:t>
            </a:r>
            <a:br>
              <a:rPr dirty="0"/>
            </a:br>
            <a:r>
              <a:rPr dirty="0"/>
              <a:t>{</a:t>
            </a:r>
            <a:br>
              <a:rPr dirty="0"/>
            </a:br>
            <a:r>
              <a:rPr dirty="0"/>
              <a:t>    int x = 10;</a:t>
            </a:r>
            <a:br>
              <a:rPr dirty="0"/>
            </a:br>
            <a:r>
              <a:rPr dirty="0"/>
              <a:t>    int *p = &amp;x;</a:t>
            </a:r>
            <a:br>
              <a:rPr dirty="0"/>
            </a:br>
            <a:br>
              <a:rPr dirty="0"/>
            </a:br>
            <a:r>
              <a:rPr dirty="0"/>
              <a:t>    </a:t>
            </a:r>
            <a:r>
              <a:rPr dirty="0" err="1"/>
              <a:t>printf</a:t>
            </a:r>
            <a:r>
              <a:rPr dirty="0"/>
              <a:t>("x   = %d\n", x);</a:t>
            </a:r>
            <a:br>
              <a:rPr dirty="0"/>
            </a:br>
            <a:r>
              <a:rPr dirty="0"/>
              <a:t>    </a:t>
            </a:r>
            <a:r>
              <a:rPr dirty="0" err="1"/>
              <a:t>printf</a:t>
            </a:r>
            <a:r>
              <a:rPr dirty="0"/>
              <a:t>("&amp;x  = %p\n", (void*)&amp;x);</a:t>
            </a:r>
            <a:br>
              <a:rPr dirty="0"/>
            </a:br>
            <a:r>
              <a:rPr dirty="0"/>
              <a:t>    </a:t>
            </a:r>
            <a:r>
              <a:rPr dirty="0" err="1"/>
              <a:t>printf</a:t>
            </a:r>
            <a:r>
              <a:rPr dirty="0"/>
              <a:t>("p   = %p\n", (void*)p);</a:t>
            </a:r>
            <a:br>
              <a:rPr dirty="0"/>
            </a:br>
            <a:r>
              <a:rPr dirty="0"/>
              <a:t>    </a:t>
            </a:r>
            <a:r>
              <a:rPr dirty="0" err="1"/>
              <a:t>printf</a:t>
            </a:r>
            <a:r>
              <a:rPr dirty="0"/>
              <a:t>("*p  = %d\n", *p);</a:t>
            </a:r>
            <a:br>
              <a:rPr dirty="0"/>
            </a:br>
            <a:br>
              <a:rPr dirty="0"/>
            </a:br>
            <a:r>
              <a:rPr dirty="0"/>
              <a:t>    return 0;</a:t>
            </a:r>
            <a:br>
              <a:rPr dirty="0"/>
            </a:br>
            <a:r>
              <a:rPr dirty="0"/>
              <a:t>}</a:t>
            </a:r>
          </a:p>
        </p:txBody>
      </p:sp>
      <p:sp>
        <p:nvSpPr>
          <p:cNvPr id="9" name="Rounded Rectangle 7">
            <a:extLst>
              <a:ext uri="{FF2B5EF4-FFF2-40B4-BE49-F238E27FC236}">
                <a16:creationId xmlns:a16="http://schemas.microsoft.com/office/drawing/2014/main" id="{00B8B072-9804-2C4F-AB94-6951BB709432}"/>
              </a:ext>
            </a:extLst>
          </p:cNvPr>
          <p:cNvSpPr/>
          <p:nvPr/>
        </p:nvSpPr>
        <p:spPr>
          <a:xfrm>
            <a:off x="7844666" y="2331720"/>
            <a:ext cx="3749039"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8ADB7F6D-C9D8-F760-CAB4-D7FA24A823A8}"/>
              </a:ext>
            </a:extLst>
          </p:cNvPr>
          <p:cNvSpPr/>
          <p:nvPr/>
        </p:nvSpPr>
        <p:spPr>
          <a:xfrm>
            <a:off x="7844666" y="2331720"/>
            <a:ext cx="73152" cy="132588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1AFB051-F9C0-CFF5-AFD0-E9CCFDCB3066}"/>
              </a:ext>
            </a:extLst>
          </p:cNvPr>
          <p:cNvSpPr txBox="1"/>
          <p:nvPr/>
        </p:nvSpPr>
        <p:spPr>
          <a:xfrm>
            <a:off x="8027546" y="2478024"/>
            <a:ext cx="3428999" cy="320040"/>
          </a:xfrm>
          <a:prstGeom prst="rect">
            <a:avLst/>
          </a:prstGeom>
          <a:noFill/>
        </p:spPr>
        <p:txBody>
          <a:bodyPr wrap="square">
            <a:spAutoFit/>
          </a:bodyPr>
          <a:lstStyle/>
          <a:p>
            <a:pPr algn="l">
              <a:defRPr sz="1700" b="1">
                <a:solidFill>
                  <a:srgbClr val="182B49"/>
                </a:solidFill>
              </a:defRPr>
            </a:pPr>
            <a:r>
              <a:t>Expected relationship</a:t>
            </a:r>
          </a:p>
        </p:txBody>
      </p:sp>
      <p:sp>
        <p:nvSpPr>
          <p:cNvPr id="15" name="TextBox 14">
            <a:extLst>
              <a:ext uri="{FF2B5EF4-FFF2-40B4-BE49-F238E27FC236}">
                <a16:creationId xmlns:a16="http://schemas.microsoft.com/office/drawing/2014/main" id="{312D9D01-5846-5C60-5D61-305D68887635}"/>
              </a:ext>
            </a:extLst>
          </p:cNvPr>
          <p:cNvSpPr txBox="1"/>
          <p:nvPr/>
        </p:nvSpPr>
        <p:spPr>
          <a:xfrm>
            <a:off x="8027546" y="2898648"/>
            <a:ext cx="3428999" cy="640080"/>
          </a:xfrm>
          <a:prstGeom prst="rect">
            <a:avLst/>
          </a:prstGeom>
          <a:noFill/>
        </p:spPr>
        <p:txBody>
          <a:bodyPr wrap="square">
            <a:spAutoFit/>
          </a:bodyPr>
          <a:lstStyle/>
          <a:p>
            <a:pPr algn="l">
              <a:defRPr sz="1400" b="0">
                <a:solidFill>
                  <a:srgbClr val="23272F"/>
                </a:solidFill>
              </a:defRPr>
            </a:pPr>
            <a:r>
              <a:t>p and &amp;x contain the same address.</a:t>
            </a:r>
          </a:p>
        </p:txBody>
      </p:sp>
      <p:sp>
        <p:nvSpPr>
          <p:cNvPr id="17" name="Rounded Rectangle 11">
            <a:extLst>
              <a:ext uri="{FF2B5EF4-FFF2-40B4-BE49-F238E27FC236}">
                <a16:creationId xmlns:a16="http://schemas.microsoft.com/office/drawing/2014/main" id="{6AC6A44A-CCFE-ABD9-BE5D-6782F3FE243F}"/>
              </a:ext>
            </a:extLst>
          </p:cNvPr>
          <p:cNvSpPr/>
          <p:nvPr/>
        </p:nvSpPr>
        <p:spPr>
          <a:xfrm>
            <a:off x="7844666" y="3886200"/>
            <a:ext cx="3749039"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045760CD-70AC-0017-6E59-59A6D75DFE9F}"/>
              </a:ext>
            </a:extLst>
          </p:cNvPr>
          <p:cNvSpPr/>
          <p:nvPr/>
        </p:nvSpPr>
        <p:spPr>
          <a:xfrm>
            <a:off x="7844666" y="3886200"/>
            <a:ext cx="73152" cy="132588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7C5760BC-CDBA-32AF-6CEC-2A6952B819D1}"/>
              </a:ext>
            </a:extLst>
          </p:cNvPr>
          <p:cNvSpPr txBox="1"/>
          <p:nvPr/>
        </p:nvSpPr>
        <p:spPr>
          <a:xfrm>
            <a:off x="8027546" y="4032504"/>
            <a:ext cx="3428999" cy="320040"/>
          </a:xfrm>
          <a:prstGeom prst="rect">
            <a:avLst/>
          </a:prstGeom>
          <a:noFill/>
        </p:spPr>
        <p:txBody>
          <a:bodyPr wrap="square">
            <a:spAutoFit/>
          </a:bodyPr>
          <a:lstStyle/>
          <a:p>
            <a:pPr algn="l">
              <a:defRPr sz="1700" b="1">
                <a:solidFill>
                  <a:srgbClr val="182B49"/>
                </a:solidFill>
              </a:defRPr>
            </a:pPr>
            <a:r>
              <a:t>Dereference</a:t>
            </a:r>
          </a:p>
        </p:txBody>
      </p:sp>
      <p:sp>
        <p:nvSpPr>
          <p:cNvPr id="23" name="TextBox 22">
            <a:extLst>
              <a:ext uri="{FF2B5EF4-FFF2-40B4-BE49-F238E27FC236}">
                <a16:creationId xmlns:a16="http://schemas.microsoft.com/office/drawing/2014/main" id="{85F98CC1-DF61-F4ED-266D-7402A47EB046}"/>
              </a:ext>
            </a:extLst>
          </p:cNvPr>
          <p:cNvSpPr txBox="1"/>
          <p:nvPr/>
        </p:nvSpPr>
        <p:spPr>
          <a:xfrm>
            <a:off x="8027546" y="4453128"/>
            <a:ext cx="3428999" cy="640080"/>
          </a:xfrm>
          <a:prstGeom prst="rect">
            <a:avLst/>
          </a:prstGeom>
          <a:noFill/>
        </p:spPr>
        <p:txBody>
          <a:bodyPr wrap="square">
            <a:spAutoFit/>
          </a:bodyPr>
          <a:lstStyle/>
          <a:p>
            <a:pPr algn="l">
              <a:defRPr sz="1400" b="0">
                <a:solidFill>
                  <a:srgbClr val="23272F"/>
                </a:solidFill>
              </a:defRPr>
            </a:pPr>
            <a:r>
              <a:t>*p gives the value stored at x.</a:t>
            </a:r>
          </a:p>
        </p:txBody>
      </p:sp>
      <p:sp>
        <p:nvSpPr>
          <p:cNvPr id="25" name="Rounded Rectangle 15">
            <a:extLst>
              <a:ext uri="{FF2B5EF4-FFF2-40B4-BE49-F238E27FC236}">
                <a16:creationId xmlns:a16="http://schemas.microsoft.com/office/drawing/2014/main" id="{911290C0-7A7B-7ED4-B392-608D82845BCC}"/>
              </a:ext>
            </a:extLst>
          </p:cNvPr>
          <p:cNvSpPr/>
          <p:nvPr/>
        </p:nvSpPr>
        <p:spPr>
          <a:xfrm>
            <a:off x="7844666" y="5440680"/>
            <a:ext cx="3749039" cy="10515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1E54EDB7-699B-E296-D48E-F04CE4DA5CFC}"/>
              </a:ext>
            </a:extLst>
          </p:cNvPr>
          <p:cNvSpPr/>
          <p:nvPr/>
        </p:nvSpPr>
        <p:spPr>
          <a:xfrm>
            <a:off x="7844666" y="5440680"/>
            <a:ext cx="73152" cy="10515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4C81A640-B6A0-6E60-4CF1-AD13DCCC7E12}"/>
              </a:ext>
            </a:extLst>
          </p:cNvPr>
          <p:cNvSpPr txBox="1"/>
          <p:nvPr/>
        </p:nvSpPr>
        <p:spPr>
          <a:xfrm>
            <a:off x="8027546" y="5586984"/>
            <a:ext cx="3428999" cy="320040"/>
          </a:xfrm>
          <a:prstGeom prst="rect">
            <a:avLst/>
          </a:prstGeom>
          <a:noFill/>
        </p:spPr>
        <p:txBody>
          <a:bodyPr wrap="square">
            <a:spAutoFit/>
          </a:bodyPr>
          <a:lstStyle/>
          <a:p>
            <a:pPr algn="l">
              <a:defRPr sz="1700" b="1">
                <a:solidFill>
                  <a:srgbClr val="182B49"/>
                </a:solidFill>
              </a:defRPr>
            </a:pPr>
            <a:r>
              <a:t>Note</a:t>
            </a:r>
          </a:p>
        </p:txBody>
      </p:sp>
      <p:sp>
        <p:nvSpPr>
          <p:cNvPr id="31" name="TextBox 30">
            <a:extLst>
              <a:ext uri="{FF2B5EF4-FFF2-40B4-BE49-F238E27FC236}">
                <a16:creationId xmlns:a16="http://schemas.microsoft.com/office/drawing/2014/main" id="{8F222DB8-E679-6C30-9845-845153825990}"/>
              </a:ext>
            </a:extLst>
          </p:cNvPr>
          <p:cNvSpPr txBox="1"/>
          <p:nvPr/>
        </p:nvSpPr>
        <p:spPr>
          <a:xfrm>
            <a:off x="8027546" y="6007608"/>
            <a:ext cx="3428999" cy="365759"/>
          </a:xfrm>
          <a:prstGeom prst="rect">
            <a:avLst/>
          </a:prstGeom>
          <a:noFill/>
        </p:spPr>
        <p:txBody>
          <a:bodyPr wrap="square">
            <a:spAutoFit/>
          </a:bodyPr>
          <a:lstStyle/>
          <a:p>
            <a:pPr algn="l">
              <a:defRPr sz="1400" b="0">
                <a:solidFill>
                  <a:srgbClr val="23272F"/>
                </a:solidFill>
              </a:defRPr>
            </a:pPr>
            <a:r>
              <a:t>Use %p for addresses.</a:t>
            </a:r>
          </a:p>
        </p:txBody>
      </p:sp>
    </p:spTree>
    <p:extLst>
      <p:ext uri="{BB962C8B-B14F-4D97-AF65-F5344CB8AC3E}">
        <p14:creationId xmlns:p14="http://schemas.microsoft.com/office/powerpoint/2010/main" val="37814668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9B02-677B-B3C7-2778-1E22DC209C7E}"/>
              </a:ext>
            </a:extLst>
          </p:cNvPr>
          <p:cNvSpPr>
            <a:spLocks noGrp="1"/>
          </p:cNvSpPr>
          <p:nvPr>
            <p:ph type="title"/>
          </p:nvPr>
        </p:nvSpPr>
        <p:spPr/>
        <p:txBody>
          <a:bodyPr/>
          <a:lstStyle/>
          <a:p>
            <a:r>
              <a:rPr lang="en-US" dirty="0"/>
              <a:t>Solved examples: </a:t>
            </a:r>
            <a:br>
              <a:rPr lang="en-US" dirty="0"/>
            </a:br>
            <a:r>
              <a:rPr lang="en-US" dirty="0"/>
              <a:t>1. </a:t>
            </a:r>
            <a:r>
              <a:rPr lang="en-IN" dirty="0"/>
              <a:t>changing a value through a pointer</a:t>
            </a:r>
          </a:p>
        </p:txBody>
      </p:sp>
      <p:sp>
        <p:nvSpPr>
          <p:cNvPr id="5" name="TextBox 4">
            <a:extLst>
              <a:ext uri="{FF2B5EF4-FFF2-40B4-BE49-F238E27FC236}">
                <a16:creationId xmlns:a16="http://schemas.microsoft.com/office/drawing/2014/main" id="{9161FDF5-CC4B-B43A-A39B-F7D72E26902C}"/>
              </a:ext>
            </a:extLst>
          </p:cNvPr>
          <p:cNvSpPr txBox="1"/>
          <p:nvPr/>
        </p:nvSpPr>
        <p:spPr>
          <a:xfrm>
            <a:off x="1203009" y="2202372"/>
            <a:ext cx="6094070" cy="3693319"/>
          </a:xfrm>
          <a:prstGeom prst="rect">
            <a:avLst/>
          </a:prstGeom>
          <a:noFill/>
        </p:spPr>
        <p:txBody>
          <a:bodyPr wrap="square">
            <a:spAutoFit/>
          </a:bodyPr>
          <a:lstStyle/>
          <a:p>
            <a:r>
              <a:rPr lang="en-IN" b="1" dirty="0">
                <a:solidFill>
                  <a:srgbClr val="FF0000"/>
                </a:solidFill>
              </a:rPr>
              <a:t>#include &lt;</a:t>
            </a:r>
            <a:r>
              <a:rPr lang="en-IN" b="1" dirty="0" err="1">
                <a:solidFill>
                  <a:srgbClr val="FF0000"/>
                </a:solidFill>
              </a:rPr>
              <a:t>stdio.h</a:t>
            </a:r>
            <a:r>
              <a:rPr lang="en-IN" b="1" dirty="0">
                <a:solidFill>
                  <a:srgbClr val="FF0000"/>
                </a:solidFill>
              </a:rPr>
              <a:t>&gt;</a:t>
            </a:r>
          </a:p>
          <a:p>
            <a:r>
              <a:rPr lang="en-IN" b="1" dirty="0">
                <a:solidFill>
                  <a:srgbClr val="FF0000"/>
                </a:solidFill>
              </a:rPr>
              <a:t>int main(void)</a:t>
            </a:r>
          </a:p>
          <a:p>
            <a:r>
              <a:rPr lang="en-IN" b="1" dirty="0">
                <a:solidFill>
                  <a:srgbClr val="FF0000"/>
                </a:solidFill>
              </a:rPr>
              <a:t>{</a:t>
            </a:r>
          </a:p>
          <a:p>
            <a:r>
              <a:rPr lang="en-IN" b="1" dirty="0">
                <a:solidFill>
                  <a:srgbClr val="FF0000"/>
                </a:solidFill>
              </a:rPr>
              <a:t>    int a = 10;</a:t>
            </a:r>
          </a:p>
          <a:p>
            <a:r>
              <a:rPr lang="en-IN" b="1" dirty="0">
                <a:solidFill>
                  <a:srgbClr val="FF0000"/>
                </a:solidFill>
              </a:rPr>
              <a:t>    int *p = &amp;a;</a:t>
            </a:r>
          </a:p>
          <a:p>
            <a:endParaRPr lang="en-IN" b="1" dirty="0">
              <a:solidFill>
                <a:srgbClr val="FF0000"/>
              </a:solidFill>
            </a:endParaRPr>
          </a:p>
          <a:p>
            <a:r>
              <a:rPr lang="en-IN" b="1" dirty="0">
                <a:solidFill>
                  <a:srgbClr val="FF0000"/>
                </a:solidFill>
              </a:rPr>
              <a:t>    *p = 25;</a:t>
            </a:r>
          </a:p>
          <a:p>
            <a:endParaRPr lang="en-IN" b="1" dirty="0">
              <a:solidFill>
                <a:srgbClr val="FF0000"/>
              </a:solidFill>
            </a:endParaRPr>
          </a:p>
          <a:p>
            <a:r>
              <a:rPr lang="en-IN" b="1" dirty="0">
                <a:solidFill>
                  <a:srgbClr val="FF0000"/>
                </a:solidFill>
              </a:rPr>
              <a:t>    </a:t>
            </a:r>
            <a:r>
              <a:rPr lang="en-IN" b="1" dirty="0" err="1">
                <a:solidFill>
                  <a:srgbClr val="FF0000"/>
                </a:solidFill>
              </a:rPr>
              <a:t>printf</a:t>
            </a:r>
            <a:r>
              <a:rPr lang="en-IN" b="1" dirty="0">
                <a:solidFill>
                  <a:srgbClr val="FF0000"/>
                </a:solidFill>
              </a:rPr>
              <a:t>("a = %d\n", a);</a:t>
            </a:r>
          </a:p>
          <a:p>
            <a:r>
              <a:rPr lang="en-IN" b="1" dirty="0">
                <a:solidFill>
                  <a:srgbClr val="FF0000"/>
                </a:solidFill>
              </a:rPr>
              <a:t>    </a:t>
            </a:r>
            <a:r>
              <a:rPr lang="en-IN" b="1" dirty="0" err="1">
                <a:solidFill>
                  <a:srgbClr val="FF0000"/>
                </a:solidFill>
              </a:rPr>
              <a:t>printf</a:t>
            </a:r>
            <a:r>
              <a:rPr lang="en-IN" b="1" dirty="0">
                <a:solidFill>
                  <a:srgbClr val="FF0000"/>
                </a:solidFill>
              </a:rPr>
              <a:t>("*p = %d\n", *p);</a:t>
            </a:r>
          </a:p>
          <a:p>
            <a:endParaRPr lang="en-IN" b="1" dirty="0">
              <a:solidFill>
                <a:srgbClr val="FF0000"/>
              </a:solidFill>
            </a:endParaRPr>
          </a:p>
          <a:p>
            <a:r>
              <a:rPr lang="en-IN" b="1" dirty="0">
                <a:solidFill>
                  <a:srgbClr val="FF0000"/>
                </a:solidFill>
              </a:rPr>
              <a:t>    return 0;</a:t>
            </a:r>
          </a:p>
          <a:p>
            <a:r>
              <a:rPr lang="en-IN" b="1" dirty="0">
                <a:solidFill>
                  <a:srgbClr val="FF0000"/>
                </a:solidFill>
              </a:rPr>
              <a:t>}</a:t>
            </a:r>
          </a:p>
        </p:txBody>
      </p:sp>
      <p:sp>
        <p:nvSpPr>
          <p:cNvPr id="9" name="TextBox 8">
            <a:extLst>
              <a:ext uri="{FF2B5EF4-FFF2-40B4-BE49-F238E27FC236}">
                <a16:creationId xmlns:a16="http://schemas.microsoft.com/office/drawing/2014/main" id="{9FC98855-EB6F-7A95-6A59-E623B589F990}"/>
              </a:ext>
            </a:extLst>
          </p:cNvPr>
          <p:cNvSpPr txBox="1"/>
          <p:nvPr/>
        </p:nvSpPr>
        <p:spPr>
          <a:xfrm>
            <a:off x="5489294" y="2391097"/>
            <a:ext cx="6094070" cy="923330"/>
          </a:xfrm>
          <a:prstGeom prst="rect">
            <a:avLst/>
          </a:prstGeom>
          <a:noFill/>
        </p:spPr>
        <p:txBody>
          <a:bodyPr wrap="square">
            <a:spAutoFit/>
          </a:bodyPr>
          <a:lstStyle/>
          <a:p>
            <a:r>
              <a:rPr lang="en-IN" dirty="0"/>
              <a:t>Output: </a:t>
            </a:r>
          </a:p>
          <a:p>
            <a:r>
              <a:rPr lang="en-IN" dirty="0"/>
              <a:t>a = 25</a:t>
            </a:r>
          </a:p>
          <a:p>
            <a:r>
              <a:rPr lang="en-IN" dirty="0"/>
              <a:t>*p = 25</a:t>
            </a:r>
          </a:p>
        </p:txBody>
      </p:sp>
      <p:graphicFrame>
        <p:nvGraphicFramePr>
          <p:cNvPr id="10" name="Table 9">
            <a:extLst>
              <a:ext uri="{FF2B5EF4-FFF2-40B4-BE49-F238E27FC236}">
                <a16:creationId xmlns:a16="http://schemas.microsoft.com/office/drawing/2014/main" id="{C60BDAE3-7FBA-BCF2-81DB-91A4E036371B}"/>
              </a:ext>
            </a:extLst>
          </p:cNvPr>
          <p:cNvGraphicFramePr>
            <a:graphicFrameLocks noGrp="1"/>
          </p:cNvGraphicFramePr>
          <p:nvPr>
            <p:extLst>
              <p:ext uri="{D42A27DB-BD31-4B8C-83A1-F6EECF244321}">
                <p14:modId xmlns:p14="http://schemas.microsoft.com/office/powerpoint/2010/main" val="3465109121"/>
              </p:ext>
            </p:extLst>
          </p:nvPr>
        </p:nvGraphicFramePr>
        <p:xfrm>
          <a:off x="4593152" y="3723058"/>
          <a:ext cx="6744664" cy="2470005"/>
        </p:xfrm>
        <a:graphic>
          <a:graphicData uri="http://schemas.openxmlformats.org/drawingml/2006/table">
            <a:tbl>
              <a:tblPr>
                <a:tableStyleId>{5C22544A-7EE6-4342-B048-85BDC9FD1C3A}</a:tableStyleId>
              </a:tblPr>
              <a:tblGrid>
                <a:gridCol w="3372332">
                  <a:extLst>
                    <a:ext uri="{9D8B030D-6E8A-4147-A177-3AD203B41FA5}">
                      <a16:colId xmlns:a16="http://schemas.microsoft.com/office/drawing/2014/main" val="2045052016"/>
                    </a:ext>
                  </a:extLst>
                </a:gridCol>
                <a:gridCol w="3372332">
                  <a:extLst>
                    <a:ext uri="{9D8B030D-6E8A-4147-A177-3AD203B41FA5}">
                      <a16:colId xmlns:a16="http://schemas.microsoft.com/office/drawing/2014/main" val="1237462939"/>
                    </a:ext>
                  </a:extLst>
                </a:gridCol>
              </a:tblGrid>
              <a:tr h="520001">
                <a:tc>
                  <a:txBody>
                    <a:bodyPr/>
                    <a:lstStyle/>
                    <a:p>
                      <a:pPr>
                        <a:buNone/>
                      </a:pPr>
                      <a:r>
                        <a:rPr lang="en-IN" b="1" dirty="0"/>
                        <a:t>Statement</a:t>
                      </a:r>
                    </a:p>
                  </a:txBody>
                  <a:tcPr anchor="ctr"/>
                </a:tc>
                <a:tc>
                  <a:txBody>
                    <a:bodyPr/>
                    <a:lstStyle/>
                    <a:p>
                      <a:pPr>
                        <a:buNone/>
                      </a:pPr>
                      <a:r>
                        <a:rPr lang="en-IN" b="1" dirty="0"/>
                        <a:t>Effect</a:t>
                      </a:r>
                    </a:p>
                  </a:txBody>
                  <a:tcPr anchor="ctr"/>
                </a:tc>
                <a:extLst>
                  <a:ext uri="{0D108BD9-81ED-4DB2-BD59-A6C34878D82A}">
                    <a16:rowId xmlns:a16="http://schemas.microsoft.com/office/drawing/2014/main" val="4171632033"/>
                  </a:ext>
                </a:extLst>
              </a:tr>
              <a:tr h="520001">
                <a:tc>
                  <a:txBody>
                    <a:bodyPr/>
                    <a:lstStyle/>
                    <a:p>
                      <a:pPr>
                        <a:buNone/>
                      </a:pPr>
                      <a:r>
                        <a:rPr lang="en-IN"/>
                        <a:t>int a = 10;</a:t>
                      </a:r>
                    </a:p>
                  </a:txBody>
                  <a:tcPr anchor="ctr"/>
                </a:tc>
                <a:tc>
                  <a:txBody>
                    <a:bodyPr/>
                    <a:lstStyle/>
                    <a:p>
                      <a:pPr>
                        <a:buNone/>
                      </a:pPr>
                      <a:r>
                        <a:rPr lang="en-IN"/>
                        <a:t>a becomes 10</a:t>
                      </a:r>
                    </a:p>
                  </a:txBody>
                  <a:tcPr anchor="ctr"/>
                </a:tc>
                <a:extLst>
                  <a:ext uri="{0D108BD9-81ED-4DB2-BD59-A6C34878D82A}">
                    <a16:rowId xmlns:a16="http://schemas.microsoft.com/office/drawing/2014/main" val="882831393"/>
                  </a:ext>
                </a:extLst>
              </a:tr>
              <a:tr h="520001">
                <a:tc>
                  <a:txBody>
                    <a:bodyPr/>
                    <a:lstStyle/>
                    <a:p>
                      <a:pPr>
                        <a:buNone/>
                      </a:pPr>
                      <a:r>
                        <a:rPr lang="en-IN"/>
                        <a:t>int *p = &amp;a;</a:t>
                      </a:r>
                    </a:p>
                  </a:txBody>
                  <a:tcPr anchor="ctr"/>
                </a:tc>
                <a:tc>
                  <a:txBody>
                    <a:bodyPr/>
                    <a:lstStyle/>
                    <a:p>
                      <a:pPr>
                        <a:buNone/>
                      </a:pPr>
                      <a:r>
                        <a:rPr lang="en-IN"/>
                        <a:t>p points to a</a:t>
                      </a:r>
                    </a:p>
                  </a:txBody>
                  <a:tcPr anchor="ctr"/>
                </a:tc>
                <a:extLst>
                  <a:ext uri="{0D108BD9-81ED-4DB2-BD59-A6C34878D82A}">
                    <a16:rowId xmlns:a16="http://schemas.microsoft.com/office/drawing/2014/main" val="568993250"/>
                  </a:ext>
                </a:extLst>
              </a:tr>
              <a:tr h="910002">
                <a:tc>
                  <a:txBody>
                    <a:bodyPr/>
                    <a:lstStyle/>
                    <a:p>
                      <a:pPr>
                        <a:buNone/>
                      </a:pPr>
                      <a:r>
                        <a:rPr lang="en-IN"/>
                        <a:t>*p = 25;</a:t>
                      </a:r>
                    </a:p>
                  </a:txBody>
                  <a:tcPr anchor="ctr"/>
                </a:tc>
                <a:tc>
                  <a:txBody>
                    <a:bodyPr/>
                    <a:lstStyle/>
                    <a:p>
                      <a:pPr>
                        <a:buNone/>
                      </a:pPr>
                      <a:r>
                        <a:rPr lang="en-IN" dirty="0"/>
                        <a:t>The integer pointed to by p, which is a, becomes 25</a:t>
                      </a:r>
                    </a:p>
                  </a:txBody>
                  <a:tcPr anchor="ctr"/>
                </a:tc>
                <a:extLst>
                  <a:ext uri="{0D108BD9-81ED-4DB2-BD59-A6C34878D82A}">
                    <a16:rowId xmlns:a16="http://schemas.microsoft.com/office/drawing/2014/main" val="3280220215"/>
                  </a:ext>
                </a:extLst>
              </a:tr>
            </a:tbl>
          </a:graphicData>
        </a:graphic>
      </p:graphicFrame>
    </p:spTree>
    <p:extLst>
      <p:ext uri="{BB962C8B-B14F-4D97-AF65-F5344CB8AC3E}">
        <p14:creationId xmlns:p14="http://schemas.microsoft.com/office/powerpoint/2010/main" val="32796093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E8DDF9-338C-C212-A657-912B44DDA35A}"/>
              </a:ext>
            </a:extLst>
          </p:cNvPr>
          <p:cNvSpPr txBox="1"/>
          <p:nvPr/>
        </p:nvSpPr>
        <p:spPr>
          <a:xfrm>
            <a:off x="668989" y="1380355"/>
            <a:ext cx="6287395" cy="5355312"/>
          </a:xfrm>
          <a:prstGeom prst="rect">
            <a:avLst/>
          </a:prstGeom>
          <a:noFill/>
        </p:spPr>
        <p:txBody>
          <a:bodyPr wrap="square">
            <a:spAutoFit/>
          </a:bodyPr>
          <a:lstStyle/>
          <a:p>
            <a:r>
              <a:rPr lang="en-IN" dirty="0">
                <a:solidFill>
                  <a:srgbClr val="FF0000"/>
                </a:solidFill>
              </a:rPr>
              <a:t>#include &lt;</a:t>
            </a:r>
            <a:r>
              <a:rPr lang="en-IN" dirty="0" err="1">
                <a:solidFill>
                  <a:srgbClr val="FF0000"/>
                </a:solidFill>
              </a:rPr>
              <a:t>stdio.h</a:t>
            </a:r>
            <a:r>
              <a:rPr lang="en-IN" dirty="0">
                <a:solidFill>
                  <a:srgbClr val="FF0000"/>
                </a:solidFill>
              </a:rPr>
              <a:t>&gt;</a:t>
            </a:r>
          </a:p>
          <a:p>
            <a:endParaRPr lang="en-IN" dirty="0">
              <a:solidFill>
                <a:srgbClr val="FF0000"/>
              </a:solidFill>
            </a:endParaRPr>
          </a:p>
          <a:p>
            <a:r>
              <a:rPr lang="en-IN" dirty="0">
                <a:solidFill>
                  <a:srgbClr val="FF0000"/>
                </a:solidFill>
              </a:rPr>
              <a:t>int main(void)</a:t>
            </a:r>
          </a:p>
          <a:p>
            <a:r>
              <a:rPr lang="en-IN" dirty="0">
                <a:solidFill>
                  <a:srgbClr val="FF0000"/>
                </a:solidFill>
              </a:rPr>
              <a:t>{</a:t>
            </a:r>
          </a:p>
          <a:p>
            <a:r>
              <a:rPr lang="en-IN" dirty="0">
                <a:solidFill>
                  <a:srgbClr val="FF0000"/>
                </a:solidFill>
              </a:rPr>
              <a:t>    int a = 10;</a:t>
            </a:r>
          </a:p>
          <a:p>
            <a:r>
              <a:rPr lang="en-IN" dirty="0">
                <a:solidFill>
                  <a:srgbClr val="FF0000"/>
                </a:solidFill>
              </a:rPr>
              <a:t>    int *</a:t>
            </a:r>
            <a:r>
              <a:rPr lang="en-IN" dirty="0" err="1">
                <a:solidFill>
                  <a:srgbClr val="FF0000"/>
                </a:solidFill>
              </a:rPr>
              <a:t>ptr</a:t>
            </a:r>
            <a:r>
              <a:rPr lang="en-IN" dirty="0">
                <a:solidFill>
                  <a:srgbClr val="FF0000"/>
                </a:solidFill>
              </a:rPr>
              <a:t>;</a:t>
            </a:r>
          </a:p>
          <a:p>
            <a:endParaRPr lang="en-IN" dirty="0">
              <a:solidFill>
                <a:srgbClr val="FF0000"/>
              </a:solidFill>
            </a:endParaRPr>
          </a:p>
          <a:p>
            <a:r>
              <a:rPr lang="en-IN" dirty="0">
                <a:solidFill>
                  <a:srgbClr val="FF0000"/>
                </a:solidFill>
              </a:rPr>
              <a:t>    </a:t>
            </a:r>
            <a:r>
              <a:rPr lang="en-IN" dirty="0" err="1">
                <a:solidFill>
                  <a:srgbClr val="FF0000"/>
                </a:solidFill>
              </a:rPr>
              <a:t>ptr</a:t>
            </a:r>
            <a:r>
              <a:rPr lang="en-IN" dirty="0">
                <a:solidFill>
                  <a:srgbClr val="FF0000"/>
                </a:solidFill>
              </a:rPr>
              <a:t> = &amp;a;</a:t>
            </a:r>
          </a:p>
          <a:p>
            <a:endParaRPr lang="en-IN" dirty="0">
              <a:solidFill>
                <a:srgbClr val="FF0000"/>
              </a:solidFill>
            </a:endParaRPr>
          </a:p>
          <a:p>
            <a:r>
              <a:rPr lang="en-IN" dirty="0">
                <a:solidFill>
                  <a:srgbClr val="FF0000"/>
                </a:solidFill>
              </a:rPr>
              <a:t>    </a:t>
            </a:r>
            <a:r>
              <a:rPr lang="en-IN" dirty="0" err="1">
                <a:solidFill>
                  <a:srgbClr val="FF0000"/>
                </a:solidFill>
              </a:rPr>
              <a:t>printf</a:t>
            </a:r>
            <a:r>
              <a:rPr lang="en-IN" dirty="0">
                <a:solidFill>
                  <a:srgbClr val="FF0000"/>
                </a:solidFill>
              </a:rPr>
              <a:t>("Value of a = %d\n", a);</a:t>
            </a:r>
          </a:p>
          <a:p>
            <a:r>
              <a:rPr lang="en-IN" dirty="0">
                <a:solidFill>
                  <a:srgbClr val="FF0000"/>
                </a:solidFill>
              </a:rPr>
              <a:t>    </a:t>
            </a:r>
            <a:r>
              <a:rPr lang="en-IN" dirty="0" err="1">
                <a:solidFill>
                  <a:srgbClr val="FF0000"/>
                </a:solidFill>
              </a:rPr>
              <a:t>printf</a:t>
            </a:r>
            <a:r>
              <a:rPr lang="en-IN" dirty="0">
                <a:solidFill>
                  <a:srgbClr val="FF0000"/>
                </a:solidFill>
              </a:rPr>
              <a:t>("Value of a = %d\n", *</a:t>
            </a:r>
            <a:r>
              <a:rPr lang="en-IN" dirty="0" err="1">
                <a:solidFill>
                  <a:srgbClr val="FF0000"/>
                </a:solidFill>
              </a:rPr>
              <a:t>ptr</a:t>
            </a:r>
            <a:r>
              <a:rPr lang="en-IN" dirty="0">
                <a:solidFill>
                  <a:srgbClr val="FF0000"/>
                </a:solidFill>
              </a:rPr>
              <a:t>);</a:t>
            </a:r>
          </a:p>
          <a:p>
            <a:r>
              <a:rPr lang="en-IN" dirty="0">
                <a:solidFill>
                  <a:srgbClr val="FF0000"/>
                </a:solidFill>
              </a:rPr>
              <a:t>    </a:t>
            </a:r>
            <a:r>
              <a:rPr lang="en-IN" dirty="0" err="1">
                <a:solidFill>
                  <a:srgbClr val="FF0000"/>
                </a:solidFill>
              </a:rPr>
              <a:t>printf</a:t>
            </a:r>
            <a:r>
              <a:rPr lang="en-IN" dirty="0">
                <a:solidFill>
                  <a:srgbClr val="FF0000"/>
                </a:solidFill>
              </a:rPr>
              <a:t>("Value of a = %d\n", *(&amp;a));</a:t>
            </a:r>
          </a:p>
          <a:p>
            <a:r>
              <a:rPr lang="en-IN" dirty="0">
                <a:solidFill>
                  <a:srgbClr val="FF0000"/>
                </a:solidFill>
              </a:rPr>
              <a:t>    </a:t>
            </a:r>
            <a:r>
              <a:rPr lang="en-IN" dirty="0" err="1">
                <a:solidFill>
                  <a:srgbClr val="FF0000"/>
                </a:solidFill>
              </a:rPr>
              <a:t>printf</a:t>
            </a:r>
            <a:r>
              <a:rPr lang="en-IN" dirty="0">
                <a:solidFill>
                  <a:srgbClr val="FF0000"/>
                </a:solidFill>
              </a:rPr>
              <a:t>("Value of a = %d\n", *(*(&amp;</a:t>
            </a:r>
            <a:r>
              <a:rPr lang="en-IN" dirty="0" err="1">
                <a:solidFill>
                  <a:srgbClr val="FF0000"/>
                </a:solidFill>
              </a:rPr>
              <a:t>ptr</a:t>
            </a:r>
            <a:r>
              <a:rPr lang="en-IN" dirty="0">
                <a:solidFill>
                  <a:srgbClr val="FF0000"/>
                </a:solidFill>
              </a:rPr>
              <a:t>)));</a:t>
            </a:r>
          </a:p>
          <a:p>
            <a:r>
              <a:rPr lang="en-IN" dirty="0">
                <a:solidFill>
                  <a:srgbClr val="FF0000"/>
                </a:solidFill>
              </a:rPr>
              <a:t>    </a:t>
            </a:r>
            <a:r>
              <a:rPr lang="en-IN" dirty="0" err="1">
                <a:solidFill>
                  <a:srgbClr val="FF0000"/>
                </a:solidFill>
              </a:rPr>
              <a:t>printf</a:t>
            </a:r>
            <a:r>
              <a:rPr lang="en-IN" dirty="0">
                <a:solidFill>
                  <a:srgbClr val="FF0000"/>
                </a:solidFill>
              </a:rPr>
              <a:t>("Address of a = %p\n", (void *)&amp;a);</a:t>
            </a:r>
          </a:p>
          <a:p>
            <a:r>
              <a:rPr lang="en-IN" dirty="0">
                <a:solidFill>
                  <a:srgbClr val="FF0000"/>
                </a:solidFill>
              </a:rPr>
              <a:t>    </a:t>
            </a:r>
            <a:r>
              <a:rPr lang="en-IN" dirty="0" err="1">
                <a:solidFill>
                  <a:srgbClr val="FF0000"/>
                </a:solidFill>
              </a:rPr>
              <a:t>printf</a:t>
            </a:r>
            <a:r>
              <a:rPr lang="en-IN" dirty="0">
                <a:solidFill>
                  <a:srgbClr val="FF0000"/>
                </a:solidFill>
              </a:rPr>
              <a:t>("Address of a = %p\n", (void *)</a:t>
            </a:r>
            <a:r>
              <a:rPr lang="en-IN" dirty="0" err="1">
                <a:solidFill>
                  <a:srgbClr val="FF0000"/>
                </a:solidFill>
              </a:rPr>
              <a:t>ptr</a:t>
            </a:r>
            <a:r>
              <a:rPr lang="en-IN" dirty="0">
                <a:solidFill>
                  <a:srgbClr val="FF0000"/>
                </a:solidFill>
              </a:rPr>
              <a:t>);</a:t>
            </a:r>
          </a:p>
          <a:p>
            <a:r>
              <a:rPr lang="en-IN" dirty="0">
                <a:solidFill>
                  <a:srgbClr val="FF0000"/>
                </a:solidFill>
              </a:rPr>
              <a:t>    </a:t>
            </a:r>
            <a:r>
              <a:rPr lang="en-IN" dirty="0" err="1">
                <a:solidFill>
                  <a:srgbClr val="FF0000"/>
                </a:solidFill>
              </a:rPr>
              <a:t>printf</a:t>
            </a:r>
            <a:r>
              <a:rPr lang="en-IN" dirty="0">
                <a:solidFill>
                  <a:srgbClr val="FF0000"/>
                </a:solidFill>
              </a:rPr>
              <a:t>("Address of a = %p\n", (void *)*(&amp;</a:t>
            </a:r>
            <a:r>
              <a:rPr lang="en-IN" dirty="0" err="1">
                <a:solidFill>
                  <a:srgbClr val="FF0000"/>
                </a:solidFill>
              </a:rPr>
              <a:t>ptr</a:t>
            </a:r>
            <a:r>
              <a:rPr lang="en-IN" dirty="0">
                <a:solidFill>
                  <a:srgbClr val="FF0000"/>
                </a:solidFill>
              </a:rPr>
              <a:t>));</a:t>
            </a:r>
          </a:p>
          <a:p>
            <a:endParaRPr lang="en-IN" dirty="0">
              <a:solidFill>
                <a:srgbClr val="FF0000"/>
              </a:solidFill>
            </a:endParaRPr>
          </a:p>
          <a:p>
            <a:r>
              <a:rPr lang="en-IN" dirty="0">
                <a:solidFill>
                  <a:srgbClr val="FF0000"/>
                </a:solidFill>
              </a:rPr>
              <a:t>    return 0;</a:t>
            </a:r>
          </a:p>
          <a:p>
            <a:r>
              <a:rPr lang="en-IN" dirty="0">
                <a:solidFill>
                  <a:srgbClr val="FF0000"/>
                </a:solidFill>
              </a:rPr>
              <a:t>}</a:t>
            </a:r>
          </a:p>
        </p:txBody>
      </p:sp>
      <p:sp>
        <p:nvSpPr>
          <p:cNvPr id="6" name="Title 1">
            <a:extLst>
              <a:ext uri="{FF2B5EF4-FFF2-40B4-BE49-F238E27FC236}">
                <a16:creationId xmlns:a16="http://schemas.microsoft.com/office/drawing/2014/main" id="{207F3425-8E9C-3BD5-3380-AB19C55662A3}"/>
              </a:ext>
            </a:extLst>
          </p:cNvPr>
          <p:cNvSpPr>
            <a:spLocks noGrp="1"/>
          </p:cNvSpPr>
          <p:nvPr>
            <p:ph type="title"/>
          </p:nvPr>
        </p:nvSpPr>
        <p:spPr>
          <a:xfrm>
            <a:off x="107547" y="0"/>
            <a:ext cx="10287000" cy="1147762"/>
          </a:xfrm>
        </p:spPr>
        <p:txBody>
          <a:bodyPr>
            <a:normAutofit/>
          </a:bodyPr>
          <a:lstStyle/>
          <a:p>
            <a:r>
              <a:rPr lang="en-US" sz="2000" dirty="0"/>
              <a:t>Solved examples: </a:t>
            </a:r>
            <a:br>
              <a:rPr lang="en-US" sz="2000" dirty="0"/>
            </a:br>
            <a:r>
              <a:rPr lang="en-US" sz="2000" dirty="0"/>
              <a:t>2. Displaying value </a:t>
            </a:r>
            <a:r>
              <a:rPr lang="en-IN" sz="2000" dirty="0"/>
              <a:t>through a pointer</a:t>
            </a:r>
          </a:p>
        </p:txBody>
      </p:sp>
    </p:spTree>
    <p:extLst>
      <p:ext uri="{BB962C8B-B14F-4D97-AF65-F5344CB8AC3E}">
        <p14:creationId xmlns:p14="http://schemas.microsoft.com/office/powerpoint/2010/main" val="34103176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DBBD-8243-AB4A-183E-9849C5B78FEA}"/>
              </a:ext>
            </a:extLst>
          </p:cNvPr>
          <p:cNvSpPr>
            <a:spLocks noGrp="1"/>
          </p:cNvSpPr>
          <p:nvPr>
            <p:ph type="title"/>
          </p:nvPr>
        </p:nvSpPr>
        <p:spPr/>
        <p:txBody>
          <a:bodyPr/>
          <a:lstStyle/>
          <a:p>
            <a:r>
              <a:rPr lang="en-IN" dirty="0"/>
              <a:t>Solved example: </a:t>
            </a:r>
            <a:br>
              <a:rPr lang="en-IN" dirty="0"/>
            </a:br>
            <a:r>
              <a:rPr lang="en-IN" dirty="0"/>
              <a:t>3. calculation through a pointer</a:t>
            </a:r>
          </a:p>
        </p:txBody>
      </p:sp>
      <p:sp>
        <p:nvSpPr>
          <p:cNvPr id="5" name="TextBox 4">
            <a:extLst>
              <a:ext uri="{FF2B5EF4-FFF2-40B4-BE49-F238E27FC236}">
                <a16:creationId xmlns:a16="http://schemas.microsoft.com/office/drawing/2014/main" id="{41560EBC-0421-E6DA-1918-CA6B0ABF44E8}"/>
              </a:ext>
            </a:extLst>
          </p:cNvPr>
          <p:cNvSpPr txBox="1"/>
          <p:nvPr/>
        </p:nvSpPr>
        <p:spPr>
          <a:xfrm>
            <a:off x="836753" y="2662086"/>
            <a:ext cx="6094070" cy="3693319"/>
          </a:xfrm>
          <a:prstGeom prst="rect">
            <a:avLst/>
          </a:prstGeom>
          <a:noFill/>
        </p:spPr>
        <p:txBody>
          <a:bodyPr wrap="square">
            <a:spAutoFit/>
          </a:bodyPr>
          <a:lstStyle/>
          <a:p>
            <a:r>
              <a:rPr lang="en-IN" b="1" dirty="0">
                <a:solidFill>
                  <a:srgbClr val="FF0000"/>
                </a:solidFill>
              </a:rPr>
              <a:t>#include &lt;</a:t>
            </a:r>
            <a:r>
              <a:rPr lang="en-IN" b="1" dirty="0" err="1">
                <a:solidFill>
                  <a:srgbClr val="FF0000"/>
                </a:solidFill>
              </a:rPr>
              <a:t>stdio.h</a:t>
            </a:r>
            <a:r>
              <a:rPr lang="en-IN" b="1" dirty="0">
                <a:solidFill>
                  <a:srgbClr val="FF0000"/>
                </a:solidFill>
              </a:rPr>
              <a:t>&gt;</a:t>
            </a:r>
          </a:p>
          <a:p>
            <a:endParaRPr lang="en-IN" b="1" dirty="0">
              <a:solidFill>
                <a:srgbClr val="FF0000"/>
              </a:solidFill>
            </a:endParaRPr>
          </a:p>
          <a:p>
            <a:r>
              <a:rPr lang="en-IN" b="1" dirty="0">
                <a:solidFill>
                  <a:srgbClr val="FF0000"/>
                </a:solidFill>
              </a:rPr>
              <a:t>int main(void)</a:t>
            </a:r>
          </a:p>
          <a:p>
            <a:r>
              <a:rPr lang="en-IN" b="1" dirty="0">
                <a:solidFill>
                  <a:srgbClr val="FF0000"/>
                </a:solidFill>
              </a:rPr>
              <a:t>{</a:t>
            </a:r>
          </a:p>
          <a:p>
            <a:r>
              <a:rPr lang="en-IN" b="1" dirty="0">
                <a:solidFill>
                  <a:srgbClr val="FF0000"/>
                </a:solidFill>
              </a:rPr>
              <a:t>    int a = 10;</a:t>
            </a:r>
          </a:p>
          <a:p>
            <a:r>
              <a:rPr lang="en-IN" b="1" dirty="0">
                <a:solidFill>
                  <a:srgbClr val="FF0000"/>
                </a:solidFill>
              </a:rPr>
              <a:t>    int *p = &amp;a;</a:t>
            </a:r>
          </a:p>
          <a:p>
            <a:endParaRPr lang="en-IN" b="1" dirty="0">
              <a:solidFill>
                <a:srgbClr val="FF0000"/>
              </a:solidFill>
            </a:endParaRPr>
          </a:p>
          <a:p>
            <a:r>
              <a:rPr lang="en-IN" b="1" dirty="0">
                <a:solidFill>
                  <a:srgbClr val="FF0000"/>
                </a:solidFill>
              </a:rPr>
              <a:t>    *p = *p + 5;</a:t>
            </a:r>
          </a:p>
          <a:p>
            <a:endParaRPr lang="en-IN" b="1" dirty="0">
              <a:solidFill>
                <a:srgbClr val="FF0000"/>
              </a:solidFill>
            </a:endParaRPr>
          </a:p>
          <a:p>
            <a:r>
              <a:rPr lang="en-IN" b="1" dirty="0">
                <a:solidFill>
                  <a:srgbClr val="FF0000"/>
                </a:solidFill>
              </a:rPr>
              <a:t>    </a:t>
            </a:r>
            <a:r>
              <a:rPr lang="en-IN" b="1" dirty="0" err="1">
                <a:solidFill>
                  <a:srgbClr val="FF0000"/>
                </a:solidFill>
              </a:rPr>
              <a:t>printf</a:t>
            </a:r>
            <a:r>
              <a:rPr lang="en-IN" b="1" dirty="0">
                <a:solidFill>
                  <a:srgbClr val="FF0000"/>
                </a:solidFill>
              </a:rPr>
              <a:t>("%d\n", a);</a:t>
            </a:r>
          </a:p>
          <a:p>
            <a:endParaRPr lang="en-IN" b="1" dirty="0">
              <a:solidFill>
                <a:srgbClr val="FF0000"/>
              </a:solidFill>
            </a:endParaRPr>
          </a:p>
          <a:p>
            <a:r>
              <a:rPr lang="en-IN" b="1" dirty="0">
                <a:solidFill>
                  <a:srgbClr val="FF0000"/>
                </a:solidFill>
              </a:rPr>
              <a:t>    return 0;</a:t>
            </a:r>
          </a:p>
          <a:p>
            <a:r>
              <a:rPr lang="en-IN" b="1" dirty="0">
                <a:solidFill>
                  <a:srgbClr val="FF0000"/>
                </a:solidFill>
              </a:rPr>
              <a:t>}</a:t>
            </a:r>
          </a:p>
        </p:txBody>
      </p:sp>
      <p:sp>
        <p:nvSpPr>
          <p:cNvPr id="7" name="TextBox 6">
            <a:extLst>
              <a:ext uri="{FF2B5EF4-FFF2-40B4-BE49-F238E27FC236}">
                <a16:creationId xmlns:a16="http://schemas.microsoft.com/office/drawing/2014/main" id="{7DD1DEA6-DF94-5497-A44B-C0C34F6B5691}"/>
              </a:ext>
            </a:extLst>
          </p:cNvPr>
          <p:cNvSpPr txBox="1"/>
          <p:nvPr/>
        </p:nvSpPr>
        <p:spPr>
          <a:xfrm>
            <a:off x="3984585" y="2437397"/>
            <a:ext cx="6094070" cy="646331"/>
          </a:xfrm>
          <a:prstGeom prst="rect">
            <a:avLst/>
          </a:prstGeom>
          <a:noFill/>
        </p:spPr>
        <p:txBody>
          <a:bodyPr wrap="square">
            <a:spAutoFit/>
          </a:bodyPr>
          <a:lstStyle/>
          <a:p>
            <a:pPr>
              <a:buNone/>
            </a:pPr>
            <a:r>
              <a:rPr lang="en-IN" dirty="0"/>
              <a:t>Output:</a:t>
            </a:r>
          </a:p>
          <a:p>
            <a:pPr rtl="0">
              <a:buNone/>
            </a:pPr>
            <a:r>
              <a:rPr lang="en-IN" dirty="0">
                <a:latin typeface="+mn-lt"/>
              </a:rPr>
              <a:t>15</a:t>
            </a:r>
            <a:endParaRPr lang="en-IN" dirty="0">
              <a:latin typeface="Courier New" panose="02070309020205020404" pitchFamily="49" charset="0"/>
            </a:endParaRPr>
          </a:p>
        </p:txBody>
      </p:sp>
      <p:sp>
        <p:nvSpPr>
          <p:cNvPr id="9" name="TextBox 8">
            <a:extLst>
              <a:ext uri="{FF2B5EF4-FFF2-40B4-BE49-F238E27FC236}">
                <a16:creationId xmlns:a16="http://schemas.microsoft.com/office/drawing/2014/main" id="{48CA2785-2CD5-3888-FA5D-07C72F4571B6}"/>
              </a:ext>
            </a:extLst>
          </p:cNvPr>
          <p:cNvSpPr txBox="1"/>
          <p:nvPr/>
        </p:nvSpPr>
        <p:spPr>
          <a:xfrm>
            <a:off x="4100331" y="3631582"/>
            <a:ext cx="6513653" cy="1754326"/>
          </a:xfrm>
          <a:prstGeom prst="rect">
            <a:avLst/>
          </a:prstGeom>
          <a:noFill/>
        </p:spPr>
        <p:txBody>
          <a:bodyPr wrap="square">
            <a:spAutoFit/>
          </a:bodyPr>
          <a:lstStyle/>
          <a:p>
            <a:pPr marL="342900" lvl="0" indent="-342900">
              <a:buFont typeface="Arial" panose="020B0604020202020204" pitchFamily="34" charset="0"/>
              <a:buChar char="•"/>
            </a:pPr>
            <a:r>
              <a:rPr lang="en-IN" b="1" dirty="0"/>
              <a:t>Right side:</a:t>
            </a:r>
            <a:r>
              <a:rPr lang="en-IN" dirty="0"/>
              <a:t> read </a:t>
            </a:r>
            <a:r>
              <a:rPr lang="en-IN" dirty="0">
                <a:latin typeface="+mn-lt"/>
              </a:rPr>
              <a:t>*p</a:t>
            </a:r>
            <a:r>
              <a:rPr lang="en-IN" dirty="0"/>
              <a:t>, which is 10, and calculate </a:t>
            </a:r>
            <a:r>
              <a:rPr lang="en-IN" dirty="0">
                <a:latin typeface="+mn-lt"/>
              </a:rPr>
              <a:t>10 + 5</a:t>
            </a:r>
            <a:r>
              <a:rPr lang="en-IN" dirty="0"/>
              <a:t>.</a:t>
            </a:r>
          </a:p>
          <a:p>
            <a:pPr marL="342900" lvl="0" indent="-342900">
              <a:buFont typeface="Arial" panose="020B0604020202020204" pitchFamily="34" charset="0"/>
              <a:buChar char="•"/>
            </a:pPr>
            <a:r>
              <a:rPr lang="en-IN" b="1" dirty="0"/>
              <a:t>Left side:</a:t>
            </a:r>
            <a:r>
              <a:rPr lang="en-IN" dirty="0"/>
              <a:t> store the result in the integer that </a:t>
            </a:r>
            <a:r>
              <a:rPr lang="en-IN" dirty="0">
                <a:latin typeface="+mn-lt"/>
              </a:rPr>
              <a:t>p</a:t>
            </a:r>
            <a:r>
              <a:rPr lang="en-IN" dirty="0"/>
              <a:t> points to.</a:t>
            </a:r>
          </a:p>
          <a:p>
            <a:pPr>
              <a:buNone/>
            </a:pPr>
            <a:r>
              <a:rPr lang="en-IN" dirty="0"/>
              <a:t>For this particular pointer:</a:t>
            </a:r>
          </a:p>
          <a:p>
            <a:pPr rtl="0">
              <a:buNone/>
            </a:pPr>
            <a:r>
              <a:rPr lang="en-IN" dirty="0">
                <a:latin typeface="+mn-lt"/>
              </a:rPr>
              <a:t>*p = *p + 5;</a:t>
            </a:r>
          </a:p>
          <a:p>
            <a:pPr>
              <a:buNone/>
            </a:pPr>
            <a:r>
              <a:rPr lang="en-IN" dirty="0"/>
              <a:t>has the same effect as:</a:t>
            </a:r>
          </a:p>
          <a:p>
            <a:pPr rtl="0">
              <a:buNone/>
            </a:pPr>
            <a:r>
              <a:rPr lang="en-IN" dirty="0">
                <a:latin typeface="+mn-lt"/>
              </a:rPr>
              <a:t>a = a + 5;</a:t>
            </a:r>
            <a:endParaRPr lang="en-IN" dirty="0">
              <a:latin typeface="Courier New" panose="02070309020205020404" pitchFamily="49" charset="0"/>
            </a:endParaRPr>
          </a:p>
        </p:txBody>
      </p:sp>
    </p:spTree>
    <p:extLst>
      <p:ext uri="{BB962C8B-B14F-4D97-AF65-F5344CB8AC3E}">
        <p14:creationId xmlns:p14="http://schemas.microsoft.com/office/powerpoint/2010/main" val="40784257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50361-A5D4-5DF3-7859-444FB9145A0C}"/>
              </a:ext>
            </a:extLst>
          </p:cNvPr>
          <p:cNvSpPr>
            <a:spLocks noGrp="1"/>
          </p:cNvSpPr>
          <p:nvPr>
            <p:ph type="title"/>
          </p:nvPr>
        </p:nvSpPr>
        <p:spPr>
          <a:xfrm>
            <a:off x="950571" y="0"/>
            <a:ext cx="10287000" cy="1147762"/>
          </a:xfrm>
        </p:spPr>
        <p:txBody>
          <a:bodyPr/>
          <a:lstStyle/>
          <a:p>
            <a:r>
              <a:rPr lang="en-IN" dirty="0"/>
              <a:t>Solved example: </a:t>
            </a:r>
            <a:br>
              <a:rPr lang="en-IN" dirty="0"/>
            </a:br>
            <a:r>
              <a:rPr lang="en-IN" dirty="0"/>
              <a:t>3. changing where a pointer points</a:t>
            </a:r>
          </a:p>
        </p:txBody>
      </p:sp>
      <p:sp>
        <p:nvSpPr>
          <p:cNvPr id="5" name="TextBox 4">
            <a:extLst>
              <a:ext uri="{FF2B5EF4-FFF2-40B4-BE49-F238E27FC236}">
                <a16:creationId xmlns:a16="http://schemas.microsoft.com/office/drawing/2014/main" id="{EFDC8680-A8B3-A2EE-FEF2-98E7EE380853}"/>
              </a:ext>
            </a:extLst>
          </p:cNvPr>
          <p:cNvSpPr txBox="1"/>
          <p:nvPr/>
        </p:nvSpPr>
        <p:spPr>
          <a:xfrm>
            <a:off x="454307" y="1263127"/>
            <a:ext cx="6094070" cy="4801314"/>
          </a:xfrm>
          <a:prstGeom prst="rect">
            <a:avLst/>
          </a:prstGeom>
          <a:noFill/>
        </p:spPr>
        <p:txBody>
          <a:bodyPr wrap="square">
            <a:spAutoFit/>
          </a:bodyPr>
          <a:lstStyle/>
          <a:p>
            <a:r>
              <a:rPr lang="en-IN" b="1" dirty="0">
                <a:solidFill>
                  <a:srgbClr val="FF0000"/>
                </a:solidFill>
              </a:rPr>
              <a:t>#include &lt;</a:t>
            </a:r>
            <a:r>
              <a:rPr lang="en-IN" b="1" dirty="0" err="1">
                <a:solidFill>
                  <a:srgbClr val="FF0000"/>
                </a:solidFill>
              </a:rPr>
              <a:t>stdio.h</a:t>
            </a:r>
            <a:r>
              <a:rPr lang="en-IN" b="1" dirty="0">
                <a:solidFill>
                  <a:srgbClr val="FF0000"/>
                </a:solidFill>
              </a:rPr>
              <a:t>&gt;</a:t>
            </a:r>
          </a:p>
          <a:p>
            <a:r>
              <a:rPr lang="en-IN" b="1" dirty="0">
                <a:solidFill>
                  <a:srgbClr val="FF0000"/>
                </a:solidFill>
              </a:rPr>
              <a:t>int main(void)</a:t>
            </a:r>
          </a:p>
          <a:p>
            <a:r>
              <a:rPr lang="en-IN" b="1" dirty="0">
                <a:solidFill>
                  <a:srgbClr val="FF0000"/>
                </a:solidFill>
              </a:rPr>
              <a:t>{</a:t>
            </a:r>
          </a:p>
          <a:p>
            <a:r>
              <a:rPr lang="en-IN" b="1" dirty="0">
                <a:solidFill>
                  <a:srgbClr val="FF0000"/>
                </a:solidFill>
              </a:rPr>
              <a:t>    int a = 10;</a:t>
            </a:r>
          </a:p>
          <a:p>
            <a:r>
              <a:rPr lang="en-IN" b="1" dirty="0">
                <a:solidFill>
                  <a:srgbClr val="FF0000"/>
                </a:solidFill>
              </a:rPr>
              <a:t>    int b = 20;</a:t>
            </a:r>
          </a:p>
          <a:p>
            <a:r>
              <a:rPr lang="en-IN" b="1" dirty="0">
                <a:solidFill>
                  <a:srgbClr val="FF0000"/>
                </a:solidFill>
              </a:rPr>
              <a:t>    int *p = &amp;a;</a:t>
            </a:r>
          </a:p>
          <a:p>
            <a:endParaRPr lang="en-IN" b="1" dirty="0">
              <a:solidFill>
                <a:srgbClr val="FF0000"/>
              </a:solidFill>
            </a:endParaRPr>
          </a:p>
          <a:p>
            <a:r>
              <a:rPr lang="en-IN" b="1" dirty="0">
                <a:solidFill>
                  <a:srgbClr val="FF0000"/>
                </a:solidFill>
              </a:rPr>
              <a:t>    </a:t>
            </a:r>
            <a:r>
              <a:rPr lang="en-IN" b="1" dirty="0" err="1">
                <a:solidFill>
                  <a:srgbClr val="FF0000"/>
                </a:solidFill>
              </a:rPr>
              <a:t>printf</a:t>
            </a:r>
            <a:r>
              <a:rPr lang="en-IN" b="1" dirty="0">
                <a:solidFill>
                  <a:srgbClr val="FF0000"/>
                </a:solidFill>
              </a:rPr>
              <a:t>("%d\n", *p);</a:t>
            </a:r>
          </a:p>
          <a:p>
            <a:endParaRPr lang="en-IN" b="1" dirty="0">
              <a:solidFill>
                <a:srgbClr val="FF0000"/>
              </a:solidFill>
            </a:endParaRPr>
          </a:p>
          <a:p>
            <a:r>
              <a:rPr lang="en-IN" b="1" dirty="0">
                <a:solidFill>
                  <a:srgbClr val="FF0000"/>
                </a:solidFill>
              </a:rPr>
              <a:t>    p = &amp;b;</a:t>
            </a:r>
          </a:p>
          <a:p>
            <a:r>
              <a:rPr lang="en-IN" b="1" dirty="0">
                <a:solidFill>
                  <a:srgbClr val="FF0000"/>
                </a:solidFill>
              </a:rPr>
              <a:t>    *p = 50;</a:t>
            </a:r>
          </a:p>
          <a:p>
            <a:endParaRPr lang="en-IN" b="1" dirty="0">
              <a:solidFill>
                <a:srgbClr val="FF0000"/>
              </a:solidFill>
            </a:endParaRPr>
          </a:p>
          <a:p>
            <a:r>
              <a:rPr lang="en-IN" b="1" dirty="0">
                <a:solidFill>
                  <a:srgbClr val="FF0000"/>
                </a:solidFill>
              </a:rPr>
              <a:t>    </a:t>
            </a:r>
            <a:r>
              <a:rPr lang="en-IN" b="1" dirty="0" err="1">
                <a:solidFill>
                  <a:srgbClr val="FF0000"/>
                </a:solidFill>
              </a:rPr>
              <a:t>printf</a:t>
            </a:r>
            <a:r>
              <a:rPr lang="en-IN" b="1" dirty="0">
                <a:solidFill>
                  <a:srgbClr val="FF0000"/>
                </a:solidFill>
              </a:rPr>
              <a:t>("a = %d\n", a);</a:t>
            </a:r>
          </a:p>
          <a:p>
            <a:r>
              <a:rPr lang="en-IN" b="1" dirty="0">
                <a:solidFill>
                  <a:srgbClr val="FF0000"/>
                </a:solidFill>
              </a:rPr>
              <a:t>    </a:t>
            </a:r>
            <a:r>
              <a:rPr lang="en-IN" b="1" dirty="0" err="1">
                <a:solidFill>
                  <a:srgbClr val="FF0000"/>
                </a:solidFill>
              </a:rPr>
              <a:t>printf</a:t>
            </a:r>
            <a:r>
              <a:rPr lang="en-IN" b="1" dirty="0">
                <a:solidFill>
                  <a:srgbClr val="FF0000"/>
                </a:solidFill>
              </a:rPr>
              <a:t>("b = %d\n", b);</a:t>
            </a:r>
          </a:p>
          <a:p>
            <a:endParaRPr lang="en-IN" b="1" dirty="0">
              <a:solidFill>
                <a:srgbClr val="FF0000"/>
              </a:solidFill>
            </a:endParaRPr>
          </a:p>
          <a:p>
            <a:r>
              <a:rPr lang="en-IN" b="1" dirty="0">
                <a:solidFill>
                  <a:srgbClr val="FF0000"/>
                </a:solidFill>
              </a:rPr>
              <a:t>    return 0;</a:t>
            </a:r>
          </a:p>
          <a:p>
            <a:r>
              <a:rPr lang="en-IN" b="1" dirty="0">
                <a:solidFill>
                  <a:srgbClr val="FF0000"/>
                </a:solidFill>
              </a:rPr>
              <a:t>}</a:t>
            </a:r>
          </a:p>
        </p:txBody>
      </p:sp>
      <p:sp>
        <p:nvSpPr>
          <p:cNvPr id="7" name="TextBox 6">
            <a:extLst>
              <a:ext uri="{FF2B5EF4-FFF2-40B4-BE49-F238E27FC236}">
                <a16:creationId xmlns:a16="http://schemas.microsoft.com/office/drawing/2014/main" id="{98A6FE26-69DF-BF55-60B6-F609822134F4}"/>
              </a:ext>
            </a:extLst>
          </p:cNvPr>
          <p:cNvSpPr txBox="1"/>
          <p:nvPr/>
        </p:nvSpPr>
        <p:spPr>
          <a:xfrm>
            <a:off x="3501342" y="1561407"/>
            <a:ext cx="6094070" cy="1200329"/>
          </a:xfrm>
          <a:prstGeom prst="rect">
            <a:avLst/>
          </a:prstGeom>
          <a:noFill/>
        </p:spPr>
        <p:txBody>
          <a:bodyPr wrap="square">
            <a:spAutoFit/>
          </a:bodyPr>
          <a:lstStyle/>
          <a:p>
            <a:pPr>
              <a:buNone/>
            </a:pPr>
            <a:r>
              <a:rPr lang="en-IN" dirty="0"/>
              <a:t>Output:</a:t>
            </a:r>
          </a:p>
          <a:p>
            <a:pPr rtl="0">
              <a:buNone/>
            </a:pPr>
            <a:r>
              <a:rPr lang="en-IN" dirty="0">
                <a:latin typeface="+mn-lt"/>
              </a:rPr>
              <a:t>10</a:t>
            </a:r>
          </a:p>
          <a:p>
            <a:pPr rtl="0">
              <a:buNone/>
            </a:pPr>
            <a:r>
              <a:rPr lang="en-IN" dirty="0">
                <a:latin typeface="+mn-lt"/>
              </a:rPr>
              <a:t>a = 10</a:t>
            </a:r>
          </a:p>
          <a:p>
            <a:pPr rtl="0">
              <a:buNone/>
            </a:pPr>
            <a:r>
              <a:rPr lang="en-IN" dirty="0">
                <a:latin typeface="+mn-lt"/>
              </a:rPr>
              <a:t>b = 50</a:t>
            </a:r>
            <a:endParaRPr lang="en-IN" dirty="0">
              <a:latin typeface="Courier New" panose="02070309020205020404" pitchFamily="49" charset="0"/>
            </a:endParaRPr>
          </a:p>
        </p:txBody>
      </p:sp>
      <p:graphicFrame>
        <p:nvGraphicFramePr>
          <p:cNvPr id="8" name="Table 7">
            <a:extLst>
              <a:ext uri="{FF2B5EF4-FFF2-40B4-BE49-F238E27FC236}">
                <a16:creationId xmlns:a16="http://schemas.microsoft.com/office/drawing/2014/main" id="{E479A434-09FA-11F9-0F56-2611DC542B6C}"/>
              </a:ext>
            </a:extLst>
          </p:cNvPr>
          <p:cNvGraphicFramePr>
            <a:graphicFrameLocks noGrp="1"/>
          </p:cNvGraphicFramePr>
          <p:nvPr>
            <p:extLst>
              <p:ext uri="{D42A27DB-BD31-4B8C-83A1-F6EECF244321}">
                <p14:modId xmlns:p14="http://schemas.microsoft.com/office/powerpoint/2010/main" val="2387910515"/>
              </p:ext>
            </p:extLst>
          </p:nvPr>
        </p:nvGraphicFramePr>
        <p:xfrm>
          <a:off x="3628664" y="3701032"/>
          <a:ext cx="7485444" cy="1905416"/>
        </p:xfrm>
        <a:graphic>
          <a:graphicData uri="http://schemas.openxmlformats.org/drawingml/2006/table">
            <a:tbl>
              <a:tblPr>
                <a:tableStyleId>{5C22544A-7EE6-4342-B048-85BDC9FD1C3A}</a:tableStyleId>
              </a:tblPr>
              <a:tblGrid>
                <a:gridCol w="1871361">
                  <a:extLst>
                    <a:ext uri="{9D8B030D-6E8A-4147-A177-3AD203B41FA5}">
                      <a16:colId xmlns:a16="http://schemas.microsoft.com/office/drawing/2014/main" val="982942564"/>
                    </a:ext>
                  </a:extLst>
                </a:gridCol>
                <a:gridCol w="1871361">
                  <a:extLst>
                    <a:ext uri="{9D8B030D-6E8A-4147-A177-3AD203B41FA5}">
                      <a16:colId xmlns:a16="http://schemas.microsoft.com/office/drawing/2014/main" val="555206316"/>
                    </a:ext>
                  </a:extLst>
                </a:gridCol>
                <a:gridCol w="1871361">
                  <a:extLst>
                    <a:ext uri="{9D8B030D-6E8A-4147-A177-3AD203B41FA5}">
                      <a16:colId xmlns:a16="http://schemas.microsoft.com/office/drawing/2014/main" val="3896332298"/>
                    </a:ext>
                  </a:extLst>
                </a:gridCol>
                <a:gridCol w="1871361">
                  <a:extLst>
                    <a:ext uri="{9D8B030D-6E8A-4147-A177-3AD203B41FA5}">
                      <a16:colId xmlns:a16="http://schemas.microsoft.com/office/drawing/2014/main" val="2277993015"/>
                    </a:ext>
                  </a:extLst>
                </a:gridCol>
              </a:tblGrid>
              <a:tr h="476354">
                <a:tc>
                  <a:txBody>
                    <a:bodyPr/>
                    <a:lstStyle/>
                    <a:p>
                      <a:pPr>
                        <a:buNone/>
                      </a:pPr>
                      <a:r>
                        <a:rPr lang="en-IN"/>
                        <a:t>Statement</a:t>
                      </a:r>
                    </a:p>
                  </a:txBody>
                  <a:tcPr anchor="ctr"/>
                </a:tc>
                <a:tc>
                  <a:txBody>
                    <a:bodyPr/>
                    <a:lstStyle/>
                    <a:p>
                      <a:pPr>
                        <a:buNone/>
                      </a:pPr>
                      <a:r>
                        <a:rPr lang="en-IN"/>
                        <a:t>What p points to</a:t>
                      </a:r>
                    </a:p>
                  </a:txBody>
                  <a:tcPr anchor="ctr"/>
                </a:tc>
                <a:tc>
                  <a:txBody>
                    <a:bodyPr/>
                    <a:lstStyle/>
                    <a:p>
                      <a:pPr algn="r">
                        <a:buNone/>
                      </a:pPr>
                      <a:r>
                        <a:rPr lang="en-IN"/>
                        <a:t>a</a:t>
                      </a:r>
                    </a:p>
                  </a:txBody>
                  <a:tcPr anchor="ctr"/>
                </a:tc>
                <a:tc>
                  <a:txBody>
                    <a:bodyPr/>
                    <a:lstStyle/>
                    <a:p>
                      <a:pPr algn="r">
                        <a:buNone/>
                      </a:pPr>
                      <a:r>
                        <a:rPr lang="en-IN"/>
                        <a:t>b</a:t>
                      </a:r>
                    </a:p>
                  </a:txBody>
                  <a:tcPr anchor="ctr"/>
                </a:tc>
                <a:extLst>
                  <a:ext uri="{0D108BD9-81ED-4DB2-BD59-A6C34878D82A}">
                    <a16:rowId xmlns:a16="http://schemas.microsoft.com/office/drawing/2014/main" val="945389871"/>
                  </a:ext>
                </a:extLst>
              </a:tr>
              <a:tr h="476354">
                <a:tc>
                  <a:txBody>
                    <a:bodyPr/>
                    <a:lstStyle/>
                    <a:p>
                      <a:pPr>
                        <a:buNone/>
                      </a:pPr>
                      <a:r>
                        <a:rPr lang="en-IN"/>
                        <a:t>int *p = &amp;a;</a:t>
                      </a:r>
                    </a:p>
                  </a:txBody>
                  <a:tcPr anchor="ctr"/>
                </a:tc>
                <a:tc>
                  <a:txBody>
                    <a:bodyPr/>
                    <a:lstStyle/>
                    <a:p>
                      <a:pPr>
                        <a:buNone/>
                      </a:pPr>
                      <a:r>
                        <a:rPr lang="en-IN"/>
                        <a:t>a</a:t>
                      </a:r>
                    </a:p>
                  </a:txBody>
                  <a:tcPr anchor="ctr"/>
                </a:tc>
                <a:tc>
                  <a:txBody>
                    <a:bodyPr/>
                    <a:lstStyle/>
                    <a:p>
                      <a:pPr algn="r">
                        <a:buNone/>
                      </a:pPr>
                      <a:r>
                        <a:rPr lang="en-IN"/>
                        <a:t>10</a:t>
                      </a:r>
                    </a:p>
                  </a:txBody>
                  <a:tcPr anchor="ctr"/>
                </a:tc>
                <a:tc>
                  <a:txBody>
                    <a:bodyPr/>
                    <a:lstStyle/>
                    <a:p>
                      <a:pPr algn="r">
                        <a:buNone/>
                      </a:pPr>
                      <a:r>
                        <a:rPr lang="en-IN"/>
                        <a:t>20</a:t>
                      </a:r>
                    </a:p>
                  </a:txBody>
                  <a:tcPr anchor="ctr"/>
                </a:tc>
                <a:extLst>
                  <a:ext uri="{0D108BD9-81ED-4DB2-BD59-A6C34878D82A}">
                    <a16:rowId xmlns:a16="http://schemas.microsoft.com/office/drawing/2014/main" val="2180082640"/>
                  </a:ext>
                </a:extLst>
              </a:tr>
              <a:tr h="476354">
                <a:tc>
                  <a:txBody>
                    <a:bodyPr/>
                    <a:lstStyle/>
                    <a:p>
                      <a:pPr>
                        <a:buNone/>
                      </a:pPr>
                      <a:r>
                        <a:rPr lang="en-IN"/>
                        <a:t>p = &amp;b;</a:t>
                      </a:r>
                    </a:p>
                  </a:txBody>
                  <a:tcPr anchor="ctr"/>
                </a:tc>
                <a:tc>
                  <a:txBody>
                    <a:bodyPr/>
                    <a:lstStyle/>
                    <a:p>
                      <a:pPr>
                        <a:buNone/>
                      </a:pPr>
                      <a:r>
                        <a:rPr lang="en-IN"/>
                        <a:t>b</a:t>
                      </a:r>
                    </a:p>
                  </a:txBody>
                  <a:tcPr anchor="ctr"/>
                </a:tc>
                <a:tc>
                  <a:txBody>
                    <a:bodyPr/>
                    <a:lstStyle/>
                    <a:p>
                      <a:pPr algn="r">
                        <a:buNone/>
                      </a:pPr>
                      <a:r>
                        <a:rPr lang="en-IN"/>
                        <a:t>10</a:t>
                      </a:r>
                    </a:p>
                  </a:txBody>
                  <a:tcPr anchor="ctr"/>
                </a:tc>
                <a:tc>
                  <a:txBody>
                    <a:bodyPr/>
                    <a:lstStyle/>
                    <a:p>
                      <a:pPr algn="r">
                        <a:buNone/>
                      </a:pPr>
                      <a:r>
                        <a:rPr lang="en-IN"/>
                        <a:t>20</a:t>
                      </a:r>
                    </a:p>
                  </a:txBody>
                  <a:tcPr anchor="ctr"/>
                </a:tc>
                <a:extLst>
                  <a:ext uri="{0D108BD9-81ED-4DB2-BD59-A6C34878D82A}">
                    <a16:rowId xmlns:a16="http://schemas.microsoft.com/office/drawing/2014/main" val="1296471335"/>
                  </a:ext>
                </a:extLst>
              </a:tr>
              <a:tr h="476354">
                <a:tc>
                  <a:txBody>
                    <a:bodyPr/>
                    <a:lstStyle/>
                    <a:p>
                      <a:pPr>
                        <a:buNone/>
                      </a:pPr>
                      <a:r>
                        <a:rPr lang="en-IN"/>
                        <a:t>*p = 50;</a:t>
                      </a:r>
                    </a:p>
                  </a:txBody>
                  <a:tcPr anchor="ctr"/>
                </a:tc>
                <a:tc>
                  <a:txBody>
                    <a:bodyPr/>
                    <a:lstStyle/>
                    <a:p>
                      <a:pPr>
                        <a:buNone/>
                      </a:pPr>
                      <a:r>
                        <a:rPr lang="en-IN"/>
                        <a:t>b</a:t>
                      </a:r>
                    </a:p>
                  </a:txBody>
                  <a:tcPr anchor="ctr"/>
                </a:tc>
                <a:tc>
                  <a:txBody>
                    <a:bodyPr/>
                    <a:lstStyle/>
                    <a:p>
                      <a:pPr algn="r">
                        <a:buNone/>
                      </a:pPr>
                      <a:r>
                        <a:rPr lang="en-IN"/>
                        <a:t>10</a:t>
                      </a:r>
                    </a:p>
                  </a:txBody>
                  <a:tcPr anchor="ctr"/>
                </a:tc>
                <a:tc>
                  <a:txBody>
                    <a:bodyPr/>
                    <a:lstStyle/>
                    <a:p>
                      <a:pPr algn="r">
                        <a:buNone/>
                      </a:pPr>
                      <a:r>
                        <a:rPr lang="en-IN" dirty="0"/>
                        <a:t>50</a:t>
                      </a:r>
                    </a:p>
                  </a:txBody>
                  <a:tcPr anchor="ctr"/>
                </a:tc>
                <a:extLst>
                  <a:ext uri="{0D108BD9-81ED-4DB2-BD59-A6C34878D82A}">
                    <a16:rowId xmlns:a16="http://schemas.microsoft.com/office/drawing/2014/main" val="2978577977"/>
                  </a:ext>
                </a:extLst>
              </a:tr>
            </a:tbl>
          </a:graphicData>
        </a:graphic>
      </p:graphicFrame>
    </p:spTree>
    <p:extLst>
      <p:ext uri="{BB962C8B-B14F-4D97-AF65-F5344CB8AC3E}">
        <p14:creationId xmlns:p14="http://schemas.microsoft.com/office/powerpoint/2010/main" val="25338000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B065-729B-6748-282F-4606EF1408F3}"/>
              </a:ext>
            </a:extLst>
          </p:cNvPr>
          <p:cNvSpPr>
            <a:spLocks noGrp="1"/>
          </p:cNvSpPr>
          <p:nvPr>
            <p:ph type="title"/>
          </p:nvPr>
        </p:nvSpPr>
        <p:spPr>
          <a:xfrm>
            <a:off x="223295" y="190079"/>
            <a:ext cx="5459875" cy="1580848"/>
          </a:xfrm>
        </p:spPr>
        <p:txBody>
          <a:bodyPr>
            <a:normAutofit/>
          </a:bodyPr>
          <a:lstStyle/>
          <a:p>
            <a:r>
              <a:rPr lang="en-IN" dirty="0"/>
              <a:t>Solved example: </a:t>
            </a:r>
            <a:br>
              <a:rPr lang="en-IN" dirty="0"/>
            </a:br>
            <a:r>
              <a:rPr lang="en-IN" dirty="0"/>
              <a:t>4. pointer to pointer</a:t>
            </a:r>
          </a:p>
        </p:txBody>
      </p:sp>
      <p:sp>
        <p:nvSpPr>
          <p:cNvPr id="5" name="TextBox 4">
            <a:extLst>
              <a:ext uri="{FF2B5EF4-FFF2-40B4-BE49-F238E27FC236}">
                <a16:creationId xmlns:a16="http://schemas.microsoft.com/office/drawing/2014/main" id="{E1052F86-2F30-4057-0120-ED49859D3E07}"/>
              </a:ext>
            </a:extLst>
          </p:cNvPr>
          <p:cNvSpPr txBox="1"/>
          <p:nvPr/>
        </p:nvSpPr>
        <p:spPr>
          <a:xfrm>
            <a:off x="6097930" y="474345"/>
            <a:ext cx="6094070" cy="5909310"/>
          </a:xfrm>
          <a:prstGeom prst="rect">
            <a:avLst/>
          </a:prstGeom>
          <a:noFill/>
        </p:spPr>
        <p:txBody>
          <a:bodyPr wrap="square">
            <a:spAutoFit/>
          </a:bodyPr>
          <a:lstStyle/>
          <a:p>
            <a:r>
              <a:rPr lang="en-IN" dirty="0">
                <a:solidFill>
                  <a:srgbClr val="FF0000"/>
                </a:solidFill>
              </a:rPr>
              <a:t>#include &lt;</a:t>
            </a:r>
            <a:r>
              <a:rPr lang="en-IN" dirty="0" err="1">
                <a:solidFill>
                  <a:srgbClr val="FF0000"/>
                </a:solidFill>
              </a:rPr>
              <a:t>stdio.h</a:t>
            </a:r>
            <a:r>
              <a:rPr lang="en-IN" dirty="0">
                <a:solidFill>
                  <a:srgbClr val="FF0000"/>
                </a:solidFill>
              </a:rPr>
              <a:t>&gt;</a:t>
            </a:r>
          </a:p>
          <a:p>
            <a:endParaRPr lang="en-IN" dirty="0">
              <a:solidFill>
                <a:srgbClr val="FF0000"/>
              </a:solidFill>
            </a:endParaRPr>
          </a:p>
          <a:p>
            <a:r>
              <a:rPr lang="en-IN" dirty="0">
                <a:solidFill>
                  <a:srgbClr val="FF0000"/>
                </a:solidFill>
              </a:rPr>
              <a:t>int main(void)</a:t>
            </a:r>
          </a:p>
          <a:p>
            <a:r>
              <a:rPr lang="en-IN" dirty="0">
                <a:solidFill>
                  <a:srgbClr val="FF0000"/>
                </a:solidFill>
              </a:rPr>
              <a:t>{</a:t>
            </a:r>
          </a:p>
          <a:p>
            <a:r>
              <a:rPr lang="en-IN" dirty="0">
                <a:solidFill>
                  <a:srgbClr val="FF0000"/>
                </a:solidFill>
              </a:rPr>
              <a:t>    int a = 10;</a:t>
            </a:r>
          </a:p>
          <a:p>
            <a:endParaRPr lang="en-IN" dirty="0">
              <a:solidFill>
                <a:srgbClr val="FF0000"/>
              </a:solidFill>
            </a:endParaRPr>
          </a:p>
          <a:p>
            <a:r>
              <a:rPr lang="en-IN" dirty="0">
                <a:solidFill>
                  <a:srgbClr val="FF0000"/>
                </a:solidFill>
              </a:rPr>
              <a:t>    int *ptr1;</a:t>
            </a:r>
          </a:p>
          <a:p>
            <a:r>
              <a:rPr lang="en-IN" dirty="0">
                <a:solidFill>
                  <a:srgbClr val="FF0000"/>
                </a:solidFill>
              </a:rPr>
              <a:t>    int **ptr2;</a:t>
            </a:r>
          </a:p>
          <a:p>
            <a:r>
              <a:rPr lang="en-IN" dirty="0">
                <a:solidFill>
                  <a:srgbClr val="FF0000"/>
                </a:solidFill>
              </a:rPr>
              <a:t>    int ***ptr3;</a:t>
            </a:r>
          </a:p>
          <a:p>
            <a:endParaRPr lang="en-IN" dirty="0">
              <a:solidFill>
                <a:srgbClr val="FF0000"/>
              </a:solidFill>
            </a:endParaRPr>
          </a:p>
          <a:p>
            <a:r>
              <a:rPr lang="en-IN" dirty="0">
                <a:solidFill>
                  <a:srgbClr val="FF0000"/>
                </a:solidFill>
              </a:rPr>
              <a:t>    ptr1 = &amp;a;</a:t>
            </a:r>
          </a:p>
          <a:p>
            <a:r>
              <a:rPr lang="en-IN" dirty="0">
                <a:solidFill>
                  <a:srgbClr val="FF0000"/>
                </a:solidFill>
              </a:rPr>
              <a:t>    ptr2 = &amp;ptr1;</a:t>
            </a:r>
          </a:p>
          <a:p>
            <a:r>
              <a:rPr lang="en-IN" dirty="0">
                <a:solidFill>
                  <a:srgbClr val="FF0000"/>
                </a:solidFill>
              </a:rPr>
              <a:t>    ptr3 = &amp;ptr2;</a:t>
            </a:r>
          </a:p>
          <a:p>
            <a:endParaRPr lang="en-IN" dirty="0">
              <a:solidFill>
                <a:srgbClr val="FF0000"/>
              </a:solidFill>
            </a:endParaRPr>
          </a:p>
          <a:p>
            <a:r>
              <a:rPr lang="en-IN" dirty="0">
                <a:solidFill>
                  <a:srgbClr val="FF0000"/>
                </a:solidFill>
              </a:rPr>
              <a:t>    </a:t>
            </a:r>
            <a:r>
              <a:rPr lang="en-IN" dirty="0" err="1">
                <a:solidFill>
                  <a:srgbClr val="FF0000"/>
                </a:solidFill>
              </a:rPr>
              <a:t>printf</a:t>
            </a:r>
            <a:r>
              <a:rPr lang="en-IN" dirty="0">
                <a:solidFill>
                  <a:srgbClr val="FF0000"/>
                </a:solidFill>
              </a:rPr>
              <a:t>("Value of a = %d\n", a);</a:t>
            </a:r>
          </a:p>
          <a:p>
            <a:r>
              <a:rPr lang="en-IN" dirty="0">
                <a:solidFill>
                  <a:srgbClr val="FF0000"/>
                </a:solidFill>
              </a:rPr>
              <a:t>    </a:t>
            </a:r>
            <a:r>
              <a:rPr lang="en-IN" dirty="0" err="1">
                <a:solidFill>
                  <a:srgbClr val="FF0000"/>
                </a:solidFill>
              </a:rPr>
              <a:t>printf</a:t>
            </a:r>
            <a:r>
              <a:rPr lang="en-IN" dirty="0">
                <a:solidFill>
                  <a:srgbClr val="FF0000"/>
                </a:solidFill>
              </a:rPr>
              <a:t>("Value of a = %d\n", *ptr1);</a:t>
            </a:r>
          </a:p>
          <a:p>
            <a:r>
              <a:rPr lang="en-IN" dirty="0">
                <a:solidFill>
                  <a:srgbClr val="FF0000"/>
                </a:solidFill>
              </a:rPr>
              <a:t>    </a:t>
            </a:r>
            <a:r>
              <a:rPr lang="en-IN" dirty="0" err="1">
                <a:solidFill>
                  <a:srgbClr val="FF0000"/>
                </a:solidFill>
              </a:rPr>
              <a:t>printf</a:t>
            </a:r>
            <a:r>
              <a:rPr lang="en-IN" dirty="0">
                <a:solidFill>
                  <a:srgbClr val="FF0000"/>
                </a:solidFill>
              </a:rPr>
              <a:t>("Value of a = %d\n", **ptr2);</a:t>
            </a:r>
          </a:p>
          <a:p>
            <a:r>
              <a:rPr lang="en-IN" dirty="0">
                <a:solidFill>
                  <a:srgbClr val="FF0000"/>
                </a:solidFill>
              </a:rPr>
              <a:t>    </a:t>
            </a:r>
            <a:r>
              <a:rPr lang="en-IN" dirty="0" err="1">
                <a:solidFill>
                  <a:srgbClr val="FF0000"/>
                </a:solidFill>
              </a:rPr>
              <a:t>printf</a:t>
            </a:r>
            <a:r>
              <a:rPr lang="en-IN" dirty="0">
                <a:solidFill>
                  <a:srgbClr val="FF0000"/>
                </a:solidFill>
              </a:rPr>
              <a:t>("Value of a = %d\n", ***ptr3);</a:t>
            </a:r>
          </a:p>
          <a:p>
            <a:endParaRPr lang="en-IN" dirty="0">
              <a:solidFill>
                <a:srgbClr val="FF0000"/>
              </a:solidFill>
            </a:endParaRPr>
          </a:p>
          <a:p>
            <a:r>
              <a:rPr lang="en-IN" dirty="0">
                <a:solidFill>
                  <a:srgbClr val="FF0000"/>
                </a:solidFill>
              </a:rPr>
              <a:t>    return 0;</a:t>
            </a:r>
          </a:p>
          <a:p>
            <a:r>
              <a:rPr lang="en-IN" dirty="0">
                <a:solidFill>
                  <a:srgbClr val="FF0000"/>
                </a:solidFill>
              </a:rPr>
              <a:t>}</a:t>
            </a:r>
          </a:p>
        </p:txBody>
      </p:sp>
    </p:spTree>
    <p:extLst>
      <p:ext uri="{BB962C8B-B14F-4D97-AF65-F5344CB8AC3E}">
        <p14:creationId xmlns:p14="http://schemas.microsoft.com/office/powerpoint/2010/main" val="3333158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1E493-5EB6-1723-067B-CD381B47FCB6}"/>
              </a:ext>
            </a:extLst>
          </p:cNvPr>
          <p:cNvSpPr>
            <a:spLocks noGrp="1"/>
          </p:cNvSpPr>
          <p:nvPr>
            <p:ph type="title"/>
          </p:nvPr>
        </p:nvSpPr>
        <p:spPr>
          <a:xfrm>
            <a:off x="952500" y="107157"/>
            <a:ext cx="10287000" cy="1147762"/>
          </a:xfrm>
        </p:spPr>
        <p:txBody>
          <a:bodyPr/>
          <a:lstStyle/>
          <a:p>
            <a:r>
              <a:rPr lang="en-IN" dirty="0"/>
              <a:t>Connect pointers to their previous lesson on functions</a:t>
            </a:r>
          </a:p>
        </p:txBody>
      </p:sp>
      <p:sp>
        <p:nvSpPr>
          <p:cNvPr id="5" name="TextBox 4">
            <a:extLst>
              <a:ext uri="{FF2B5EF4-FFF2-40B4-BE49-F238E27FC236}">
                <a16:creationId xmlns:a16="http://schemas.microsoft.com/office/drawing/2014/main" id="{83B1FF45-C747-FED1-91B9-F7947ADEF7E4}"/>
              </a:ext>
            </a:extLst>
          </p:cNvPr>
          <p:cNvSpPr txBox="1"/>
          <p:nvPr/>
        </p:nvSpPr>
        <p:spPr>
          <a:xfrm>
            <a:off x="870995" y="1254919"/>
            <a:ext cx="6094070" cy="4801314"/>
          </a:xfrm>
          <a:prstGeom prst="rect">
            <a:avLst/>
          </a:prstGeom>
          <a:noFill/>
        </p:spPr>
        <p:txBody>
          <a:bodyPr wrap="square">
            <a:spAutoFit/>
          </a:bodyPr>
          <a:lstStyle/>
          <a:p>
            <a:r>
              <a:rPr lang="en-IN" dirty="0"/>
              <a:t>#include &lt;</a:t>
            </a:r>
            <a:r>
              <a:rPr lang="en-IN" dirty="0" err="1"/>
              <a:t>stdio.h</a:t>
            </a:r>
            <a:r>
              <a:rPr lang="en-IN" dirty="0"/>
              <a:t>&gt;</a:t>
            </a:r>
          </a:p>
          <a:p>
            <a:endParaRPr lang="en-IN" dirty="0"/>
          </a:p>
          <a:p>
            <a:r>
              <a:rPr lang="en-IN" dirty="0"/>
              <a:t>void change(int x)</a:t>
            </a:r>
          </a:p>
          <a:p>
            <a:r>
              <a:rPr lang="en-IN" dirty="0"/>
              <a:t>{</a:t>
            </a:r>
          </a:p>
          <a:p>
            <a:r>
              <a:rPr lang="en-IN" dirty="0"/>
              <a:t>    x = 100;</a:t>
            </a:r>
          </a:p>
          <a:p>
            <a:r>
              <a:rPr lang="en-IN" dirty="0"/>
              <a:t>}</a:t>
            </a:r>
          </a:p>
          <a:p>
            <a:endParaRPr lang="en-IN" dirty="0"/>
          </a:p>
          <a:p>
            <a:r>
              <a:rPr lang="en-IN" dirty="0"/>
              <a:t>int main(void)</a:t>
            </a:r>
          </a:p>
          <a:p>
            <a:r>
              <a:rPr lang="en-IN" dirty="0"/>
              <a:t>{</a:t>
            </a:r>
          </a:p>
          <a:p>
            <a:r>
              <a:rPr lang="en-IN" dirty="0"/>
              <a:t>    int a = 10;</a:t>
            </a:r>
          </a:p>
          <a:p>
            <a:endParaRPr lang="en-IN" dirty="0"/>
          </a:p>
          <a:p>
            <a:r>
              <a:rPr lang="en-IN" dirty="0"/>
              <a:t>    change(a);</a:t>
            </a:r>
          </a:p>
          <a:p>
            <a:endParaRPr lang="en-IN" dirty="0"/>
          </a:p>
          <a:p>
            <a:r>
              <a:rPr lang="en-IN" dirty="0"/>
              <a:t>    </a:t>
            </a:r>
            <a:r>
              <a:rPr lang="en-IN" dirty="0" err="1"/>
              <a:t>printf</a:t>
            </a:r>
            <a:r>
              <a:rPr lang="en-IN" dirty="0"/>
              <a:t>("a = %d\n", a);</a:t>
            </a:r>
          </a:p>
          <a:p>
            <a:endParaRPr lang="en-IN" dirty="0"/>
          </a:p>
          <a:p>
            <a:r>
              <a:rPr lang="en-IN" dirty="0"/>
              <a:t>    return 0;</a:t>
            </a:r>
          </a:p>
          <a:p>
            <a:r>
              <a:rPr lang="en-IN" dirty="0"/>
              <a:t>}</a:t>
            </a:r>
          </a:p>
        </p:txBody>
      </p:sp>
      <p:sp>
        <p:nvSpPr>
          <p:cNvPr id="7" name="TextBox 6">
            <a:extLst>
              <a:ext uri="{FF2B5EF4-FFF2-40B4-BE49-F238E27FC236}">
                <a16:creationId xmlns:a16="http://schemas.microsoft.com/office/drawing/2014/main" id="{460AE814-84C9-4E0C-3D53-0F1E544A3D42}"/>
              </a:ext>
            </a:extLst>
          </p:cNvPr>
          <p:cNvSpPr txBox="1"/>
          <p:nvPr/>
        </p:nvSpPr>
        <p:spPr>
          <a:xfrm>
            <a:off x="4019309" y="1407249"/>
            <a:ext cx="6094070" cy="646331"/>
          </a:xfrm>
          <a:prstGeom prst="rect">
            <a:avLst/>
          </a:prstGeom>
          <a:noFill/>
        </p:spPr>
        <p:txBody>
          <a:bodyPr wrap="square">
            <a:spAutoFit/>
          </a:bodyPr>
          <a:lstStyle/>
          <a:p>
            <a:pPr>
              <a:buNone/>
            </a:pPr>
            <a:r>
              <a:rPr lang="en-IN" dirty="0"/>
              <a:t>Output:</a:t>
            </a:r>
          </a:p>
          <a:p>
            <a:pPr rtl="0">
              <a:buNone/>
            </a:pPr>
            <a:r>
              <a:rPr lang="en-IN" dirty="0">
                <a:latin typeface="+mn-lt"/>
              </a:rPr>
              <a:t>a = 10</a:t>
            </a:r>
            <a:endParaRPr lang="en-IN" dirty="0">
              <a:latin typeface="Courier New" panose="02070309020205020404" pitchFamily="49" charset="0"/>
            </a:endParaRPr>
          </a:p>
        </p:txBody>
      </p:sp>
      <p:sp>
        <p:nvSpPr>
          <p:cNvPr id="9" name="TextBox 8">
            <a:extLst>
              <a:ext uri="{FF2B5EF4-FFF2-40B4-BE49-F238E27FC236}">
                <a16:creationId xmlns:a16="http://schemas.microsoft.com/office/drawing/2014/main" id="{97F0DAA7-B9E7-163E-BFC9-CC523192E86E}"/>
              </a:ext>
            </a:extLst>
          </p:cNvPr>
          <p:cNvSpPr txBox="1"/>
          <p:nvPr/>
        </p:nvSpPr>
        <p:spPr>
          <a:xfrm>
            <a:off x="4019309" y="2205910"/>
            <a:ext cx="6094070" cy="646331"/>
          </a:xfrm>
          <a:prstGeom prst="rect">
            <a:avLst/>
          </a:prstGeom>
          <a:noFill/>
        </p:spPr>
        <p:txBody>
          <a:bodyPr wrap="square">
            <a:spAutoFit/>
          </a:bodyPr>
          <a:lstStyle/>
          <a:p>
            <a:r>
              <a:rPr lang="en-IN" dirty="0"/>
              <a:t>The function received a copy of the value of </a:t>
            </a:r>
            <a:r>
              <a:rPr lang="en-IN" dirty="0">
                <a:latin typeface="+mn-lt"/>
              </a:rPr>
              <a:t>a</a:t>
            </a:r>
            <a:r>
              <a:rPr lang="en-IN" dirty="0"/>
              <a:t>. Its parameter </a:t>
            </a:r>
            <a:r>
              <a:rPr lang="en-IN" dirty="0">
                <a:latin typeface="+mn-lt"/>
              </a:rPr>
              <a:t>x</a:t>
            </a:r>
            <a:r>
              <a:rPr lang="en-IN" dirty="0"/>
              <a:t> is a separate variable</a:t>
            </a:r>
          </a:p>
        </p:txBody>
      </p:sp>
      <p:graphicFrame>
        <p:nvGraphicFramePr>
          <p:cNvPr id="10" name="Table 9">
            <a:extLst>
              <a:ext uri="{FF2B5EF4-FFF2-40B4-BE49-F238E27FC236}">
                <a16:creationId xmlns:a16="http://schemas.microsoft.com/office/drawing/2014/main" id="{23912C2D-8542-D4C2-3A1B-82649C9E813A}"/>
              </a:ext>
            </a:extLst>
          </p:cNvPr>
          <p:cNvGraphicFramePr>
            <a:graphicFrameLocks noGrp="1"/>
          </p:cNvGraphicFramePr>
          <p:nvPr>
            <p:extLst>
              <p:ext uri="{D42A27DB-BD31-4B8C-83A1-F6EECF244321}">
                <p14:modId xmlns:p14="http://schemas.microsoft.com/office/powerpoint/2010/main" val="1507880519"/>
              </p:ext>
            </p:extLst>
          </p:nvPr>
        </p:nvGraphicFramePr>
        <p:xfrm>
          <a:off x="4204986" y="3445709"/>
          <a:ext cx="6012564" cy="2017056"/>
        </p:xfrm>
        <a:graphic>
          <a:graphicData uri="http://schemas.openxmlformats.org/drawingml/2006/table">
            <a:tbl>
              <a:tblPr>
                <a:tableStyleId>{5C22544A-7EE6-4342-B048-85BDC9FD1C3A}</a:tableStyleId>
              </a:tblPr>
              <a:tblGrid>
                <a:gridCol w="2004188">
                  <a:extLst>
                    <a:ext uri="{9D8B030D-6E8A-4147-A177-3AD203B41FA5}">
                      <a16:colId xmlns:a16="http://schemas.microsoft.com/office/drawing/2014/main" val="2278425029"/>
                    </a:ext>
                  </a:extLst>
                </a:gridCol>
                <a:gridCol w="2004188">
                  <a:extLst>
                    <a:ext uri="{9D8B030D-6E8A-4147-A177-3AD203B41FA5}">
                      <a16:colId xmlns:a16="http://schemas.microsoft.com/office/drawing/2014/main" val="1845687827"/>
                    </a:ext>
                  </a:extLst>
                </a:gridCol>
                <a:gridCol w="2004188">
                  <a:extLst>
                    <a:ext uri="{9D8B030D-6E8A-4147-A177-3AD203B41FA5}">
                      <a16:colId xmlns:a16="http://schemas.microsoft.com/office/drawing/2014/main" val="795867586"/>
                    </a:ext>
                  </a:extLst>
                </a:gridCol>
              </a:tblGrid>
              <a:tr h="458992">
                <a:tc>
                  <a:txBody>
                    <a:bodyPr/>
                    <a:lstStyle/>
                    <a:p>
                      <a:pPr>
                        <a:buNone/>
                      </a:pPr>
                      <a:r>
                        <a:rPr lang="en-IN"/>
                        <a:t>Stage</a:t>
                      </a:r>
                    </a:p>
                  </a:txBody>
                  <a:tcPr anchor="ctr"/>
                </a:tc>
                <a:tc>
                  <a:txBody>
                    <a:bodyPr/>
                    <a:lstStyle/>
                    <a:p>
                      <a:pPr algn="r">
                        <a:buNone/>
                      </a:pPr>
                      <a:r>
                        <a:rPr lang="en-IN"/>
                        <a:t>a in main()</a:t>
                      </a:r>
                    </a:p>
                  </a:txBody>
                  <a:tcPr anchor="ctr"/>
                </a:tc>
                <a:tc>
                  <a:txBody>
                    <a:bodyPr/>
                    <a:lstStyle/>
                    <a:p>
                      <a:pPr algn="r">
                        <a:buNone/>
                      </a:pPr>
                      <a:r>
                        <a:rPr lang="en-IN"/>
                        <a:t>x in change()</a:t>
                      </a:r>
                    </a:p>
                  </a:txBody>
                  <a:tcPr anchor="ctr"/>
                </a:tc>
                <a:extLst>
                  <a:ext uri="{0D108BD9-81ED-4DB2-BD59-A6C34878D82A}">
                    <a16:rowId xmlns:a16="http://schemas.microsoft.com/office/drawing/2014/main" val="504132855"/>
                  </a:ext>
                </a:extLst>
              </a:tr>
              <a:tr h="458992">
                <a:tc>
                  <a:txBody>
                    <a:bodyPr/>
                    <a:lstStyle/>
                    <a:p>
                      <a:pPr>
                        <a:buNone/>
                      </a:pPr>
                      <a:r>
                        <a:rPr lang="en-IN"/>
                        <a:t>Function begins</a:t>
                      </a:r>
                    </a:p>
                  </a:txBody>
                  <a:tcPr anchor="ctr"/>
                </a:tc>
                <a:tc>
                  <a:txBody>
                    <a:bodyPr/>
                    <a:lstStyle/>
                    <a:p>
                      <a:pPr algn="r">
                        <a:buNone/>
                      </a:pPr>
                      <a:r>
                        <a:rPr lang="en-IN"/>
                        <a:t>10</a:t>
                      </a:r>
                    </a:p>
                  </a:txBody>
                  <a:tcPr anchor="ctr"/>
                </a:tc>
                <a:tc>
                  <a:txBody>
                    <a:bodyPr/>
                    <a:lstStyle/>
                    <a:p>
                      <a:pPr algn="r">
                        <a:buNone/>
                      </a:pPr>
                      <a:r>
                        <a:rPr lang="en-IN"/>
                        <a:t>10</a:t>
                      </a:r>
                    </a:p>
                  </a:txBody>
                  <a:tcPr anchor="ctr"/>
                </a:tc>
                <a:extLst>
                  <a:ext uri="{0D108BD9-81ED-4DB2-BD59-A6C34878D82A}">
                    <a16:rowId xmlns:a16="http://schemas.microsoft.com/office/drawing/2014/main" val="2642192581"/>
                  </a:ext>
                </a:extLst>
              </a:tr>
              <a:tr h="458992">
                <a:tc>
                  <a:txBody>
                    <a:bodyPr/>
                    <a:lstStyle/>
                    <a:p>
                      <a:pPr>
                        <a:buNone/>
                      </a:pPr>
                      <a:r>
                        <a:rPr lang="en-IN"/>
                        <a:t>After x = 100</a:t>
                      </a:r>
                    </a:p>
                  </a:txBody>
                  <a:tcPr anchor="ctr"/>
                </a:tc>
                <a:tc>
                  <a:txBody>
                    <a:bodyPr/>
                    <a:lstStyle/>
                    <a:p>
                      <a:pPr algn="r">
                        <a:buNone/>
                      </a:pPr>
                      <a:r>
                        <a:rPr lang="en-IN"/>
                        <a:t>10</a:t>
                      </a:r>
                    </a:p>
                  </a:txBody>
                  <a:tcPr anchor="ctr"/>
                </a:tc>
                <a:tc>
                  <a:txBody>
                    <a:bodyPr/>
                    <a:lstStyle/>
                    <a:p>
                      <a:pPr algn="r">
                        <a:buNone/>
                      </a:pPr>
                      <a:r>
                        <a:rPr lang="en-IN"/>
                        <a:t>100</a:t>
                      </a:r>
                    </a:p>
                  </a:txBody>
                  <a:tcPr anchor="ctr"/>
                </a:tc>
                <a:extLst>
                  <a:ext uri="{0D108BD9-81ED-4DB2-BD59-A6C34878D82A}">
                    <a16:rowId xmlns:a16="http://schemas.microsoft.com/office/drawing/2014/main" val="2309097197"/>
                  </a:ext>
                </a:extLst>
              </a:tr>
              <a:tr h="458992">
                <a:tc>
                  <a:txBody>
                    <a:bodyPr/>
                    <a:lstStyle/>
                    <a:p>
                      <a:pPr>
                        <a:buNone/>
                      </a:pPr>
                      <a:r>
                        <a:rPr lang="en-IN"/>
                        <a:t>After function returns</a:t>
                      </a:r>
                    </a:p>
                  </a:txBody>
                  <a:tcPr anchor="ctr"/>
                </a:tc>
                <a:tc>
                  <a:txBody>
                    <a:bodyPr/>
                    <a:lstStyle/>
                    <a:p>
                      <a:pPr algn="r">
                        <a:buNone/>
                      </a:pPr>
                      <a:r>
                        <a:rPr lang="en-IN"/>
                        <a:t>10</a:t>
                      </a:r>
                    </a:p>
                  </a:txBody>
                  <a:tcPr anchor="ctr"/>
                </a:tc>
                <a:tc>
                  <a:txBody>
                    <a:bodyPr/>
                    <a:lstStyle/>
                    <a:p>
                      <a:pPr algn="r">
                        <a:buNone/>
                      </a:pPr>
                      <a:r>
                        <a:rPr lang="en-IN" dirty="0"/>
                        <a:t>No longer available</a:t>
                      </a:r>
                    </a:p>
                  </a:txBody>
                  <a:tcPr anchor="ctr"/>
                </a:tc>
                <a:extLst>
                  <a:ext uri="{0D108BD9-81ED-4DB2-BD59-A6C34878D82A}">
                    <a16:rowId xmlns:a16="http://schemas.microsoft.com/office/drawing/2014/main" val="2781989505"/>
                  </a:ext>
                </a:extLst>
              </a:tr>
            </a:tbl>
          </a:graphicData>
        </a:graphic>
      </p:graphicFrame>
      <p:sp>
        <p:nvSpPr>
          <p:cNvPr id="12" name="TextBox 11">
            <a:extLst>
              <a:ext uri="{FF2B5EF4-FFF2-40B4-BE49-F238E27FC236}">
                <a16:creationId xmlns:a16="http://schemas.microsoft.com/office/drawing/2014/main" id="{285B7DDA-F8FB-28CD-686F-7C164BA7BD18}"/>
              </a:ext>
            </a:extLst>
          </p:cNvPr>
          <p:cNvSpPr txBox="1"/>
          <p:nvPr/>
        </p:nvSpPr>
        <p:spPr>
          <a:xfrm>
            <a:off x="4019309" y="2964309"/>
            <a:ext cx="6094070" cy="369332"/>
          </a:xfrm>
          <a:prstGeom prst="rect">
            <a:avLst/>
          </a:prstGeom>
          <a:noFill/>
        </p:spPr>
        <p:txBody>
          <a:bodyPr wrap="square">
            <a:spAutoFit/>
          </a:bodyPr>
          <a:lstStyle/>
          <a:p>
            <a:r>
              <a:rPr lang="en-IN" b="1" dirty="0"/>
              <a:t>Trace:</a:t>
            </a:r>
          </a:p>
        </p:txBody>
      </p:sp>
    </p:spTree>
    <p:extLst>
      <p:ext uri="{BB962C8B-B14F-4D97-AF65-F5344CB8AC3E}">
        <p14:creationId xmlns:p14="http://schemas.microsoft.com/office/powerpoint/2010/main" val="16015649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D320-F5D5-165B-D56C-8FDC33F22A85}"/>
              </a:ext>
            </a:extLst>
          </p:cNvPr>
          <p:cNvSpPr>
            <a:spLocks noGrp="1"/>
          </p:cNvSpPr>
          <p:nvPr>
            <p:ph type="title"/>
          </p:nvPr>
        </p:nvSpPr>
        <p:spPr/>
        <p:txBody>
          <a:bodyPr/>
          <a:lstStyle/>
          <a:p>
            <a:r>
              <a:rPr lang="en-IN" dirty="0"/>
              <a:t>Pointer Arithmetic</a:t>
            </a:r>
          </a:p>
        </p:txBody>
      </p:sp>
      <p:sp>
        <p:nvSpPr>
          <p:cNvPr id="3" name="Content Placeholder 2">
            <a:extLst>
              <a:ext uri="{FF2B5EF4-FFF2-40B4-BE49-F238E27FC236}">
                <a16:creationId xmlns:a16="http://schemas.microsoft.com/office/drawing/2014/main" id="{C426FED9-DE6C-8536-CA5F-BAFC09192D4F}"/>
              </a:ext>
            </a:extLst>
          </p:cNvPr>
          <p:cNvSpPr>
            <a:spLocks noGrp="1"/>
          </p:cNvSpPr>
          <p:nvPr>
            <p:ph idx="1"/>
          </p:nvPr>
        </p:nvSpPr>
        <p:spPr/>
        <p:txBody>
          <a:bodyPr/>
          <a:lstStyle/>
          <a:p>
            <a:r>
              <a:rPr lang="en-US" dirty="0"/>
              <a:t>Pointers can move through adjacent elements of the same data type.</a:t>
            </a:r>
          </a:p>
          <a:p>
            <a:endParaRPr lang="en-IN" dirty="0"/>
          </a:p>
        </p:txBody>
      </p:sp>
      <p:sp>
        <p:nvSpPr>
          <p:cNvPr id="4" name="Rounded Rectangle 5">
            <a:extLst>
              <a:ext uri="{FF2B5EF4-FFF2-40B4-BE49-F238E27FC236}">
                <a16:creationId xmlns:a16="http://schemas.microsoft.com/office/drawing/2014/main" id="{96268818-B565-C7D9-6AF7-D84EB264BB4D}"/>
              </a:ext>
            </a:extLst>
          </p:cNvPr>
          <p:cNvSpPr/>
          <p:nvPr/>
        </p:nvSpPr>
        <p:spPr>
          <a:xfrm>
            <a:off x="1145950" y="2678966"/>
            <a:ext cx="4114800" cy="146304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2999CFD-7206-C2E0-AA5F-CE066C89E66C}"/>
              </a:ext>
            </a:extLst>
          </p:cNvPr>
          <p:cNvSpPr txBox="1"/>
          <p:nvPr/>
        </p:nvSpPr>
        <p:spPr>
          <a:xfrm>
            <a:off x="1310542" y="2788694"/>
            <a:ext cx="3785615" cy="1243584"/>
          </a:xfrm>
          <a:prstGeom prst="rect">
            <a:avLst/>
          </a:prstGeom>
          <a:noFill/>
        </p:spPr>
        <p:txBody>
          <a:bodyPr wrap="square">
            <a:spAutoFit/>
          </a:bodyPr>
          <a:lstStyle/>
          <a:p>
            <a:pPr>
              <a:defRPr sz="1800">
                <a:solidFill>
                  <a:srgbClr val="FFFFFF"/>
                </a:solidFill>
                <a:latin typeface="Consolas"/>
              </a:defRPr>
            </a:pPr>
            <a:r>
              <a:t>int a[3] = {10,20,30};</a:t>
            </a:r>
            <a:br/>
            <a:r>
              <a:t>int *p = a;</a:t>
            </a:r>
            <a:br/>
            <a:br/>
            <a:r>
              <a:t>p++;</a:t>
            </a:r>
          </a:p>
        </p:txBody>
      </p:sp>
      <p:sp>
        <p:nvSpPr>
          <p:cNvPr id="6" name="Rounded Rectangle 7">
            <a:extLst>
              <a:ext uri="{FF2B5EF4-FFF2-40B4-BE49-F238E27FC236}">
                <a16:creationId xmlns:a16="http://schemas.microsoft.com/office/drawing/2014/main" id="{2B6C8D88-3D79-382D-0150-5922CFC1D3B6}"/>
              </a:ext>
            </a:extLst>
          </p:cNvPr>
          <p:cNvSpPr/>
          <p:nvPr/>
        </p:nvSpPr>
        <p:spPr>
          <a:xfrm>
            <a:off x="5580790" y="2907566"/>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58155BF-2D4B-BB83-0F08-938D138F2B8F}"/>
              </a:ext>
            </a:extLst>
          </p:cNvPr>
          <p:cNvSpPr txBox="1"/>
          <p:nvPr/>
        </p:nvSpPr>
        <p:spPr>
          <a:xfrm>
            <a:off x="5672229" y="2999006"/>
            <a:ext cx="1783080" cy="323165"/>
          </a:xfrm>
          <a:prstGeom prst="rect">
            <a:avLst/>
          </a:prstGeom>
          <a:noFill/>
        </p:spPr>
        <p:txBody>
          <a:bodyPr wrap="square">
            <a:spAutoFit/>
          </a:bodyPr>
          <a:lstStyle/>
          <a:p>
            <a:pPr algn="ctr">
              <a:defRPr sz="1500" b="1">
                <a:solidFill>
                  <a:srgbClr val="182B49"/>
                </a:solidFill>
              </a:defRPr>
            </a:pPr>
            <a:r>
              <a:t>a[0]</a:t>
            </a:r>
          </a:p>
        </p:txBody>
      </p:sp>
      <p:sp>
        <p:nvSpPr>
          <p:cNvPr id="8" name="TextBox 7">
            <a:extLst>
              <a:ext uri="{FF2B5EF4-FFF2-40B4-BE49-F238E27FC236}">
                <a16:creationId xmlns:a16="http://schemas.microsoft.com/office/drawing/2014/main" id="{ABC3700A-FBE0-73DE-B7F2-2AE909E18D02}"/>
              </a:ext>
            </a:extLst>
          </p:cNvPr>
          <p:cNvSpPr txBox="1"/>
          <p:nvPr/>
        </p:nvSpPr>
        <p:spPr>
          <a:xfrm>
            <a:off x="5672229" y="3337334"/>
            <a:ext cx="1783080" cy="430887"/>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B020A6F5-AEFA-8016-DB6E-B5457F8CB59D}"/>
              </a:ext>
            </a:extLst>
          </p:cNvPr>
          <p:cNvSpPr txBox="1"/>
          <p:nvPr/>
        </p:nvSpPr>
        <p:spPr>
          <a:xfrm>
            <a:off x="5672229" y="3730526"/>
            <a:ext cx="1783080" cy="246221"/>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8D3DA623-DD59-57CE-157A-EBB1C70A9D5F}"/>
              </a:ext>
            </a:extLst>
          </p:cNvPr>
          <p:cNvSpPr/>
          <p:nvPr/>
        </p:nvSpPr>
        <p:spPr>
          <a:xfrm>
            <a:off x="7638190" y="2907566"/>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DAD577E-4AC6-A44C-869B-23AAC445131F}"/>
              </a:ext>
            </a:extLst>
          </p:cNvPr>
          <p:cNvSpPr txBox="1"/>
          <p:nvPr/>
        </p:nvSpPr>
        <p:spPr>
          <a:xfrm>
            <a:off x="7729629" y="2999006"/>
            <a:ext cx="1783080" cy="323165"/>
          </a:xfrm>
          <a:prstGeom prst="rect">
            <a:avLst/>
          </a:prstGeom>
          <a:noFill/>
        </p:spPr>
        <p:txBody>
          <a:bodyPr wrap="square">
            <a:spAutoFit/>
          </a:bodyPr>
          <a:lstStyle/>
          <a:p>
            <a:pPr algn="ctr">
              <a:defRPr sz="1500" b="1">
                <a:solidFill>
                  <a:srgbClr val="182B49"/>
                </a:solidFill>
              </a:defRPr>
            </a:pPr>
            <a:r>
              <a:t>a[1]</a:t>
            </a:r>
          </a:p>
        </p:txBody>
      </p:sp>
      <p:sp>
        <p:nvSpPr>
          <p:cNvPr id="12" name="TextBox 11">
            <a:extLst>
              <a:ext uri="{FF2B5EF4-FFF2-40B4-BE49-F238E27FC236}">
                <a16:creationId xmlns:a16="http://schemas.microsoft.com/office/drawing/2014/main" id="{C74E0AF1-6CF4-9E48-E4F3-1787BBC8EAFF}"/>
              </a:ext>
            </a:extLst>
          </p:cNvPr>
          <p:cNvSpPr txBox="1"/>
          <p:nvPr/>
        </p:nvSpPr>
        <p:spPr>
          <a:xfrm>
            <a:off x="7729629" y="3337334"/>
            <a:ext cx="1783080" cy="430887"/>
          </a:xfrm>
          <a:prstGeom prst="rect">
            <a:avLst/>
          </a:prstGeom>
          <a:noFill/>
        </p:spPr>
        <p:txBody>
          <a:bodyPr wrap="square">
            <a:spAutoFit/>
          </a:bodyPr>
          <a:lstStyle/>
          <a:p>
            <a:pPr algn="ctr">
              <a:defRPr sz="2200" b="1">
                <a:solidFill>
                  <a:srgbClr val="23272F"/>
                </a:solidFill>
              </a:defRPr>
            </a:pPr>
            <a:r>
              <a:t>20</a:t>
            </a:r>
          </a:p>
        </p:txBody>
      </p:sp>
      <p:sp>
        <p:nvSpPr>
          <p:cNvPr id="13" name="TextBox 12">
            <a:extLst>
              <a:ext uri="{FF2B5EF4-FFF2-40B4-BE49-F238E27FC236}">
                <a16:creationId xmlns:a16="http://schemas.microsoft.com/office/drawing/2014/main" id="{342376C5-A4F7-9F95-3B50-C9A571DCE542}"/>
              </a:ext>
            </a:extLst>
          </p:cNvPr>
          <p:cNvSpPr txBox="1"/>
          <p:nvPr/>
        </p:nvSpPr>
        <p:spPr>
          <a:xfrm>
            <a:off x="7729629" y="3730526"/>
            <a:ext cx="1783080" cy="246221"/>
          </a:xfrm>
          <a:prstGeom prst="rect">
            <a:avLst/>
          </a:prstGeom>
          <a:noFill/>
        </p:spPr>
        <p:txBody>
          <a:bodyPr wrap="square">
            <a:spAutoFit/>
          </a:bodyPr>
          <a:lstStyle/>
          <a:p>
            <a:pPr algn="ctr">
              <a:defRPr sz="1000" b="0">
                <a:solidFill>
                  <a:srgbClr val="69707A"/>
                </a:solidFill>
              </a:defRPr>
            </a:pPr>
            <a:r>
              <a:t>Address: 1001</a:t>
            </a:r>
          </a:p>
        </p:txBody>
      </p:sp>
      <p:sp>
        <p:nvSpPr>
          <p:cNvPr id="14" name="Rounded Rectangle 15">
            <a:extLst>
              <a:ext uri="{FF2B5EF4-FFF2-40B4-BE49-F238E27FC236}">
                <a16:creationId xmlns:a16="http://schemas.microsoft.com/office/drawing/2014/main" id="{F31F49C4-E7B3-E20B-DB3C-B41C33BF0654}"/>
              </a:ext>
            </a:extLst>
          </p:cNvPr>
          <p:cNvSpPr/>
          <p:nvPr/>
        </p:nvSpPr>
        <p:spPr>
          <a:xfrm>
            <a:off x="9695590" y="2907566"/>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76C651F-1E72-845E-938B-C622ADF0CB82}"/>
              </a:ext>
            </a:extLst>
          </p:cNvPr>
          <p:cNvSpPr txBox="1"/>
          <p:nvPr/>
        </p:nvSpPr>
        <p:spPr>
          <a:xfrm>
            <a:off x="9787030" y="2999006"/>
            <a:ext cx="1783080" cy="323165"/>
          </a:xfrm>
          <a:prstGeom prst="rect">
            <a:avLst/>
          </a:prstGeom>
          <a:noFill/>
        </p:spPr>
        <p:txBody>
          <a:bodyPr wrap="square">
            <a:spAutoFit/>
          </a:bodyPr>
          <a:lstStyle/>
          <a:p>
            <a:pPr algn="ctr">
              <a:defRPr sz="1500" b="1">
                <a:solidFill>
                  <a:srgbClr val="182B49"/>
                </a:solidFill>
              </a:defRPr>
            </a:pPr>
            <a:r>
              <a:t>a[2]</a:t>
            </a:r>
          </a:p>
        </p:txBody>
      </p:sp>
      <p:sp>
        <p:nvSpPr>
          <p:cNvPr id="16" name="TextBox 15">
            <a:extLst>
              <a:ext uri="{FF2B5EF4-FFF2-40B4-BE49-F238E27FC236}">
                <a16:creationId xmlns:a16="http://schemas.microsoft.com/office/drawing/2014/main" id="{2A8F0131-57C0-2237-2576-FCDA511462B0}"/>
              </a:ext>
            </a:extLst>
          </p:cNvPr>
          <p:cNvSpPr txBox="1"/>
          <p:nvPr/>
        </p:nvSpPr>
        <p:spPr>
          <a:xfrm>
            <a:off x="9787030" y="3337334"/>
            <a:ext cx="1783080" cy="430887"/>
          </a:xfrm>
          <a:prstGeom prst="rect">
            <a:avLst/>
          </a:prstGeom>
          <a:noFill/>
        </p:spPr>
        <p:txBody>
          <a:bodyPr wrap="square">
            <a:spAutoFit/>
          </a:bodyPr>
          <a:lstStyle/>
          <a:p>
            <a:pPr algn="ctr">
              <a:defRPr sz="2200" b="1">
                <a:solidFill>
                  <a:srgbClr val="23272F"/>
                </a:solidFill>
              </a:defRPr>
            </a:pPr>
            <a:r>
              <a:t>30</a:t>
            </a:r>
          </a:p>
        </p:txBody>
      </p:sp>
      <p:sp>
        <p:nvSpPr>
          <p:cNvPr id="17" name="TextBox 16">
            <a:extLst>
              <a:ext uri="{FF2B5EF4-FFF2-40B4-BE49-F238E27FC236}">
                <a16:creationId xmlns:a16="http://schemas.microsoft.com/office/drawing/2014/main" id="{B91A98E8-AFDE-F1D0-CC52-4E4FA41B911F}"/>
              </a:ext>
            </a:extLst>
          </p:cNvPr>
          <p:cNvSpPr txBox="1"/>
          <p:nvPr/>
        </p:nvSpPr>
        <p:spPr>
          <a:xfrm>
            <a:off x="9787030" y="3730526"/>
            <a:ext cx="1783080" cy="246221"/>
          </a:xfrm>
          <a:prstGeom prst="rect">
            <a:avLst/>
          </a:prstGeom>
          <a:noFill/>
        </p:spPr>
        <p:txBody>
          <a:bodyPr wrap="square">
            <a:spAutoFit/>
          </a:bodyPr>
          <a:lstStyle/>
          <a:p>
            <a:pPr algn="ctr">
              <a:defRPr sz="1000" b="0">
                <a:solidFill>
                  <a:srgbClr val="69707A"/>
                </a:solidFill>
              </a:defRPr>
            </a:pPr>
            <a:r>
              <a:t>Address: 1002</a:t>
            </a:r>
          </a:p>
        </p:txBody>
      </p:sp>
      <p:cxnSp>
        <p:nvCxnSpPr>
          <p:cNvPr id="18" name="Connector 19">
            <a:extLst>
              <a:ext uri="{FF2B5EF4-FFF2-40B4-BE49-F238E27FC236}">
                <a16:creationId xmlns:a16="http://schemas.microsoft.com/office/drawing/2014/main" id="{3B2C8855-87AF-1B76-A54D-666DFB17CD16}"/>
              </a:ext>
            </a:extLst>
          </p:cNvPr>
          <p:cNvCxnSpPr>
            <a:cxnSpLocks/>
          </p:cNvCxnSpPr>
          <p:nvPr/>
        </p:nvCxnSpPr>
        <p:spPr>
          <a:xfrm>
            <a:off x="6586630" y="4233446"/>
            <a:ext cx="1828799" cy="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AE8D54E-2B44-4D8F-070D-AF40C13F3105}"/>
              </a:ext>
            </a:extLst>
          </p:cNvPr>
          <p:cNvSpPr txBox="1"/>
          <p:nvPr/>
        </p:nvSpPr>
        <p:spPr>
          <a:xfrm>
            <a:off x="5946550" y="4690646"/>
            <a:ext cx="5577840" cy="384721"/>
          </a:xfrm>
          <a:prstGeom prst="rect">
            <a:avLst/>
          </a:prstGeom>
          <a:noFill/>
        </p:spPr>
        <p:txBody>
          <a:bodyPr wrap="square">
            <a:spAutoFit/>
          </a:bodyPr>
          <a:lstStyle/>
          <a:p>
            <a:pPr algn="ctr">
              <a:defRPr sz="1900" b="1">
                <a:solidFill>
                  <a:srgbClr val="008489"/>
                </a:solidFill>
              </a:defRPr>
            </a:pPr>
            <a:r>
              <a:t>p++ moves to the next int element.</a:t>
            </a:r>
          </a:p>
        </p:txBody>
      </p:sp>
      <p:sp>
        <p:nvSpPr>
          <p:cNvPr id="20" name="TextBox 19">
            <a:extLst>
              <a:ext uri="{FF2B5EF4-FFF2-40B4-BE49-F238E27FC236}">
                <a16:creationId xmlns:a16="http://schemas.microsoft.com/office/drawing/2014/main" id="{7DCFE29D-B888-FEC6-8DB4-C6499F7F3950}"/>
              </a:ext>
            </a:extLst>
          </p:cNvPr>
          <p:cNvSpPr txBox="1"/>
          <p:nvPr/>
        </p:nvSpPr>
        <p:spPr>
          <a:xfrm>
            <a:off x="1283110" y="5742206"/>
            <a:ext cx="10789920" cy="430887"/>
          </a:xfrm>
          <a:prstGeom prst="rect">
            <a:avLst/>
          </a:prstGeom>
          <a:noFill/>
        </p:spPr>
        <p:txBody>
          <a:bodyPr wrap="square">
            <a:spAutoFit/>
          </a:bodyPr>
          <a:lstStyle/>
          <a:p>
            <a:pPr algn="ctr">
              <a:defRPr sz="2200" b="1">
                <a:solidFill>
                  <a:srgbClr val="182B49"/>
                </a:solidFill>
              </a:defRPr>
            </a:pPr>
            <a:r>
              <a:t>Common forms:  p++   p--   p + i   p - i</a:t>
            </a:r>
          </a:p>
        </p:txBody>
      </p:sp>
      <p:sp>
        <p:nvSpPr>
          <p:cNvPr id="21" name="TextBox 20">
            <a:extLst>
              <a:ext uri="{FF2B5EF4-FFF2-40B4-BE49-F238E27FC236}">
                <a16:creationId xmlns:a16="http://schemas.microsoft.com/office/drawing/2014/main" id="{29277FB8-1E09-C45E-0DFD-1114D85A4158}"/>
              </a:ext>
            </a:extLst>
          </p:cNvPr>
          <p:cNvSpPr txBox="1"/>
          <p:nvPr/>
        </p:nvSpPr>
        <p:spPr>
          <a:xfrm>
            <a:off x="1374550" y="6519446"/>
            <a:ext cx="10241280" cy="338554"/>
          </a:xfrm>
          <a:prstGeom prst="rect">
            <a:avLst/>
          </a:prstGeom>
          <a:noFill/>
        </p:spPr>
        <p:txBody>
          <a:bodyPr wrap="square">
            <a:spAutoFit/>
          </a:bodyPr>
          <a:lstStyle/>
          <a:p>
            <a:pPr algn="ctr">
              <a:defRPr sz="1600" b="0">
                <a:solidFill>
                  <a:srgbClr val="23272F"/>
                </a:solidFill>
              </a:defRPr>
            </a:pPr>
            <a:r>
              <a:t>Important: the step size depends on the pointer's data type.</a:t>
            </a:r>
          </a:p>
        </p:txBody>
      </p:sp>
    </p:spTree>
    <p:extLst>
      <p:ext uri="{BB962C8B-B14F-4D97-AF65-F5344CB8AC3E}">
        <p14:creationId xmlns:p14="http://schemas.microsoft.com/office/powerpoint/2010/main" val="3547172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135E8-B1F1-2F68-FF6A-845D0A96F592}"/>
              </a:ext>
            </a:extLst>
          </p:cNvPr>
          <p:cNvSpPr>
            <a:spLocks noGrp="1"/>
          </p:cNvSpPr>
          <p:nvPr>
            <p:ph type="title"/>
          </p:nvPr>
        </p:nvSpPr>
        <p:spPr/>
        <p:txBody>
          <a:bodyPr/>
          <a:lstStyle/>
          <a:p>
            <a:r>
              <a:rPr lang="en-IN" dirty="0"/>
              <a:t>Pointers and Arrays</a:t>
            </a:r>
          </a:p>
        </p:txBody>
      </p:sp>
      <p:sp>
        <p:nvSpPr>
          <p:cNvPr id="3" name="Content Placeholder 2">
            <a:extLst>
              <a:ext uri="{FF2B5EF4-FFF2-40B4-BE49-F238E27FC236}">
                <a16:creationId xmlns:a16="http://schemas.microsoft.com/office/drawing/2014/main" id="{8BE423CA-9165-A147-6C85-D12DAA4957E2}"/>
              </a:ext>
            </a:extLst>
          </p:cNvPr>
          <p:cNvSpPr>
            <a:spLocks noGrp="1"/>
          </p:cNvSpPr>
          <p:nvPr>
            <p:ph idx="1"/>
          </p:nvPr>
        </p:nvSpPr>
        <p:spPr/>
        <p:txBody>
          <a:bodyPr/>
          <a:lstStyle/>
          <a:p>
            <a:r>
              <a:rPr lang="en-US" dirty="0"/>
              <a:t>Array indexing and pointer arithmetic are closely related.</a:t>
            </a:r>
          </a:p>
          <a:p>
            <a:endParaRPr lang="en-IN" dirty="0"/>
          </a:p>
        </p:txBody>
      </p:sp>
      <p:sp>
        <p:nvSpPr>
          <p:cNvPr id="5" name="Rounded Rectangle 5">
            <a:extLst>
              <a:ext uri="{FF2B5EF4-FFF2-40B4-BE49-F238E27FC236}">
                <a16:creationId xmlns:a16="http://schemas.microsoft.com/office/drawing/2014/main" id="{F131248A-456D-6398-3A91-A1E1208B0109}"/>
              </a:ext>
            </a:extLst>
          </p:cNvPr>
          <p:cNvSpPr/>
          <p:nvPr/>
        </p:nvSpPr>
        <p:spPr>
          <a:xfrm>
            <a:off x="1465990" y="2827210"/>
            <a:ext cx="5486400" cy="338328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63C5A4A-5F60-109D-1F08-1CE0AC372806}"/>
              </a:ext>
            </a:extLst>
          </p:cNvPr>
          <p:cNvSpPr txBox="1"/>
          <p:nvPr/>
        </p:nvSpPr>
        <p:spPr>
          <a:xfrm>
            <a:off x="1630581" y="2936938"/>
            <a:ext cx="5157216" cy="3163824"/>
          </a:xfrm>
          <a:prstGeom prst="rect">
            <a:avLst/>
          </a:prstGeom>
          <a:noFill/>
        </p:spPr>
        <p:txBody>
          <a:bodyPr wrap="none">
            <a:spAutoFit/>
          </a:bodyPr>
          <a:lstStyle/>
          <a:p>
            <a:pPr>
              <a:defRPr sz="1700">
                <a:solidFill>
                  <a:srgbClr val="FFFFFF"/>
                </a:solidFill>
                <a:latin typeface="Consolas"/>
              </a:defRPr>
            </a:pPr>
            <a:r>
              <a:t>int a[5] = {10,20,30,40,50};</a:t>
            </a:r>
            <a:br/>
            <a:r>
              <a:t>int *p = a;</a:t>
            </a:r>
            <a:br/>
            <a:br/>
            <a:r>
              <a:t>for (int i = 0; i &lt; 5; i++)</a:t>
            </a:r>
            <a:br/>
            <a:r>
              <a:t>    printf("%d ", *(p+i));</a:t>
            </a:r>
          </a:p>
        </p:txBody>
      </p:sp>
      <p:sp>
        <p:nvSpPr>
          <p:cNvPr id="9" name="Rounded Rectangle 7">
            <a:extLst>
              <a:ext uri="{FF2B5EF4-FFF2-40B4-BE49-F238E27FC236}">
                <a16:creationId xmlns:a16="http://schemas.microsoft.com/office/drawing/2014/main" id="{BDDE2518-822B-7D53-8334-9734F8FC8DE9}"/>
              </a:ext>
            </a:extLst>
          </p:cNvPr>
          <p:cNvSpPr/>
          <p:nvPr/>
        </p:nvSpPr>
        <p:spPr>
          <a:xfrm>
            <a:off x="7318150" y="2964370"/>
            <a:ext cx="4572000"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A488DE0C-74C7-0AF8-FE21-8E65F5D8E5C7}"/>
              </a:ext>
            </a:extLst>
          </p:cNvPr>
          <p:cNvSpPr/>
          <p:nvPr/>
        </p:nvSpPr>
        <p:spPr>
          <a:xfrm>
            <a:off x="7318150" y="2964370"/>
            <a:ext cx="73152" cy="132588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C5C8E504-3B4B-0C3A-6DC8-8B17A4CFB504}"/>
              </a:ext>
            </a:extLst>
          </p:cNvPr>
          <p:cNvSpPr txBox="1"/>
          <p:nvPr/>
        </p:nvSpPr>
        <p:spPr>
          <a:xfrm>
            <a:off x="7501030" y="3110674"/>
            <a:ext cx="4251960" cy="320040"/>
          </a:xfrm>
          <a:prstGeom prst="rect">
            <a:avLst/>
          </a:prstGeom>
          <a:noFill/>
        </p:spPr>
        <p:txBody>
          <a:bodyPr wrap="square">
            <a:spAutoFit/>
          </a:bodyPr>
          <a:lstStyle/>
          <a:p>
            <a:pPr algn="l">
              <a:defRPr sz="1700" b="1">
                <a:solidFill>
                  <a:srgbClr val="182B49"/>
                </a:solidFill>
              </a:defRPr>
            </a:pPr>
            <a:r>
              <a:t>Key relationship</a:t>
            </a:r>
          </a:p>
        </p:txBody>
      </p:sp>
      <p:sp>
        <p:nvSpPr>
          <p:cNvPr id="15" name="TextBox 14">
            <a:extLst>
              <a:ext uri="{FF2B5EF4-FFF2-40B4-BE49-F238E27FC236}">
                <a16:creationId xmlns:a16="http://schemas.microsoft.com/office/drawing/2014/main" id="{2593B53B-4120-64CD-1CA2-E1D210D3FD85}"/>
              </a:ext>
            </a:extLst>
          </p:cNvPr>
          <p:cNvSpPr txBox="1"/>
          <p:nvPr/>
        </p:nvSpPr>
        <p:spPr>
          <a:xfrm>
            <a:off x="7501030" y="3531297"/>
            <a:ext cx="4251960" cy="640080"/>
          </a:xfrm>
          <a:prstGeom prst="rect">
            <a:avLst/>
          </a:prstGeom>
          <a:noFill/>
        </p:spPr>
        <p:txBody>
          <a:bodyPr wrap="square">
            <a:spAutoFit/>
          </a:bodyPr>
          <a:lstStyle/>
          <a:p>
            <a:pPr algn="l">
              <a:defRPr sz="1400" b="0">
                <a:solidFill>
                  <a:srgbClr val="23272F"/>
                </a:solidFill>
              </a:defRPr>
            </a:pPr>
            <a:r>
              <a:t>a[i]  ==  *(a + i)</a:t>
            </a:r>
          </a:p>
        </p:txBody>
      </p:sp>
      <p:sp>
        <p:nvSpPr>
          <p:cNvPr id="17" name="Rounded Rectangle 11">
            <a:extLst>
              <a:ext uri="{FF2B5EF4-FFF2-40B4-BE49-F238E27FC236}">
                <a16:creationId xmlns:a16="http://schemas.microsoft.com/office/drawing/2014/main" id="{D84E56D4-6128-7A32-3E4A-6BA09BAD3952}"/>
              </a:ext>
            </a:extLst>
          </p:cNvPr>
          <p:cNvSpPr/>
          <p:nvPr/>
        </p:nvSpPr>
        <p:spPr>
          <a:xfrm>
            <a:off x="7318150" y="4518850"/>
            <a:ext cx="4572000"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D97F5762-C7D1-0238-8B13-435EB62C2E5F}"/>
              </a:ext>
            </a:extLst>
          </p:cNvPr>
          <p:cNvSpPr/>
          <p:nvPr/>
        </p:nvSpPr>
        <p:spPr>
          <a:xfrm>
            <a:off x="7318150" y="4518850"/>
            <a:ext cx="73152" cy="132588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6796C77C-C4D3-A5E3-B817-1D0B899519A3}"/>
              </a:ext>
            </a:extLst>
          </p:cNvPr>
          <p:cNvSpPr txBox="1"/>
          <p:nvPr/>
        </p:nvSpPr>
        <p:spPr>
          <a:xfrm>
            <a:off x="7501030" y="4665154"/>
            <a:ext cx="4251960" cy="320040"/>
          </a:xfrm>
          <a:prstGeom prst="rect">
            <a:avLst/>
          </a:prstGeom>
          <a:noFill/>
        </p:spPr>
        <p:txBody>
          <a:bodyPr wrap="square">
            <a:spAutoFit/>
          </a:bodyPr>
          <a:lstStyle/>
          <a:p>
            <a:pPr algn="l">
              <a:defRPr sz="1700" b="1">
                <a:solidFill>
                  <a:srgbClr val="182B49"/>
                </a:solidFill>
              </a:defRPr>
            </a:pPr>
            <a:r>
              <a:t>Pointer traversal</a:t>
            </a:r>
          </a:p>
        </p:txBody>
      </p:sp>
      <p:sp>
        <p:nvSpPr>
          <p:cNvPr id="23" name="TextBox 22">
            <a:extLst>
              <a:ext uri="{FF2B5EF4-FFF2-40B4-BE49-F238E27FC236}">
                <a16:creationId xmlns:a16="http://schemas.microsoft.com/office/drawing/2014/main" id="{E58ACE01-77D2-F740-935F-4E77C4EB9E28}"/>
              </a:ext>
            </a:extLst>
          </p:cNvPr>
          <p:cNvSpPr txBox="1"/>
          <p:nvPr/>
        </p:nvSpPr>
        <p:spPr>
          <a:xfrm>
            <a:off x="7501030" y="5085778"/>
            <a:ext cx="4251960" cy="640080"/>
          </a:xfrm>
          <a:prstGeom prst="rect">
            <a:avLst/>
          </a:prstGeom>
          <a:noFill/>
        </p:spPr>
        <p:txBody>
          <a:bodyPr wrap="square">
            <a:spAutoFit/>
          </a:bodyPr>
          <a:lstStyle/>
          <a:p>
            <a:pPr algn="l">
              <a:defRPr sz="1400" b="0">
                <a:solidFill>
                  <a:srgbClr val="23272F"/>
                </a:solidFill>
              </a:defRPr>
            </a:pPr>
            <a:r>
              <a:t>p = a; then *(p+i) accesses each element.</a:t>
            </a:r>
          </a:p>
        </p:txBody>
      </p:sp>
      <p:sp>
        <p:nvSpPr>
          <p:cNvPr id="25" name="TextBox 24">
            <a:extLst>
              <a:ext uri="{FF2B5EF4-FFF2-40B4-BE49-F238E27FC236}">
                <a16:creationId xmlns:a16="http://schemas.microsoft.com/office/drawing/2014/main" id="{7567D8A8-C215-D02F-2EB8-114C5334A830}"/>
              </a:ext>
            </a:extLst>
          </p:cNvPr>
          <p:cNvSpPr txBox="1"/>
          <p:nvPr/>
        </p:nvSpPr>
        <p:spPr>
          <a:xfrm>
            <a:off x="7318150" y="6256210"/>
            <a:ext cx="4572000" cy="640080"/>
          </a:xfrm>
          <a:prstGeom prst="rect">
            <a:avLst/>
          </a:prstGeom>
          <a:noFill/>
        </p:spPr>
        <p:txBody>
          <a:bodyPr wrap="square">
            <a:spAutoFit/>
          </a:bodyPr>
          <a:lstStyle/>
          <a:p>
            <a:pPr algn="ctr">
              <a:defRPr sz="1800" b="1">
                <a:solidFill>
                  <a:srgbClr val="182B49"/>
                </a:solidFill>
              </a:defRPr>
            </a:pPr>
            <a:r>
              <a:t>Output: 10 20 30 40 50</a:t>
            </a:r>
          </a:p>
        </p:txBody>
      </p:sp>
    </p:spTree>
    <p:extLst>
      <p:ext uri="{BB962C8B-B14F-4D97-AF65-F5344CB8AC3E}">
        <p14:creationId xmlns:p14="http://schemas.microsoft.com/office/powerpoint/2010/main" val="17045588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0429-381B-97EC-9F21-CE590AF9B7FC}"/>
              </a:ext>
            </a:extLst>
          </p:cNvPr>
          <p:cNvSpPr>
            <a:spLocks noGrp="1"/>
          </p:cNvSpPr>
          <p:nvPr>
            <p:ph type="title"/>
          </p:nvPr>
        </p:nvSpPr>
        <p:spPr/>
        <p:txBody>
          <a:bodyPr/>
          <a:lstStyle/>
          <a:p>
            <a:r>
              <a:rPr lang="en-IN" dirty="0"/>
              <a:t>Pointers and Functions</a:t>
            </a:r>
          </a:p>
        </p:txBody>
      </p:sp>
      <p:sp>
        <p:nvSpPr>
          <p:cNvPr id="3" name="Content Placeholder 2">
            <a:extLst>
              <a:ext uri="{FF2B5EF4-FFF2-40B4-BE49-F238E27FC236}">
                <a16:creationId xmlns:a16="http://schemas.microsoft.com/office/drawing/2014/main" id="{36A74665-C052-7EB5-732D-B354F22CEACA}"/>
              </a:ext>
            </a:extLst>
          </p:cNvPr>
          <p:cNvSpPr>
            <a:spLocks noGrp="1"/>
          </p:cNvSpPr>
          <p:nvPr>
            <p:ph idx="1"/>
          </p:nvPr>
        </p:nvSpPr>
        <p:spPr/>
        <p:txBody>
          <a:bodyPr/>
          <a:lstStyle/>
          <a:p>
            <a:r>
              <a:rPr lang="en-US" dirty="0"/>
              <a:t>Passing an address lets a function modify the caller's variable</a:t>
            </a:r>
            <a:endParaRPr lang="en-IN" dirty="0"/>
          </a:p>
        </p:txBody>
      </p:sp>
      <p:sp>
        <p:nvSpPr>
          <p:cNvPr id="4" name="Rounded Rectangle 5">
            <a:extLst>
              <a:ext uri="{FF2B5EF4-FFF2-40B4-BE49-F238E27FC236}">
                <a16:creationId xmlns:a16="http://schemas.microsoft.com/office/drawing/2014/main" id="{F24FD082-1990-3925-80DE-1640FAA5A5C7}"/>
              </a:ext>
            </a:extLst>
          </p:cNvPr>
          <p:cNvSpPr/>
          <p:nvPr/>
        </p:nvSpPr>
        <p:spPr>
          <a:xfrm>
            <a:off x="1744734" y="2697480"/>
            <a:ext cx="5943600" cy="393192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A9106E8-F518-FE38-7360-A8B461BFA719}"/>
              </a:ext>
            </a:extLst>
          </p:cNvPr>
          <p:cNvSpPr txBox="1"/>
          <p:nvPr/>
        </p:nvSpPr>
        <p:spPr>
          <a:xfrm>
            <a:off x="1909326" y="2807208"/>
            <a:ext cx="5614416" cy="3712463"/>
          </a:xfrm>
          <a:prstGeom prst="rect">
            <a:avLst/>
          </a:prstGeom>
          <a:noFill/>
        </p:spPr>
        <p:txBody>
          <a:bodyPr wrap="none">
            <a:spAutoFit/>
          </a:bodyPr>
          <a:lstStyle/>
          <a:p>
            <a:pPr>
              <a:defRPr sz="1700">
                <a:solidFill>
                  <a:srgbClr val="FFFFFF"/>
                </a:solidFill>
                <a:latin typeface="Consolas"/>
              </a:defRPr>
            </a:pPr>
            <a:r>
              <a:t>void change(int *x)</a:t>
            </a:r>
            <a:br/>
            <a:r>
              <a:t>{</a:t>
            </a:r>
            <a:br/>
            <a:r>
              <a:t>    *x = 100;</a:t>
            </a:r>
            <a:br/>
            <a:r>
              <a:t>}</a:t>
            </a:r>
            <a:br/>
            <a:br/>
            <a:r>
              <a:t>int main()</a:t>
            </a:r>
            <a:br/>
            <a:r>
              <a:t>{</a:t>
            </a:r>
            <a:br/>
            <a:r>
              <a:t>    int a = 10;</a:t>
            </a:r>
            <a:br/>
            <a:r>
              <a:t>    change(&amp;a);</a:t>
            </a:r>
            <a:br/>
            <a:r>
              <a:t>    printf("%d", a);</a:t>
            </a:r>
            <a:br/>
            <a:r>
              <a:t>}</a:t>
            </a:r>
          </a:p>
        </p:txBody>
      </p:sp>
      <p:sp>
        <p:nvSpPr>
          <p:cNvPr id="6" name="Rounded Rectangle 7">
            <a:extLst>
              <a:ext uri="{FF2B5EF4-FFF2-40B4-BE49-F238E27FC236}">
                <a16:creationId xmlns:a16="http://schemas.microsoft.com/office/drawing/2014/main" id="{F998839F-9DC2-0AA3-699D-66CEFEF5C678}"/>
              </a:ext>
            </a:extLst>
          </p:cNvPr>
          <p:cNvSpPr/>
          <p:nvPr/>
        </p:nvSpPr>
        <p:spPr>
          <a:xfrm>
            <a:off x="8602734" y="2926080"/>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2F0FAA0-A65C-51A5-AB74-DDABD77705E8}"/>
              </a:ext>
            </a:extLst>
          </p:cNvPr>
          <p:cNvSpPr txBox="1"/>
          <p:nvPr/>
        </p:nvSpPr>
        <p:spPr>
          <a:xfrm>
            <a:off x="8694174" y="3017520"/>
            <a:ext cx="1783080" cy="274320"/>
          </a:xfrm>
          <a:prstGeom prst="rect">
            <a:avLst/>
          </a:prstGeom>
          <a:noFill/>
        </p:spPr>
        <p:txBody>
          <a:bodyPr wrap="square">
            <a:spAutoFit/>
          </a:bodyPr>
          <a:lstStyle/>
          <a:p>
            <a:pPr algn="ctr">
              <a:defRPr sz="1500" b="1">
                <a:solidFill>
                  <a:srgbClr val="182B49"/>
                </a:solidFill>
              </a:defRPr>
            </a:pPr>
            <a:r>
              <a:t>a</a:t>
            </a:r>
          </a:p>
        </p:txBody>
      </p:sp>
      <p:sp>
        <p:nvSpPr>
          <p:cNvPr id="8" name="TextBox 7">
            <a:extLst>
              <a:ext uri="{FF2B5EF4-FFF2-40B4-BE49-F238E27FC236}">
                <a16:creationId xmlns:a16="http://schemas.microsoft.com/office/drawing/2014/main" id="{051D174E-14EC-7D19-FC77-50AD2092CFF7}"/>
              </a:ext>
            </a:extLst>
          </p:cNvPr>
          <p:cNvSpPr txBox="1"/>
          <p:nvPr/>
        </p:nvSpPr>
        <p:spPr>
          <a:xfrm>
            <a:off x="8694174" y="3355848"/>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53E86967-64A9-04D9-AA21-9DAD01D91090}"/>
              </a:ext>
            </a:extLst>
          </p:cNvPr>
          <p:cNvSpPr txBox="1"/>
          <p:nvPr/>
        </p:nvSpPr>
        <p:spPr>
          <a:xfrm>
            <a:off x="8694174" y="3749040"/>
            <a:ext cx="1783080" cy="228600"/>
          </a:xfrm>
          <a:prstGeom prst="rect">
            <a:avLst/>
          </a:prstGeom>
          <a:noFill/>
        </p:spPr>
        <p:txBody>
          <a:bodyPr wrap="square">
            <a:spAutoFit/>
          </a:bodyPr>
          <a:lstStyle/>
          <a:p>
            <a:pPr algn="ctr">
              <a:defRPr sz="1000" b="0">
                <a:solidFill>
                  <a:srgbClr val="69707A"/>
                </a:solidFill>
              </a:defRPr>
            </a:pPr>
            <a:r>
              <a:t>Address: 1000</a:t>
            </a:r>
          </a:p>
        </p:txBody>
      </p:sp>
      <p:cxnSp>
        <p:nvCxnSpPr>
          <p:cNvPr id="10" name="Connector 11">
            <a:extLst>
              <a:ext uri="{FF2B5EF4-FFF2-40B4-BE49-F238E27FC236}">
                <a16:creationId xmlns:a16="http://schemas.microsoft.com/office/drawing/2014/main" id="{158328DF-8FBD-1FD8-340A-5207C8BAB1A0}"/>
              </a:ext>
            </a:extLst>
          </p:cNvPr>
          <p:cNvCxnSpPr/>
          <p:nvPr/>
        </p:nvCxnSpPr>
        <p:spPr>
          <a:xfrm>
            <a:off x="9562854" y="4206240"/>
            <a:ext cx="0" cy="109728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88ECBC8-07F6-61C0-3C15-05574B50E503}"/>
              </a:ext>
            </a:extLst>
          </p:cNvPr>
          <p:cNvSpPr txBox="1"/>
          <p:nvPr/>
        </p:nvSpPr>
        <p:spPr>
          <a:xfrm>
            <a:off x="8008374" y="5577840"/>
            <a:ext cx="3474720" cy="502920"/>
          </a:xfrm>
          <a:prstGeom prst="rect">
            <a:avLst/>
          </a:prstGeom>
          <a:noFill/>
        </p:spPr>
        <p:txBody>
          <a:bodyPr wrap="square">
            <a:spAutoFit/>
          </a:bodyPr>
          <a:lstStyle/>
          <a:p>
            <a:pPr algn="ctr">
              <a:defRPr sz="2000" b="1">
                <a:solidFill>
                  <a:srgbClr val="008489"/>
                </a:solidFill>
              </a:defRPr>
            </a:pPr>
            <a:r>
              <a:t>change(&amp;a)</a:t>
            </a:r>
          </a:p>
        </p:txBody>
      </p:sp>
      <p:sp>
        <p:nvSpPr>
          <p:cNvPr id="12" name="TextBox 11">
            <a:extLst>
              <a:ext uri="{FF2B5EF4-FFF2-40B4-BE49-F238E27FC236}">
                <a16:creationId xmlns:a16="http://schemas.microsoft.com/office/drawing/2014/main" id="{8D8F3D62-4A64-2FB3-E98C-BC825065D9F4}"/>
              </a:ext>
            </a:extLst>
          </p:cNvPr>
          <p:cNvSpPr txBox="1"/>
          <p:nvPr/>
        </p:nvSpPr>
        <p:spPr>
          <a:xfrm>
            <a:off x="7871214" y="6263640"/>
            <a:ext cx="3840480" cy="594360"/>
          </a:xfrm>
          <a:prstGeom prst="rect">
            <a:avLst/>
          </a:prstGeom>
          <a:noFill/>
        </p:spPr>
        <p:txBody>
          <a:bodyPr wrap="square">
            <a:spAutoFit/>
          </a:bodyPr>
          <a:lstStyle/>
          <a:p>
            <a:pPr algn="ctr">
              <a:defRPr sz="1500" b="1">
                <a:solidFill>
                  <a:srgbClr val="23272F"/>
                </a:solidFill>
              </a:defRPr>
            </a:pPr>
            <a:r>
              <a:t>Inside function: *x = 100</a:t>
            </a:r>
            <a:br/>
            <a:r>
              <a:t>Therefore a becomes 100.</a:t>
            </a:r>
          </a:p>
        </p:txBody>
      </p:sp>
    </p:spTree>
    <p:extLst>
      <p:ext uri="{BB962C8B-B14F-4D97-AF65-F5344CB8AC3E}">
        <p14:creationId xmlns:p14="http://schemas.microsoft.com/office/powerpoint/2010/main" val="12416981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C41C-96EE-46A0-FE67-ADA03C038B4A}"/>
              </a:ext>
            </a:extLst>
          </p:cNvPr>
          <p:cNvSpPr>
            <a:spLocks noGrp="1"/>
          </p:cNvSpPr>
          <p:nvPr>
            <p:ph type="title"/>
          </p:nvPr>
        </p:nvSpPr>
        <p:spPr/>
        <p:txBody>
          <a:bodyPr/>
          <a:lstStyle/>
          <a:p>
            <a:r>
              <a:rPr lang="en-IN" dirty="0"/>
              <a:t>Application: Swapping Two Numbers</a:t>
            </a:r>
          </a:p>
        </p:txBody>
      </p:sp>
      <p:sp>
        <p:nvSpPr>
          <p:cNvPr id="4" name="Rounded Rectangle 5">
            <a:extLst>
              <a:ext uri="{FF2B5EF4-FFF2-40B4-BE49-F238E27FC236}">
                <a16:creationId xmlns:a16="http://schemas.microsoft.com/office/drawing/2014/main" id="{8802A8C3-8B6D-F68D-10F7-23C4559AD195}"/>
              </a:ext>
            </a:extLst>
          </p:cNvPr>
          <p:cNvSpPr/>
          <p:nvPr/>
        </p:nvSpPr>
        <p:spPr>
          <a:xfrm>
            <a:off x="952500" y="2285997"/>
            <a:ext cx="6400800" cy="42519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9063FDB-3090-A7B9-6D16-FC9E025E55DE}"/>
              </a:ext>
            </a:extLst>
          </p:cNvPr>
          <p:cNvSpPr txBox="1"/>
          <p:nvPr/>
        </p:nvSpPr>
        <p:spPr>
          <a:xfrm>
            <a:off x="1117092" y="2395725"/>
            <a:ext cx="6071616" cy="4032504"/>
          </a:xfrm>
          <a:prstGeom prst="rect">
            <a:avLst/>
          </a:prstGeom>
          <a:noFill/>
        </p:spPr>
        <p:txBody>
          <a:bodyPr wrap="none">
            <a:spAutoFit/>
          </a:bodyPr>
          <a:lstStyle/>
          <a:p>
            <a:pPr>
              <a:defRPr sz="1600">
                <a:solidFill>
                  <a:srgbClr val="FFFFFF"/>
                </a:solidFill>
                <a:latin typeface="Consolas"/>
              </a:defRPr>
            </a:pPr>
            <a:r>
              <a:t>void swap(int *a, int *b)</a:t>
            </a:r>
            <a:br/>
            <a:r>
              <a:t>{</a:t>
            </a:r>
            <a:br/>
            <a:r>
              <a:t>    int temp = *a;</a:t>
            </a:r>
            <a:br/>
            <a:r>
              <a:t>    *a = *b;</a:t>
            </a:r>
            <a:br/>
            <a:r>
              <a:t>    *b = temp;</a:t>
            </a:r>
            <a:br/>
            <a:r>
              <a:t>}</a:t>
            </a:r>
            <a:br/>
            <a:br/>
            <a:r>
              <a:t>int x=10, y=20;</a:t>
            </a:r>
            <a:br/>
            <a:r>
              <a:t>swap(&amp;x, &amp;y);</a:t>
            </a:r>
          </a:p>
        </p:txBody>
      </p:sp>
      <p:sp>
        <p:nvSpPr>
          <p:cNvPr id="6" name="Rounded Rectangle 7">
            <a:extLst>
              <a:ext uri="{FF2B5EF4-FFF2-40B4-BE49-F238E27FC236}">
                <a16:creationId xmlns:a16="http://schemas.microsoft.com/office/drawing/2014/main" id="{832AE1EF-7A2A-8F60-3BD4-E12BD5C0D2A9}"/>
              </a:ext>
            </a:extLst>
          </p:cNvPr>
          <p:cNvSpPr/>
          <p:nvPr/>
        </p:nvSpPr>
        <p:spPr>
          <a:xfrm>
            <a:off x="8084819" y="2514597"/>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6EF25557-CFFD-8377-1E21-F56E158007D4}"/>
              </a:ext>
            </a:extLst>
          </p:cNvPr>
          <p:cNvSpPr txBox="1"/>
          <p:nvPr/>
        </p:nvSpPr>
        <p:spPr>
          <a:xfrm>
            <a:off x="8176259" y="2606037"/>
            <a:ext cx="1783080" cy="274320"/>
          </a:xfrm>
          <a:prstGeom prst="rect">
            <a:avLst/>
          </a:prstGeom>
          <a:noFill/>
        </p:spPr>
        <p:txBody>
          <a:bodyPr wrap="square">
            <a:spAutoFit/>
          </a:bodyPr>
          <a:lstStyle/>
          <a:p>
            <a:pPr algn="ctr">
              <a:defRPr sz="1500" b="1">
                <a:solidFill>
                  <a:srgbClr val="182B49"/>
                </a:solidFill>
              </a:defRPr>
            </a:pPr>
            <a:r>
              <a:t>x</a:t>
            </a:r>
          </a:p>
        </p:txBody>
      </p:sp>
      <p:sp>
        <p:nvSpPr>
          <p:cNvPr id="8" name="TextBox 7">
            <a:extLst>
              <a:ext uri="{FF2B5EF4-FFF2-40B4-BE49-F238E27FC236}">
                <a16:creationId xmlns:a16="http://schemas.microsoft.com/office/drawing/2014/main" id="{1F6F7817-9384-BFB5-B587-1F80B6D113F0}"/>
              </a:ext>
            </a:extLst>
          </p:cNvPr>
          <p:cNvSpPr txBox="1"/>
          <p:nvPr/>
        </p:nvSpPr>
        <p:spPr>
          <a:xfrm>
            <a:off x="8176259" y="2944365"/>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CDDB165B-AF6D-6901-8378-BF337A4E7C0E}"/>
              </a:ext>
            </a:extLst>
          </p:cNvPr>
          <p:cNvSpPr txBox="1"/>
          <p:nvPr/>
        </p:nvSpPr>
        <p:spPr>
          <a:xfrm>
            <a:off x="8176259" y="3337557"/>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76F05E24-97F6-8B23-CA20-8B33789013BA}"/>
              </a:ext>
            </a:extLst>
          </p:cNvPr>
          <p:cNvSpPr/>
          <p:nvPr/>
        </p:nvSpPr>
        <p:spPr>
          <a:xfrm>
            <a:off x="8084819" y="4114797"/>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C95FE50-CAEB-3ED3-0187-EA7E48A1230C}"/>
              </a:ext>
            </a:extLst>
          </p:cNvPr>
          <p:cNvSpPr txBox="1"/>
          <p:nvPr/>
        </p:nvSpPr>
        <p:spPr>
          <a:xfrm>
            <a:off x="8176259" y="4206237"/>
            <a:ext cx="1783080" cy="274320"/>
          </a:xfrm>
          <a:prstGeom prst="rect">
            <a:avLst/>
          </a:prstGeom>
          <a:noFill/>
        </p:spPr>
        <p:txBody>
          <a:bodyPr wrap="square">
            <a:spAutoFit/>
          </a:bodyPr>
          <a:lstStyle/>
          <a:p>
            <a:pPr algn="ctr">
              <a:defRPr sz="1500" b="1">
                <a:solidFill>
                  <a:srgbClr val="182B49"/>
                </a:solidFill>
              </a:defRPr>
            </a:pPr>
            <a:r>
              <a:t>y</a:t>
            </a:r>
          </a:p>
        </p:txBody>
      </p:sp>
      <p:sp>
        <p:nvSpPr>
          <p:cNvPr id="12" name="TextBox 11">
            <a:extLst>
              <a:ext uri="{FF2B5EF4-FFF2-40B4-BE49-F238E27FC236}">
                <a16:creationId xmlns:a16="http://schemas.microsoft.com/office/drawing/2014/main" id="{94DE1B4F-95D9-E907-30D3-A9831B57229F}"/>
              </a:ext>
            </a:extLst>
          </p:cNvPr>
          <p:cNvSpPr txBox="1"/>
          <p:nvPr/>
        </p:nvSpPr>
        <p:spPr>
          <a:xfrm>
            <a:off x="8176259" y="4544565"/>
            <a:ext cx="1783080" cy="320040"/>
          </a:xfrm>
          <a:prstGeom prst="rect">
            <a:avLst/>
          </a:prstGeom>
          <a:noFill/>
        </p:spPr>
        <p:txBody>
          <a:bodyPr wrap="square">
            <a:spAutoFit/>
          </a:bodyPr>
          <a:lstStyle/>
          <a:p>
            <a:pPr algn="ctr">
              <a:defRPr sz="2200" b="1">
                <a:solidFill>
                  <a:srgbClr val="23272F"/>
                </a:solidFill>
              </a:defRPr>
            </a:pPr>
            <a:r>
              <a:t>20</a:t>
            </a:r>
          </a:p>
        </p:txBody>
      </p:sp>
      <p:sp>
        <p:nvSpPr>
          <p:cNvPr id="13" name="TextBox 12">
            <a:extLst>
              <a:ext uri="{FF2B5EF4-FFF2-40B4-BE49-F238E27FC236}">
                <a16:creationId xmlns:a16="http://schemas.microsoft.com/office/drawing/2014/main" id="{8611309F-6D63-76AE-13A4-19E044E4A5C0}"/>
              </a:ext>
            </a:extLst>
          </p:cNvPr>
          <p:cNvSpPr txBox="1"/>
          <p:nvPr/>
        </p:nvSpPr>
        <p:spPr>
          <a:xfrm>
            <a:off x="8176259" y="4937757"/>
            <a:ext cx="1783080" cy="228600"/>
          </a:xfrm>
          <a:prstGeom prst="rect">
            <a:avLst/>
          </a:prstGeom>
          <a:noFill/>
        </p:spPr>
        <p:txBody>
          <a:bodyPr wrap="square">
            <a:spAutoFit/>
          </a:bodyPr>
          <a:lstStyle/>
          <a:p>
            <a:pPr algn="ctr">
              <a:defRPr sz="1000" b="0">
                <a:solidFill>
                  <a:srgbClr val="69707A"/>
                </a:solidFill>
              </a:defRPr>
            </a:pPr>
            <a:r>
              <a:t>Address: 1004</a:t>
            </a:r>
          </a:p>
        </p:txBody>
      </p:sp>
      <p:cxnSp>
        <p:nvCxnSpPr>
          <p:cNvPr id="14" name="Connector 15">
            <a:extLst>
              <a:ext uri="{FF2B5EF4-FFF2-40B4-BE49-F238E27FC236}">
                <a16:creationId xmlns:a16="http://schemas.microsoft.com/office/drawing/2014/main" id="{B3C34B12-7141-46FD-0319-73C9BF8E3E98}"/>
              </a:ext>
            </a:extLst>
          </p:cNvPr>
          <p:cNvCxnSpPr/>
          <p:nvPr/>
        </p:nvCxnSpPr>
        <p:spPr>
          <a:xfrm>
            <a:off x="10142220" y="3108957"/>
            <a:ext cx="960120" cy="0"/>
          </a:xfrm>
          <a:prstGeom prst="line">
            <a:avLst/>
          </a:prstGeom>
          <a:ln w="31750">
            <a:solidFill>
              <a:srgbClr val="E67E22"/>
            </a:solidFill>
          </a:ln>
        </p:spPr>
        <p:style>
          <a:lnRef idx="2">
            <a:schemeClr val="accent1"/>
          </a:lnRef>
          <a:fillRef idx="0">
            <a:schemeClr val="accent1"/>
          </a:fillRef>
          <a:effectRef idx="1">
            <a:schemeClr val="accent1"/>
          </a:effectRef>
          <a:fontRef idx="minor">
            <a:schemeClr val="tx1"/>
          </a:fontRef>
        </p:style>
      </p:cxnSp>
      <p:cxnSp>
        <p:nvCxnSpPr>
          <p:cNvPr id="15" name="Connector 16">
            <a:extLst>
              <a:ext uri="{FF2B5EF4-FFF2-40B4-BE49-F238E27FC236}">
                <a16:creationId xmlns:a16="http://schemas.microsoft.com/office/drawing/2014/main" id="{E0A40A17-8975-7391-504E-9885B4CB07F8}"/>
              </a:ext>
            </a:extLst>
          </p:cNvPr>
          <p:cNvCxnSpPr/>
          <p:nvPr/>
        </p:nvCxnSpPr>
        <p:spPr>
          <a:xfrm>
            <a:off x="10142220" y="4709157"/>
            <a:ext cx="960120" cy="0"/>
          </a:xfrm>
          <a:prstGeom prst="line">
            <a:avLst/>
          </a:prstGeom>
          <a:ln w="31750">
            <a:solidFill>
              <a:srgbClr val="E67E22"/>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A33E14E-FD4D-0693-784F-083F8E93BFE8}"/>
              </a:ext>
            </a:extLst>
          </p:cNvPr>
          <p:cNvSpPr txBox="1"/>
          <p:nvPr/>
        </p:nvSpPr>
        <p:spPr>
          <a:xfrm>
            <a:off x="10325100" y="3383277"/>
            <a:ext cx="1554480" cy="457200"/>
          </a:xfrm>
          <a:prstGeom prst="rect">
            <a:avLst/>
          </a:prstGeom>
          <a:noFill/>
        </p:spPr>
        <p:txBody>
          <a:bodyPr wrap="square">
            <a:spAutoFit/>
          </a:bodyPr>
          <a:lstStyle/>
          <a:p>
            <a:pPr algn="ctr">
              <a:defRPr sz="1500" b="1">
                <a:solidFill>
                  <a:srgbClr val="182B49"/>
                </a:solidFill>
              </a:defRPr>
            </a:pPr>
            <a:r>
              <a:t>after swap</a:t>
            </a:r>
          </a:p>
        </p:txBody>
      </p:sp>
      <p:sp>
        <p:nvSpPr>
          <p:cNvPr id="17" name="TextBox 16">
            <a:extLst>
              <a:ext uri="{FF2B5EF4-FFF2-40B4-BE49-F238E27FC236}">
                <a16:creationId xmlns:a16="http://schemas.microsoft.com/office/drawing/2014/main" id="{1EE33589-AB2E-23BB-0425-D0142905E283}"/>
              </a:ext>
            </a:extLst>
          </p:cNvPr>
          <p:cNvSpPr txBox="1"/>
          <p:nvPr/>
        </p:nvSpPr>
        <p:spPr>
          <a:xfrm>
            <a:off x="10325100" y="4983477"/>
            <a:ext cx="1554480" cy="457200"/>
          </a:xfrm>
          <a:prstGeom prst="rect">
            <a:avLst/>
          </a:prstGeom>
          <a:noFill/>
        </p:spPr>
        <p:txBody>
          <a:bodyPr wrap="square">
            <a:spAutoFit/>
          </a:bodyPr>
          <a:lstStyle/>
          <a:p>
            <a:pPr algn="ctr">
              <a:defRPr sz="1500" b="1">
                <a:solidFill>
                  <a:srgbClr val="008489"/>
                </a:solidFill>
              </a:defRPr>
            </a:pPr>
            <a:r>
              <a:t>x = 20, y = 10</a:t>
            </a:r>
          </a:p>
        </p:txBody>
      </p:sp>
    </p:spTree>
    <p:extLst>
      <p:ext uri="{BB962C8B-B14F-4D97-AF65-F5344CB8AC3E}">
        <p14:creationId xmlns:p14="http://schemas.microsoft.com/office/powerpoint/2010/main" val="38898338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7A7C-D9F8-A875-C1FF-D214F29E1CC6}"/>
              </a:ext>
            </a:extLst>
          </p:cNvPr>
          <p:cNvSpPr>
            <a:spLocks noGrp="1"/>
          </p:cNvSpPr>
          <p:nvPr>
            <p:ph type="title"/>
          </p:nvPr>
        </p:nvSpPr>
        <p:spPr/>
        <p:txBody>
          <a:bodyPr/>
          <a:lstStyle/>
          <a:p>
            <a:r>
              <a:rPr lang="en-IN" dirty="0"/>
              <a:t>Pointer to Pointer</a:t>
            </a:r>
          </a:p>
        </p:txBody>
      </p:sp>
      <p:sp>
        <p:nvSpPr>
          <p:cNvPr id="3" name="Content Placeholder 2">
            <a:extLst>
              <a:ext uri="{FF2B5EF4-FFF2-40B4-BE49-F238E27FC236}">
                <a16:creationId xmlns:a16="http://schemas.microsoft.com/office/drawing/2014/main" id="{D281676B-5A0B-F767-2FB3-7B13345D9A23}"/>
              </a:ext>
            </a:extLst>
          </p:cNvPr>
          <p:cNvSpPr>
            <a:spLocks noGrp="1"/>
          </p:cNvSpPr>
          <p:nvPr>
            <p:ph idx="1"/>
          </p:nvPr>
        </p:nvSpPr>
        <p:spPr/>
        <p:txBody>
          <a:bodyPr/>
          <a:lstStyle/>
          <a:p>
            <a:r>
              <a:rPr lang="en-US" dirty="0"/>
              <a:t>A pointer can store the address of another pointer.</a:t>
            </a:r>
          </a:p>
          <a:p>
            <a:endParaRPr lang="en-IN" dirty="0"/>
          </a:p>
        </p:txBody>
      </p:sp>
      <p:sp>
        <p:nvSpPr>
          <p:cNvPr id="6" name="Rounded Rectangle 7">
            <a:extLst>
              <a:ext uri="{FF2B5EF4-FFF2-40B4-BE49-F238E27FC236}">
                <a16:creationId xmlns:a16="http://schemas.microsoft.com/office/drawing/2014/main" id="{5B2954D4-0A74-9BFC-428D-594DAE3DBFC8}"/>
              </a:ext>
            </a:extLst>
          </p:cNvPr>
          <p:cNvSpPr/>
          <p:nvPr/>
        </p:nvSpPr>
        <p:spPr>
          <a:xfrm>
            <a:off x="7616067" y="2019054"/>
            <a:ext cx="1828800" cy="11430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62BDE0F0-0353-A4C5-7B1E-3D28D398AE70}"/>
              </a:ext>
            </a:extLst>
          </p:cNvPr>
          <p:cNvSpPr/>
          <p:nvPr/>
        </p:nvSpPr>
        <p:spPr>
          <a:xfrm>
            <a:off x="7616067" y="2019054"/>
            <a:ext cx="73152" cy="114300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5DB80DE-D2CC-374C-DF0B-EE2DDD796617}"/>
              </a:ext>
            </a:extLst>
          </p:cNvPr>
          <p:cNvSpPr txBox="1"/>
          <p:nvPr/>
        </p:nvSpPr>
        <p:spPr>
          <a:xfrm>
            <a:off x="7798947" y="2165358"/>
            <a:ext cx="1508760" cy="320040"/>
          </a:xfrm>
          <a:prstGeom prst="rect">
            <a:avLst/>
          </a:prstGeom>
          <a:noFill/>
        </p:spPr>
        <p:txBody>
          <a:bodyPr wrap="square">
            <a:spAutoFit/>
          </a:bodyPr>
          <a:lstStyle/>
          <a:p>
            <a:pPr algn="l">
              <a:defRPr sz="1700" b="1">
                <a:solidFill>
                  <a:srgbClr val="182B49"/>
                </a:solidFill>
              </a:defRPr>
            </a:pPr>
            <a:r>
              <a:t>q</a:t>
            </a:r>
          </a:p>
        </p:txBody>
      </p:sp>
      <p:sp>
        <p:nvSpPr>
          <p:cNvPr id="9" name="TextBox 8">
            <a:extLst>
              <a:ext uri="{FF2B5EF4-FFF2-40B4-BE49-F238E27FC236}">
                <a16:creationId xmlns:a16="http://schemas.microsoft.com/office/drawing/2014/main" id="{C21F2D17-C530-C7CF-FB4D-2DCEA519A580}"/>
              </a:ext>
            </a:extLst>
          </p:cNvPr>
          <p:cNvSpPr txBox="1"/>
          <p:nvPr/>
        </p:nvSpPr>
        <p:spPr>
          <a:xfrm>
            <a:off x="7798947" y="2585982"/>
            <a:ext cx="1508760" cy="457200"/>
          </a:xfrm>
          <a:prstGeom prst="rect">
            <a:avLst/>
          </a:prstGeom>
          <a:noFill/>
        </p:spPr>
        <p:txBody>
          <a:bodyPr wrap="square">
            <a:spAutoFit/>
          </a:bodyPr>
          <a:lstStyle/>
          <a:p>
            <a:pPr algn="l">
              <a:defRPr sz="1400" b="0">
                <a:solidFill>
                  <a:srgbClr val="23272F"/>
                </a:solidFill>
              </a:defRPr>
            </a:pPr>
            <a:r>
              <a:t>stores address of p</a:t>
            </a:r>
          </a:p>
        </p:txBody>
      </p:sp>
      <p:cxnSp>
        <p:nvCxnSpPr>
          <p:cNvPr id="10" name="Connector 11">
            <a:extLst>
              <a:ext uri="{FF2B5EF4-FFF2-40B4-BE49-F238E27FC236}">
                <a16:creationId xmlns:a16="http://schemas.microsoft.com/office/drawing/2014/main" id="{79FD87A3-62C7-64B9-C326-8ADD745BA1E3}"/>
              </a:ext>
            </a:extLst>
          </p:cNvPr>
          <p:cNvCxnSpPr/>
          <p:nvPr/>
        </p:nvCxnSpPr>
        <p:spPr>
          <a:xfrm>
            <a:off x="8530467" y="3207774"/>
            <a:ext cx="0" cy="54864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1" name="Rounded Rectangle 12">
            <a:extLst>
              <a:ext uri="{FF2B5EF4-FFF2-40B4-BE49-F238E27FC236}">
                <a16:creationId xmlns:a16="http://schemas.microsoft.com/office/drawing/2014/main" id="{B3BB645D-35CD-F897-BB9F-FCFD50472009}"/>
              </a:ext>
            </a:extLst>
          </p:cNvPr>
          <p:cNvSpPr/>
          <p:nvPr/>
        </p:nvSpPr>
        <p:spPr>
          <a:xfrm>
            <a:off x="7616067" y="3756414"/>
            <a:ext cx="1828800" cy="11430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7B23463E-4B2B-5D09-269E-8CE669B1D4A5}"/>
              </a:ext>
            </a:extLst>
          </p:cNvPr>
          <p:cNvSpPr/>
          <p:nvPr/>
        </p:nvSpPr>
        <p:spPr>
          <a:xfrm>
            <a:off x="7616067" y="3756414"/>
            <a:ext cx="73152" cy="114300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4C0407E-7394-8DCF-5DF2-2637B77114D3}"/>
              </a:ext>
            </a:extLst>
          </p:cNvPr>
          <p:cNvSpPr txBox="1"/>
          <p:nvPr/>
        </p:nvSpPr>
        <p:spPr>
          <a:xfrm>
            <a:off x="7798947" y="3902718"/>
            <a:ext cx="1508760" cy="320040"/>
          </a:xfrm>
          <a:prstGeom prst="rect">
            <a:avLst/>
          </a:prstGeom>
          <a:noFill/>
        </p:spPr>
        <p:txBody>
          <a:bodyPr wrap="square">
            <a:spAutoFit/>
          </a:bodyPr>
          <a:lstStyle/>
          <a:p>
            <a:pPr algn="l">
              <a:defRPr sz="1700" b="1">
                <a:solidFill>
                  <a:srgbClr val="182B49"/>
                </a:solidFill>
              </a:defRPr>
            </a:pPr>
            <a:r>
              <a:t>p</a:t>
            </a:r>
          </a:p>
        </p:txBody>
      </p:sp>
      <p:sp>
        <p:nvSpPr>
          <p:cNvPr id="14" name="TextBox 13">
            <a:extLst>
              <a:ext uri="{FF2B5EF4-FFF2-40B4-BE49-F238E27FC236}">
                <a16:creationId xmlns:a16="http://schemas.microsoft.com/office/drawing/2014/main" id="{DE5E7CE8-B17D-7A7C-B932-3ACEAF3FFA8A}"/>
              </a:ext>
            </a:extLst>
          </p:cNvPr>
          <p:cNvSpPr txBox="1"/>
          <p:nvPr/>
        </p:nvSpPr>
        <p:spPr>
          <a:xfrm>
            <a:off x="7798947" y="4323342"/>
            <a:ext cx="1508760" cy="457200"/>
          </a:xfrm>
          <a:prstGeom prst="rect">
            <a:avLst/>
          </a:prstGeom>
          <a:noFill/>
        </p:spPr>
        <p:txBody>
          <a:bodyPr wrap="square">
            <a:spAutoFit/>
          </a:bodyPr>
          <a:lstStyle/>
          <a:p>
            <a:pPr algn="l">
              <a:defRPr sz="1400" b="0">
                <a:solidFill>
                  <a:srgbClr val="23272F"/>
                </a:solidFill>
              </a:defRPr>
            </a:pPr>
            <a:r>
              <a:t>stores address of x</a:t>
            </a:r>
          </a:p>
        </p:txBody>
      </p:sp>
      <p:cxnSp>
        <p:nvCxnSpPr>
          <p:cNvPr id="15" name="Connector 16">
            <a:extLst>
              <a:ext uri="{FF2B5EF4-FFF2-40B4-BE49-F238E27FC236}">
                <a16:creationId xmlns:a16="http://schemas.microsoft.com/office/drawing/2014/main" id="{7923DC81-653A-E609-6BC0-D56ECA563D39}"/>
              </a:ext>
            </a:extLst>
          </p:cNvPr>
          <p:cNvCxnSpPr/>
          <p:nvPr/>
        </p:nvCxnSpPr>
        <p:spPr>
          <a:xfrm>
            <a:off x="8530467" y="4945134"/>
            <a:ext cx="0" cy="54864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6" name="Rounded Rectangle 17">
            <a:extLst>
              <a:ext uri="{FF2B5EF4-FFF2-40B4-BE49-F238E27FC236}">
                <a16:creationId xmlns:a16="http://schemas.microsoft.com/office/drawing/2014/main" id="{058ECE97-B6F3-71CE-EEBB-BB6E89611D34}"/>
              </a:ext>
            </a:extLst>
          </p:cNvPr>
          <p:cNvSpPr/>
          <p:nvPr/>
        </p:nvSpPr>
        <p:spPr>
          <a:xfrm>
            <a:off x="7616067" y="5493774"/>
            <a:ext cx="1828800" cy="11430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A3027C4-9241-85B9-8060-88D75913AFCC}"/>
              </a:ext>
            </a:extLst>
          </p:cNvPr>
          <p:cNvSpPr/>
          <p:nvPr/>
        </p:nvSpPr>
        <p:spPr>
          <a:xfrm>
            <a:off x="7616067" y="5493774"/>
            <a:ext cx="73152" cy="1143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6AD065D3-DEAA-6B36-915F-3298F79A8228}"/>
              </a:ext>
            </a:extLst>
          </p:cNvPr>
          <p:cNvSpPr txBox="1"/>
          <p:nvPr/>
        </p:nvSpPr>
        <p:spPr>
          <a:xfrm>
            <a:off x="7798947" y="5640078"/>
            <a:ext cx="1508760" cy="320040"/>
          </a:xfrm>
          <a:prstGeom prst="rect">
            <a:avLst/>
          </a:prstGeom>
          <a:noFill/>
        </p:spPr>
        <p:txBody>
          <a:bodyPr wrap="square">
            <a:spAutoFit/>
          </a:bodyPr>
          <a:lstStyle/>
          <a:p>
            <a:pPr algn="l">
              <a:defRPr sz="1700" b="1">
                <a:solidFill>
                  <a:srgbClr val="182B49"/>
                </a:solidFill>
              </a:defRPr>
            </a:pPr>
            <a:r>
              <a:t>x</a:t>
            </a:r>
          </a:p>
        </p:txBody>
      </p:sp>
      <p:sp>
        <p:nvSpPr>
          <p:cNvPr id="19" name="TextBox 18">
            <a:extLst>
              <a:ext uri="{FF2B5EF4-FFF2-40B4-BE49-F238E27FC236}">
                <a16:creationId xmlns:a16="http://schemas.microsoft.com/office/drawing/2014/main" id="{021DF492-D54A-8B79-54E6-99E318B9FF37}"/>
              </a:ext>
            </a:extLst>
          </p:cNvPr>
          <p:cNvSpPr txBox="1"/>
          <p:nvPr/>
        </p:nvSpPr>
        <p:spPr>
          <a:xfrm>
            <a:off x="7798947" y="6060702"/>
            <a:ext cx="1508760" cy="457200"/>
          </a:xfrm>
          <a:prstGeom prst="rect">
            <a:avLst/>
          </a:prstGeom>
          <a:noFill/>
        </p:spPr>
        <p:txBody>
          <a:bodyPr wrap="square">
            <a:spAutoFit/>
          </a:bodyPr>
          <a:lstStyle/>
          <a:p>
            <a:pPr algn="l">
              <a:defRPr sz="1400" b="0">
                <a:solidFill>
                  <a:srgbClr val="23272F"/>
                </a:solidFill>
              </a:defRPr>
            </a:pPr>
            <a:r>
              <a:t>stores 10</a:t>
            </a:r>
          </a:p>
        </p:txBody>
      </p:sp>
      <p:sp>
        <p:nvSpPr>
          <p:cNvPr id="20" name="TextBox 19">
            <a:extLst>
              <a:ext uri="{FF2B5EF4-FFF2-40B4-BE49-F238E27FC236}">
                <a16:creationId xmlns:a16="http://schemas.microsoft.com/office/drawing/2014/main" id="{0FB9F209-C67D-DAEA-3125-A1CFDFD5A42D}"/>
              </a:ext>
            </a:extLst>
          </p:cNvPr>
          <p:cNvSpPr txBox="1"/>
          <p:nvPr/>
        </p:nvSpPr>
        <p:spPr>
          <a:xfrm>
            <a:off x="9902067" y="2704854"/>
            <a:ext cx="2103120" cy="2468880"/>
          </a:xfrm>
          <a:prstGeom prst="rect">
            <a:avLst/>
          </a:prstGeom>
          <a:noFill/>
        </p:spPr>
        <p:txBody>
          <a:bodyPr wrap="square">
            <a:spAutoFit/>
          </a:bodyPr>
          <a:lstStyle/>
          <a:p>
            <a:pPr algn="l">
              <a:defRPr sz="1700" b="1">
                <a:solidFill>
                  <a:srgbClr val="182B49"/>
                </a:solidFill>
              </a:defRPr>
            </a:pPr>
            <a:r>
              <a:t>q   →   p   →   x</a:t>
            </a:r>
            <a:br/>
            <a:br/>
            <a:r>
              <a:t>*q  → address in p</a:t>
            </a:r>
            <a:br/>
            <a:r>
              <a:t>**q → value in x = 10</a:t>
            </a:r>
          </a:p>
        </p:txBody>
      </p:sp>
      <p:sp>
        <p:nvSpPr>
          <p:cNvPr id="22" name="Rounded Rectangle 5">
            <a:extLst>
              <a:ext uri="{FF2B5EF4-FFF2-40B4-BE49-F238E27FC236}">
                <a16:creationId xmlns:a16="http://schemas.microsoft.com/office/drawing/2014/main" id="{11A72F53-024F-CF1E-478C-E002882AD70B}"/>
              </a:ext>
            </a:extLst>
          </p:cNvPr>
          <p:cNvSpPr/>
          <p:nvPr/>
        </p:nvSpPr>
        <p:spPr>
          <a:xfrm>
            <a:off x="1312484" y="3344934"/>
            <a:ext cx="5029200" cy="214884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7B5C85B2-1660-A05C-8247-8F02DBAB9FE9}"/>
              </a:ext>
            </a:extLst>
          </p:cNvPr>
          <p:cNvSpPr txBox="1"/>
          <p:nvPr/>
        </p:nvSpPr>
        <p:spPr>
          <a:xfrm>
            <a:off x="1477076" y="3454662"/>
            <a:ext cx="4700016" cy="1929384"/>
          </a:xfrm>
          <a:prstGeom prst="rect">
            <a:avLst/>
          </a:prstGeom>
          <a:noFill/>
        </p:spPr>
        <p:txBody>
          <a:bodyPr wrap="none">
            <a:spAutoFit/>
          </a:bodyPr>
          <a:lstStyle/>
          <a:p>
            <a:pPr>
              <a:defRPr sz="1900">
                <a:solidFill>
                  <a:srgbClr val="FFFFFF"/>
                </a:solidFill>
                <a:latin typeface="Consolas"/>
              </a:defRPr>
            </a:pPr>
            <a:r>
              <a:t>int x = 10;</a:t>
            </a:r>
            <a:br/>
            <a:r>
              <a:t>int *p = &amp;x;</a:t>
            </a:r>
            <a:br/>
            <a:r>
              <a:t>int **q = &amp;p;</a:t>
            </a:r>
            <a:br/>
            <a:br/>
            <a:r>
              <a:t>printf("%d", **q);</a:t>
            </a:r>
          </a:p>
        </p:txBody>
      </p:sp>
    </p:spTree>
    <p:extLst>
      <p:ext uri="{BB962C8B-B14F-4D97-AF65-F5344CB8AC3E}">
        <p14:creationId xmlns:p14="http://schemas.microsoft.com/office/powerpoint/2010/main" val="23600933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C8A0-53F6-2202-528A-D13011ED3673}"/>
              </a:ext>
            </a:extLst>
          </p:cNvPr>
          <p:cNvSpPr>
            <a:spLocks noGrp="1"/>
          </p:cNvSpPr>
          <p:nvPr>
            <p:ph type="title"/>
          </p:nvPr>
        </p:nvSpPr>
        <p:spPr/>
        <p:txBody>
          <a:bodyPr/>
          <a:lstStyle/>
          <a:p>
            <a:r>
              <a:rPr lang="en-IN" dirty="0"/>
              <a:t>NULL Pointer &amp; Common Errors</a:t>
            </a:r>
          </a:p>
        </p:txBody>
      </p:sp>
      <p:sp>
        <p:nvSpPr>
          <p:cNvPr id="3" name="Content Placeholder 2">
            <a:extLst>
              <a:ext uri="{FF2B5EF4-FFF2-40B4-BE49-F238E27FC236}">
                <a16:creationId xmlns:a16="http://schemas.microsoft.com/office/drawing/2014/main" id="{12FAE042-951A-B24D-AB03-B28604BC740F}"/>
              </a:ext>
            </a:extLst>
          </p:cNvPr>
          <p:cNvSpPr>
            <a:spLocks noGrp="1"/>
          </p:cNvSpPr>
          <p:nvPr>
            <p:ph idx="1"/>
          </p:nvPr>
        </p:nvSpPr>
        <p:spPr/>
        <p:txBody>
          <a:bodyPr/>
          <a:lstStyle/>
          <a:p>
            <a:r>
              <a:rPr lang="en-US" dirty="0"/>
              <a:t>Safe pointer use is as important as pointer syntax.</a:t>
            </a:r>
          </a:p>
          <a:p>
            <a:endParaRPr lang="en-IN" dirty="0"/>
          </a:p>
        </p:txBody>
      </p:sp>
      <p:sp>
        <p:nvSpPr>
          <p:cNvPr id="35" name="Rounded Rectangle 5">
            <a:extLst>
              <a:ext uri="{FF2B5EF4-FFF2-40B4-BE49-F238E27FC236}">
                <a16:creationId xmlns:a16="http://schemas.microsoft.com/office/drawing/2014/main" id="{ED24F608-5572-8D86-675D-1EE74D8DDCAF}"/>
              </a:ext>
            </a:extLst>
          </p:cNvPr>
          <p:cNvSpPr/>
          <p:nvPr/>
        </p:nvSpPr>
        <p:spPr>
          <a:xfrm>
            <a:off x="746268" y="2815467"/>
            <a:ext cx="3474720" cy="164592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B110A82E-FE54-BB69-A0D7-5C16C1DD2888}"/>
              </a:ext>
            </a:extLst>
          </p:cNvPr>
          <p:cNvSpPr/>
          <p:nvPr/>
        </p:nvSpPr>
        <p:spPr>
          <a:xfrm>
            <a:off x="746268" y="2815467"/>
            <a:ext cx="73152" cy="1645920"/>
          </a:xfrm>
          <a:prstGeom prst="rect">
            <a:avLst/>
          </a:prstGeom>
          <a:solidFill>
            <a:srgbClr val="BE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ECF53568-2E1D-02BD-C037-E6768F8C8375}"/>
              </a:ext>
            </a:extLst>
          </p:cNvPr>
          <p:cNvSpPr txBox="1"/>
          <p:nvPr/>
        </p:nvSpPr>
        <p:spPr>
          <a:xfrm>
            <a:off x="929147" y="2961771"/>
            <a:ext cx="3154679" cy="320040"/>
          </a:xfrm>
          <a:prstGeom prst="rect">
            <a:avLst/>
          </a:prstGeom>
          <a:noFill/>
        </p:spPr>
        <p:txBody>
          <a:bodyPr wrap="square">
            <a:spAutoFit/>
          </a:bodyPr>
          <a:lstStyle/>
          <a:p>
            <a:pPr algn="l">
              <a:defRPr sz="1700" b="1">
                <a:solidFill>
                  <a:srgbClr val="182B49"/>
                </a:solidFill>
              </a:defRPr>
            </a:pPr>
            <a:r>
              <a:t>NULL pointer</a:t>
            </a:r>
          </a:p>
        </p:txBody>
      </p:sp>
      <p:sp>
        <p:nvSpPr>
          <p:cNvPr id="41" name="TextBox 40">
            <a:extLst>
              <a:ext uri="{FF2B5EF4-FFF2-40B4-BE49-F238E27FC236}">
                <a16:creationId xmlns:a16="http://schemas.microsoft.com/office/drawing/2014/main" id="{F842C9C4-1DF0-10E3-8907-B5B470E233BF}"/>
              </a:ext>
            </a:extLst>
          </p:cNvPr>
          <p:cNvSpPr txBox="1"/>
          <p:nvPr/>
        </p:nvSpPr>
        <p:spPr>
          <a:xfrm>
            <a:off x="929147" y="3382395"/>
            <a:ext cx="3154679" cy="960120"/>
          </a:xfrm>
          <a:prstGeom prst="rect">
            <a:avLst/>
          </a:prstGeom>
          <a:noFill/>
        </p:spPr>
        <p:txBody>
          <a:bodyPr wrap="square">
            <a:spAutoFit/>
          </a:bodyPr>
          <a:lstStyle/>
          <a:p>
            <a:pPr algn="l">
              <a:defRPr sz="1400" b="0">
                <a:solidFill>
                  <a:srgbClr val="23272F"/>
                </a:solidFill>
              </a:defRPr>
            </a:pPr>
            <a:r>
              <a:t>int *p = NULL;</a:t>
            </a:r>
            <a:br/>
            <a:r>
              <a:t>Check p before dereferencing.</a:t>
            </a:r>
          </a:p>
        </p:txBody>
      </p:sp>
      <p:sp>
        <p:nvSpPr>
          <p:cNvPr id="43" name="Rounded Rectangle 9">
            <a:extLst>
              <a:ext uri="{FF2B5EF4-FFF2-40B4-BE49-F238E27FC236}">
                <a16:creationId xmlns:a16="http://schemas.microsoft.com/office/drawing/2014/main" id="{E7B9CBA4-518E-FCE8-4695-700144970F2F}"/>
              </a:ext>
            </a:extLst>
          </p:cNvPr>
          <p:cNvSpPr/>
          <p:nvPr/>
        </p:nvSpPr>
        <p:spPr>
          <a:xfrm>
            <a:off x="4449588" y="2815467"/>
            <a:ext cx="3474720" cy="164592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CADC802E-DDB0-A56A-B9D3-C05E837916B3}"/>
              </a:ext>
            </a:extLst>
          </p:cNvPr>
          <p:cNvSpPr/>
          <p:nvPr/>
        </p:nvSpPr>
        <p:spPr>
          <a:xfrm>
            <a:off x="4449588" y="2815467"/>
            <a:ext cx="73152" cy="16459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64131AF2-BE46-625F-E990-863967C2C631}"/>
              </a:ext>
            </a:extLst>
          </p:cNvPr>
          <p:cNvSpPr txBox="1"/>
          <p:nvPr/>
        </p:nvSpPr>
        <p:spPr>
          <a:xfrm>
            <a:off x="4632468" y="2961771"/>
            <a:ext cx="3154679" cy="320040"/>
          </a:xfrm>
          <a:prstGeom prst="rect">
            <a:avLst/>
          </a:prstGeom>
          <a:noFill/>
        </p:spPr>
        <p:txBody>
          <a:bodyPr wrap="square">
            <a:spAutoFit/>
          </a:bodyPr>
          <a:lstStyle/>
          <a:p>
            <a:pPr algn="l">
              <a:defRPr sz="1700" b="1">
                <a:solidFill>
                  <a:srgbClr val="182B49"/>
                </a:solidFill>
              </a:defRPr>
            </a:pPr>
            <a:r>
              <a:t>Uninitialized pointer</a:t>
            </a:r>
          </a:p>
        </p:txBody>
      </p:sp>
      <p:sp>
        <p:nvSpPr>
          <p:cNvPr id="49" name="TextBox 48">
            <a:extLst>
              <a:ext uri="{FF2B5EF4-FFF2-40B4-BE49-F238E27FC236}">
                <a16:creationId xmlns:a16="http://schemas.microsoft.com/office/drawing/2014/main" id="{59FE536B-A262-54F9-A9B0-9281891E6F7D}"/>
              </a:ext>
            </a:extLst>
          </p:cNvPr>
          <p:cNvSpPr txBox="1"/>
          <p:nvPr/>
        </p:nvSpPr>
        <p:spPr>
          <a:xfrm>
            <a:off x="4632468" y="3382395"/>
            <a:ext cx="3154679" cy="960120"/>
          </a:xfrm>
          <a:prstGeom prst="rect">
            <a:avLst/>
          </a:prstGeom>
          <a:noFill/>
        </p:spPr>
        <p:txBody>
          <a:bodyPr wrap="square">
            <a:spAutoFit/>
          </a:bodyPr>
          <a:lstStyle/>
          <a:p>
            <a:pPr algn="l">
              <a:defRPr sz="1400" b="0">
                <a:solidFill>
                  <a:srgbClr val="23272F"/>
                </a:solidFill>
              </a:defRPr>
            </a:pPr>
            <a:r>
              <a:t>int *p;</a:t>
            </a:r>
            <a:br/>
            <a:r>
              <a:t>Do not dereference until p points to valid storage.</a:t>
            </a:r>
          </a:p>
        </p:txBody>
      </p:sp>
      <p:sp>
        <p:nvSpPr>
          <p:cNvPr id="51" name="Rounded Rectangle 13">
            <a:extLst>
              <a:ext uri="{FF2B5EF4-FFF2-40B4-BE49-F238E27FC236}">
                <a16:creationId xmlns:a16="http://schemas.microsoft.com/office/drawing/2014/main" id="{D43A2643-A749-CE7A-E9D8-934F02CC8112}"/>
              </a:ext>
            </a:extLst>
          </p:cNvPr>
          <p:cNvSpPr/>
          <p:nvPr/>
        </p:nvSpPr>
        <p:spPr>
          <a:xfrm>
            <a:off x="8152908" y="2815467"/>
            <a:ext cx="3474720" cy="164592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E1E0482F-3E25-B87F-0534-D316B20F1C1A}"/>
              </a:ext>
            </a:extLst>
          </p:cNvPr>
          <p:cNvSpPr/>
          <p:nvPr/>
        </p:nvSpPr>
        <p:spPr>
          <a:xfrm>
            <a:off x="8152908" y="2815467"/>
            <a:ext cx="73152" cy="164592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C61B2A19-A339-12BF-7B19-600E1A14B3F6}"/>
              </a:ext>
            </a:extLst>
          </p:cNvPr>
          <p:cNvSpPr txBox="1"/>
          <p:nvPr/>
        </p:nvSpPr>
        <p:spPr>
          <a:xfrm>
            <a:off x="8335788" y="2961771"/>
            <a:ext cx="3154679" cy="320040"/>
          </a:xfrm>
          <a:prstGeom prst="rect">
            <a:avLst/>
          </a:prstGeom>
          <a:noFill/>
        </p:spPr>
        <p:txBody>
          <a:bodyPr wrap="square">
            <a:spAutoFit/>
          </a:bodyPr>
          <a:lstStyle/>
          <a:p>
            <a:pPr algn="l">
              <a:defRPr sz="1700" b="1">
                <a:solidFill>
                  <a:srgbClr val="182B49"/>
                </a:solidFill>
              </a:defRPr>
            </a:pPr>
            <a:r>
              <a:t>Dangling pointer</a:t>
            </a:r>
          </a:p>
        </p:txBody>
      </p:sp>
      <p:sp>
        <p:nvSpPr>
          <p:cNvPr id="57" name="TextBox 56">
            <a:extLst>
              <a:ext uri="{FF2B5EF4-FFF2-40B4-BE49-F238E27FC236}">
                <a16:creationId xmlns:a16="http://schemas.microsoft.com/office/drawing/2014/main" id="{7AD3F24D-3136-3E1D-3C79-F47B719E9C60}"/>
              </a:ext>
            </a:extLst>
          </p:cNvPr>
          <p:cNvSpPr txBox="1"/>
          <p:nvPr/>
        </p:nvSpPr>
        <p:spPr>
          <a:xfrm>
            <a:off x="8335788" y="3382395"/>
            <a:ext cx="3154679" cy="960120"/>
          </a:xfrm>
          <a:prstGeom prst="rect">
            <a:avLst/>
          </a:prstGeom>
          <a:noFill/>
        </p:spPr>
        <p:txBody>
          <a:bodyPr wrap="square">
            <a:spAutoFit/>
          </a:bodyPr>
          <a:lstStyle/>
          <a:p>
            <a:pPr algn="l">
              <a:defRPr sz="1400" b="0">
                <a:solidFill>
                  <a:srgbClr val="23272F"/>
                </a:solidFill>
              </a:defRPr>
            </a:pPr>
            <a:r>
              <a:t>A pointer referring to memory that is no longer valid.</a:t>
            </a:r>
          </a:p>
        </p:txBody>
      </p:sp>
      <p:sp>
        <p:nvSpPr>
          <p:cNvPr id="59" name="Rounded Rectangle 17">
            <a:extLst>
              <a:ext uri="{FF2B5EF4-FFF2-40B4-BE49-F238E27FC236}">
                <a16:creationId xmlns:a16="http://schemas.microsoft.com/office/drawing/2014/main" id="{A529545B-24FA-C8F7-2550-0DABAA3F5BD9}"/>
              </a:ext>
            </a:extLst>
          </p:cNvPr>
          <p:cNvSpPr/>
          <p:nvPr/>
        </p:nvSpPr>
        <p:spPr>
          <a:xfrm>
            <a:off x="1486638" y="4759642"/>
            <a:ext cx="8503920" cy="141732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46334A5D-7AC8-5947-C7C3-0BF75AC0D317}"/>
              </a:ext>
            </a:extLst>
          </p:cNvPr>
          <p:cNvSpPr txBox="1"/>
          <p:nvPr/>
        </p:nvSpPr>
        <p:spPr>
          <a:xfrm>
            <a:off x="1651230" y="4869370"/>
            <a:ext cx="8174736" cy="1197864"/>
          </a:xfrm>
          <a:prstGeom prst="rect">
            <a:avLst/>
          </a:prstGeom>
          <a:noFill/>
        </p:spPr>
        <p:txBody>
          <a:bodyPr wrap="none">
            <a:spAutoFit/>
          </a:bodyPr>
          <a:lstStyle/>
          <a:p>
            <a:pPr>
              <a:defRPr sz="1900">
                <a:solidFill>
                  <a:srgbClr val="FFFFFF"/>
                </a:solidFill>
                <a:latin typeface="Consolas"/>
              </a:defRPr>
            </a:pPr>
            <a:r>
              <a:t>if (p != NULL)</a:t>
            </a:r>
            <a:br/>
            <a:r>
              <a:t>    printf("%d", *p);</a:t>
            </a:r>
          </a:p>
        </p:txBody>
      </p:sp>
      <p:sp>
        <p:nvSpPr>
          <p:cNvPr id="63" name="TextBox 62">
            <a:extLst>
              <a:ext uri="{FF2B5EF4-FFF2-40B4-BE49-F238E27FC236}">
                <a16:creationId xmlns:a16="http://schemas.microsoft.com/office/drawing/2014/main" id="{A7291B67-3A59-1FBA-8382-CB51FCD60266}"/>
              </a:ext>
            </a:extLst>
          </p:cNvPr>
          <p:cNvSpPr txBox="1"/>
          <p:nvPr/>
        </p:nvSpPr>
        <p:spPr>
          <a:xfrm>
            <a:off x="2506486" y="6306322"/>
            <a:ext cx="6096982" cy="400110"/>
          </a:xfrm>
          <a:prstGeom prst="rect">
            <a:avLst/>
          </a:prstGeom>
          <a:noFill/>
        </p:spPr>
        <p:txBody>
          <a:bodyPr wrap="square">
            <a:spAutoFit/>
          </a:bodyPr>
          <a:lstStyle/>
          <a:p>
            <a:pPr algn="ctr">
              <a:defRPr sz="2000" b="1">
                <a:solidFill>
                  <a:srgbClr val="BE3737"/>
                </a:solidFill>
              </a:defRPr>
            </a:pPr>
            <a:r>
              <a:rPr lang="en-US" sz="2000" dirty="0"/>
              <a:t>Rule: Never dereference an invalid or NULL pointer.</a:t>
            </a:r>
          </a:p>
        </p:txBody>
      </p:sp>
    </p:spTree>
    <p:extLst>
      <p:ext uri="{BB962C8B-B14F-4D97-AF65-F5344CB8AC3E}">
        <p14:creationId xmlns:p14="http://schemas.microsoft.com/office/powerpoint/2010/main" val="20286600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22C8-CE17-3EA3-3D21-EF3C2AB0DDCA}"/>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413CA085-9160-8F9E-5CD4-633486072AE1}"/>
              </a:ext>
            </a:extLst>
          </p:cNvPr>
          <p:cNvSpPr>
            <a:spLocks noGrp="1"/>
          </p:cNvSpPr>
          <p:nvPr>
            <p:ph idx="1"/>
          </p:nvPr>
        </p:nvSpPr>
        <p:spPr/>
        <p:txBody>
          <a:bodyPr/>
          <a:lstStyle/>
          <a:p>
            <a:pPr marL="0" indent="0">
              <a:spcAft>
                <a:spcPts val="800"/>
              </a:spcAft>
              <a:buNone/>
              <a:defRPr sz="1800"/>
            </a:pPr>
            <a:r>
              <a:rPr lang="en-US" dirty="0"/>
              <a:t>Predict the output before checking the answer.</a:t>
            </a:r>
          </a:p>
          <a:p>
            <a:pPr>
              <a:spcAft>
                <a:spcPts val="800"/>
              </a:spcAft>
              <a:defRPr sz="1800"/>
            </a:pPr>
            <a:r>
              <a:rPr lang="en-US" dirty="0"/>
              <a:t>Q1. int x=10; int *p=&amp;x; </a:t>
            </a:r>
            <a:r>
              <a:rPr lang="en-US" dirty="0" err="1"/>
              <a:t>printf</a:t>
            </a:r>
            <a:r>
              <a:rPr lang="en-US" dirty="0"/>
              <a:t>("%d", *p);</a:t>
            </a:r>
          </a:p>
          <a:p>
            <a:pPr>
              <a:spcAft>
                <a:spcPts val="800"/>
              </a:spcAft>
              <a:defRPr sz="1800"/>
            </a:pPr>
            <a:r>
              <a:rPr lang="en-US" dirty="0"/>
              <a:t>Q2. int x=10; int *p=&amp;x; *p=25; </a:t>
            </a:r>
            <a:r>
              <a:rPr lang="en-US" dirty="0" err="1"/>
              <a:t>printf</a:t>
            </a:r>
            <a:r>
              <a:rPr lang="en-US" dirty="0"/>
              <a:t>("%d", x);</a:t>
            </a:r>
          </a:p>
          <a:p>
            <a:pPr>
              <a:spcAft>
                <a:spcPts val="800"/>
              </a:spcAft>
              <a:defRPr sz="1800"/>
            </a:pPr>
            <a:r>
              <a:rPr lang="en-US" dirty="0"/>
              <a:t>Q3. int a[]={10,20,30}; int *p=a; </a:t>
            </a:r>
            <a:r>
              <a:rPr lang="en-US" dirty="0" err="1"/>
              <a:t>printf</a:t>
            </a:r>
            <a:r>
              <a:rPr lang="en-US" dirty="0"/>
              <a:t>("%d", *(p+2));</a:t>
            </a:r>
          </a:p>
          <a:p>
            <a:pPr>
              <a:spcAft>
                <a:spcPts val="800"/>
              </a:spcAft>
              <a:defRPr sz="1800"/>
            </a:pPr>
            <a:r>
              <a:rPr lang="en-US" dirty="0"/>
              <a:t>Q4. What does &amp;x return?</a:t>
            </a:r>
          </a:p>
          <a:p>
            <a:pPr>
              <a:spcAft>
                <a:spcPts val="800"/>
              </a:spcAft>
              <a:defRPr sz="1800"/>
            </a:pPr>
            <a:r>
              <a:rPr lang="en-US" dirty="0"/>
              <a:t>Q5. What does *p return when p points to x?</a:t>
            </a:r>
          </a:p>
          <a:p>
            <a:endParaRPr lang="en-IN" dirty="0"/>
          </a:p>
        </p:txBody>
      </p:sp>
    </p:spTree>
    <p:extLst>
      <p:ext uri="{BB962C8B-B14F-4D97-AF65-F5344CB8AC3E}">
        <p14:creationId xmlns:p14="http://schemas.microsoft.com/office/powerpoint/2010/main" val="147089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8AF0-20D2-B244-A4DE-1956F873401B}"/>
              </a:ext>
            </a:extLst>
          </p:cNvPr>
          <p:cNvSpPr>
            <a:spLocks noGrp="1"/>
          </p:cNvSpPr>
          <p:nvPr>
            <p:ph type="title"/>
          </p:nvPr>
        </p:nvSpPr>
        <p:spPr/>
        <p:txBody>
          <a:bodyPr/>
          <a:lstStyle/>
          <a:p>
            <a:r>
              <a:rPr lang="en-IN" dirty="0"/>
              <a:t>Practice Answers</a:t>
            </a:r>
          </a:p>
        </p:txBody>
      </p:sp>
      <p:sp>
        <p:nvSpPr>
          <p:cNvPr id="3" name="Content Placeholder 2">
            <a:extLst>
              <a:ext uri="{FF2B5EF4-FFF2-40B4-BE49-F238E27FC236}">
                <a16:creationId xmlns:a16="http://schemas.microsoft.com/office/drawing/2014/main" id="{84893EA5-5AE0-83CB-028D-BF3C77AD1865}"/>
              </a:ext>
            </a:extLst>
          </p:cNvPr>
          <p:cNvSpPr>
            <a:spLocks noGrp="1"/>
          </p:cNvSpPr>
          <p:nvPr>
            <p:ph idx="1"/>
          </p:nvPr>
        </p:nvSpPr>
        <p:spPr/>
        <p:txBody>
          <a:bodyPr/>
          <a:lstStyle/>
          <a:p>
            <a:pPr>
              <a:spcAft>
                <a:spcPts val="800"/>
              </a:spcAft>
              <a:defRPr sz="1800"/>
            </a:pPr>
            <a:r>
              <a:rPr lang="en-US" dirty="0"/>
              <a:t>A1. 10</a:t>
            </a:r>
          </a:p>
          <a:p>
            <a:pPr>
              <a:spcAft>
                <a:spcPts val="800"/>
              </a:spcAft>
              <a:defRPr sz="1800"/>
            </a:pPr>
            <a:r>
              <a:rPr lang="en-US" dirty="0"/>
              <a:t>A2. 25</a:t>
            </a:r>
          </a:p>
          <a:p>
            <a:pPr>
              <a:spcAft>
                <a:spcPts val="800"/>
              </a:spcAft>
              <a:defRPr sz="1800"/>
            </a:pPr>
            <a:r>
              <a:rPr lang="en-US" dirty="0"/>
              <a:t>A3. 30</a:t>
            </a:r>
          </a:p>
          <a:p>
            <a:pPr>
              <a:spcAft>
                <a:spcPts val="800"/>
              </a:spcAft>
              <a:defRPr sz="1800"/>
            </a:pPr>
            <a:r>
              <a:rPr lang="en-US" dirty="0"/>
              <a:t>A4. The memory address of x.</a:t>
            </a:r>
          </a:p>
          <a:p>
            <a:pPr>
              <a:spcAft>
                <a:spcPts val="800"/>
              </a:spcAft>
              <a:defRPr sz="1800"/>
            </a:pPr>
            <a:r>
              <a:rPr lang="en-US" dirty="0"/>
              <a:t>A5. The value stored at the address contained in p.</a:t>
            </a:r>
          </a:p>
          <a:p>
            <a:pPr>
              <a:spcAft>
                <a:spcPts val="800"/>
              </a:spcAft>
              <a:defRPr sz="1800"/>
            </a:pPr>
            <a:r>
              <a:rPr lang="en-US" dirty="0"/>
              <a:t>Key rule: &amp; gives an address; * accesses the value at an address.</a:t>
            </a:r>
          </a:p>
          <a:p>
            <a:endParaRPr lang="en-IN" dirty="0"/>
          </a:p>
        </p:txBody>
      </p:sp>
    </p:spTree>
    <p:extLst>
      <p:ext uri="{BB962C8B-B14F-4D97-AF65-F5344CB8AC3E}">
        <p14:creationId xmlns:p14="http://schemas.microsoft.com/office/powerpoint/2010/main" val="6668385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normAutofit/>
          </a:bodyPr>
          <a:lstStyle/>
          <a:p>
            <a:pPr lvl="0"/>
            <a:r>
              <a:rPr lang="en-IN" dirty="0"/>
              <a:t>[1] B. W. Kernighan and D. M. Ritchie, </a:t>
            </a:r>
            <a:r>
              <a:rPr lang="en-IN" i="1" dirty="0"/>
              <a:t>The C Programming Language</a:t>
            </a:r>
            <a:r>
              <a:rPr lang="en-IN" dirty="0"/>
              <a:t>, 2nd ed., Prentice Hall, 1988.</a:t>
            </a:r>
            <a:br>
              <a:rPr lang="en-IN" dirty="0"/>
            </a:br>
            <a:r>
              <a:rPr lang="en-IN" dirty="0"/>
              <a:t>[2] E. </a:t>
            </a:r>
            <a:r>
              <a:rPr lang="en-IN" dirty="0" err="1"/>
              <a:t>Balagurusamy</a:t>
            </a:r>
            <a:r>
              <a:rPr lang="en-IN" dirty="0"/>
              <a:t>, </a:t>
            </a:r>
            <a:r>
              <a:rPr lang="en-IN" i="1" dirty="0"/>
              <a:t>Programming in ANSI C</a:t>
            </a:r>
            <a:r>
              <a:rPr lang="en-IN" dirty="0"/>
              <a:t>, 8th ed., McGraw Hill Education, 2019.</a:t>
            </a:r>
            <a:br>
              <a:rPr lang="en-IN" dirty="0"/>
            </a:br>
            <a:r>
              <a:rPr lang="en-IN" dirty="0"/>
              <a:t>[3] K. N. King, </a:t>
            </a:r>
            <a:r>
              <a:rPr lang="en-IN" i="1" dirty="0"/>
              <a:t>C Programming: A Modern Approach</a:t>
            </a:r>
            <a:r>
              <a:rPr lang="en-IN" dirty="0"/>
              <a:t>, 2nd ed., W. W. Norton &amp; Company, 2008.</a:t>
            </a:r>
            <a:br>
              <a:rPr lang="en-IN" dirty="0"/>
            </a:br>
            <a:r>
              <a:rPr lang="en-IN" dirty="0"/>
              <a:t>[4] H. Schildt, </a:t>
            </a:r>
            <a:r>
              <a:rPr lang="en-IN" i="1" dirty="0"/>
              <a:t>C: The Complete Reference</a:t>
            </a:r>
            <a:r>
              <a:rPr lang="en-IN" dirty="0"/>
              <a:t>, 4th ed., McGraw-Hill Education, 2017.</a:t>
            </a:r>
            <a:br>
              <a:rPr lang="en-IN" dirty="0"/>
            </a:br>
            <a:r>
              <a:rPr lang="en-IN" dirty="0"/>
              <a:t>[5] ISO/IEC 9899:2018, </a:t>
            </a:r>
            <a:r>
              <a:rPr lang="en-IN" i="1" dirty="0"/>
              <a:t>Programming Languages — C</a:t>
            </a:r>
            <a:r>
              <a:rPr lang="en-IN" dirty="0"/>
              <a:t>, ISO, 2018.</a:t>
            </a:r>
          </a:p>
        </p:txBody>
      </p:sp>
    </p:spTree>
    <p:extLst>
      <p:ext uri="{BB962C8B-B14F-4D97-AF65-F5344CB8AC3E}">
        <p14:creationId xmlns:p14="http://schemas.microsoft.com/office/powerpoint/2010/main" val="42037555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7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6</a:t>
            </a:r>
          </a:p>
          <a:p>
            <a:r>
              <a:rPr lang="en-IN" b="1" dirty="0">
                <a:latin typeface="Times New Roman" panose="02020603050405020304" pitchFamily="18" charset="0"/>
                <a:cs typeface="Times New Roman" panose="02020603050405020304" pitchFamily="18" charset="0"/>
              </a:rPr>
              <a:t>SLO 1 :At the end of this session the learners will be able to </a:t>
            </a:r>
            <a:r>
              <a:rPr lang="en-IN" dirty="0"/>
              <a:t>Design helper functions to modularize complex problems and improve clarity of the solution approach. Design and implement functions with return values in C.</a:t>
            </a:r>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21305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pPr lvl="0"/>
            <a:r>
              <a:rPr lang="en-IN" dirty="0"/>
              <a:t>Identify complex tasks within a programming problem. </a:t>
            </a:r>
          </a:p>
          <a:p>
            <a:pPr lvl="0"/>
            <a:r>
              <a:rPr lang="en-IN" dirty="0"/>
              <a:t>Break a large problem into smaller modules. </a:t>
            </a:r>
          </a:p>
          <a:p>
            <a:pPr lvl="0"/>
            <a:r>
              <a:rPr lang="en-IN" dirty="0"/>
              <a:t>Design suitable </a:t>
            </a:r>
            <a:r>
              <a:rPr lang="en-IN" b="1" dirty="0"/>
              <a:t>helper functions</a:t>
            </a:r>
            <a:r>
              <a:rPr lang="en-IN" dirty="0"/>
              <a:t>. </a:t>
            </a:r>
          </a:p>
          <a:p>
            <a:pPr lvl="0"/>
            <a:r>
              <a:rPr lang="en-IN" dirty="0"/>
              <a:t>Select appropriate </a:t>
            </a:r>
            <a:r>
              <a:rPr lang="en-IN" b="1" dirty="0"/>
              <a:t>parameters and return types</a:t>
            </a:r>
            <a:r>
              <a:rPr lang="en-IN" dirty="0"/>
              <a:t>. </a:t>
            </a:r>
          </a:p>
          <a:p>
            <a:pPr lvl="0"/>
            <a:r>
              <a:rPr lang="en-IN" dirty="0"/>
              <a:t>Implement functions that return values. </a:t>
            </a:r>
          </a:p>
          <a:p>
            <a:pPr lvl="0"/>
            <a:r>
              <a:rPr lang="en-IN" dirty="0"/>
              <a:t>Call and integrate multiple functions in main(). </a:t>
            </a:r>
          </a:p>
          <a:p>
            <a:pPr lvl="0"/>
            <a:r>
              <a:rPr lang="en-IN" dirty="0"/>
              <a:t>Test individual functions and the complete program. </a:t>
            </a:r>
          </a:p>
          <a:p>
            <a:pPr lvl="0"/>
            <a:r>
              <a:rPr lang="en-IN" dirty="0"/>
              <a:t>Apply modular programming to real-world problems.</a:t>
            </a:r>
          </a:p>
          <a:p>
            <a:endParaRPr lang="en-IN" dirty="0"/>
          </a:p>
        </p:txBody>
      </p:sp>
    </p:spTree>
    <p:extLst>
      <p:ext uri="{BB962C8B-B14F-4D97-AF65-F5344CB8AC3E}">
        <p14:creationId xmlns:p14="http://schemas.microsoft.com/office/powerpoint/2010/main" val="19100770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CAEA-B921-B267-16AC-31938C5D1565}"/>
              </a:ext>
            </a:extLst>
          </p:cNvPr>
          <p:cNvSpPr>
            <a:spLocks noGrp="1"/>
          </p:cNvSpPr>
          <p:nvPr>
            <p:ph type="title"/>
          </p:nvPr>
        </p:nvSpPr>
        <p:spPr/>
        <p:txBody>
          <a:bodyPr/>
          <a:lstStyle/>
          <a:p>
            <a:pPr>
              <a:defRPr sz="2800" b="1"/>
            </a:pPr>
            <a:r>
              <a:rPr lang="en-US" dirty="0"/>
              <a:t>Why Do We Need Functions?</a:t>
            </a:r>
          </a:p>
        </p:txBody>
      </p:sp>
      <p:sp>
        <p:nvSpPr>
          <p:cNvPr id="3" name="Content Placeholder 2">
            <a:extLst>
              <a:ext uri="{FF2B5EF4-FFF2-40B4-BE49-F238E27FC236}">
                <a16:creationId xmlns:a16="http://schemas.microsoft.com/office/drawing/2014/main" id="{E32A11A7-4649-83EE-2A20-59F368358E0D}"/>
              </a:ext>
            </a:extLst>
          </p:cNvPr>
          <p:cNvSpPr>
            <a:spLocks noGrp="1"/>
          </p:cNvSpPr>
          <p:nvPr>
            <p:ph idx="1"/>
          </p:nvPr>
        </p:nvSpPr>
        <p:spPr>
          <a:xfrm>
            <a:off x="1105884" y="2898058"/>
            <a:ext cx="10287000" cy="2747962"/>
          </a:xfrm>
        </p:spPr>
        <p:txBody>
          <a:bodyPr numCol="2">
            <a:noAutofit/>
          </a:bodyPr>
          <a:lstStyle/>
          <a:p>
            <a:pPr marL="0" indent="0">
              <a:spcAft>
                <a:spcPts val="500"/>
              </a:spcAft>
              <a:buNone/>
              <a:defRPr sz="1700"/>
            </a:pPr>
            <a:r>
              <a:rPr lang="en-IN" sz="1400" b="1" dirty="0"/>
              <a:t>Example: Student result processing</a:t>
            </a:r>
          </a:p>
          <a:p>
            <a:pPr marL="0" indent="0">
              <a:spcAft>
                <a:spcPts val="500"/>
              </a:spcAft>
              <a:buNone/>
              <a:defRPr sz="1700"/>
            </a:pPr>
            <a:r>
              <a:rPr lang="en-IN" sz="1400" dirty="0"/>
              <a:t>• Calculate total marks</a:t>
            </a:r>
          </a:p>
          <a:p>
            <a:pPr marL="0" indent="0">
              <a:spcAft>
                <a:spcPts val="500"/>
              </a:spcAft>
              <a:buNone/>
              <a:defRPr sz="1700"/>
            </a:pPr>
            <a:r>
              <a:rPr lang="en-IN" sz="1400" dirty="0"/>
              <a:t>• Calculate average</a:t>
            </a:r>
          </a:p>
          <a:p>
            <a:pPr marL="0" indent="0">
              <a:spcAft>
                <a:spcPts val="500"/>
              </a:spcAft>
              <a:buNone/>
              <a:defRPr sz="1700"/>
            </a:pPr>
            <a:r>
              <a:rPr lang="en-IN" sz="1400" dirty="0"/>
              <a:t>• Calculate percentage</a:t>
            </a:r>
          </a:p>
          <a:p>
            <a:pPr marL="0" indent="0">
              <a:spcAft>
                <a:spcPts val="500"/>
              </a:spcAft>
              <a:buNone/>
              <a:defRPr sz="1700"/>
            </a:pPr>
            <a:r>
              <a:rPr lang="en-IN" sz="1400" dirty="0"/>
              <a:t>• Calculate grade</a:t>
            </a:r>
          </a:p>
          <a:p>
            <a:pPr marL="0" indent="0">
              <a:spcAft>
                <a:spcPts val="500"/>
              </a:spcAft>
              <a:buNone/>
              <a:defRPr sz="1700"/>
            </a:pPr>
            <a:r>
              <a:rPr lang="en-IN" sz="1400" dirty="0"/>
              <a:t>• Determine pass/fail</a:t>
            </a:r>
          </a:p>
          <a:p>
            <a:pPr marL="0" indent="0">
              <a:spcAft>
                <a:spcPts val="500"/>
              </a:spcAft>
              <a:buNone/>
              <a:defRPr sz="1700"/>
            </a:pPr>
            <a:endParaRPr lang="en-IN" sz="1400" dirty="0"/>
          </a:p>
          <a:p>
            <a:pPr marL="0" indent="0">
              <a:spcAft>
                <a:spcPts val="500"/>
              </a:spcAft>
              <a:buNone/>
              <a:defRPr sz="1700"/>
            </a:pPr>
            <a:endParaRPr lang="en-IN" sz="1400" b="1" dirty="0"/>
          </a:p>
          <a:p>
            <a:pPr marL="0" indent="0">
              <a:spcAft>
                <a:spcPts val="500"/>
              </a:spcAft>
              <a:buNone/>
              <a:defRPr sz="1700"/>
            </a:pPr>
            <a:endParaRPr lang="en-IN" sz="1400" b="1" dirty="0"/>
          </a:p>
          <a:p>
            <a:pPr marL="0" indent="0">
              <a:spcAft>
                <a:spcPts val="500"/>
              </a:spcAft>
              <a:buNone/>
              <a:defRPr sz="1700"/>
            </a:pPr>
            <a:r>
              <a:rPr lang="en-IN" sz="1400" b="1" dirty="0"/>
              <a:t>Without functions:</a:t>
            </a:r>
          </a:p>
          <a:p>
            <a:pPr marL="0" indent="0">
              <a:spcAft>
                <a:spcPts val="500"/>
              </a:spcAft>
              <a:buNone/>
              <a:defRPr sz="1700"/>
            </a:pPr>
            <a:r>
              <a:rPr lang="en-IN" sz="1400" dirty="0"/>
              <a:t>main() → Input → All calculations → Display</a:t>
            </a:r>
          </a:p>
          <a:p>
            <a:pPr marL="0" indent="0">
              <a:spcAft>
                <a:spcPts val="500"/>
              </a:spcAft>
              <a:buNone/>
              <a:defRPr sz="1700"/>
            </a:pPr>
            <a:r>
              <a:rPr lang="en-IN" sz="1400" b="1" dirty="0"/>
              <a:t>Problems:</a:t>
            </a:r>
          </a:p>
          <a:p>
            <a:pPr marL="0" indent="0">
              <a:spcAft>
                <a:spcPts val="500"/>
              </a:spcAft>
              <a:buNone/>
              <a:defRPr sz="1700"/>
            </a:pPr>
            <a:r>
              <a:rPr lang="en-IN" sz="1400" dirty="0"/>
              <a:t>• Long code</a:t>
            </a:r>
          </a:p>
          <a:p>
            <a:pPr marL="0" indent="0">
              <a:spcAft>
                <a:spcPts val="500"/>
              </a:spcAft>
              <a:buNone/>
              <a:defRPr sz="1700"/>
            </a:pPr>
            <a:r>
              <a:rPr lang="en-IN" sz="1400" dirty="0"/>
              <a:t>• Difficult debugging</a:t>
            </a:r>
          </a:p>
          <a:p>
            <a:pPr marL="0" indent="0">
              <a:spcAft>
                <a:spcPts val="500"/>
              </a:spcAft>
              <a:buNone/>
              <a:defRPr sz="1700"/>
            </a:pPr>
            <a:r>
              <a:rPr lang="en-IN" sz="1400" dirty="0"/>
              <a:t>• Repeated logic</a:t>
            </a:r>
          </a:p>
          <a:p>
            <a:pPr marL="0" indent="0">
              <a:spcAft>
                <a:spcPts val="500"/>
              </a:spcAft>
              <a:buNone/>
              <a:defRPr sz="1700"/>
            </a:pPr>
            <a:r>
              <a:rPr lang="en-IN" sz="1400" dirty="0"/>
              <a:t>• Poor readability</a:t>
            </a:r>
          </a:p>
          <a:p>
            <a:pPr marL="0" indent="0">
              <a:spcAft>
                <a:spcPts val="500"/>
              </a:spcAft>
              <a:buNone/>
              <a:defRPr sz="1700"/>
            </a:pPr>
            <a:r>
              <a:rPr lang="en-IN" sz="1600" b="1" dirty="0">
                <a:highlight>
                  <a:srgbClr val="FFFF00"/>
                </a:highlight>
              </a:rPr>
              <a:t>Solution: Divide the problem into smaller functions</a:t>
            </a:r>
            <a:r>
              <a:rPr lang="en-IN" sz="1600" dirty="0">
                <a:highlight>
                  <a:srgbClr val="FFFF00"/>
                </a:highlight>
              </a:rPr>
              <a:t>.</a:t>
            </a:r>
          </a:p>
        </p:txBody>
      </p:sp>
      <p:sp>
        <p:nvSpPr>
          <p:cNvPr id="5" name="TextBox 4">
            <a:extLst>
              <a:ext uri="{FF2B5EF4-FFF2-40B4-BE49-F238E27FC236}">
                <a16:creationId xmlns:a16="http://schemas.microsoft.com/office/drawing/2014/main" id="{1B0F5B7F-AFDA-FC68-DD94-E9E92E2132B0}"/>
              </a:ext>
            </a:extLst>
          </p:cNvPr>
          <p:cNvSpPr txBox="1"/>
          <p:nvPr/>
        </p:nvSpPr>
        <p:spPr>
          <a:xfrm>
            <a:off x="952500" y="2066835"/>
            <a:ext cx="10386060"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To modularize complex problems and improve clarity, the functions can be designed that follow the </a:t>
            </a:r>
            <a:r>
              <a:rPr lang="en-IN" sz="1600" b="0" u="none" strike="noStrike" dirty="0">
                <a:effectLst/>
                <a:latin typeface="Times New Roman" panose="02020603050405020304" pitchFamily="18" charset="0"/>
                <a:cs typeface="Times New Roman" panose="02020603050405020304" pitchFamily="18" charset="0"/>
              </a:rPr>
              <a:t>Single Responsibility Principle</a:t>
            </a:r>
            <a:r>
              <a:rPr lang="en-IN" sz="1600" dirty="0">
                <a:latin typeface="Times New Roman" panose="02020603050405020304" pitchFamily="18" charset="0"/>
                <a:cs typeface="Times New Roman" panose="02020603050405020304" pitchFamily="18" charset="0"/>
              </a:rPr>
              <a:t>—each function does exactly one job, does it well, and returns a clear result.</a:t>
            </a:r>
          </a:p>
        </p:txBody>
      </p:sp>
    </p:spTree>
    <p:extLst>
      <p:ext uri="{BB962C8B-B14F-4D97-AF65-F5344CB8AC3E}">
        <p14:creationId xmlns:p14="http://schemas.microsoft.com/office/powerpoint/2010/main" val="196742989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FDE08-84F8-EB5B-50DC-2B82E5D4F4F6}"/>
              </a:ext>
            </a:extLst>
          </p:cNvPr>
          <p:cNvSpPr>
            <a:spLocks noGrp="1"/>
          </p:cNvSpPr>
          <p:nvPr>
            <p:ph type="title"/>
          </p:nvPr>
        </p:nvSpPr>
        <p:spPr/>
        <p:txBody>
          <a:bodyPr/>
          <a:lstStyle/>
          <a:p>
            <a:r>
              <a:rPr lang="en-IN" dirty="0"/>
              <a:t>What is Modular Programming?</a:t>
            </a:r>
          </a:p>
        </p:txBody>
      </p:sp>
      <p:sp>
        <p:nvSpPr>
          <p:cNvPr id="3" name="Content Placeholder 2">
            <a:extLst>
              <a:ext uri="{FF2B5EF4-FFF2-40B4-BE49-F238E27FC236}">
                <a16:creationId xmlns:a16="http://schemas.microsoft.com/office/drawing/2014/main" id="{03AE9323-C552-7036-EE8A-42A61EFD14EC}"/>
              </a:ext>
            </a:extLst>
          </p:cNvPr>
          <p:cNvSpPr>
            <a:spLocks noGrp="1"/>
          </p:cNvSpPr>
          <p:nvPr>
            <p:ph idx="1"/>
          </p:nvPr>
        </p:nvSpPr>
        <p:spPr>
          <a:xfrm>
            <a:off x="952500" y="3315437"/>
            <a:ext cx="10287000" cy="2861525"/>
          </a:xfrm>
        </p:spPr>
        <p:txBody>
          <a:bodyPr numCol="2">
            <a:noAutofit/>
          </a:bodyPr>
          <a:lstStyle/>
          <a:p>
            <a:pPr marL="0" indent="0">
              <a:spcAft>
                <a:spcPts val="500"/>
              </a:spcAft>
              <a:buNone/>
              <a:defRPr sz="1700"/>
            </a:pPr>
            <a:r>
              <a:rPr lang="en-IN" sz="1400" dirty="0"/>
              <a:t>Student Result</a:t>
            </a:r>
          </a:p>
          <a:p>
            <a:pPr marL="0" indent="0">
              <a:spcAft>
                <a:spcPts val="500"/>
              </a:spcAft>
              <a:buNone/>
              <a:defRPr sz="1700"/>
            </a:pPr>
            <a:r>
              <a:rPr lang="en-IN" sz="1400" dirty="0"/>
              <a:t>├── </a:t>
            </a:r>
            <a:r>
              <a:rPr lang="en-IN" sz="1400" dirty="0" err="1"/>
              <a:t>calculateTotal</a:t>
            </a:r>
            <a:r>
              <a:rPr lang="en-IN" sz="1400" dirty="0"/>
              <a:t>()</a:t>
            </a:r>
          </a:p>
          <a:p>
            <a:pPr marL="0" indent="0">
              <a:spcAft>
                <a:spcPts val="500"/>
              </a:spcAft>
              <a:buNone/>
              <a:defRPr sz="1700"/>
            </a:pPr>
            <a:r>
              <a:rPr lang="en-IN" sz="1400" dirty="0"/>
              <a:t>├── </a:t>
            </a:r>
            <a:r>
              <a:rPr lang="en-IN" sz="1400" dirty="0" err="1"/>
              <a:t>calculateAverage</a:t>
            </a:r>
            <a:r>
              <a:rPr lang="en-IN" sz="1400" dirty="0"/>
              <a:t>()</a:t>
            </a:r>
          </a:p>
          <a:p>
            <a:pPr marL="0" indent="0">
              <a:spcAft>
                <a:spcPts val="500"/>
              </a:spcAft>
              <a:buNone/>
              <a:defRPr sz="1700"/>
            </a:pPr>
            <a:r>
              <a:rPr lang="en-IN" sz="1400" dirty="0"/>
              <a:t>├── </a:t>
            </a:r>
            <a:r>
              <a:rPr lang="en-IN" sz="1400" dirty="0" err="1"/>
              <a:t>calculateGrade</a:t>
            </a:r>
            <a:r>
              <a:rPr lang="en-IN" sz="1400" dirty="0"/>
              <a:t>()</a:t>
            </a:r>
          </a:p>
          <a:p>
            <a:pPr marL="0" indent="0">
              <a:spcAft>
                <a:spcPts val="500"/>
              </a:spcAft>
              <a:buNone/>
              <a:defRPr sz="1700"/>
            </a:pPr>
            <a:r>
              <a:rPr lang="en-IN" sz="1400" dirty="0"/>
              <a:t>└── </a:t>
            </a:r>
            <a:r>
              <a:rPr lang="en-IN" sz="1400" dirty="0" err="1"/>
              <a:t>displayResult</a:t>
            </a:r>
            <a:r>
              <a:rPr lang="en-IN" sz="1400" dirty="0"/>
              <a:t>()</a:t>
            </a:r>
          </a:p>
          <a:p>
            <a:pPr marL="0" indent="0">
              <a:spcAft>
                <a:spcPts val="500"/>
              </a:spcAft>
              <a:buNone/>
              <a:defRPr sz="1700"/>
            </a:pPr>
            <a:endParaRPr lang="en-IN" sz="1400" dirty="0"/>
          </a:p>
          <a:p>
            <a:pPr marL="0" indent="0">
              <a:spcAft>
                <a:spcPts val="500"/>
              </a:spcAft>
              <a:buNone/>
              <a:defRPr sz="1700"/>
            </a:pPr>
            <a:endParaRPr lang="en-IN" sz="1400" dirty="0"/>
          </a:p>
          <a:p>
            <a:pPr marL="0" indent="0">
              <a:spcAft>
                <a:spcPts val="500"/>
              </a:spcAft>
              <a:buNone/>
              <a:defRPr sz="1700"/>
            </a:pPr>
            <a:r>
              <a:rPr lang="en-IN" sz="1400" dirty="0"/>
              <a:t>Advantages:</a:t>
            </a:r>
          </a:p>
          <a:p>
            <a:pPr marL="0" indent="0">
              <a:spcAft>
                <a:spcPts val="500"/>
              </a:spcAft>
              <a:buNone/>
              <a:defRPr sz="1700"/>
            </a:pPr>
            <a:r>
              <a:rPr lang="en-IN" sz="1400" dirty="0"/>
              <a:t>• Improves readability</a:t>
            </a:r>
          </a:p>
          <a:p>
            <a:pPr marL="0" indent="0">
              <a:spcAft>
                <a:spcPts val="500"/>
              </a:spcAft>
              <a:buNone/>
              <a:defRPr sz="1700"/>
            </a:pPr>
            <a:r>
              <a:rPr lang="en-IN" sz="1400" dirty="0"/>
              <a:t>• Simplifies debugging</a:t>
            </a:r>
          </a:p>
          <a:p>
            <a:pPr marL="0" indent="0">
              <a:spcAft>
                <a:spcPts val="500"/>
              </a:spcAft>
              <a:buNone/>
              <a:defRPr sz="1700"/>
            </a:pPr>
            <a:r>
              <a:rPr lang="en-IN" sz="1400" dirty="0"/>
              <a:t>• Promotes code reuse</a:t>
            </a:r>
          </a:p>
          <a:p>
            <a:pPr marL="0" indent="0">
              <a:spcAft>
                <a:spcPts val="500"/>
              </a:spcAft>
              <a:buNone/>
              <a:defRPr sz="1700"/>
            </a:pPr>
            <a:r>
              <a:rPr lang="en-IN" sz="1400" dirty="0"/>
              <a:t>• Reduces complexity</a:t>
            </a:r>
          </a:p>
          <a:p>
            <a:pPr marL="0" indent="0">
              <a:spcAft>
                <a:spcPts val="500"/>
              </a:spcAft>
              <a:buNone/>
              <a:defRPr sz="1700"/>
            </a:pPr>
            <a:r>
              <a:rPr lang="en-IN" sz="1400" dirty="0"/>
              <a:t>• Makes testing easier</a:t>
            </a:r>
          </a:p>
        </p:txBody>
      </p:sp>
      <p:sp>
        <p:nvSpPr>
          <p:cNvPr id="5" name="TextBox 4">
            <a:extLst>
              <a:ext uri="{FF2B5EF4-FFF2-40B4-BE49-F238E27FC236}">
                <a16:creationId xmlns:a16="http://schemas.microsoft.com/office/drawing/2014/main" id="{8AE7CA9C-0CB2-A22B-517F-535C550016B4}"/>
              </a:ext>
            </a:extLst>
          </p:cNvPr>
          <p:cNvSpPr txBox="1"/>
          <p:nvPr/>
        </p:nvSpPr>
        <p:spPr>
          <a:xfrm>
            <a:off x="952499" y="2232149"/>
            <a:ext cx="10286999" cy="338554"/>
          </a:xfrm>
          <a:prstGeom prst="rect">
            <a:avLst/>
          </a:prstGeom>
          <a:noFill/>
        </p:spPr>
        <p:txBody>
          <a:bodyPr wrap="square">
            <a:spAutoFit/>
          </a:bodyPr>
          <a:lstStyle/>
          <a:p>
            <a:pPr marL="0" indent="0">
              <a:spcAft>
                <a:spcPts val="500"/>
              </a:spcAft>
              <a:buNone/>
              <a:defRPr sz="1700"/>
            </a:pPr>
            <a:r>
              <a:rPr lang="en-IN" sz="1600" dirty="0"/>
              <a:t>Modular programming means breaking a large problem into small, independent modules/functions.</a:t>
            </a:r>
          </a:p>
        </p:txBody>
      </p:sp>
    </p:spTree>
    <p:extLst>
      <p:ext uri="{BB962C8B-B14F-4D97-AF65-F5344CB8AC3E}">
        <p14:creationId xmlns:p14="http://schemas.microsoft.com/office/powerpoint/2010/main" val="319752647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E0E4-1006-01B0-405E-267B6B53B7C9}"/>
              </a:ext>
            </a:extLst>
          </p:cNvPr>
          <p:cNvSpPr>
            <a:spLocks noGrp="1"/>
          </p:cNvSpPr>
          <p:nvPr>
            <p:ph type="title"/>
          </p:nvPr>
        </p:nvSpPr>
        <p:spPr/>
        <p:txBody>
          <a:bodyPr/>
          <a:lstStyle/>
          <a:p>
            <a:r>
              <a:rPr lang="en-IN" dirty="0"/>
              <a:t>Anatomy of a Function</a:t>
            </a:r>
          </a:p>
        </p:txBody>
      </p:sp>
      <p:sp>
        <p:nvSpPr>
          <p:cNvPr id="3" name="Content Placeholder 2">
            <a:extLst>
              <a:ext uri="{FF2B5EF4-FFF2-40B4-BE49-F238E27FC236}">
                <a16:creationId xmlns:a16="http://schemas.microsoft.com/office/drawing/2014/main" id="{CEEA79FC-B943-7516-E3CA-4C647D51FB93}"/>
              </a:ext>
            </a:extLst>
          </p:cNvPr>
          <p:cNvSpPr>
            <a:spLocks noGrp="1"/>
          </p:cNvSpPr>
          <p:nvPr>
            <p:ph idx="1"/>
          </p:nvPr>
        </p:nvSpPr>
        <p:spPr/>
        <p:txBody>
          <a:bodyPr numCol="3">
            <a:normAutofit/>
          </a:bodyPr>
          <a:lstStyle/>
          <a:p>
            <a:r>
              <a:rPr lang="en-IN" dirty="0"/>
              <a:t>General Syntax</a:t>
            </a:r>
          </a:p>
          <a:p>
            <a:pPr marL="0" indent="0">
              <a:buNone/>
            </a:pPr>
            <a:r>
              <a:rPr lang="en-US" dirty="0" err="1"/>
              <a:t>return_type</a:t>
            </a:r>
            <a:r>
              <a:rPr lang="en-US" dirty="0"/>
              <a:t> </a:t>
            </a:r>
            <a:r>
              <a:rPr lang="en-US" dirty="0" err="1"/>
              <a:t>function_name</a:t>
            </a:r>
            <a:r>
              <a:rPr lang="en-US" dirty="0"/>
              <a:t>(parameters)</a:t>
            </a:r>
          </a:p>
          <a:p>
            <a:pPr marL="0" indent="0">
              <a:buNone/>
            </a:pPr>
            <a:r>
              <a:rPr lang="en-US" dirty="0"/>
              <a:t>{</a:t>
            </a:r>
          </a:p>
          <a:p>
            <a:pPr marL="0" indent="0">
              <a:buNone/>
            </a:pPr>
            <a:r>
              <a:rPr lang="en-US" dirty="0"/>
              <a:t>    statements;</a:t>
            </a:r>
          </a:p>
          <a:p>
            <a:pPr marL="0" indent="0">
              <a:buNone/>
            </a:pPr>
            <a:r>
              <a:rPr lang="en-US" dirty="0"/>
              <a:t>    return value;</a:t>
            </a:r>
          </a:p>
          <a:p>
            <a:pPr marL="0" indent="0">
              <a:buNone/>
            </a:pPr>
            <a:r>
              <a:rPr lang="en-US" dirty="0"/>
              <a:t>}</a:t>
            </a:r>
          </a:p>
          <a:p>
            <a:pPr marL="0" indent="0">
              <a:buNone/>
            </a:pPr>
            <a:endParaRPr lang="en-IN" dirty="0"/>
          </a:p>
          <a:p>
            <a:r>
              <a:rPr lang="en-IN" dirty="0"/>
              <a:t>Example</a:t>
            </a:r>
          </a:p>
          <a:p>
            <a:pPr marL="0" indent="0">
              <a:buNone/>
            </a:pPr>
            <a:r>
              <a:rPr lang="en-US" dirty="0"/>
              <a:t>int add(int a, int b)</a:t>
            </a:r>
          </a:p>
          <a:p>
            <a:pPr marL="0" indent="0">
              <a:buNone/>
            </a:pPr>
            <a:r>
              <a:rPr lang="en-US" dirty="0"/>
              <a:t>{</a:t>
            </a:r>
          </a:p>
          <a:p>
            <a:pPr marL="0" indent="0">
              <a:buNone/>
            </a:pPr>
            <a:r>
              <a:rPr lang="en-US" dirty="0"/>
              <a:t>    int sum;</a:t>
            </a:r>
          </a:p>
          <a:p>
            <a:pPr marL="0" indent="0">
              <a:buNone/>
            </a:pPr>
            <a:r>
              <a:rPr lang="en-US" dirty="0"/>
              <a:t>    sum = a + b;</a:t>
            </a:r>
          </a:p>
          <a:p>
            <a:pPr marL="0" indent="0">
              <a:buNone/>
            </a:pPr>
            <a:r>
              <a:rPr lang="en-US" dirty="0"/>
              <a:t>    return sum;</a:t>
            </a:r>
          </a:p>
          <a:p>
            <a:pPr marL="0" indent="0">
              <a:buNone/>
            </a:pPr>
            <a:r>
              <a:rPr lang="en-US" dirty="0"/>
              <a:t>}</a:t>
            </a:r>
          </a:p>
          <a:p>
            <a:pPr marL="0" indent="0">
              <a:buNone/>
            </a:pPr>
            <a:endParaRPr lang="en-IN" dirty="0"/>
          </a:p>
          <a:p>
            <a:r>
              <a:rPr lang="en-IN" dirty="0"/>
              <a:t>Components</a:t>
            </a:r>
          </a:p>
          <a:p>
            <a:pPr marL="0" indent="0">
              <a:buNone/>
            </a:pPr>
            <a:endParaRPr lang="en-IN" dirty="0"/>
          </a:p>
        </p:txBody>
      </p:sp>
      <p:graphicFrame>
        <p:nvGraphicFramePr>
          <p:cNvPr id="4" name="Table 3">
            <a:extLst>
              <a:ext uri="{FF2B5EF4-FFF2-40B4-BE49-F238E27FC236}">
                <a16:creationId xmlns:a16="http://schemas.microsoft.com/office/drawing/2014/main" id="{64119B1B-378C-18E8-3542-9F6BBF912B81}"/>
              </a:ext>
            </a:extLst>
          </p:cNvPr>
          <p:cNvGraphicFramePr>
            <a:graphicFrameLocks noGrp="1"/>
          </p:cNvGraphicFramePr>
          <p:nvPr/>
        </p:nvGraphicFramePr>
        <p:xfrm>
          <a:off x="8008129" y="3057507"/>
          <a:ext cx="3454318" cy="2194560"/>
        </p:xfrm>
        <a:graphic>
          <a:graphicData uri="http://schemas.openxmlformats.org/drawingml/2006/table">
            <a:tbl>
              <a:tblPr>
                <a:tableStyleId>{5C22544A-7EE6-4342-B048-85BDC9FD1C3A}</a:tableStyleId>
              </a:tblPr>
              <a:tblGrid>
                <a:gridCol w="1472135">
                  <a:extLst>
                    <a:ext uri="{9D8B030D-6E8A-4147-A177-3AD203B41FA5}">
                      <a16:colId xmlns:a16="http://schemas.microsoft.com/office/drawing/2014/main" val="3771672624"/>
                    </a:ext>
                  </a:extLst>
                </a:gridCol>
                <a:gridCol w="1982183">
                  <a:extLst>
                    <a:ext uri="{9D8B030D-6E8A-4147-A177-3AD203B41FA5}">
                      <a16:colId xmlns:a16="http://schemas.microsoft.com/office/drawing/2014/main" val="1321938029"/>
                    </a:ext>
                  </a:extLst>
                </a:gridCol>
              </a:tblGrid>
              <a:tr h="0">
                <a:tc>
                  <a:txBody>
                    <a:bodyPr/>
                    <a:lstStyle/>
                    <a:p>
                      <a:pPr>
                        <a:buNone/>
                      </a:pPr>
                      <a:r>
                        <a:rPr lang="en-IN"/>
                        <a:t>Component</a:t>
                      </a:r>
                    </a:p>
                  </a:txBody>
                  <a:tcPr anchor="ctr"/>
                </a:tc>
                <a:tc>
                  <a:txBody>
                    <a:bodyPr/>
                    <a:lstStyle/>
                    <a:p>
                      <a:pPr>
                        <a:buNone/>
                      </a:pPr>
                      <a:r>
                        <a:rPr lang="en-IN" dirty="0"/>
                        <a:t>Meaning</a:t>
                      </a:r>
                    </a:p>
                  </a:txBody>
                  <a:tcPr anchor="ctr"/>
                </a:tc>
                <a:extLst>
                  <a:ext uri="{0D108BD9-81ED-4DB2-BD59-A6C34878D82A}">
                    <a16:rowId xmlns:a16="http://schemas.microsoft.com/office/drawing/2014/main" val="1007897993"/>
                  </a:ext>
                </a:extLst>
              </a:tr>
              <a:tr h="0">
                <a:tc>
                  <a:txBody>
                    <a:bodyPr/>
                    <a:lstStyle/>
                    <a:p>
                      <a:pPr>
                        <a:buNone/>
                      </a:pPr>
                      <a:r>
                        <a:rPr lang="en-IN"/>
                        <a:t>int</a:t>
                      </a:r>
                    </a:p>
                  </a:txBody>
                  <a:tcPr anchor="ctr"/>
                </a:tc>
                <a:tc>
                  <a:txBody>
                    <a:bodyPr/>
                    <a:lstStyle/>
                    <a:p>
                      <a:pPr>
                        <a:buNone/>
                      </a:pPr>
                      <a:r>
                        <a:rPr lang="en-IN"/>
                        <a:t>Return type</a:t>
                      </a:r>
                    </a:p>
                  </a:txBody>
                  <a:tcPr anchor="ctr"/>
                </a:tc>
                <a:extLst>
                  <a:ext uri="{0D108BD9-81ED-4DB2-BD59-A6C34878D82A}">
                    <a16:rowId xmlns:a16="http://schemas.microsoft.com/office/drawing/2014/main" val="2263772604"/>
                  </a:ext>
                </a:extLst>
              </a:tr>
              <a:tr h="0">
                <a:tc>
                  <a:txBody>
                    <a:bodyPr/>
                    <a:lstStyle/>
                    <a:p>
                      <a:pPr>
                        <a:buNone/>
                      </a:pPr>
                      <a:r>
                        <a:rPr lang="en-IN"/>
                        <a:t>add</a:t>
                      </a:r>
                    </a:p>
                  </a:txBody>
                  <a:tcPr anchor="ctr"/>
                </a:tc>
                <a:tc>
                  <a:txBody>
                    <a:bodyPr/>
                    <a:lstStyle/>
                    <a:p>
                      <a:pPr>
                        <a:buNone/>
                      </a:pPr>
                      <a:r>
                        <a:rPr lang="en-IN"/>
                        <a:t>Function name</a:t>
                      </a:r>
                    </a:p>
                  </a:txBody>
                  <a:tcPr anchor="ctr"/>
                </a:tc>
                <a:extLst>
                  <a:ext uri="{0D108BD9-81ED-4DB2-BD59-A6C34878D82A}">
                    <a16:rowId xmlns:a16="http://schemas.microsoft.com/office/drawing/2014/main" val="65406594"/>
                  </a:ext>
                </a:extLst>
              </a:tr>
              <a:tr h="0">
                <a:tc>
                  <a:txBody>
                    <a:bodyPr/>
                    <a:lstStyle/>
                    <a:p>
                      <a:pPr>
                        <a:buNone/>
                      </a:pPr>
                      <a:r>
                        <a:rPr lang="en-IN"/>
                        <a:t>a, b</a:t>
                      </a:r>
                    </a:p>
                  </a:txBody>
                  <a:tcPr anchor="ctr"/>
                </a:tc>
                <a:tc>
                  <a:txBody>
                    <a:bodyPr/>
                    <a:lstStyle/>
                    <a:p>
                      <a:pPr>
                        <a:buNone/>
                      </a:pPr>
                      <a:r>
                        <a:rPr lang="en-IN"/>
                        <a:t>Parameters</a:t>
                      </a:r>
                    </a:p>
                  </a:txBody>
                  <a:tcPr anchor="ctr"/>
                </a:tc>
                <a:extLst>
                  <a:ext uri="{0D108BD9-81ED-4DB2-BD59-A6C34878D82A}">
                    <a16:rowId xmlns:a16="http://schemas.microsoft.com/office/drawing/2014/main" val="1458821664"/>
                  </a:ext>
                </a:extLst>
              </a:tr>
              <a:tr h="0">
                <a:tc>
                  <a:txBody>
                    <a:bodyPr/>
                    <a:lstStyle/>
                    <a:p>
                      <a:pPr>
                        <a:buNone/>
                      </a:pPr>
                      <a:r>
                        <a:rPr lang="en-IN"/>
                        <a:t>sum</a:t>
                      </a:r>
                    </a:p>
                  </a:txBody>
                  <a:tcPr anchor="ctr"/>
                </a:tc>
                <a:tc>
                  <a:txBody>
                    <a:bodyPr/>
                    <a:lstStyle/>
                    <a:p>
                      <a:pPr>
                        <a:buNone/>
                      </a:pPr>
                      <a:r>
                        <a:rPr lang="en-IN"/>
                        <a:t>Local variable</a:t>
                      </a:r>
                    </a:p>
                  </a:txBody>
                  <a:tcPr anchor="ctr"/>
                </a:tc>
                <a:extLst>
                  <a:ext uri="{0D108BD9-81ED-4DB2-BD59-A6C34878D82A}">
                    <a16:rowId xmlns:a16="http://schemas.microsoft.com/office/drawing/2014/main" val="4020178836"/>
                  </a:ext>
                </a:extLst>
              </a:tr>
              <a:tr h="0">
                <a:tc>
                  <a:txBody>
                    <a:bodyPr/>
                    <a:lstStyle/>
                    <a:p>
                      <a:pPr>
                        <a:buNone/>
                      </a:pPr>
                      <a:r>
                        <a:rPr lang="en-IN"/>
                        <a:t>return sum</a:t>
                      </a:r>
                    </a:p>
                  </a:txBody>
                  <a:tcPr anchor="ctr"/>
                </a:tc>
                <a:tc>
                  <a:txBody>
                    <a:bodyPr/>
                    <a:lstStyle/>
                    <a:p>
                      <a:pPr>
                        <a:buNone/>
                      </a:pPr>
                      <a:r>
                        <a:rPr lang="en-IN" dirty="0"/>
                        <a:t>Returned result</a:t>
                      </a:r>
                    </a:p>
                  </a:txBody>
                  <a:tcPr anchor="ctr"/>
                </a:tc>
                <a:extLst>
                  <a:ext uri="{0D108BD9-81ED-4DB2-BD59-A6C34878D82A}">
                    <a16:rowId xmlns:a16="http://schemas.microsoft.com/office/drawing/2014/main" val="1572762082"/>
                  </a:ext>
                </a:extLst>
              </a:tr>
            </a:tbl>
          </a:graphicData>
        </a:graphic>
      </p:graphicFrame>
    </p:spTree>
    <p:extLst>
      <p:ext uri="{BB962C8B-B14F-4D97-AF65-F5344CB8AC3E}">
        <p14:creationId xmlns:p14="http://schemas.microsoft.com/office/powerpoint/2010/main" val="1263318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E24E-DB83-505F-9ACE-91D8BBB5C9C2}"/>
              </a:ext>
            </a:extLst>
          </p:cNvPr>
          <p:cNvSpPr>
            <a:spLocks noGrp="1"/>
          </p:cNvSpPr>
          <p:nvPr>
            <p:ph type="title"/>
          </p:nvPr>
        </p:nvSpPr>
        <p:spPr>
          <a:xfrm>
            <a:off x="529590" y="219582"/>
            <a:ext cx="10287000" cy="769544"/>
          </a:xfrm>
        </p:spPr>
        <p:txBody>
          <a:bodyPr/>
          <a:lstStyle/>
          <a:p>
            <a:r>
              <a:rPr lang="en-IN" dirty="0"/>
              <a:t>Function Declaration, Definition and Call</a:t>
            </a:r>
          </a:p>
        </p:txBody>
      </p:sp>
      <p:sp>
        <p:nvSpPr>
          <p:cNvPr id="3" name="Content Placeholder 2">
            <a:extLst>
              <a:ext uri="{FF2B5EF4-FFF2-40B4-BE49-F238E27FC236}">
                <a16:creationId xmlns:a16="http://schemas.microsoft.com/office/drawing/2014/main" id="{3E294C62-D49B-4883-4945-A98CAB95E19D}"/>
              </a:ext>
            </a:extLst>
          </p:cNvPr>
          <p:cNvSpPr>
            <a:spLocks noGrp="1"/>
          </p:cNvSpPr>
          <p:nvPr>
            <p:ph idx="1"/>
          </p:nvPr>
        </p:nvSpPr>
        <p:spPr>
          <a:xfrm>
            <a:off x="718988" y="1419285"/>
            <a:ext cx="6315504" cy="4215092"/>
          </a:xfrm>
        </p:spPr>
        <p:txBody>
          <a:bodyPr numCol="1">
            <a:noAutofit/>
          </a:bodyPr>
          <a:lstStyle/>
          <a:p>
            <a:pPr marL="0" indent="0">
              <a:buNone/>
            </a:pPr>
            <a:r>
              <a:rPr lang="en-IN" sz="1200" dirty="0"/>
              <a:t>A function generally involves three important parts.</a:t>
            </a:r>
          </a:p>
          <a:p>
            <a:r>
              <a:rPr lang="en-IN" sz="1200" b="1" dirty="0"/>
              <a:t>1. Function Declaration</a:t>
            </a:r>
          </a:p>
          <a:p>
            <a:pPr marL="0" indent="0">
              <a:buNone/>
            </a:pPr>
            <a:r>
              <a:rPr lang="en-IN" sz="1200" dirty="0"/>
              <a:t>int add(int, int);</a:t>
            </a:r>
          </a:p>
          <a:p>
            <a:pPr marL="0" indent="0">
              <a:buNone/>
            </a:pPr>
            <a:endParaRPr lang="en-IN" sz="1200" dirty="0"/>
          </a:p>
          <a:p>
            <a:r>
              <a:rPr lang="en-IN" sz="1200" b="1" dirty="0"/>
              <a:t>2. Function Definition</a:t>
            </a:r>
          </a:p>
          <a:p>
            <a:pPr marL="0" indent="0">
              <a:buNone/>
            </a:pPr>
            <a:r>
              <a:rPr lang="en-US" sz="1200" dirty="0"/>
              <a:t>int add(int a, int b)</a:t>
            </a:r>
          </a:p>
          <a:p>
            <a:pPr marL="0" indent="0">
              <a:buNone/>
            </a:pPr>
            <a:r>
              <a:rPr lang="en-US" sz="1200" dirty="0"/>
              <a:t>{</a:t>
            </a:r>
          </a:p>
          <a:p>
            <a:pPr marL="0" indent="0">
              <a:buNone/>
            </a:pPr>
            <a:r>
              <a:rPr lang="en-US" sz="1200" dirty="0"/>
              <a:t>    return a + b;</a:t>
            </a:r>
          </a:p>
          <a:p>
            <a:pPr marL="0" indent="0">
              <a:buNone/>
            </a:pPr>
            <a:r>
              <a:rPr lang="en-US" sz="1200" dirty="0"/>
              <a:t>}</a:t>
            </a:r>
          </a:p>
          <a:p>
            <a:pPr marL="0" indent="0">
              <a:buNone/>
            </a:pPr>
            <a:endParaRPr lang="en-US" sz="1200" dirty="0"/>
          </a:p>
          <a:p>
            <a:r>
              <a:rPr lang="en-IN" sz="1200" b="1" dirty="0"/>
              <a:t>3. Function Call</a:t>
            </a:r>
          </a:p>
          <a:p>
            <a:pPr marL="0" indent="0">
              <a:buNone/>
            </a:pPr>
            <a:r>
              <a:rPr lang="en-IN" sz="1200" dirty="0"/>
              <a:t>result = add(10, 20);</a:t>
            </a:r>
          </a:p>
          <a:p>
            <a:pPr marL="0" indent="0">
              <a:buNone/>
            </a:pPr>
            <a:endParaRPr lang="en-IN" sz="1200" b="1" dirty="0"/>
          </a:p>
          <a:p>
            <a:pPr marL="0" indent="0">
              <a:buNone/>
            </a:pPr>
            <a:endParaRPr lang="en-IN" sz="1200" dirty="0"/>
          </a:p>
        </p:txBody>
      </p:sp>
      <p:sp>
        <p:nvSpPr>
          <p:cNvPr id="4" name="Rectangle 3">
            <a:extLst>
              <a:ext uri="{FF2B5EF4-FFF2-40B4-BE49-F238E27FC236}">
                <a16:creationId xmlns:a16="http://schemas.microsoft.com/office/drawing/2014/main" id="{D1E3B965-C369-48C0-CE09-C66A49AB3A67}"/>
              </a:ext>
            </a:extLst>
          </p:cNvPr>
          <p:cNvSpPr/>
          <p:nvPr/>
        </p:nvSpPr>
        <p:spPr>
          <a:xfrm>
            <a:off x="7680470" y="2962457"/>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main()</a:t>
            </a:r>
          </a:p>
        </p:txBody>
      </p:sp>
      <p:sp>
        <p:nvSpPr>
          <p:cNvPr id="5" name="Rectangle 4">
            <a:extLst>
              <a:ext uri="{FF2B5EF4-FFF2-40B4-BE49-F238E27FC236}">
                <a16:creationId xmlns:a16="http://schemas.microsoft.com/office/drawing/2014/main" id="{DC20B4FD-B51A-F2BF-3ABB-41CF10CD524C}"/>
              </a:ext>
            </a:extLst>
          </p:cNvPr>
          <p:cNvSpPr/>
          <p:nvPr/>
        </p:nvSpPr>
        <p:spPr>
          <a:xfrm>
            <a:off x="7680470" y="3582873"/>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add(10,20)</a:t>
            </a:r>
          </a:p>
        </p:txBody>
      </p:sp>
      <p:sp>
        <p:nvSpPr>
          <p:cNvPr id="11" name="Rectangle 10">
            <a:extLst>
              <a:ext uri="{FF2B5EF4-FFF2-40B4-BE49-F238E27FC236}">
                <a16:creationId xmlns:a16="http://schemas.microsoft.com/office/drawing/2014/main" id="{08D23205-D616-CE81-4B1D-44B7D543FB7E}"/>
              </a:ext>
            </a:extLst>
          </p:cNvPr>
          <p:cNvSpPr/>
          <p:nvPr/>
        </p:nvSpPr>
        <p:spPr>
          <a:xfrm>
            <a:off x="7680470" y="6064537"/>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result=30</a:t>
            </a:r>
          </a:p>
        </p:txBody>
      </p:sp>
      <p:sp>
        <p:nvSpPr>
          <p:cNvPr id="13" name="Rectangle 12">
            <a:extLst>
              <a:ext uri="{FF2B5EF4-FFF2-40B4-BE49-F238E27FC236}">
                <a16:creationId xmlns:a16="http://schemas.microsoft.com/office/drawing/2014/main" id="{B1129C1D-E946-8045-68BC-2A251049D2C1}"/>
              </a:ext>
            </a:extLst>
          </p:cNvPr>
          <p:cNvSpPr/>
          <p:nvPr/>
        </p:nvSpPr>
        <p:spPr>
          <a:xfrm>
            <a:off x="7680470" y="4203289"/>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a:t>
            </a:r>
          </a:p>
        </p:txBody>
      </p:sp>
      <p:sp>
        <p:nvSpPr>
          <p:cNvPr id="15" name="Rectangle 14">
            <a:extLst>
              <a:ext uri="{FF2B5EF4-FFF2-40B4-BE49-F238E27FC236}">
                <a16:creationId xmlns:a16="http://schemas.microsoft.com/office/drawing/2014/main" id="{721B798D-DCBF-171E-122F-AAC0AB264236}"/>
              </a:ext>
            </a:extLst>
          </p:cNvPr>
          <p:cNvSpPr/>
          <p:nvPr/>
        </p:nvSpPr>
        <p:spPr>
          <a:xfrm>
            <a:off x="7680470" y="4823705"/>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10+20</a:t>
            </a:r>
          </a:p>
        </p:txBody>
      </p:sp>
      <p:sp>
        <p:nvSpPr>
          <p:cNvPr id="17" name="Rectangle 16">
            <a:extLst>
              <a:ext uri="{FF2B5EF4-FFF2-40B4-BE49-F238E27FC236}">
                <a16:creationId xmlns:a16="http://schemas.microsoft.com/office/drawing/2014/main" id="{0B720623-695A-E7ED-A607-5A5A39A6B39E}"/>
              </a:ext>
            </a:extLst>
          </p:cNvPr>
          <p:cNvSpPr/>
          <p:nvPr/>
        </p:nvSpPr>
        <p:spPr>
          <a:xfrm>
            <a:off x="7680470" y="5444121"/>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return 30</a:t>
            </a:r>
          </a:p>
        </p:txBody>
      </p:sp>
      <p:cxnSp>
        <p:nvCxnSpPr>
          <p:cNvPr id="19" name="Straight Arrow Connector 18">
            <a:extLst>
              <a:ext uri="{FF2B5EF4-FFF2-40B4-BE49-F238E27FC236}">
                <a16:creationId xmlns:a16="http://schemas.microsoft.com/office/drawing/2014/main" id="{DEB10D21-8C06-6762-58DF-3230DDCA5B8D}"/>
              </a:ext>
            </a:extLst>
          </p:cNvPr>
          <p:cNvCxnSpPr>
            <a:stCxn id="4" idx="2"/>
            <a:endCxn id="5" idx="0"/>
          </p:cNvCxnSpPr>
          <p:nvPr/>
        </p:nvCxnSpPr>
        <p:spPr>
          <a:xfrm>
            <a:off x="8326449" y="3387210"/>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AF57C0D-F1C7-A9DB-071B-05CA27D968B5}"/>
              </a:ext>
            </a:extLst>
          </p:cNvPr>
          <p:cNvCxnSpPr>
            <a:stCxn id="5" idx="2"/>
            <a:endCxn id="13" idx="0"/>
          </p:cNvCxnSpPr>
          <p:nvPr/>
        </p:nvCxnSpPr>
        <p:spPr>
          <a:xfrm>
            <a:off x="8326449" y="4007626"/>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2887B0A-DC00-1AC9-8527-9CCE55D0CE29}"/>
              </a:ext>
            </a:extLst>
          </p:cNvPr>
          <p:cNvCxnSpPr>
            <a:stCxn id="13" idx="2"/>
            <a:endCxn id="15" idx="0"/>
          </p:cNvCxnSpPr>
          <p:nvPr/>
        </p:nvCxnSpPr>
        <p:spPr>
          <a:xfrm>
            <a:off x="8326449" y="4628042"/>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30B4BDC-48EA-ABB1-5A2B-E8DBEE8C8FE5}"/>
              </a:ext>
            </a:extLst>
          </p:cNvPr>
          <p:cNvCxnSpPr>
            <a:stCxn id="15" idx="2"/>
            <a:endCxn id="17" idx="0"/>
          </p:cNvCxnSpPr>
          <p:nvPr/>
        </p:nvCxnSpPr>
        <p:spPr>
          <a:xfrm>
            <a:off x="8326449" y="5248458"/>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225918C-1787-E9DF-5D7A-A8F939D1BEAE}"/>
              </a:ext>
            </a:extLst>
          </p:cNvPr>
          <p:cNvCxnSpPr>
            <a:stCxn id="17" idx="2"/>
            <a:endCxn id="11" idx="0"/>
          </p:cNvCxnSpPr>
          <p:nvPr/>
        </p:nvCxnSpPr>
        <p:spPr>
          <a:xfrm>
            <a:off x="8326449" y="5868874"/>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61D65AA-FCF2-7147-8788-03E14552BF33}"/>
              </a:ext>
            </a:extLst>
          </p:cNvPr>
          <p:cNvSpPr txBox="1"/>
          <p:nvPr/>
        </p:nvSpPr>
        <p:spPr>
          <a:xfrm>
            <a:off x="6701667" y="2212258"/>
            <a:ext cx="1356852" cy="36576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Execution:</a:t>
            </a:r>
          </a:p>
        </p:txBody>
      </p:sp>
    </p:spTree>
    <p:extLst>
      <p:ext uri="{BB962C8B-B14F-4D97-AF65-F5344CB8AC3E}">
        <p14:creationId xmlns:p14="http://schemas.microsoft.com/office/powerpoint/2010/main" val="157489214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D320-F5D5-165B-D56C-8FDC33F22A85}"/>
              </a:ext>
            </a:extLst>
          </p:cNvPr>
          <p:cNvSpPr>
            <a:spLocks noGrp="1"/>
          </p:cNvSpPr>
          <p:nvPr>
            <p:ph type="title"/>
          </p:nvPr>
        </p:nvSpPr>
        <p:spPr/>
        <p:txBody>
          <a:bodyPr/>
          <a:lstStyle/>
          <a:p>
            <a:r>
              <a:rPr lang="en-IN" dirty="0"/>
              <a:t>Parameters, Arguments and Return Value</a:t>
            </a:r>
          </a:p>
        </p:txBody>
      </p:sp>
      <p:sp>
        <p:nvSpPr>
          <p:cNvPr id="3" name="Content Placeholder 2">
            <a:extLst>
              <a:ext uri="{FF2B5EF4-FFF2-40B4-BE49-F238E27FC236}">
                <a16:creationId xmlns:a16="http://schemas.microsoft.com/office/drawing/2014/main" id="{C426FED9-DE6C-8536-CA5F-BAFC09192D4F}"/>
              </a:ext>
            </a:extLst>
          </p:cNvPr>
          <p:cNvSpPr>
            <a:spLocks noGrp="1"/>
          </p:cNvSpPr>
          <p:nvPr>
            <p:ph idx="1"/>
          </p:nvPr>
        </p:nvSpPr>
        <p:spPr/>
        <p:txBody>
          <a:bodyPr numCol="2">
            <a:normAutofit fontScale="92500" lnSpcReduction="20000"/>
          </a:bodyPr>
          <a:lstStyle/>
          <a:p>
            <a:pPr marL="0" indent="0">
              <a:buNone/>
            </a:pPr>
            <a:r>
              <a:rPr lang="en-US" dirty="0"/>
              <a:t>int multiply(int a, int b)</a:t>
            </a:r>
          </a:p>
          <a:p>
            <a:pPr marL="0" indent="0">
              <a:buNone/>
            </a:pPr>
            <a:r>
              <a:rPr lang="en-US" dirty="0"/>
              <a:t>{</a:t>
            </a:r>
          </a:p>
          <a:p>
            <a:pPr marL="0" indent="0">
              <a:buNone/>
            </a:pPr>
            <a:r>
              <a:rPr lang="en-US" dirty="0"/>
              <a:t>    return a * b;</a:t>
            </a:r>
          </a:p>
          <a:p>
            <a:pPr marL="0" indent="0">
              <a:buNone/>
            </a:pPr>
            <a:r>
              <a:rPr lang="en-US" dirty="0"/>
              <a:t>}</a:t>
            </a:r>
          </a:p>
          <a:p>
            <a:pPr marL="0" indent="0">
              <a:buNone/>
            </a:pPr>
            <a:r>
              <a:rPr lang="en-IN" dirty="0"/>
              <a:t>Calling: result = multiply(5, 4);</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b="1" dirty="0">
                <a:highlight>
                  <a:srgbClr val="FFFF00"/>
                </a:highlight>
              </a:rPr>
              <a:t>Parameters:</a:t>
            </a:r>
            <a:endParaRPr lang="en-IN" dirty="0">
              <a:highlight>
                <a:srgbClr val="FFFF00"/>
              </a:highlight>
            </a:endParaRPr>
          </a:p>
          <a:p>
            <a:r>
              <a:rPr lang="en-IN" dirty="0"/>
              <a:t>a and b </a:t>
            </a:r>
            <a:r>
              <a:rPr lang="en-IN" dirty="0">
                <a:sym typeface="Wingdings" panose="05000000000000000000" pitchFamily="2" charset="2"/>
              </a:rPr>
              <a:t> </a:t>
            </a:r>
            <a:r>
              <a:rPr lang="en-IN" dirty="0"/>
              <a:t>Variables defined in the function.</a:t>
            </a:r>
          </a:p>
          <a:p>
            <a:pPr marL="0" indent="0">
              <a:buNone/>
            </a:pPr>
            <a:r>
              <a:rPr lang="en-IN" b="1" dirty="0">
                <a:highlight>
                  <a:srgbClr val="FFFF00"/>
                </a:highlight>
              </a:rPr>
              <a:t>Arguments:</a:t>
            </a:r>
            <a:endParaRPr lang="en-IN" dirty="0">
              <a:highlight>
                <a:srgbClr val="FFFF00"/>
              </a:highlight>
            </a:endParaRPr>
          </a:p>
          <a:p>
            <a:r>
              <a:rPr lang="en-IN" dirty="0"/>
              <a:t>5 and 4 </a:t>
            </a:r>
            <a:r>
              <a:rPr lang="en-IN" dirty="0">
                <a:sym typeface="Wingdings" panose="05000000000000000000" pitchFamily="2" charset="2"/>
              </a:rPr>
              <a:t> </a:t>
            </a:r>
            <a:r>
              <a:rPr lang="en-IN" dirty="0"/>
              <a:t>Actual values passed during the function call.</a:t>
            </a:r>
          </a:p>
          <a:p>
            <a:pPr marL="0" indent="0">
              <a:buNone/>
            </a:pPr>
            <a:r>
              <a:rPr lang="en-IN" b="1" dirty="0">
                <a:highlight>
                  <a:srgbClr val="FFFF00"/>
                </a:highlight>
              </a:rPr>
              <a:t>Return value:</a:t>
            </a:r>
            <a:endParaRPr lang="en-IN" dirty="0">
              <a:highlight>
                <a:srgbClr val="FFFF00"/>
              </a:highlight>
            </a:endParaRPr>
          </a:p>
          <a:p>
            <a:r>
              <a:rPr lang="en-IN" dirty="0"/>
              <a:t>20 </a:t>
            </a:r>
            <a:r>
              <a:rPr lang="en-IN" dirty="0">
                <a:sym typeface="Wingdings" panose="05000000000000000000" pitchFamily="2" charset="2"/>
              </a:rPr>
              <a:t> </a:t>
            </a:r>
            <a:r>
              <a:rPr lang="en-IN" dirty="0"/>
              <a:t>The result sent back to the calling function.</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0822166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135E8-B1F1-2F68-FF6A-845D0A96F592}"/>
              </a:ext>
            </a:extLst>
          </p:cNvPr>
          <p:cNvSpPr>
            <a:spLocks noGrp="1"/>
          </p:cNvSpPr>
          <p:nvPr>
            <p:ph type="title"/>
          </p:nvPr>
        </p:nvSpPr>
        <p:spPr/>
        <p:txBody>
          <a:bodyPr/>
          <a:lstStyle/>
          <a:p>
            <a:r>
              <a:rPr lang="en-IN" dirty="0"/>
              <a:t>Function with Return Value: Example</a:t>
            </a:r>
          </a:p>
        </p:txBody>
      </p:sp>
      <p:sp>
        <p:nvSpPr>
          <p:cNvPr id="3" name="Content Placeholder 2">
            <a:extLst>
              <a:ext uri="{FF2B5EF4-FFF2-40B4-BE49-F238E27FC236}">
                <a16:creationId xmlns:a16="http://schemas.microsoft.com/office/drawing/2014/main" id="{8BE423CA-9165-A147-6C85-D12DAA4957E2}"/>
              </a:ext>
            </a:extLst>
          </p:cNvPr>
          <p:cNvSpPr>
            <a:spLocks noGrp="1"/>
          </p:cNvSpPr>
          <p:nvPr>
            <p:ph idx="1"/>
          </p:nvPr>
        </p:nvSpPr>
        <p:spPr/>
        <p:txBody>
          <a:bodyPr numCol="2">
            <a:normAutofit fontScale="70000" lnSpcReduction="20000"/>
          </a:bodyPr>
          <a:lstStyle/>
          <a:p>
            <a:pPr marL="0" indent="0">
              <a:buNone/>
            </a:pPr>
            <a:r>
              <a:rPr lang="en-IN" b="1" dirty="0"/>
              <a:t>Problem</a:t>
            </a:r>
          </a:p>
          <a:p>
            <a:r>
              <a:rPr lang="en-IN" dirty="0"/>
              <a:t>Write a function to calculate the square of a number.</a:t>
            </a:r>
          </a:p>
          <a:p>
            <a:pPr marL="0" indent="0">
              <a:buNone/>
            </a:pPr>
            <a:r>
              <a:rPr lang="en-IN" dirty="0"/>
              <a:t>#include &lt;</a:t>
            </a:r>
            <a:r>
              <a:rPr lang="en-IN" dirty="0" err="1"/>
              <a:t>stdio.h</a:t>
            </a:r>
            <a:r>
              <a:rPr lang="en-IN" dirty="0"/>
              <a:t>&gt;</a:t>
            </a:r>
          </a:p>
          <a:p>
            <a:pPr marL="0" indent="0">
              <a:buNone/>
            </a:pPr>
            <a:r>
              <a:rPr lang="en-IN" dirty="0"/>
              <a:t>int square(int n)</a:t>
            </a:r>
          </a:p>
          <a:p>
            <a:pPr marL="0" indent="0">
              <a:buNone/>
            </a:pPr>
            <a:r>
              <a:rPr lang="en-IN" dirty="0"/>
              <a:t>{</a:t>
            </a:r>
          </a:p>
          <a:p>
            <a:pPr marL="0" indent="0">
              <a:buNone/>
            </a:pPr>
            <a:r>
              <a:rPr lang="en-IN" dirty="0"/>
              <a:t>    return n * n;</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int </a:t>
            </a:r>
            <a:r>
              <a:rPr lang="en-IN" dirty="0" err="1"/>
              <a:t>num</a:t>
            </a:r>
            <a:r>
              <a:rPr lang="en-IN" dirty="0"/>
              <a:t>, result;</a:t>
            </a:r>
          </a:p>
          <a:p>
            <a:pPr marL="0" indent="0">
              <a:buNone/>
            </a:pPr>
            <a:r>
              <a:rPr lang="en-IN" dirty="0"/>
              <a:t>    </a:t>
            </a:r>
            <a:r>
              <a:rPr lang="en-IN" dirty="0" err="1"/>
              <a:t>printf</a:t>
            </a:r>
            <a:r>
              <a:rPr lang="en-IN" dirty="0"/>
              <a:t>("Enter a number: ");</a:t>
            </a:r>
          </a:p>
          <a:p>
            <a:pPr marL="0" indent="0">
              <a:buNone/>
            </a:pPr>
            <a:r>
              <a:rPr lang="en-IN" dirty="0"/>
              <a:t>    </a:t>
            </a:r>
            <a:r>
              <a:rPr lang="en-IN" dirty="0" err="1"/>
              <a:t>scanf</a:t>
            </a:r>
            <a:r>
              <a:rPr lang="en-IN" dirty="0"/>
              <a:t>("%d", &amp;</a:t>
            </a:r>
            <a:r>
              <a:rPr lang="en-IN" dirty="0" err="1"/>
              <a:t>num</a:t>
            </a:r>
            <a:r>
              <a:rPr lang="en-IN" dirty="0"/>
              <a:t>);</a:t>
            </a:r>
          </a:p>
          <a:p>
            <a:pPr marL="0" indent="0">
              <a:buNone/>
            </a:pPr>
            <a:r>
              <a:rPr lang="en-IN" dirty="0"/>
              <a:t>    result = square(</a:t>
            </a:r>
            <a:r>
              <a:rPr lang="en-IN" dirty="0" err="1"/>
              <a:t>num</a:t>
            </a:r>
            <a:r>
              <a:rPr lang="en-IN" dirty="0"/>
              <a:t>);</a:t>
            </a:r>
          </a:p>
          <a:p>
            <a:pPr marL="0" indent="0">
              <a:buNone/>
            </a:pPr>
            <a:r>
              <a:rPr lang="en-IN" dirty="0"/>
              <a:t>    </a:t>
            </a:r>
            <a:r>
              <a:rPr lang="en-IN" dirty="0" err="1"/>
              <a:t>printf</a:t>
            </a:r>
            <a:r>
              <a:rPr lang="en-IN" dirty="0"/>
              <a:t>("Square = %d", result);</a:t>
            </a:r>
          </a:p>
          <a:p>
            <a:pPr marL="0" indent="0">
              <a:buNone/>
            </a:pPr>
            <a:r>
              <a:rPr lang="en-IN" dirty="0"/>
              <a:t>    return 0;</a:t>
            </a:r>
          </a:p>
          <a:p>
            <a:pPr marL="0" indent="0">
              <a:buNone/>
            </a:pPr>
            <a:r>
              <a:rPr lang="en-IN" dirty="0"/>
              <a:t>}</a:t>
            </a:r>
          </a:p>
          <a:p>
            <a:pPr marL="0" indent="0">
              <a:buNone/>
            </a:pPr>
            <a:r>
              <a:rPr lang="en-IN" b="1" dirty="0"/>
              <a:t>Sample Output</a:t>
            </a:r>
          </a:p>
          <a:p>
            <a:pPr marL="0" indent="0">
              <a:buNone/>
            </a:pPr>
            <a:r>
              <a:rPr lang="en-IN" dirty="0"/>
              <a:t>Enter a number: 6</a:t>
            </a:r>
          </a:p>
          <a:p>
            <a:pPr marL="0" indent="0">
              <a:buNone/>
            </a:pPr>
            <a:r>
              <a:rPr lang="en-IN" dirty="0"/>
              <a:t>Square = 36</a:t>
            </a:r>
          </a:p>
          <a:p>
            <a:pPr marL="0" indent="0">
              <a:buNone/>
            </a:pPr>
            <a:endParaRPr lang="en-IN" b="1" dirty="0"/>
          </a:p>
          <a:p>
            <a:pPr marL="0" indent="0">
              <a:buNone/>
            </a:pPr>
            <a:r>
              <a:rPr lang="en-IN" b="1" dirty="0">
                <a:highlight>
                  <a:srgbClr val="FFFF00"/>
                </a:highlight>
              </a:rPr>
              <a:t>Key Idea</a:t>
            </a:r>
          </a:p>
          <a:p>
            <a:pPr marL="0" indent="0">
              <a:buNone/>
            </a:pPr>
            <a:r>
              <a:rPr lang="en-IN" dirty="0"/>
              <a:t>The function </a:t>
            </a:r>
            <a:r>
              <a:rPr lang="en-IN" b="1" dirty="0"/>
              <a:t>calculates and returns</a:t>
            </a:r>
            <a:r>
              <a:rPr lang="en-IN" dirty="0"/>
              <a:t> the answer.</a:t>
            </a:r>
          </a:p>
          <a:p>
            <a:pPr marL="0" indent="0">
              <a:buNone/>
            </a:pPr>
            <a:endParaRPr lang="en-IN" dirty="0"/>
          </a:p>
          <a:p>
            <a:endParaRPr lang="en-IN" dirty="0"/>
          </a:p>
        </p:txBody>
      </p:sp>
    </p:spTree>
    <p:extLst>
      <p:ext uri="{BB962C8B-B14F-4D97-AF65-F5344CB8AC3E}">
        <p14:creationId xmlns:p14="http://schemas.microsoft.com/office/powerpoint/2010/main" val="703616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0429-381B-97EC-9F21-CE590AF9B7FC}"/>
              </a:ext>
            </a:extLst>
          </p:cNvPr>
          <p:cNvSpPr>
            <a:spLocks noGrp="1"/>
          </p:cNvSpPr>
          <p:nvPr>
            <p:ph type="title"/>
          </p:nvPr>
        </p:nvSpPr>
        <p:spPr/>
        <p:txBody>
          <a:bodyPr/>
          <a:lstStyle/>
          <a:p>
            <a:r>
              <a:rPr lang="en-IN" dirty="0"/>
              <a:t>Designing Helper Functions</a:t>
            </a:r>
          </a:p>
        </p:txBody>
      </p:sp>
      <p:sp>
        <p:nvSpPr>
          <p:cNvPr id="3" name="Content Placeholder 2">
            <a:extLst>
              <a:ext uri="{FF2B5EF4-FFF2-40B4-BE49-F238E27FC236}">
                <a16:creationId xmlns:a16="http://schemas.microsoft.com/office/drawing/2014/main" id="{36A74665-C052-7EB5-732D-B354F22CEACA}"/>
              </a:ext>
            </a:extLst>
          </p:cNvPr>
          <p:cNvSpPr>
            <a:spLocks noGrp="1"/>
          </p:cNvSpPr>
          <p:nvPr>
            <p:ph idx="1"/>
          </p:nvPr>
        </p:nvSpPr>
        <p:spPr/>
        <p:txBody>
          <a:bodyPr>
            <a:normAutofit fontScale="85000" lnSpcReduction="20000"/>
          </a:bodyPr>
          <a:lstStyle/>
          <a:p>
            <a:pPr marL="0" indent="0">
              <a:buNone/>
            </a:pPr>
            <a:r>
              <a:rPr lang="en-IN" b="1" dirty="0"/>
              <a:t>Problem</a:t>
            </a:r>
          </a:p>
          <a:p>
            <a:r>
              <a:rPr lang="en-IN" dirty="0"/>
              <a:t>Find the largest of three numbers.</a:t>
            </a:r>
          </a:p>
          <a:p>
            <a:r>
              <a:rPr lang="en-IN" dirty="0"/>
              <a:t>Instead of writing all logic in main(), identify the specific task.</a:t>
            </a:r>
          </a:p>
          <a:p>
            <a:r>
              <a:rPr lang="en-IN" b="1" dirty="0"/>
              <a:t>Step 1 – Identify the task</a:t>
            </a:r>
          </a:p>
          <a:p>
            <a:pPr marL="0" indent="0">
              <a:buNone/>
            </a:pPr>
            <a:r>
              <a:rPr lang="en-IN" dirty="0"/>
              <a:t>	</a:t>
            </a:r>
            <a:r>
              <a:rPr lang="en-IN" dirty="0">
                <a:highlight>
                  <a:srgbClr val="FFFF00"/>
                </a:highlight>
              </a:rPr>
              <a:t>Find Largest</a:t>
            </a:r>
          </a:p>
          <a:p>
            <a:r>
              <a:rPr lang="en-IN" b="1" dirty="0"/>
              <a:t>Step 2 – Create a helper function</a:t>
            </a:r>
          </a:p>
          <a:p>
            <a:pPr marL="0" indent="0">
              <a:buNone/>
            </a:pPr>
            <a:r>
              <a:rPr lang="en-IN" dirty="0"/>
              <a:t>	</a:t>
            </a:r>
            <a:r>
              <a:rPr lang="en-IN" dirty="0">
                <a:highlight>
                  <a:srgbClr val="FFFF00"/>
                </a:highlight>
              </a:rPr>
              <a:t>int </a:t>
            </a:r>
            <a:r>
              <a:rPr lang="en-IN" dirty="0" err="1">
                <a:highlight>
                  <a:srgbClr val="FFFF00"/>
                </a:highlight>
              </a:rPr>
              <a:t>findLargest</a:t>
            </a:r>
            <a:r>
              <a:rPr lang="en-IN" dirty="0">
                <a:highlight>
                  <a:srgbClr val="FFFF00"/>
                </a:highlight>
              </a:rPr>
              <a:t>(int a, int b, int c)</a:t>
            </a:r>
          </a:p>
          <a:p>
            <a:r>
              <a:rPr lang="en-IN" b="1" dirty="0"/>
              <a:t>Step 3 – Return the result</a:t>
            </a:r>
          </a:p>
          <a:p>
            <a:pPr marL="0" indent="0">
              <a:buNone/>
            </a:pPr>
            <a:r>
              <a:rPr lang="en-IN" dirty="0"/>
              <a:t>	</a:t>
            </a:r>
            <a:r>
              <a:rPr lang="en-IN" dirty="0">
                <a:highlight>
                  <a:srgbClr val="FFFF00"/>
                </a:highlight>
              </a:rPr>
              <a:t>return largest</a:t>
            </a:r>
            <a:r>
              <a:rPr lang="en-IN" dirty="0"/>
              <a:t>;</a:t>
            </a:r>
          </a:p>
          <a:p>
            <a:r>
              <a:rPr lang="en-IN" b="1" dirty="0"/>
              <a:t>Step 4 – Call from main()</a:t>
            </a:r>
          </a:p>
          <a:p>
            <a:pPr marL="0" indent="0">
              <a:buNone/>
            </a:pPr>
            <a:r>
              <a:rPr lang="en-IN" dirty="0"/>
              <a:t>	</a:t>
            </a:r>
            <a:r>
              <a:rPr lang="en-IN" dirty="0">
                <a:highlight>
                  <a:srgbClr val="FFFF00"/>
                </a:highlight>
              </a:rPr>
              <a:t>largest = </a:t>
            </a:r>
            <a:r>
              <a:rPr lang="en-IN" dirty="0" err="1">
                <a:highlight>
                  <a:srgbClr val="FFFF00"/>
                </a:highlight>
              </a:rPr>
              <a:t>findLargest</a:t>
            </a:r>
            <a:r>
              <a:rPr lang="en-IN" dirty="0">
                <a:highlight>
                  <a:srgbClr val="FFFF00"/>
                </a:highlight>
              </a:rPr>
              <a:t>(a, b, c);</a:t>
            </a:r>
          </a:p>
          <a:p>
            <a:endParaRPr lang="en-IN" dirty="0"/>
          </a:p>
        </p:txBody>
      </p:sp>
    </p:spTree>
    <p:extLst>
      <p:ext uri="{BB962C8B-B14F-4D97-AF65-F5344CB8AC3E}">
        <p14:creationId xmlns:p14="http://schemas.microsoft.com/office/powerpoint/2010/main" val="276074025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C41C-96EE-46A0-FE67-ADA03C038B4A}"/>
              </a:ext>
            </a:extLst>
          </p:cNvPr>
          <p:cNvSpPr>
            <a:spLocks noGrp="1"/>
          </p:cNvSpPr>
          <p:nvPr>
            <p:ph type="title"/>
          </p:nvPr>
        </p:nvSpPr>
        <p:spPr/>
        <p:txBody>
          <a:bodyPr/>
          <a:lstStyle/>
          <a:p>
            <a:r>
              <a:rPr lang="en-IN" dirty="0"/>
              <a:t>Example: Largest of Three Numbers</a:t>
            </a:r>
          </a:p>
        </p:txBody>
      </p:sp>
      <p:sp>
        <p:nvSpPr>
          <p:cNvPr id="3" name="Content Placeholder 2">
            <a:extLst>
              <a:ext uri="{FF2B5EF4-FFF2-40B4-BE49-F238E27FC236}">
                <a16:creationId xmlns:a16="http://schemas.microsoft.com/office/drawing/2014/main" id="{EBD98C50-91D3-016F-3F27-02CD76AA7882}"/>
              </a:ext>
            </a:extLst>
          </p:cNvPr>
          <p:cNvSpPr>
            <a:spLocks noGrp="1"/>
          </p:cNvSpPr>
          <p:nvPr>
            <p:ph idx="1"/>
          </p:nvPr>
        </p:nvSpPr>
        <p:spPr>
          <a:xfrm>
            <a:off x="952500" y="2285997"/>
            <a:ext cx="10287000" cy="4268186"/>
          </a:xfrm>
        </p:spPr>
        <p:txBody>
          <a:bodyPr numCol="2">
            <a:normAutofit/>
          </a:bodyPr>
          <a:lstStyle/>
          <a:p>
            <a:pPr marL="0" indent="0">
              <a:buNone/>
            </a:pPr>
            <a:r>
              <a:rPr lang="en-IN" sz="1600" dirty="0"/>
              <a:t>#include &lt;</a:t>
            </a:r>
            <a:r>
              <a:rPr lang="en-IN" sz="1600" dirty="0" err="1"/>
              <a:t>stdio.h</a:t>
            </a:r>
            <a:r>
              <a:rPr lang="en-IN" sz="1600" dirty="0"/>
              <a:t>&gt;</a:t>
            </a:r>
          </a:p>
          <a:p>
            <a:pPr marL="0" indent="0">
              <a:buNone/>
            </a:pPr>
            <a:r>
              <a:rPr lang="en-IN" sz="1600" dirty="0"/>
              <a:t>int </a:t>
            </a:r>
            <a:r>
              <a:rPr lang="en-IN" sz="1600" dirty="0" err="1"/>
              <a:t>findLargest</a:t>
            </a:r>
            <a:r>
              <a:rPr lang="en-IN" sz="1600" dirty="0"/>
              <a:t>(int a, int b, int c)</a:t>
            </a:r>
          </a:p>
          <a:p>
            <a:pPr marL="0" indent="0">
              <a:buNone/>
            </a:pPr>
            <a:r>
              <a:rPr lang="en-IN" sz="1600" dirty="0"/>
              <a:t>{</a:t>
            </a:r>
          </a:p>
          <a:p>
            <a:pPr marL="0" indent="0">
              <a:buNone/>
            </a:pPr>
            <a:r>
              <a:rPr lang="en-IN" sz="1600" dirty="0"/>
              <a:t>    if (a &gt;= b &amp;&amp; a &gt;= c)</a:t>
            </a:r>
          </a:p>
          <a:p>
            <a:pPr marL="0" indent="0">
              <a:buNone/>
            </a:pPr>
            <a:r>
              <a:rPr lang="en-IN" sz="1600" dirty="0"/>
              <a:t>        return a;</a:t>
            </a:r>
          </a:p>
          <a:p>
            <a:pPr marL="0" indent="0">
              <a:buNone/>
            </a:pPr>
            <a:r>
              <a:rPr lang="en-IN" sz="1600" dirty="0"/>
              <a:t>    else if (b &gt;= c)</a:t>
            </a:r>
          </a:p>
          <a:p>
            <a:pPr marL="0" indent="0">
              <a:buNone/>
            </a:pPr>
            <a:r>
              <a:rPr lang="en-IN" sz="1600" dirty="0"/>
              <a:t>        return b;</a:t>
            </a:r>
          </a:p>
          <a:p>
            <a:pPr marL="0" indent="0">
              <a:buNone/>
            </a:pPr>
            <a:r>
              <a:rPr lang="en-IN" sz="1600" dirty="0"/>
              <a:t>    else</a:t>
            </a:r>
          </a:p>
          <a:p>
            <a:pPr marL="0" indent="0">
              <a:buNone/>
            </a:pPr>
            <a:r>
              <a:rPr lang="en-IN" sz="1600" dirty="0"/>
              <a:t>        return c;</a:t>
            </a:r>
          </a:p>
          <a:p>
            <a:pPr marL="0" indent="0">
              <a:buNone/>
            </a:pPr>
            <a:r>
              <a:rPr lang="en-IN" sz="1600" dirty="0"/>
              <a:t>}</a:t>
            </a:r>
          </a:p>
          <a:p>
            <a:pPr marL="0" indent="0">
              <a:buNone/>
            </a:pPr>
            <a:r>
              <a:rPr lang="en-IN" sz="1600" dirty="0"/>
              <a:t>int main()</a:t>
            </a:r>
          </a:p>
          <a:p>
            <a:pPr marL="0" indent="0">
              <a:buNone/>
            </a:pPr>
            <a:r>
              <a:rPr lang="en-IN" sz="1600" dirty="0"/>
              <a:t>{</a:t>
            </a:r>
          </a:p>
          <a:p>
            <a:pPr marL="0" indent="0">
              <a:buNone/>
            </a:pPr>
            <a:r>
              <a:rPr lang="en-IN" sz="1600" dirty="0"/>
              <a:t>    int a, b, c, largest;</a:t>
            </a:r>
          </a:p>
          <a:p>
            <a:pPr marL="0" indent="0">
              <a:buNone/>
            </a:pPr>
            <a:r>
              <a:rPr lang="en-IN" sz="1600" dirty="0"/>
              <a:t>    </a:t>
            </a:r>
            <a:r>
              <a:rPr lang="en-IN" sz="1600" dirty="0" err="1"/>
              <a:t>printf</a:t>
            </a:r>
            <a:r>
              <a:rPr lang="en-IN" sz="1600" dirty="0"/>
              <a:t>("Enter three numbers: ");</a:t>
            </a:r>
          </a:p>
          <a:p>
            <a:pPr marL="0" indent="0">
              <a:buNone/>
            </a:pPr>
            <a:r>
              <a:rPr lang="en-IN" sz="1600" dirty="0"/>
              <a:t>    </a:t>
            </a:r>
            <a:r>
              <a:rPr lang="en-IN" sz="1600" dirty="0" err="1"/>
              <a:t>scanf</a:t>
            </a:r>
            <a:r>
              <a:rPr lang="en-IN" sz="1600" dirty="0"/>
              <a:t>("%d %d %d", &amp;a, &amp;b, &amp;c);</a:t>
            </a:r>
          </a:p>
          <a:p>
            <a:pPr marL="0" indent="0">
              <a:buNone/>
            </a:pPr>
            <a:r>
              <a:rPr lang="en-IN" sz="1600" dirty="0"/>
              <a:t>    largest = </a:t>
            </a:r>
            <a:r>
              <a:rPr lang="en-IN" sz="1600" dirty="0" err="1"/>
              <a:t>findLargest</a:t>
            </a:r>
            <a:r>
              <a:rPr lang="en-IN" sz="1600" dirty="0"/>
              <a:t>(a, b, c);</a:t>
            </a:r>
          </a:p>
          <a:p>
            <a:pPr marL="0" indent="0">
              <a:buNone/>
            </a:pPr>
            <a:r>
              <a:rPr lang="en-IN" sz="1600" dirty="0"/>
              <a:t>    </a:t>
            </a:r>
            <a:r>
              <a:rPr lang="en-IN" sz="1600" dirty="0" err="1"/>
              <a:t>printf</a:t>
            </a:r>
            <a:r>
              <a:rPr lang="en-IN" sz="1600" dirty="0"/>
              <a:t>("Largest = %d", largest);</a:t>
            </a:r>
          </a:p>
          <a:p>
            <a:pPr marL="0" indent="0">
              <a:buNone/>
            </a:pPr>
            <a:r>
              <a:rPr lang="en-IN" sz="1600" dirty="0"/>
              <a:t>    return 0;</a:t>
            </a:r>
          </a:p>
          <a:p>
            <a:pPr marL="0" indent="0">
              <a:buNone/>
            </a:pPr>
            <a:r>
              <a:rPr lang="en-IN" sz="1600" dirty="0"/>
              <a:t>}</a:t>
            </a:r>
          </a:p>
        </p:txBody>
      </p:sp>
    </p:spTree>
    <p:extLst>
      <p:ext uri="{BB962C8B-B14F-4D97-AF65-F5344CB8AC3E}">
        <p14:creationId xmlns:p14="http://schemas.microsoft.com/office/powerpoint/2010/main" val="153364739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7A7C-D9F8-A875-C1FF-D214F29E1CC6}"/>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D281676B-5A0B-F767-2FB3-7B13345D9A23}"/>
              </a:ext>
            </a:extLst>
          </p:cNvPr>
          <p:cNvSpPr>
            <a:spLocks noGrp="1"/>
          </p:cNvSpPr>
          <p:nvPr>
            <p:ph idx="1"/>
          </p:nvPr>
        </p:nvSpPr>
        <p:spPr/>
        <p:txBody>
          <a:bodyPr>
            <a:normAutofit fontScale="92500" lnSpcReduction="20000"/>
          </a:bodyPr>
          <a:lstStyle/>
          <a:p>
            <a:pPr marL="0" indent="0">
              <a:buNone/>
            </a:pPr>
            <a:r>
              <a:rPr lang="en-IN" dirty="0"/>
              <a:t>Q1. Write a function square() that accepts an integer and returns its square.</a:t>
            </a:r>
          </a:p>
          <a:p>
            <a:pPr marL="0" indent="0">
              <a:buNone/>
            </a:pPr>
            <a:r>
              <a:rPr lang="en-IN" b="1" dirty="0"/>
              <a:t>Answer:</a:t>
            </a:r>
            <a:endParaRPr lang="en-IN" dirty="0"/>
          </a:p>
          <a:p>
            <a:pPr marL="0" indent="0">
              <a:buNone/>
            </a:pPr>
            <a:r>
              <a:rPr lang="en-IN" dirty="0"/>
              <a:t>int square(int n)</a:t>
            </a:r>
          </a:p>
          <a:p>
            <a:pPr marL="0" indent="0">
              <a:buNone/>
            </a:pPr>
            <a:r>
              <a:rPr lang="en-IN" dirty="0"/>
              <a:t>{</a:t>
            </a:r>
          </a:p>
          <a:p>
            <a:pPr marL="0" indent="0">
              <a:buNone/>
            </a:pPr>
            <a:r>
              <a:rPr lang="en-IN" dirty="0"/>
              <a:t>    return n * n;</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("Square = %d", square(5));</a:t>
            </a:r>
          </a:p>
          <a:p>
            <a:pPr marL="0" indent="0">
              <a:buNone/>
            </a:pPr>
            <a:r>
              <a:rPr lang="en-IN" b="1" dirty="0"/>
              <a:t>Output:</a:t>
            </a:r>
            <a:endParaRPr lang="en-IN" dirty="0"/>
          </a:p>
          <a:p>
            <a:pPr marL="0" indent="0">
              <a:buNone/>
            </a:pPr>
            <a:r>
              <a:rPr lang="en-IN" dirty="0"/>
              <a:t>Square = 25</a:t>
            </a:r>
          </a:p>
        </p:txBody>
      </p:sp>
    </p:spTree>
    <p:extLst>
      <p:ext uri="{BB962C8B-B14F-4D97-AF65-F5344CB8AC3E}">
        <p14:creationId xmlns:p14="http://schemas.microsoft.com/office/powerpoint/2010/main" val="191534674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C8A0-53F6-2202-528A-D13011ED3673}"/>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12FAE042-951A-B24D-AB03-B28604BC740F}"/>
              </a:ext>
            </a:extLst>
          </p:cNvPr>
          <p:cNvSpPr>
            <a:spLocks noGrp="1"/>
          </p:cNvSpPr>
          <p:nvPr>
            <p:ph idx="1"/>
          </p:nvPr>
        </p:nvSpPr>
        <p:spPr/>
        <p:txBody>
          <a:bodyPr>
            <a:normAutofit fontScale="92500" lnSpcReduction="20000"/>
          </a:bodyPr>
          <a:lstStyle/>
          <a:p>
            <a:pPr marL="0" indent="0">
              <a:buNone/>
            </a:pPr>
            <a:r>
              <a:rPr lang="en-IN" b="1" dirty="0"/>
              <a:t>Q2. Write a function cube() that returns the cube of a number.</a:t>
            </a:r>
          </a:p>
          <a:p>
            <a:pPr marL="0" indent="0">
              <a:buNone/>
            </a:pPr>
            <a:r>
              <a:rPr lang="en-IN" b="1" dirty="0"/>
              <a:t>Answer:</a:t>
            </a:r>
            <a:endParaRPr lang="en-IN" dirty="0"/>
          </a:p>
          <a:p>
            <a:pPr marL="0" indent="0">
              <a:buNone/>
            </a:pPr>
            <a:r>
              <a:rPr lang="en-IN" dirty="0"/>
              <a:t>int cube(int n)</a:t>
            </a:r>
          </a:p>
          <a:p>
            <a:pPr marL="0" indent="0">
              <a:buNone/>
            </a:pPr>
            <a:r>
              <a:rPr lang="en-IN" dirty="0"/>
              <a:t>{</a:t>
            </a:r>
          </a:p>
          <a:p>
            <a:pPr marL="0" indent="0">
              <a:buNone/>
            </a:pPr>
            <a:r>
              <a:rPr lang="en-IN" dirty="0"/>
              <a:t>    return n * n * n;</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("Cube = %d", cube(3));</a:t>
            </a:r>
          </a:p>
          <a:p>
            <a:pPr marL="0" indent="0">
              <a:buNone/>
            </a:pPr>
            <a:r>
              <a:rPr lang="en-IN" b="1" dirty="0"/>
              <a:t>Output:</a:t>
            </a:r>
            <a:endParaRPr lang="en-IN" dirty="0"/>
          </a:p>
          <a:p>
            <a:pPr marL="0" indent="0">
              <a:buNone/>
            </a:pPr>
            <a:r>
              <a:rPr lang="en-IN" dirty="0"/>
              <a:t>Cube = 27</a:t>
            </a:r>
          </a:p>
          <a:p>
            <a:pPr marL="0" indent="0">
              <a:buNone/>
            </a:pPr>
            <a:endParaRPr lang="en-IN" dirty="0"/>
          </a:p>
        </p:txBody>
      </p:sp>
    </p:spTree>
    <p:extLst>
      <p:ext uri="{BB962C8B-B14F-4D97-AF65-F5344CB8AC3E}">
        <p14:creationId xmlns:p14="http://schemas.microsoft.com/office/powerpoint/2010/main" val="422326538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34D2-1429-3C02-9C13-DC31FF994257}"/>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F089B5CB-9B42-F8E2-3D87-1A7FF453EEEF}"/>
              </a:ext>
            </a:extLst>
          </p:cNvPr>
          <p:cNvSpPr>
            <a:spLocks noGrp="1"/>
          </p:cNvSpPr>
          <p:nvPr>
            <p:ph idx="1"/>
          </p:nvPr>
        </p:nvSpPr>
        <p:spPr/>
        <p:txBody>
          <a:bodyPr>
            <a:normAutofit fontScale="62500" lnSpcReduction="20000"/>
          </a:bodyPr>
          <a:lstStyle/>
          <a:p>
            <a:pPr marL="0" indent="0">
              <a:buNone/>
            </a:pPr>
            <a:r>
              <a:rPr lang="en-IN" b="1" dirty="0"/>
              <a:t>Q3. Write a function to find the maximum of two numbers.</a:t>
            </a:r>
          </a:p>
          <a:p>
            <a:pPr marL="0" indent="0">
              <a:buNone/>
            </a:pPr>
            <a:r>
              <a:rPr lang="en-IN" b="1" dirty="0"/>
              <a:t>Answer:</a:t>
            </a:r>
            <a:endParaRPr lang="en-IN" dirty="0"/>
          </a:p>
          <a:p>
            <a:pPr marL="0" indent="0">
              <a:buNone/>
            </a:pPr>
            <a:r>
              <a:rPr lang="en-IN" dirty="0"/>
              <a:t>int maximum(int a, int b)</a:t>
            </a:r>
          </a:p>
          <a:p>
            <a:pPr marL="0" indent="0">
              <a:buNone/>
            </a:pPr>
            <a:r>
              <a:rPr lang="en-IN" dirty="0"/>
              <a:t>{</a:t>
            </a:r>
          </a:p>
          <a:p>
            <a:pPr marL="0" indent="0">
              <a:buNone/>
            </a:pPr>
            <a:r>
              <a:rPr lang="en-IN" dirty="0"/>
              <a:t>    if (a &gt; b)</a:t>
            </a:r>
          </a:p>
          <a:p>
            <a:pPr marL="0" indent="0">
              <a:buNone/>
            </a:pPr>
            <a:r>
              <a:rPr lang="en-IN" dirty="0"/>
              <a:t>        return a;</a:t>
            </a:r>
          </a:p>
          <a:p>
            <a:pPr marL="0" indent="0">
              <a:buNone/>
            </a:pPr>
            <a:r>
              <a:rPr lang="en-IN" dirty="0"/>
              <a:t>    else</a:t>
            </a:r>
          </a:p>
          <a:p>
            <a:pPr marL="0" indent="0">
              <a:buNone/>
            </a:pPr>
            <a:r>
              <a:rPr lang="en-IN" dirty="0"/>
              <a:t>        return b;</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("Maximum = %d", maximum(25, 18));</a:t>
            </a:r>
          </a:p>
          <a:p>
            <a:pPr marL="0" indent="0">
              <a:buNone/>
            </a:pPr>
            <a:r>
              <a:rPr lang="en-IN" b="1" dirty="0"/>
              <a:t>Output:</a:t>
            </a:r>
            <a:endParaRPr lang="en-IN" dirty="0"/>
          </a:p>
          <a:p>
            <a:pPr marL="0" indent="0">
              <a:buNone/>
            </a:pPr>
            <a:r>
              <a:rPr lang="en-IN" dirty="0"/>
              <a:t>Maximum = 25</a:t>
            </a:r>
          </a:p>
          <a:p>
            <a:pPr marL="0" indent="0">
              <a:buNone/>
            </a:pPr>
            <a:endParaRPr lang="en-IN" dirty="0"/>
          </a:p>
        </p:txBody>
      </p:sp>
    </p:spTree>
    <p:extLst>
      <p:ext uri="{BB962C8B-B14F-4D97-AF65-F5344CB8AC3E}">
        <p14:creationId xmlns:p14="http://schemas.microsoft.com/office/powerpoint/2010/main" val="24366810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3BA7-FE39-0F6E-CB3E-1C8BB122DE1E}"/>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0F44A5BC-1908-7790-E564-28294F11592F}"/>
              </a:ext>
            </a:extLst>
          </p:cNvPr>
          <p:cNvSpPr>
            <a:spLocks noGrp="1"/>
          </p:cNvSpPr>
          <p:nvPr>
            <p:ph idx="1"/>
          </p:nvPr>
        </p:nvSpPr>
        <p:spPr/>
        <p:txBody>
          <a:bodyPr numCol="2">
            <a:normAutofit lnSpcReduction="10000"/>
          </a:bodyPr>
          <a:lstStyle/>
          <a:p>
            <a:pPr marL="0" indent="0">
              <a:buNone/>
            </a:pPr>
            <a:r>
              <a:rPr lang="en-IN" b="1" dirty="0"/>
              <a:t>Q4. Write a function </a:t>
            </a:r>
            <a:r>
              <a:rPr lang="en-IN" b="1" dirty="0" err="1"/>
              <a:t>isEven</a:t>
            </a:r>
            <a:r>
              <a:rPr lang="en-IN" b="1" dirty="0"/>
              <a:t>() that returns 1 if a number is even and 0 otherwise.</a:t>
            </a:r>
          </a:p>
          <a:p>
            <a:pPr marL="0" indent="0">
              <a:buNone/>
            </a:pPr>
            <a:r>
              <a:rPr lang="en-IN" b="1" dirty="0"/>
              <a:t>Answer:</a:t>
            </a:r>
            <a:endParaRPr lang="en-IN" dirty="0"/>
          </a:p>
          <a:p>
            <a:pPr marL="0" indent="0">
              <a:buNone/>
            </a:pPr>
            <a:r>
              <a:rPr lang="en-IN" dirty="0"/>
              <a:t>int </a:t>
            </a:r>
            <a:r>
              <a:rPr lang="en-IN" dirty="0" err="1"/>
              <a:t>isEven</a:t>
            </a:r>
            <a:r>
              <a:rPr lang="en-IN" dirty="0"/>
              <a:t>(int n)</a:t>
            </a:r>
          </a:p>
          <a:p>
            <a:pPr marL="0" indent="0">
              <a:buNone/>
            </a:pPr>
            <a:r>
              <a:rPr lang="en-IN" dirty="0"/>
              <a:t>{</a:t>
            </a:r>
          </a:p>
          <a:p>
            <a:pPr marL="0" indent="0">
              <a:buNone/>
            </a:pPr>
            <a:r>
              <a:rPr lang="en-IN" dirty="0"/>
              <a:t>    if (n % 2 == 0)</a:t>
            </a:r>
          </a:p>
          <a:p>
            <a:pPr marL="0" indent="0">
              <a:buNone/>
            </a:pPr>
            <a:r>
              <a:rPr lang="en-IN" dirty="0"/>
              <a:t>        return 1;</a:t>
            </a:r>
          </a:p>
          <a:p>
            <a:pPr marL="0" indent="0">
              <a:buNone/>
            </a:pPr>
            <a:r>
              <a:rPr lang="en-IN" dirty="0"/>
              <a:t>    else</a:t>
            </a:r>
          </a:p>
          <a:p>
            <a:pPr marL="0" indent="0">
              <a:buNone/>
            </a:pPr>
            <a:r>
              <a:rPr lang="en-IN" dirty="0"/>
              <a:t>        return 0;</a:t>
            </a:r>
          </a:p>
          <a:p>
            <a:pPr marL="0" indent="0">
              <a:buNone/>
            </a:pPr>
            <a:r>
              <a:rPr lang="en-IN" dirty="0"/>
              <a:t>}</a:t>
            </a:r>
          </a:p>
          <a:p>
            <a:pPr marL="0" indent="0">
              <a:buNone/>
            </a:pPr>
            <a:r>
              <a:rPr lang="en-IN" b="1" dirty="0"/>
              <a:t>Function call:</a:t>
            </a:r>
            <a:endParaRPr lang="en-IN" dirty="0"/>
          </a:p>
          <a:p>
            <a:pPr marL="0" indent="0">
              <a:buNone/>
            </a:pPr>
            <a:r>
              <a:rPr lang="en-IN" dirty="0"/>
              <a:t>if (</a:t>
            </a:r>
            <a:r>
              <a:rPr lang="en-IN" dirty="0" err="1"/>
              <a:t>isEven</a:t>
            </a:r>
            <a:r>
              <a:rPr lang="en-IN" dirty="0"/>
              <a:t>(12))</a:t>
            </a:r>
          </a:p>
          <a:p>
            <a:pPr marL="0" indent="0">
              <a:buNone/>
            </a:pPr>
            <a:r>
              <a:rPr lang="en-IN" dirty="0"/>
              <a:t>    </a:t>
            </a:r>
            <a:r>
              <a:rPr lang="en-IN" dirty="0" err="1"/>
              <a:t>printf</a:t>
            </a:r>
            <a:r>
              <a:rPr lang="en-IN" dirty="0"/>
              <a:t>("Even");</a:t>
            </a:r>
          </a:p>
          <a:p>
            <a:pPr marL="0" indent="0">
              <a:buNone/>
            </a:pPr>
            <a:r>
              <a:rPr lang="en-IN" dirty="0"/>
              <a:t>else</a:t>
            </a:r>
          </a:p>
          <a:p>
            <a:pPr marL="0" indent="0">
              <a:buNone/>
            </a:pPr>
            <a:r>
              <a:rPr lang="en-IN" dirty="0"/>
              <a:t>    </a:t>
            </a:r>
            <a:r>
              <a:rPr lang="en-IN" dirty="0" err="1"/>
              <a:t>printf</a:t>
            </a:r>
            <a:r>
              <a:rPr lang="en-IN" dirty="0"/>
              <a:t>("Odd");</a:t>
            </a:r>
          </a:p>
          <a:p>
            <a:pPr marL="0" indent="0">
              <a:buNone/>
            </a:pPr>
            <a:r>
              <a:rPr lang="en-IN" b="1" dirty="0"/>
              <a:t>Output:</a:t>
            </a:r>
            <a:endParaRPr lang="en-IN" dirty="0"/>
          </a:p>
          <a:p>
            <a:pPr marL="0" indent="0">
              <a:buNone/>
            </a:pPr>
            <a:r>
              <a:rPr lang="en-IN" dirty="0"/>
              <a:t>Even</a:t>
            </a:r>
          </a:p>
          <a:p>
            <a:pPr marL="0" indent="0">
              <a:buNone/>
            </a:pPr>
            <a:endParaRPr lang="en-IN" dirty="0"/>
          </a:p>
        </p:txBody>
      </p:sp>
    </p:spTree>
    <p:extLst>
      <p:ext uri="{BB962C8B-B14F-4D97-AF65-F5344CB8AC3E}">
        <p14:creationId xmlns:p14="http://schemas.microsoft.com/office/powerpoint/2010/main" val="37113086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2478-D2AE-6AA2-6DB5-7213FE995365}"/>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44411969-13E7-8123-5B49-D3F6D3C40D6F}"/>
              </a:ext>
            </a:extLst>
          </p:cNvPr>
          <p:cNvSpPr>
            <a:spLocks noGrp="1"/>
          </p:cNvSpPr>
          <p:nvPr>
            <p:ph idx="1"/>
          </p:nvPr>
        </p:nvSpPr>
        <p:spPr/>
        <p:txBody>
          <a:bodyPr numCol="2">
            <a:normAutofit lnSpcReduction="10000"/>
          </a:bodyPr>
          <a:lstStyle/>
          <a:p>
            <a:pPr marL="0" indent="0">
              <a:buNone/>
            </a:pPr>
            <a:r>
              <a:rPr lang="en-IN" b="1" dirty="0"/>
              <a:t>Q5. Write a function to calculate the factorial of a number.</a:t>
            </a:r>
          </a:p>
          <a:p>
            <a:pPr marL="0" indent="0">
              <a:buNone/>
            </a:pPr>
            <a:r>
              <a:rPr lang="en-IN" b="1" dirty="0"/>
              <a:t>Answer:</a:t>
            </a:r>
            <a:endParaRPr lang="en-IN" dirty="0"/>
          </a:p>
          <a:p>
            <a:pPr marL="0" indent="0">
              <a:buNone/>
            </a:pPr>
            <a:r>
              <a:rPr lang="en-IN" dirty="0"/>
              <a:t>int factorial(int n)</a:t>
            </a:r>
          </a:p>
          <a:p>
            <a:pPr marL="0" indent="0">
              <a:buNone/>
            </a:pPr>
            <a:r>
              <a:rPr lang="en-IN" dirty="0"/>
              <a:t>{</a:t>
            </a:r>
          </a:p>
          <a:p>
            <a:pPr marL="0" indent="0">
              <a:buNone/>
            </a:pPr>
            <a:r>
              <a:rPr lang="en-IN" dirty="0"/>
              <a:t>    int </a:t>
            </a:r>
            <a:r>
              <a:rPr lang="en-IN" dirty="0" err="1"/>
              <a:t>i</a:t>
            </a:r>
            <a:r>
              <a:rPr lang="en-IN" dirty="0"/>
              <a:t>, fact = 1;</a:t>
            </a:r>
          </a:p>
          <a:p>
            <a:pPr marL="0" indent="0">
              <a:buNone/>
            </a:pPr>
            <a:endParaRPr lang="en-IN" dirty="0"/>
          </a:p>
          <a:p>
            <a:pPr marL="0" indent="0">
              <a:buNone/>
            </a:pPr>
            <a:r>
              <a:rPr lang="en-IN" dirty="0"/>
              <a:t>    for (</a:t>
            </a:r>
            <a:r>
              <a:rPr lang="en-IN" dirty="0" err="1"/>
              <a:t>i</a:t>
            </a:r>
            <a:r>
              <a:rPr lang="en-IN" dirty="0"/>
              <a:t> = 1; </a:t>
            </a:r>
            <a:r>
              <a:rPr lang="en-IN" dirty="0" err="1"/>
              <a:t>i</a:t>
            </a:r>
            <a:r>
              <a:rPr lang="en-IN" dirty="0"/>
              <a:t> &lt;= n; </a:t>
            </a:r>
            <a:r>
              <a:rPr lang="en-IN" dirty="0" err="1"/>
              <a:t>i</a:t>
            </a:r>
            <a:r>
              <a:rPr lang="en-IN" dirty="0"/>
              <a:t>++)</a:t>
            </a:r>
          </a:p>
          <a:p>
            <a:pPr marL="0" indent="0">
              <a:buNone/>
            </a:pPr>
            <a:r>
              <a:rPr lang="en-IN" dirty="0"/>
              <a:t>        fact = fact * </a:t>
            </a:r>
            <a:r>
              <a:rPr lang="en-IN" dirty="0" err="1"/>
              <a:t>i</a:t>
            </a:r>
            <a:r>
              <a:rPr lang="en-IN" dirty="0"/>
              <a:t>;</a:t>
            </a:r>
          </a:p>
          <a:p>
            <a:pPr marL="0" indent="0">
              <a:buNone/>
            </a:pPr>
            <a:endParaRPr lang="en-IN" dirty="0"/>
          </a:p>
          <a:p>
            <a:pPr marL="0" indent="0">
              <a:buNone/>
            </a:pPr>
            <a:r>
              <a:rPr lang="en-IN" dirty="0"/>
              <a:t>    return fact;</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("Factorial = %d", factorial(5));</a:t>
            </a:r>
          </a:p>
          <a:p>
            <a:pPr marL="0" indent="0">
              <a:buNone/>
            </a:pPr>
            <a:r>
              <a:rPr lang="en-IN" b="1" dirty="0"/>
              <a:t>Output:</a:t>
            </a:r>
            <a:endParaRPr lang="en-IN" dirty="0"/>
          </a:p>
          <a:p>
            <a:pPr marL="0" indent="0">
              <a:buNone/>
            </a:pPr>
            <a:r>
              <a:rPr lang="en-IN" dirty="0"/>
              <a:t>Factorial = 120</a:t>
            </a:r>
          </a:p>
          <a:p>
            <a:pPr marL="0" indent="0">
              <a:buNone/>
            </a:pPr>
            <a:endParaRPr lang="en-IN" dirty="0"/>
          </a:p>
        </p:txBody>
      </p:sp>
    </p:spTree>
    <p:extLst>
      <p:ext uri="{BB962C8B-B14F-4D97-AF65-F5344CB8AC3E}">
        <p14:creationId xmlns:p14="http://schemas.microsoft.com/office/powerpoint/2010/main" val="150320627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F489-4D63-D170-0EA9-3DB8017B3EE5}"/>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376C82A9-3C70-3FF4-FB62-92A348E06598}"/>
              </a:ext>
            </a:extLst>
          </p:cNvPr>
          <p:cNvSpPr>
            <a:spLocks noGrp="1"/>
          </p:cNvSpPr>
          <p:nvPr>
            <p:ph idx="1"/>
          </p:nvPr>
        </p:nvSpPr>
        <p:spPr/>
        <p:txBody>
          <a:bodyPr>
            <a:normAutofit fontScale="92500" lnSpcReduction="20000"/>
          </a:bodyPr>
          <a:lstStyle/>
          <a:p>
            <a:pPr marL="0" indent="0">
              <a:buNone/>
            </a:pPr>
            <a:r>
              <a:rPr lang="en-IN" b="1" dirty="0"/>
              <a:t>Q6. Write a function to calculate the area of a circle.</a:t>
            </a:r>
          </a:p>
          <a:p>
            <a:pPr marL="0" indent="0">
              <a:buNone/>
            </a:pPr>
            <a:r>
              <a:rPr lang="en-IN" b="1" dirty="0"/>
              <a:t>Answer:</a:t>
            </a:r>
            <a:endParaRPr lang="en-IN" dirty="0"/>
          </a:p>
          <a:p>
            <a:pPr marL="0" indent="0">
              <a:buNone/>
            </a:pPr>
            <a:r>
              <a:rPr lang="en-IN" dirty="0"/>
              <a:t>float </a:t>
            </a:r>
            <a:r>
              <a:rPr lang="en-IN" dirty="0" err="1"/>
              <a:t>calculateArea</a:t>
            </a:r>
            <a:r>
              <a:rPr lang="en-IN" dirty="0"/>
              <a:t>(float radius)</a:t>
            </a:r>
          </a:p>
          <a:p>
            <a:pPr marL="0" indent="0">
              <a:buNone/>
            </a:pPr>
            <a:r>
              <a:rPr lang="en-IN" dirty="0"/>
              <a:t>{</a:t>
            </a:r>
          </a:p>
          <a:p>
            <a:pPr marL="0" indent="0">
              <a:buNone/>
            </a:pPr>
            <a:r>
              <a:rPr lang="en-IN" dirty="0"/>
              <a:t>    return 3.14 * radius * radius;</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("Area = %.2f", </a:t>
            </a:r>
            <a:r>
              <a:rPr lang="en-IN" dirty="0" err="1"/>
              <a:t>calculateArea</a:t>
            </a:r>
            <a:r>
              <a:rPr lang="en-IN" dirty="0"/>
              <a:t>(5));</a:t>
            </a:r>
          </a:p>
          <a:p>
            <a:pPr marL="0" indent="0">
              <a:buNone/>
            </a:pPr>
            <a:r>
              <a:rPr lang="en-IN" b="1" dirty="0"/>
              <a:t>Output:</a:t>
            </a:r>
            <a:endParaRPr lang="en-IN" dirty="0"/>
          </a:p>
          <a:p>
            <a:pPr marL="0" indent="0">
              <a:buNone/>
            </a:pPr>
            <a:r>
              <a:rPr lang="en-IN" dirty="0"/>
              <a:t>Area = 78.50</a:t>
            </a:r>
          </a:p>
          <a:p>
            <a:pPr marL="0" indent="0">
              <a:buNone/>
            </a:pPr>
            <a:endParaRPr lang="en-IN" dirty="0"/>
          </a:p>
        </p:txBody>
      </p:sp>
    </p:spTree>
    <p:extLst>
      <p:ext uri="{BB962C8B-B14F-4D97-AF65-F5344CB8AC3E}">
        <p14:creationId xmlns:p14="http://schemas.microsoft.com/office/powerpoint/2010/main" val="26340977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6F00-F122-871C-B4FD-5780ECABE5C8}"/>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83DA0680-AEA0-4350-5EBD-B74478CCAF8B}"/>
              </a:ext>
            </a:extLst>
          </p:cNvPr>
          <p:cNvSpPr>
            <a:spLocks noGrp="1"/>
          </p:cNvSpPr>
          <p:nvPr>
            <p:ph idx="1"/>
          </p:nvPr>
        </p:nvSpPr>
        <p:spPr/>
        <p:txBody>
          <a:bodyPr numCol="2">
            <a:normAutofit fontScale="92500" lnSpcReduction="20000"/>
          </a:bodyPr>
          <a:lstStyle/>
          <a:p>
            <a:pPr marL="0" indent="0">
              <a:buNone/>
            </a:pPr>
            <a:r>
              <a:rPr lang="en-IN" b="1" dirty="0"/>
              <a:t>Q7. Write a function to determine whether a year is a leap year.</a:t>
            </a:r>
          </a:p>
          <a:p>
            <a:pPr marL="0" indent="0">
              <a:buNone/>
            </a:pPr>
            <a:r>
              <a:rPr lang="en-IN" b="1" dirty="0"/>
              <a:t>Answer:</a:t>
            </a:r>
            <a:endParaRPr lang="en-IN" dirty="0"/>
          </a:p>
          <a:p>
            <a:pPr marL="0" indent="0">
              <a:buNone/>
            </a:pPr>
            <a:r>
              <a:rPr lang="en-IN" dirty="0"/>
              <a:t>int </a:t>
            </a:r>
            <a:r>
              <a:rPr lang="en-IN" dirty="0" err="1"/>
              <a:t>isLeapYear</a:t>
            </a:r>
            <a:r>
              <a:rPr lang="en-IN" dirty="0"/>
              <a:t>(int year)</a:t>
            </a:r>
          </a:p>
          <a:p>
            <a:pPr marL="0" indent="0">
              <a:buNone/>
            </a:pPr>
            <a:r>
              <a:rPr lang="en-IN" dirty="0"/>
              <a:t>{</a:t>
            </a:r>
          </a:p>
          <a:p>
            <a:pPr marL="0" indent="0">
              <a:buNone/>
            </a:pPr>
            <a:r>
              <a:rPr lang="en-IN" dirty="0"/>
              <a:t>    if ((year % 400 == 0) ||</a:t>
            </a:r>
          </a:p>
          <a:p>
            <a:pPr marL="0" indent="0">
              <a:buNone/>
            </a:pPr>
            <a:r>
              <a:rPr lang="en-IN" dirty="0"/>
              <a:t>        (year % 4 == 0 &amp;&amp; year % 100 != 0))</a:t>
            </a:r>
          </a:p>
          <a:p>
            <a:pPr marL="0" indent="0">
              <a:buNone/>
            </a:pPr>
            <a:r>
              <a:rPr lang="en-IN" dirty="0"/>
              <a:t>        return 1;</a:t>
            </a:r>
          </a:p>
          <a:p>
            <a:pPr marL="0" indent="0">
              <a:buNone/>
            </a:pPr>
            <a:r>
              <a:rPr lang="en-IN" dirty="0"/>
              <a:t>    else</a:t>
            </a:r>
          </a:p>
          <a:p>
            <a:pPr marL="0" indent="0">
              <a:buNone/>
            </a:pPr>
            <a:r>
              <a:rPr lang="en-IN" dirty="0"/>
              <a:t>        return 0;</a:t>
            </a:r>
          </a:p>
          <a:p>
            <a:pPr marL="0" indent="0">
              <a:buNone/>
            </a:pPr>
            <a:r>
              <a:rPr lang="en-IN" dirty="0"/>
              <a:t>}</a:t>
            </a:r>
          </a:p>
          <a:p>
            <a:pPr marL="0" indent="0">
              <a:buNone/>
            </a:pPr>
            <a:r>
              <a:rPr lang="en-IN" b="1" dirty="0"/>
              <a:t>Function call:</a:t>
            </a:r>
            <a:endParaRPr lang="en-IN" dirty="0"/>
          </a:p>
          <a:p>
            <a:pPr marL="0" indent="0">
              <a:buNone/>
            </a:pPr>
            <a:r>
              <a:rPr lang="en-IN" dirty="0"/>
              <a:t>if (</a:t>
            </a:r>
            <a:r>
              <a:rPr lang="en-IN" dirty="0" err="1"/>
              <a:t>isLeapYear</a:t>
            </a:r>
            <a:r>
              <a:rPr lang="en-IN" dirty="0"/>
              <a:t>(2024))</a:t>
            </a:r>
          </a:p>
          <a:p>
            <a:pPr marL="0" indent="0">
              <a:buNone/>
            </a:pPr>
            <a:r>
              <a:rPr lang="en-IN" dirty="0"/>
              <a:t>    </a:t>
            </a:r>
            <a:r>
              <a:rPr lang="en-IN" dirty="0" err="1"/>
              <a:t>printf</a:t>
            </a:r>
            <a:r>
              <a:rPr lang="en-IN" dirty="0"/>
              <a:t>("Leap Year");</a:t>
            </a:r>
          </a:p>
          <a:p>
            <a:pPr marL="0" indent="0">
              <a:buNone/>
            </a:pPr>
            <a:r>
              <a:rPr lang="en-IN" dirty="0"/>
              <a:t>else</a:t>
            </a:r>
          </a:p>
          <a:p>
            <a:pPr marL="0" indent="0">
              <a:buNone/>
            </a:pPr>
            <a:r>
              <a:rPr lang="en-IN" dirty="0"/>
              <a:t>    </a:t>
            </a:r>
            <a:r>
              <a:rPr lang="en-IN" dirty="0" err="1"/>
              <a:t>printf</a:t>
            </a:r>
            <a:r>
              <a:rPr lang="en-IN" dirty="0"/>
              <a:t>("Not a Leap Year");</a:t>
            </a:r>
          </a:p>
          <a:p>
            <a:pPr marL="0" indent="0">
              <a:buNone/>
            </a:pPr>
            <a:r>
              <a:rPr lang="en-IN" b="1" dirty="0"/>
              <a:t>Output:</a:t>
            </a:r>
            <a:endParaRPr lang="en-IN" dirty="0"/>
          </a:p>
          <a:p>
            <a:pPr marL="0" indent="0">
              <a:buNone/>
            </a:pPr>
            <a:r>
              <a:rPr lang="en-IN" dirty="0"/>
              <a:t>Leap Year</a:t>
            </a:r>
          </a:p>
          <a:p>
            <a:pPr marL="0" indent="0">
              <a:buNone/>
            </a:pPr>
            <a:endParaRPr lang="en-IN" dirty="0"/>
          </a:p>
        </p:txBody>
      </p:sp>
    </p:spTree>
    <p:extLst>
      <p:ext uri="{BB962C8B-B14F-4D97-AF65-F5344CB8AC3E}">
        <p14:creationId xmlns:p14="http://schemas.microsoft.com/office/powerpoint/2010/main" val="266907013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0D0B-2E54-2C91-08A7-046ADFA3AB73}"/>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039A5B94-0A18-E4B3-981D-017416635D2C}"/>
              </a:ext>
            </a:extLst>
          </p:cNvPr>
          <p:cNvSpPr>
            <a:spLocks noGrp="1"/>
          </p:cNvSpPr>
          <p:nvPr>
            <p:ph idx="1"/>
          </p:nvPr>
        </p:nvSpPr>
        <p:spPr/>
        <p:txBody>
          <a:bodyPr>
            <a:normAutofit fontScale="92500" lnSpcReduction="20000"/>
          </a:bodyPr>
          <a:lstStyle/>
          <a:p>
            <a:pPr marL="0" indent="0">
              <a:buNone/>
            </a:pPr>
            <a:r>
              <a:rPr lang="en-IN" b="1" dirty="0"/>
              <a:t>Q8. Write a function to calculate the sum of three numbers.</a:t>
            </a:r>
          </a:p>
          <a:p>
            <a:pPr marL="0" indent="0">
              <a:buNone/>
            </a:pPr>
            <a:r>
              <a:rPr lang="en-IN" b="1" dirty="0"/>
              <a:t>Answer:</a:t>
            </a:r>
            <a:endParaRPr lang="en-IN" dirty="0"/>
          </a:p>
          <a:p>
            <a:pPr marL="0" indent="0">
              <a:buNone/>
            </a:pPr>
            <a:r>
              <a:rPr lang="en-IN" dirty="0"/>
              <a:t>int </a:t>
            </a:r>
            <a:r>
              <a:rPr lang="en-IN" dirty="0" err="1"/>
              <a:t>calculateSum</a:t>
            </a:r>
            <a:r>
              <a:rPr lang="en-IN" dirty="0"/>
              <a:t>(int a, int b, int c)</a:t>
            </a:r>
          </a:p>
          <a:p>
            <a:pPr marL="0" indent="0">
              <a:buNone/>
            </a:pPr>
            <a:r>
              <a:rPr lang="en-IN" dirty="0"/>
              <a:t>{</a:t>
            </a:r>
          </a:p>
          <a:p>
            <a:pPr marL="0" indent="0">
              <a:buNone/>
            </a:pPr>
            <a:r>
              <a:rPr lang="en-IN" dirty="0"/>
              <a:t>    return a + b + c;</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("Sum = %d", </a:t>
            </a:r>
            <a:r>
              <a:rPr lang="en-IN" dirty="0" err="1"/>
              <a:t>calculateSum</a:t>
            </a:r>
            <a:r>
              <a:rPr lang="en-IN" dirty="0"/>
              <a:t>(10, 20, 30));</a:t>
            </a:r>
          </a:p>
          <a:p>
            <a:pPr marL="0" indent="0">
              <a:buNone/>
            </a:pPr>
            <a:r>
              <a:rPr lang="en-IN" b="1" dirty="0"/>
              <a:t>Output:</a:t>
            </a:r>
            <a:endParaRPr lang="en-IN" dirty="0"/>
          </a:p>
          <a:p>
            <a:pPr marL="0" indent="0">
              <a:buNone/>
            </a:pPr>
            <a:r>
              <a:rPr lang="en-IN" dirty="0"/>
              <a:t>Sum = 60</a:t>
            </a:r>
          </a:p>
          <a:p>
            <a:pPr marL="0" indent="0">
              <a:buNone/>
            </a:pPr>
            <a:endParaRPr lang="en-IN" dirty="0"/>
          </a:p>
        </p:txBody>
      </p:sp>
    </p:spTree>
    <p:extLst>
      <p:ext uri="{BB962C8B-B14F-4D97-AF65-F5344CB8AC3E}">
        <p14:creationId xmlns:p14="http://schemas.microsoft.com/office/powerpoint/2010/main" val="6546103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EFB30-D681-A458-F6BA-1896AD461C8E}"/>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5858C0D9-7F49-0EB3-8406-91FF7B4AFFC1}"/>
              </a:ext>
            </a:extLst>
          </p:cNvPr>
          <p:cNvSpPr>
            <a:spLocks noGrp="1"/>
          </p:cNvSpPr>
          <p:nvPr>
            <p:ph idx="1"/>
          </p:nvPr>
        </p:nvSpPr>
        <p:spPr/>
        <p:txBody>
          <a:bodyPr numCol="3">
            <a:normAutofit fontScale="92500" lnSpcReduction="10000"/>
          </a:bodyPr>
          <a:lstStyle/>
          <a:p>
            <a:pPr marL="0" indent="0">
              <a:buNone/>
            </a:pPr>
            <a:r>
              <a:rPr lang="en-IN" b="1" dirty="0"/>
              <a:t>Q9. Design helper functions to calculate the total and average of three marks.</a:t>
            </a:r>
          </a:p>
          <a:p>
            <a:pPr marL="0" indent="0">
              <a:buNone/>
            </a:pPr>
            <a:r>
              <a:rPr lang="en-IN" b="1" dirty="0"/>
              <a:t>Answer:</a:t>
            </a:r>
            <a:endParaRPr lang="en-IN" dirty="0"/>
          </a:p>
          <a:p>
            <a:pPr marL="0" indent="0">
              <a:buNone/>
            </a:pPr>
            <a:r>
              <a:rPr lang="en-IN" dirty="0"/>
              <a:t>#include &lt;</a:t>
            </a:r>
            <a:r>
              <a:rPr lang="en-IN" dirty="0" err="1"/>
              <a:t>stdio.h</a:t>
            </a:r>
            <a:r>
              <a:rPr lang="en-IN" dirty="0"/>
              <a:t>&gt;</a:t>
            </a:r>
          </a:p>
          <a:p>
            <a:pPr marL="0" indent="0">
              <a:buNone/>
            </a:pPr>
            <a:r>
              <a:rPr lang="en-IN" dirty="0"/>
              <a:t>int </a:t>
            </a:r>
            <a:r>
              <a:rPr lang="en-IN" dirty="0" err="1"/>
              <a:t>calculateTotal</a:t>
            </a:r>
            <a:r>
              <a:rPr lang="en-IN" dirty="0"/>
              <a:t>(int m1, int m2, int m3)</a:t>
            </a:r>
          </a:p>
          <a:p>
            <a:pPr marL="0" indent="0">
              <a:buNone/>
            </a:pPr>
            <a:r>
              <a:rPr lang="en-IN" dirty="0"/>
              <a:t>{</a:t>
            </a:r>
          </a:p>
          <a:p>
            <a:pPr marL="0" indent="0">
              <a:buNone/>
            </a:pPr>
            <a:r>
              <a:rPr lang="en-IN" dirty="0"/>
              <a:t>    return m1 + m2 + m3;</a:t>
            </a:r>
          </a:p>
          <a:p>
            <a:pPr marL="0" indent="0">
              <a:buNone/>
            </a:pPr>
            <a:r>
              <a:rPr lang="en-IN" dirty="0"/>
              <a:t>}</a:t>
            </a:r>
          </a:p>
          <a:p>
            <a:pPr marL="0" indent="0">
              <a:buNone/>
            </a:pPr>
            <a:r>
              <a:rPr lang="en-IN" dirty="0"/>
              <a:t>float </a:t>
            </a:r>
            <a:r>
              <a:rPr lang="en-IN" dirty="0" err="1"/>
              <a:t>calculateAverage</a:t>
            </a:r>
            <a:r>
              <a:rPr lang="en-IN" dirty="0"/>
              <a:t>(int total)</a:t>
            </a:r>
          </a:p>
          <a:p>
            <a:pPr marL="0" indent="0">
              <a:buNone/>
            </a:pPr>
            <a:r>
              <a:rPr lang="en-IN" dirty="0"/>
              <a:t>{</a:t>
            </a:r>
          </a:p>
          <a:p>
            <a:pPr marL="0" indent="0">
              <a:buNone/>
            </a:pPr>
            <a:r>
              <a:rPr lang="en-IN" dirty="0"/>
              <a:t>    return total / 3.0;</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int total;</a:t>
            </a:r>
          </a:p>
          <a:p>
            <a:pPr marL="0" indent="0">
              <a:buNone/>
            </a:pPr>
            <a:r>
              <a:rPr lang="en-IN" dirty="0"/>
              <a:t>    float average;</a:t>
            </a:r>
          </a:p>
          <a:p>
            <a:pPr marL="0" indent="0">
              <a:buNone/>
            </a:pPr>
            <a:r>
              <a:rPr lang="en-IN" dirty="0"/>
              <a:t>    total = </a:t>
            </a:r>
            <a:r>
              <a:rPr lang="en-IN" dirty="0" err="1"/>
              <a:t>calculateTotal</a:t>
            </a:r>
            <a:r>
              <a:rPr lang="en-IN" dirty="0"/>
              <a:t>(80, 75, 90);</a:t>
            </a:r>
          </a:p>
          <a:p>
            <a:pPr marL="0" indent="0">
              <a:buNone/>
            </a:pPr>
            <a:r>
              <a:rPr lang="en-IN" dirty="0"/>
              <a:t>    average = </a:t>
            </a:r>
            <a:r>
              <a:rPr lang="en-IN" dirty="0" err="1"/>
              <a:t>calculateAverage</a:t>
            </a:r>
            <a:r>
              <a:rPr lang="en-IN" dirty="0"/>
              <a:t>(total);</a:t>
            </a:r>
          </a:p>
          <a:p>
            <a:pPr marL="0" indent="0">
              <a:buNone/>
            </a:pPr>
            <a:r>
              <a:rPr lang="en-IN" dirty="0"/>
              <a:t>    </a:t>
            </a:r>
            <a:r>
              <a:rPr lang="en-IN" dirty="0" err="1"/>
              <a:t>printf</a:t>
            </a:r>
            <a:r>
              <a:rPr lang="en-IN" dirty="0"/>
              <a:t>("Total = %d\n", total);</a:t>
            </a:r>
          </a:p>
          <a:p>
            <a:pPr marL="0" indent="0">
              <a:buNone/>
            </a:pPr>
            <a:r>
              <a:rPr lang="en-IN" dirty="0"/>
              <a:t>    </a:t>
            </a:r>
            <a:r>
              <a:rPr lang="en-IN" dirty="0" err="1"/>
              <a:t>printf</a:t>
            </a:r>
            <a:r>
              <a:rPr lang="en-IN" dirty="0"/>
              <a:t>("Average = %.2f", average);</a:t>
            </a:r>
          </a:p>
          <a:p>
            <a:pPr marL="0" indent="0">
              <a:buNone/>
            </a:pPr>
            <a:r>
              <a:rPr lang="en-IN" dirty="0"/>
              <a:t>    return 0;</a:t>
            </a:r>
          </a:p>
          <a:p>
            <a:pPr marL="0" indent="0">
              <a:buNone/>
            </a:pPr>
            <a:r>
              <a:rPr lang="en-IN" dirty="0"/>
              <a:t>}</a:t>
            </a:r>
          </a:p>
          <a:p>
            <a:pPr marL="0" indent="0">
              <a:buNone/>
            </a:pPr>
            <a:r>
              <a:rPr lang="en-IN" b="1" dirty="0"/>
              <a:t>Output:</a:t>
            </a:r>
            <a:endParaRPr lang="en-IN" dirty="0"/>
          </a:p>
          <a:p>
            <a:pPr marL="0" indent="0">
              <a:buNone/>
            </a:pPr>
            <a:r>
              <a:rPr lang="en-IN" dirty="0"/>
              <a:t>Total = 245</a:t>
            </a:r>
          </a:p>
          <a:p>
            <a:pPr marL="0" indent="0">
              <a:buNone/>
            </a:pPr>
            <a:r>
              <a:rPr lang="en-IN" dirty="0"/>
              <a:t>Average = 81.67</a:t>
            </a:r>
          </a:p>
          <a:p>
            <a:pPr marL="0" indent="0">
              <a:buNone/>
            </a:pPr>
            <a:endParaRPr lang="en-IN" dirty="0"/>
          </a:p>
        </p:txBody>
      </p:sp>
    </p:spTree>
    <p:extLst>
      <p:ext uri="{BB962C8B-B14F-4D97-AF65-F5344CB8AC3E}">
        <p14:creationId xmlns:p14="http://schemas.microsoft.com/office/powerpoint/2010/main" val="1882618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31DDA-7F56-A2BC-FA40-CFBBEDD8BB49}"/>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4C8594A8-41A9-6DE6-6DF8-BFCE15232C2B}"/>
              </a:ext>
            </a:extLst>
          </p:cNvPr>
          <p:cNvSpPr>
            <a:spLocks noGrp="1"/>
          </p:cNvSpPr>
          <p:nvPr>
            <p:ph idx="1"/>
          </p:nvPr>
        </p:nvSpPr>
        <p:spPr>
          <a:xfrm>
            <a:off x="952500" y="2285997"/>
            <a:ext cx="10287000" cy="4215092"/>
          </a:xfrm>
        </p:spPr>
        <p:txBody>
          <a:bodyPr numCol="3">
            <a:normAutofit fontScale="92500" lnSpcReduction="10000"/>
          </a:bodyPr>
          <a:lstStyle/>
          <a:p>
            <a:pPr marL="0" indent="0">
              <a:buNone/>
            </a:pPr>
            <a:r>
              <a:rPr lang="en-IN" sz="1100" b="1" dirty="0"/>
              <a:t>Q10. Design a modular program to calculate a student's grade.</a:t>
            </a:r>
          </a:p>
          <a:p>
            <a:pPr marL="0" indent="0">
              <a:buNone/>
            </a:pPr>
            <a:endParaRPr lang="en-IN" sz="1100" b="1" dirty="0"/>
          </a:p>
          <a:p>
            <a:pPr marL="0" indent="0">
              <a:buNone/>
            </a:pPr>
            <a:r>
              <a:rPr lang="en-IN" sz="1100" b="1" dirty="0"/>
              <a:t>Requirement:</a:t>
            </a:r>
            <a:endParaRPr lang="en-IN" sz="1100" dirty="0"/>
          </a:p>
          <a:p>
            <a:pPr marL="0" lvl="0" indent="0">
              <a:buNone/>
            </a:pPr>
            <a:r>
              <a:rPr lang="en-IN" sz="1100" dirty="0"/>
              <a:t>Calculate total </a:t>
            </a:r>
          </a:p>
          <a:p>
            <a:pPr marL="0" lvl="0" indent="0">
              <a:buNone/>
            </a:pPr>
            <a:r>
              <a:rPr lang="en-IN" sz="1100" dirty="0"/>
              <a:t>Calculate average </a:t>
            </a:r>
          </a:p>
          <a:p>
            <a:pPr marL="0" lvl="0" indent="0">
              <a:buNone/>
            </a:pPr>
            <a:r>
              <a:rPr lang="en-IN" sz="1100" dirty="0"/>
              <a:t>Determine grade </a:t>
            </a:r>
          </a:p>
          <a:p>
            <a:pPr marL="0" indent="0">
              <a:buNone/>
            </a:pPr>
            <a:endParaRPr lang="en-IN" sz="1100" b="1" dirty="0"/>
          </a:p>
          <a:p>
            <a:pPr marL="0" indent="0">
              <a:buNone/>
            </a:pPr>
            <a:r>
              <a:rPr lang="en-IN" sz="1100" b="1" dirty="0"/>
              <a:t>Answer:</a:t>
            </a:r>
            <a:endParaRPr lang="en-IN" sz="1100" dirty="0"/>
          </a:p>
          <a:p>
            <a:pPr marL="0" indent="0">
              <a:buNone/>
            </a:pPr>
            <a:r>
              <a:rPr lang="en-IN" sz="1100" dirty="0"/>
              <a:t>#include &lt;</a:t>
            </a:r>
            <a:r>
              <a:rPr lang="en-IN" sz="1100" dirty="0" err="1"/>
              <a:t>stdio.h</a:t>
            </a:r>
            <a:r>
              <a:rPr lang="en-IN" sz="1100" dirty="0"/>
              <a:t>&gt;</a:t>
            </a:r>
          </a:p>
          <a:p>
            <a:pPr marL="0" indent="0">
              <a:buNone/>
            </a:pPr>
            <a:r>
              <a:rPr lang="en-IN" sz="1100" dirty="0"/>
              <a:t>int </a:t>
            </a:r>
            <a:r>
              <a:rPr lang="en-IN" sz="1100" dirty="0" err="1"/>
              <a:t>calculateTotal</a:t>
            </a:r>
            <a:r>
              <a:rPr lang="en-IN" sz="1100" dirty="0"/>
              <a:t>(int m1, int m2, int m3)</a:t>
            </a:r>
          </a:p>
          <a:p>
            <a:pPr marL="0" indent="0">
              <a:buNone/>
            </a:pPr>
            <a:r>
              <a:rPr lang="en-IN" sz="1100" dirty="0"/>
              <a:t>{     return m1 + m2 + m3;     }</a:t>
            </a:r>
          </a:p>
          <a:p>
            <a:pPr marL="0" indent="0">
              <a:buNone/>
            </a:pPr>
            <a:r>
              <a:rPr lang="en-IN" sz="1100" dirty="0"/>
              <a:t>float </a:t>
            </a:r>
            <a:r>
              <a:rPr lang="en-IN" sz="1100" dirty="0" err="1"/>
              <a:t>calculateAverage</a:t>
            </a:r>
            <a:r>
              <a:rPr lang="en-IN" sz="1100" dirty="0"/>
              <a:t>(int total)</a:t>
            </a:r>
          </a:p>
          <a:p>
            <a:pPr marL="0" indent="0">
              <a:buNone/>
            </a:pPr>
            <a:r>
              <a:rPr lang="en-IN" sz="1100" dirty="0"/>
              <a:t>{      return total / 3.0;   }</a:t>
            </a:r>
          </a:p>
          <a:p>
            <a:pPr marL="0" indent="0">
              <a:buNone/>
            </a:pPr>
            <a:r>
              <a:rPr lang="en-IN" sz="1100" dirty="0"/>
              <a:t>char </a:t>
            </a:r>
            <a:r>
              <a:rPr lang="en-IN" sz="1100" dirty="0" err="1"/>
              <a:t>findGrade</a:t>
            </a:r>
            <a:r>
              <a:rPr lang="en-IN" sz="1100" dirty="0"/>
              <a:t>(float average)</a:t>
            </a:r>
          </a:p>
          <a:p>
            <a:pPr marL="0" indent="0">
              <a:buNone/>
            </a:pPr>
            <a:r>
              <a:rPr lang="en-IN" sz="1100" dirty="0"/>
              <a:t>{          if (average &gt;= 90)</a:t>
            </a:r>
          </a:p>
          <a:p>
            <a:pPr marL="0" indent="0">
              <a:buNone/>
            </a:pPr>
            <a:r>
              <a:rPr lang="en-IN" sz="1100" dirty="0"/>
              <a:t>        return 'A';</a:t>
            </a:r>
          </a:p>
          <a:p>
            <a:pPr marL="0" indent="0">
              <a:buNone/>
            </a:pPr>
            <a:r>
              <a:rPr lang="en-IN" sz="1100" dirty="0"/>
              <a:t>    else if (average &gt;= 75)</a:t>
            </a:r>
          </a:p>
          <a:p>
            <a:pPr marL="0" indent="0">
              <a:buNone/>
            </a:pPr>
            <a:r>
              <a:rPr lang="en-IN" sz="1100" dirty="0"/>
              <a:t>        return 'B';</a:t>
            </a:r>
          </a:p>
          <a:p>
            <a:pPr marL="0" indent="0">
              <a:buNone/>
            </a:pPr>
            <a:r>
              <a:rPr lang="en-IN" sz="1100" dirty="0"/>
              <a:t>    else if (average &gt;= 60)</a:t>
            </a:r>
          </a:p>
          <a:p>
            <a:pPr marL="0" indent="0">
              <a:buNone/>
            </a:pPr>
            <a:r>
              <a:rPr lang="en-IN" sz="1100" dirty="0"/>
              <a:t>        return 'C';</a:t>
            </a:r>
          </a:p>
          <a:p>
            <a:pPr marL="0" indent="0">
              <a:buNone/>
            </a:pPr>
            <a:r>
              <a:rPr lang="en-IN" sz="1100" dirty="0"/>
              <a:t>    else if (average &gt;= 50)</a:t>
            </a:r>
          </a:p>
          <a:p>
            <a:pPr marL="0" indent="0">
              <a:buNone/>
            </a:pPr>
            <a:r>
              <a:rPr lang="en-IN" sz="1100" dirty="0"/>
              <a:t>        return 'D';</a:t>
            </a:r>
          </a:p>
          <a:p>
            <a:pPr marL="0" indent="0">
              <a:buNone/>
            </a:pPr>
            <a:r>
              <a:rPr lang="en-IN" sz="1100" dirty="0"/>
              <a:t>    else</a:t>
            </a:r>
          </a:p>
          <a:p>
            <a:pPr marL="0" indent="0">
              <a:buNone/>
            </a:pPr>
            <a:r>
              <a:rPr lang="en-IN" sz="1100" dirty="0"/>
              <a:t>        return 'F’;      }</a:t>
            </a:r>
          </a:p>
          <a:p>
            <a:pPr marL="0" indent="0">
              <a:buNone/>
            </a:pPr>
            <a:r>
              <a:rPr lang="en-IN" sz="1100" dirty="0"/>
              <a:t>int main()</a:t>
            </a:r>
          </a:p>
          <a:p>
            <a:pPr marL="0" indent="0">
              <a:buNone/>
            </a:pPr>
            <a:r>
              <a:rPr lang="en-IN" sz="1100" dirty="0"/>
              <a:t>{       int total;</a:t>
            </a:r>
          </a:p>
          <a:p>
            <a:pPr marL="0" indent="0">
              <a:buNone/>
            </a:pPr>
            <a:r>
              <a:rPr lang="en-IN" sz="1100" dirty="0"/>
              <a:t>    float average;</a:t>
            </a:r>
          </a:p>
          <a:p>
            <a:pPr marL="0" indent="0">
              <a:buNone/>
            </a:pPr>
            <a:r>
              <a:rPr lang="en-IN" sz="1100" dirty="0"/>
              <a:t>    char grade;</a:t>
            </a:r>
          </a:p>
          <a:p>
            <a:pPr marL="0" indent="0">
              <a:buNone/>
            </a:pPr>
            <a:r>
              <a:rPr lang="en-IN" sz="1100" dirty="0"/>
              <a:t>    total = </a:t>
            </a:r>
            <a:r>
              <a:rPr lang="en-IN" sz="1100" dirty="0" err="1"/>
              <a:t>calculateTotal</a:t>
            </a:r>
            <a:r>
              <a:rPr lang="en-IN" sz="1100" dirty="0"/>
              <a:t>(85, 78, 92);</a:t>
            </a:r>
          </a:p>
          <a:p>
            <a:pPr marL="0" indent="0">
              <a:buNone/>
            </a:pPr>
            <a:r>
              <a:rPr lang="en-IN" sz="1100" dirty="0"/>
              <a:t>    average = </a:t>
            </a:r>
            <a:r>
              <a:rPr lang="en-IN" sz="1100" dirty="0" err="1"/>
              <a:t>calculateAverage</a:t>
            </a:r>
            <a:r>
              <a:rPr lang="en-IN" sz="1100" dirty="0"/>
              <a:t>(total);</a:t>
            </a:r>
          </a:p>
          <a:p>
            <a:pPr marL="0" indent="0">
              <a:buNone/>
            </a:pPr>
            <a:r>
              <a:rPr lang="en-IN" sz="1100" dirty="0"/>
              <a:t>    grade = </a:t>
            </a:r>
            <a:r>
              <a:rPr lang="en-IN" sz="1100" dirty="0" err="1"/>
              <a:t>findGrade</a:t>
            </a:r>
            <a:r>
              <a:rPr lang="en-IN" sz="1100" dirty="0"/>
              <a:t>(average);</a:t>
            </a:r>
          </a:p>
          <a:p>
            <a:pPr marL="0" indent="0">
              <a:buNone/>
            </a:pPr>
            <a:r>
              <a:rPr lang="en-IN" sz="1100" dirty="0"/>
              <a:t>    </a:t>
            </a:r>
            <a:r>
              <a:rPr lang="en-IN" sz="1100" dirty="0" err="1"/>
              <a:t>printf</a:t>
            </a:r>
            <a:r>
              <a:rPr lang="en-IN" sz="1100" dirty="0"/>
              <a:t>("Total = %d\n", total);</a:t>
            </a:r>
          </a:p>
          <a:p>
            <a:pPr marL="0" indent="0">
              <a:buNone/>
            </a:pPr>
            <a:r>
              <a:rPr lang="en-IN" sz="1100" dirty="0"/>
              <a:t>    </a:t>
            </a:r>
            <a:r>
              <a:rPr lang="en-IN" sz="1100" dirty="0" err="1"/>
              <a:t>printf</a:t>
            </a:r>
            <a:r>
              <a:rPr lang="en-IN" sz="1100" dirty="0"/>
              <a:t>("Average = %.2f\n", average);</a:t>
            </a:r>
          </a:p>
          <a:p>
            <a:pPr marL="0" indent="0">
              <a:buNone/>
            </a:pPr>
            <a:r>
              <a:rPr lang="en-IN" sz="1100" dirty="0"/>
              <a:t>    </a:t>
            </a:r>
            <a:r>
              <a:rPr lang="en-IN" sz="1100" dirty="0" err="1"/>
              <a:t>printf</a:t>
            </a:r>
            <a:r>
              <a:rPr lang="en-IN" sz="1100" dirty="0"/>
              <a:t>("Grade = %c\n", grade);</a:t>
            </a:r>
          </a:p>
          <a:p>
            <a:pPr marL="0" indent="0">
              <a:buNone/>
            </a:pPr>
            <a:r>
              <a:rPr lang="en-IN" sz="1100" dirty="0"/>
              <a:t>    return 0;    }</a:t>
            </a:r>
          </a:p>
          <a:p>
            <a:pPr marL="0" indent="0">
              <a:buNone/>
            </a:pPr>
            <a:r>
              <a:rPr lang="en-IN" sz="1100" b="1" dirty="0"/>
              <a:t>Output:</a:t>
            </a:r>
            <a:endParaRPr lang="en-IN" sz="1100" dirty="0"/>
          </a:p>
          <a:p>
            <a:pPr marL="0" indent="0">
              <a:buNone/>
            </a:pPr>
            <a:r>
              <a:rPr lang="en-IN" sz="1100" dirty="0"/>
              <a:t>Total = 255</a:t>
            </a:r>
          </a:p>
          <a:p>
            <a:pPr marL="0" indent="0">
              <a:buNone/>
            </a:pPr>
            <a:r>
              <a:rPr lang="en-IN" sz="1100" dirty="0"/>
              <a:t>Average = 85.00</a:t>
            </a:r>
          </a:p>
          <a:p>
            <a:pPr marL="0" indent="0">
              <a:buNone/>
            </a:pPr>
            <a:r>
              <a:rPr lang="en-IN" sz="1100" dirty="0"/>
              <a:t>Grade = B</a:t>
            </a:r>
          </a:p>
          <a:p>
            <a:pPr marL="0" indent="0">
              <a:buNone/>
            </a:pPr>
            <a:endParaRPr lang="en-IN" sz="1100" dirty="0"/>
          </a:p>
        </p:txBody>
      </p:sp>
    </p:spTree>
    <p:extLst>
      <p:ext uri="{BB962C8B-B14F-4D97-AF65-F5344CB8AC3E}">
        <p14:creationId xmlns:p14="http://schemas.microsoft.com/office/powerpoint/2010/main" val="17550235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8D96-42AF-D0E9-2116-7D2345DB7D88}"/>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9D8BE811-4CE2-1687-FA16-6A0E9DA00310}"/>
              </a:ext>
            </a:extLst>
          </p:cNvPr>
          <p:cNvSpPr>
            <a:spLocks noGrp="1"/>
          </p:cNvSpPr>
          <p:nvPr>
            <p:ph idx="1"/>
          </p:nvPr>
        </p:nvSpPr>
        <p:spPr/>
        <p:txBody>
          <a:bodyPr/>
          <a:lstStyle/>
          <a:p>
            <a:pPr marL="0" indent="0">
              <a:buNone/>
            </a:pPr>
            <a:r>
              <a:rPr lang="en-IN" b="1" dirty="0"/>
              <a:t>Q11. Design helper functions for an electricity bill.</a:t>
            </a:r>
          </a:p>
          <a:p>
            <a:pPr marL="0" indent="0">
              <a:buNone/>
            </a:pPr>
            <a:r>
              <a:rPr lang="en-IN" b="1" dirty="0"/>
              <a:t>Problem:</a:t>
            </a:r>
            <a:endParaRPr lang="en-IN" dirty="0"/>
          </a:p>
          <a:p>
            <a:pPr marL="0" indent="0">
              <a:buNone/>
            </a:pPr>
            <a:r>
              <a:rPr lang="en-IN" dirty="0"/>
              <a:t>Write a program that calculates an electricity bill based on units consumed.</a:t>
            </a:r>
          </a:p>
          <a:p>
            <a:pPr marL="0" indent="0">
              <a:buNone/>
            </a:pPr>
            <a:r>
              <a:rPr lang="en-IN" dirty="0"/>
              <a:t>Use:</a:t>
            </a:r>
          </a:p>
          <a:p>
            <a:pPr marL="0" lvl="0" indent="0">
              <a:buNone/>
            </a:pPr>
            <a:r>
              <a:rPr lang="en-IN" dirty="0"/>
              <a:t>First 100 units → ₹2/unit </a:t>
            </a:r>
          </a:p>
          <a:p>
            <a:pPr marL="0" lvl="0" indent="0">
              <a:buNone/>
            </a:pPr>
            <a:r>
              <a:rPr lang="en-IN" dirty="0"/>
              <a:t>Next 100 units → ₹3/unit </a:t>
            </a:r>
          </a:p>
          <a:p>
            <a:pPr marL="0" lvl="0" indent="0">
              <a:buNone/>
            </a:pPr>
            <a:r>
              <a:rPr lang="en-IN" dirty="0"/>
              <a:t>Above 200 units → ₹5/unit</a:t>
            </a:r>
          </a:p>
          <a:p>
            <a:pPr marL="0" indent="0">
              <a:buNone/>
            </a:pPr>
            <a:endParaRPr lang="en-IN" dirty="0"/>
          </a:p>
        </p:txBody>
      </p:sp>
    </p:spTree>
    <p:extLst>
      <p:ext uri="{BB962C8B-B14F-4D97-AF65-F5344CB8AC3E}">
        <p14:creationId xmlns:p14="http://schemas.microsoft.com/office/powerpoint/2010/main" val="113450593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C5780-20A7-CA02-F711-E95797626E0E}"/>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E6C47CDC-3A09-FD32-AC01-144AC7E2C01A}"/>
              </a:ext>
            </a:extLst>
          </p:cNvPr>
          <p:cNvSpPr>
            <a:spLocks noGrp="1"/>
          </p:cNvSpPr>
          <p:nvPr>
            <p:ph idx="1"/>
          </p:nvPr>
        </p:nvSpPr>
        <p:spPr/>
        <p:txBody>
          <a:bodyPr numCol="3">
            <a:normAutofit/>
          </a:bodyPr>
          <a:lstStyle/>
          <a:p>
            <a:pPr marL="0" indent="0">
              <a:buNone/>
            </a:pPr>
            <a:r>
              <a:rPr lang="en-IN" sz="1600" dirty="0"/>
              <a:t>#include &lt;</a:t>
            </a:r>
            <a:r>
              <a:rPr lang="en-IN" sz="1600" dirty="0" err="1"/>
              <a:t>stdio.h</a:t>
            </a:r>
            <a:r>
              <a:rPr lang="en-IN" sz="1600" dirty="0"/>
              <a:t>&gt;</a:t>
            </a:r>
          </a:p>
          <a:p>
            <a:pPr marL="0" indent="0">
              <a:buNone/>
            </a:pPr>
            <a:r>
              <a:rPr lang="en-IN" sz="1600" dirty="0"/>
              <a:t>float </a:t>
            </a:r>
            <a:r>
              <a:rPr lang="en-IN" sz="1600" dirty="0" err="1"/>
              <a:t>calculateBill</a:t>
            </a:r>
            <a:r>
              <a:rPr lang="en-IN" sz="1600" dirty="0"/>
              <a:t>(int units)</a:t>
            </a:r>
          </a:p>
          <a:p>
            <a:pPr marL="0" indent="0">
              <a:buNone/>
            </a:pPr>
            <a:r>
              <a:rPr lang="en-IN" sz="1600" dirty="0"/>
              <a:t>{</a:t>
            </a:r>
          </a:p>
          <a:p>
            <a:pPr marL="0" indent="0">
              <a:buNone/>
            </a:pPr>
            <a:r>
              <a:rPr lang="en-IN" sz="1600" dirty="0"/>
              <a:t>    float bill;</a:t>
            </a:r>
          </a:p>
          <a:p>
            <a:pPr marL="0" indent="0">
              <a:buNone/>
            </a:pPr>
            <a:r>
              <a:rPr lang="en-IN" sz="1600" dirty="0"/>
              <a:t>    if (units &lt;= 100)</a:t>
            </a:r>
          </a:p>
          <a:p>
            <a:pPr marL="0" indent="0">
              <a:buNone/>
            </a:pPr>
            <a:r>
              <a:rPr lang="en-IN" sz="1600" dirty="0"/>
              <a:t>        bill = units * 2;</a:t>
            </a:r>
          </a:p>
          <a:p>
            <a:pPr marL="0" indent="0">
              <a:buNone/>
            </a:pPr>
            <a:r>
              <a:rPr lang="en-IN" sz="1600" dirty="0"/>
              <a:t>    else if (units &lt;= 200)</a:t>
            </a:r>
          </a:p>
          <a:p>
            <a:pPr marL="0" indent="0">
              <a:buNone/>
            </a:pPr>
            <a:r>
              <a:rPr lang="en-IN" sz="1600" dirty="0"/>
              <a:t>        bill = 100 * 2 + (units - 100) * 3;</a:t>
            </a:r>
          </a:p>
          <a:p>
            <a:pPr marL="0" indent="0">
              <a:buNone/>
            </a:pPr>
            <a:r>
              <a:rPr lang="en-IN" sz="1600" dirty="0"/>
              <a:t>    else</a:t>
            </a:r>
          </a:p>
          <a:p>
            <a:pPr marL="0" indent="0">
              <a:buNone/>
            </a:pPr>
            <a:r>
              <a:rPr lang="en-IN" sz="1600" dirty="0"/>
              <a:t>        bill = 100 * 2 + 100 * 3 + (units - 200) * 5;</a:t>
            </a:r>
          </a:p>
          <a:p>
            <a:pPr marL="0" indent="0">
              <a:buNone/>
            </a:pPr>
            <a:r>
              <a:rPr lang="en-IN" sz="1600" dirty="0"/>
              <a:t>    return bill;</a:t>
            </a:r>
          </a:p>
          <a:p>
            <a:pPr marL="0" indent="0">
              <a:buNone/>
            </a:pPr>
            <a:r>
              <a:rPr lang="en-IN" sz="1600" dirty="0"/>
              <a:t>}</a:t>
            </a:r>
          </a:p>
          <a:p>
            <a:pPr marL="0" indent="0">
              <a:buNone/>
            </a:pPr>
            <a:endParaRPr lang="en-IN" sz="1600" dirty="0"/>
          </a:p>
          <a:p>
            <a:pPr marL="0" indent="0">
              <a:buNone/>
            </a:pPr>
            <a:r>
              <a:rPr lang="en-IN" sz="1600" dirty="0"/>
              <a:t>int main()</a:t>
            </a:r>
          </a:p>
          <a:p>
            <a:pPr marL="0" indent="0">
              <a:buNone/>
            </a:pPr>
            <a:r>
              <a:rPr lang="en-IN" sz="1600" dirty="0"/>
              <a:t>{</a:t>
            </a:r>
          </a:p>
          <a:p>
            <a:pPr marL="0" indent="0">
              <a:buNone/>
            </a:pPr>
            <a:r>
              <a:rPr lang="en-IN" sz="1600" dirty="0"/>
              <a:t>    int units = 250;</a:t>
            </a:r>
          </a:p>
          <a:p>
            <a:pPr marL="0" indent="0">
              <a:buNone/>
            </a:pPr>
            <a:r>
              <a:rPr lang="en-IN" sz="1600" dirty="0"/>
              <a:t>    float bill;</a:t>
            </a:r>
          </a:p>
          <a:p>
            <a:pPr marL="0" indent="0">
              <a:buNone/>
            </a:pPr>
            <a:r>
              <a:rPr lang="en-IN" sz="1600" dirty="0"/>
              <a:t>    bill = </a:t>
            </a:r>
            <a:r>
              <a:rPr lang="en-IN" sz="1600" dirty="0" err="1"/>
              <a:t>calculateBill</a:t>
            </a:r>
            <a:r>
              <a:rPr lang="en-IN" sz="1600" dirty="0"/>
              <a:t>(units);</a:t>
            </a:r>
          </a:p>
          <a:p>
            <a:pPr marL="0" indent="0">
              <a:buNone/>
            </a:pPr>
            <a:r>
              <a:rPr lang="en-IN" sz="1600" dirty="0"/>
              <a:t>    </a:t>
            </a:r>
            <a:r>
              <a:rPr lang="en-IN" sz="1600" dirty="0" err="1"/>
              <a:t>printf</a:t>
            </a:r>
            <a:r>
              <a:rPr lang="en-IN" sz="1600" dirty="0"/>
              <a:t>("Units = %d\n", units);</a:t>
            </a:r>
          </a:p>
          <a:p>
            <a:pPr marL="0" indent="0">
              <a:buNone/>
            </a:pPr>
            <a:r>
              <a:rPr lang="en-IN" sz="1600" dirty="0"/>
              <a:t>    </a:t>
            </a:r>
            <a:r>
              <a:rPr lang="en-IN" sz="1600" dirty="0" err="1"/>
              <a:t>printf</a:t>
            </a:r>
            <a:r>
              <a:rPr lang="en-IN" sz="1600" dirty="0"/>
              <a:t>("Bill = Rs. %.2f", bill);</a:t>
            </a:r>
          </a:p>
          <a:p>
            <a:pPr marL="0" indent="0">
              <a:buNone/>
            </a:pPr>
            <a:r>
              <a:rPr lang="en-IN" sz="1600" dirty="0"/>
              <a:t>    return 0;</a:t>
            </a:r>
          </a:p>
          <a:p>
            <a:pPr marL="0" indent="0">
              <a:buNone/>
            </a:pPr>
            <a:r>
              <a:rPr lang="en-IN" sz="1600" dirty="0"/>
              <a:t>}</a:t>
            </a:r>
          </a:p>
          <a:p>
            <a:pPr marL="0" indent="0">
              <a:buNone/>
            </a:pPr>
            <a:r>
              <a:rPr lang="en-IN" sz="1600" b="1" dirty="0"/>
              <a:t>Output:</a:t>
            </a:r>
            <a:endParaRPr lang="en-IN" sz="1600" dirty="0"/>
          </a:p>
          <a:p>
            <a:pPr marL="0" indent="0">
              <a:buNone/>
            </a:pPr>
            <a:r>
              <a:rPr lang="en-IN" dirty="0"/>
              <a:t>Units = 250</a:t>
            </a:r>
          </a:p>
          <a:p>
            <a:pPr marL="0" indent="0">
              <a:buNone/>
            </a:pPr>
            <a:r>
              <a:rPr lang="en-IN" dirty="0"/>
              <a:t>Bill = Rs. 850.00</a:t>
            </a:r>
          </a:p>
          <a:p>
            <a:pPr marL="0" indent="0">
              <a:buNone/>
            </a:pPr>
            <a:endParaRPr lang="en-IN" sz="1600" dirty="0"/>
          </a:p>
        </p:txBody>
      </p:sp>
    </p:spTree>
    <p:extLst>
      <p:ext uri="{BB962C8B-B14F-4D97-AF65-F5344CB8AC3E}">
        <p14:creationId xmlns:p14="http://schemas.microsoft.com/office/powerpoint/2010/main" val="8368567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0F39-7446-AD12-B4D0-640458789C6E}"/>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201AB598-DC63-F133-5799-449210CCE7CF}"/>
              </a:ext>
            </a:extLst>
          </p:cNvPr>
          <p:cNvSpPr>
            <a:spLocks noGrp="1"/>
          </p:cNvSpPr>
          <p:nvPr>
            <p:ph idx="1"/>
          </p:nvPr>
        </p:nvSpPr>
        <p:spPr/>
        <p:txBody>
          <a:bodyPr/>
          <a:lstStyle/>
          <a:p>
            <a:pPr marL="0" indent="0">
              <a:buNone/>
            </a:pPr>
            <a:r>
              <a:rPr lang="en-IN" b="1" dirty="0"/>
              <a:t>Q12. Design a modular calculator using helper functions.</a:t>
            </a:r>
          </a:p>
          <a:p>
            <a:pPr marL="0" indent="0">
              <a:buNone/>
            </a:pPr>
            <a:r>
              <a:rPr lang="en-IN" b="1" dirty="0"/>
              <a:t>Problem:</a:t>
            </a:r>
            <a:br>
              <a:rPr lang="en-IN" dirty="0"/>
            </a:br>
            <a:r>
              <a:rPr lang="en-IN" dirty="0"/>
              <a:t>Create separate functions for:</a:t>
            </a:r>
          </a:p>
          <a:p>
            <a:pPr marL="0" lvl="0" indent="0">
              <a:buNone/>
            </a:pPr>
            <a:r>
              <a:rPr lang="en-IN" dirty="0"/>
              <a:t>Addition </a:t>
            </a:r>
          </a:p>
          <a:p>
            <a:pPr marL="0" lvl="0" indent="0">
              <a:buNone/>
            </a:pPr>
            <a:r>
              <a:rPr lang="en-IN" dirty="0"/>
              <a:t>Subtraction </a:t>
            </a:r>
          </a:p>
          <a:p>
            <a:pPr marL="0" lvl="0" indent="0">
              <a:buNone/>
            </a:pPr>
            <a:r>
              <a:rPr lang="en-IN" dirty="0"/>
              <a:t>Multiplication </a:t>
            </a:r>
          </a:p>
          <a:p>
            <a:pPr marL="0" lvl="0" indent="0">
              <a:buNone/>
            </a:pPr>
            <a:r>
              <a:rPr lang="en-IN" dirty="0"/>
              <a:t>Division</a:t>
            </a:r>
          </a:p>
          <a:p>
            <a:pPr marL="0" indent="0">
              <a:buNone/>
            </a:pPr>
            <a:endParaRPr lang="en-IN" dirty="0"/>
          </a:p>
        </p:txBody>
      </p:sp>
    </p:spTree>
    <p:extLst>
      <p:ext uri="{BB962C8B-B14F-4D97-AF65-F5344CB8AC3E}">
        <p14:creationId xmlns:p14="http://schemas.microsoft.com/office/powerpoint/2010/main" val="325995368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5267-C0AE-E49A-EBBF-F54B1AB72140}"/>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325A045C-EA65-7F73-4F21-0CFD99EFA484}"/>
              </a:ext>
            </a:extLst>
          </p:cNvPr>
          <p:cNvSpPr>
            <a:spLocks noGrp="1"/>
          </p:cNvSpPr>
          <p:nvPr>
            <p:ph idx="1"/>
          </p:nvPr>
        </p:nvSpPr>
        <p:spPr/>
        <p:txBody>
          <a:bodyPr numCol="3">
            <a:normAutofit fontScale="92500" lnSpcReduction="10000"/>
          </a:bodyPr>
          <a:lstStyle/>
          <a:p>
            <a:pPr marL="0" indent="0">
              <a:buNone/>
            </a:pPr>
            <a:r>
              <a:rPr lang="en-IN" sz="1400" dirty="0"/>
              <a:t>#include &lt;</a:t>
            </a:r>
            <a:r>
              <a:rPr lang="en-IN" sz="1400" dirty="0" err="1"/>
              <a:t>stdio.h</a:t>
            </a:r>
            <a:r>
              <a:rPr lang="en-IN" sz="1400" dirty="0"/>
              <a:t>&gt;</a:t>
            </a:r>
          </a:p>
          <a:p>
            <a:pPr marL="0" indent="0">
              <a:buNone/>
            </a:pPr>
            <a:r>
              <a:rPr lang="en-IN" sz="1400" dirty="0"/>
              <a:t>float add(float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float subtract(float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float multiply(float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float divide(float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int main()</a:t>
            </a:r>
          </a:p>
          <a:p>
            <a:pPr marL="0" indent="0">
              <a:buNone/>
            </a:pPr>
            <a:r>
              <a:rPr lang="en-IN" sz="1400" dirty="0"/>
              <a:t>{</a:t>
            </a:r>
          </a:p>
          <a:p>
            <a:pPr marL="0" indent="0">
              <a:buNone/>
            </a:pPr>
            <a:r>
              <a:rPr lang="en-IN" sz="1400" dirty="0"/>
              <a:t>    float a = 20, b = 5;</a:t>
            </a:r>
          </a:p>
          <a:p>
            <a:pPr marL="0" indent="0">
              <a:buNone/>
            </a:pPr>
            <a:r>
              <a:rPr lang="en-IN" sz="1400" dirty="0"/>
              <a:t>    </a:t>
            </a:r>
            <a:r>
              <a:rPr lang="en-IN" sz="1400" dirty="0" err="1"/>
              <a:t>printf</a:t>
            </a:r>
            <a:r>
              <a:rPr lang="en-IN" sz="1400" dirty="0"/>
              <a:t>("Addition = %.2f\n", add(a, b));</a:t>
            </a:r>
          </a:p>
          <a:p>
            <a:pPr marL="0" indent="0">
              <a:buNone/>
            </a:pPr>
            <a:r>
              <a:rPr lang="en-IN" sz="1400" dirty="0"/>
              <a:t>    </a:t>
            </a:r>
            <a:r>
              <a:rPr lang="en-IN" sz="1400" dirty="0" err="1"/>
              <a:t>printf</a:t>
            </a:r>
            <a:r>
              <a:rPr lang="en-IN" sz="1400" dirty="0"/>
              <a:t>("Subtraction = %.2f\n", subtract(a, b));</a:t>
            </a:r>
          </a:p>
          <a:p>
            <a:pPr marL="0" indent="0">
              <a:buNone/>
            </a:pPr>
            <a:r>
              <a:rPr lang="en-IN" sz="1400" dirty="0"/>
              <a:t>    </a:t>
            </a:r>
            <a:r>
              <a:rPr lang="en-IN" sz="1400" dirty="0" err="1"/>
              <a:t>printf</a:t>
            </a:r>
            <a:r>
              <a:rPr lang="en-IN" sz="1400" dirty="0"/>
              <a:t>("Multiplication = %.2f\n", multiply(a, b));</a:t>
            </a:r>
          </a:p>
          <a:p>
            <a:pPr marL="0" indent="0">
              <a:buNone/>
            </a:pPr>
            <a:r>
              <a:rPr lang="en-IN" sz="1400" dirty="0"/>
              <a:t>    </a:t>
            </a:r>
            <a:r>
              <a:rPr lang="en-IN" sz="1400" dirty="0" err="1"/>
              <a:t>printf</a:t>
            </a:r>
            <a:r>
              <a:rPr lang="en-IN" sz="1400" dirty="0"/>
              <a:t>("Division = %.2f\n", divide(a, b));</a:t>
            </a:r>
          </a:p>
          <a:p>
            <a:pPr marL="0" indent="0">
              <a:buNone/>
            </a:pPr>
            <a:r>
              <a:rPr lang="en-IN" sz="1400" dirty="0"/>
              <a:t>    return 0;</a:t>
            </a:r>
          </a:p>
          <a:p>
            <a:pPr marL="0" indent="0">
              <a:buNone/>
            </a:pPr>
            <a:r>
              <a:rPr lang="en-IN" sz="1400" dirty="0"/>
              <a:t>}</a:t>
            </a:r>
          </a:p>
          <a:p>
            <a:pPr marL="0" indent="0">
              <a:buNone/>
            </a:pPr>
            <a:r>
              <a:rPr lang="en-IN" sz="1400" b="1" dirty="0"/>
              <a:t>Output:</a:t>
            </a:r>
            <a:endParaRPr lang="en-IN" sz="1400" dirty="0"/>
          </a:p>
          <a:p>
            <a:pPr marL="0" indent="0">
              <a:buNone/>
            </a:pPr>
            <a:r>
              <a:rPr lang="en-IN" dirty="0"/>
              <a:t>Addition = 25.00</a:t>
            </a:r>
          </a:p>
          <a:p>
            <a:pPr marL="0" indent="0">
              <a:buNone/>
            </a:pPr>
            <a:r>
              <a:rPr lang="en-IN" dirty="0"/>
              <a:t>Subtraction = 15.00</a:t>
            </a:r>
          </a:p>
          <a:p>
            <a:pPr marL="0" indent="0">
              <a:buNone/>
            </a:pPr>
            <a:r>
              <a:rPr lang="en-IN" dirty="0"/>
              <a:t>Multiplication = 100.00</a:t>
            </a:r>
          </a:p>
          <a:p>
            <a:pPr marL="0" indent="0">
              <a:buNone/>
            </a:pPr>
            <a:r>
              <a:rPr lang="en-IN" dirty="0"/>
              <a:t>Division = 4.00</a:t>
            </a:r>
          </a:p>
          <a:p>
            <a:pPr marL="0" indent="0">
              <a:buNone/>
            </a:pPr>
            <a:endParaRPr lang="en-IN" sz="1400" dirty="0"/>
          </a:p>
        </p:txBody>
      </p:sp>
    </p:spTree>
    <p:extLst>
      <p:ext uri="{BB962C8B-B14F-4D97-AF65-F5344CB8AC3E}">
        <p14:creationId xmlns:p14="http://schemas.microsoft.com/office/powerpoint/2010/main" val="21723648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37826452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85000" lnSpcReduction="1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7</a:t>
            </a:r>
          </a:p>
          <a:p>
            <a:r>
              <a:rPr lang="en-IN" b="1" dirty="0">
                <a:latin typeface="Times New Roman" panose="02020603050405020304" pitchFamily="18" charset="0"/>
                <a:cs typeface="Times New Roman" panose="02020603050405020304" pitchFamily="18" charset="0"/>
              </a:rPr>
              <a:t>SLO  :At the end of this session the learners will be able to </a:t>
            </a:r>
            <a:r>
              <a:rPr lang="en-US" b="1" dirty="0">
                <a:latin typeface="Times New Roman" panose="02020603050405020304" pitchFamily="18" charset="0"/>
                <a:cs typeface="Times New Roman" panose="02020603050405020304" pitchFamily="18" charset="0"/>
              </a:rPr>
              <a:t>Create a helper function that checks if a number is prime</a:t>
            </a:r>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14340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pPr lvl="0"/>
            <a:r>
              <a:rPr lang="en-IN" b="1" dirty="0"/>
              <a:t>Identify</a:t>
            </a:r>
            <a:r>
              <a:rPr lang="en-IN" dirty="0"/>
              <a:t> the steps involved in designing a helper function for a given problem. </a:t>
            </a:r>
          </a:p>
          <a:p>
            <a:pPr lvl="0"/>
            <a:r>
              <a:rPr lang="en-IN" b="1" dirty="0"/>
              <a:t>Design</a:t>
            </a:r>
            <a:r>
              <a:rPr lang="en-IN" dirty="0"/>
              <a:t> a helper function to check whether a number is prime. </a:t>
            </a:r>
          </a:p>
          <a:p>
            <a:pPr lvl="0"/>
            <a:r>
              <a:rPr lang="en-IN" b="1" dirty="0"/>
              <a:t>Implement</a:t>
            </a:r>
            <a:r>
              <a:rPr lang="en-IN" dirty="0"/>
              <a:t> a C function with parameters and a return value. </a:t>
            </a:r>
          </a:p>
          <a:p>
            <a:pPr lvl="0"/>
            <a:r>
              <a:rPr lang="en-IN" b="1" dirty="0"/>
              <a:t>Apply</a:t>
            </a:r>
            <a:r>
              <a:rPr lang="en-IN" dirty="0"/>
              <a:t> pass-by-value to pass data to a helper function. </a:t>
            </a:r>
          </a:p>
          <a:p>
            <a:pPr lvl="0"/>
            <a:r>
              <a:rPr lang="en-IN" b="1" dirty="0"/>
              <a:t>Differentiate</a:t>
            </a:r>
            <a:r>
              <a:rPr lang="en-IN" dirty="0"/>
              <a:t> pass-by-value from pointer-based reference-like parameter passing in C. </a:t>
            </a:r>
          </a:p>
          <a:p>
            <a:pPr lvl="0"/>
            <a:r>
              <a:rPr lang="en-IN" b="1" dirty="0"/>
              <a:t>Apply</a:t>
            </a:r>
            <a:r>
              <a:rPr lang="en-IN" dirty="0"/>
              <a:t> pointers to pass the address of a variable to a function. </a:t>
            </a:r>
          </a:p>
          <a:p>
            <a:pPr lvl="0"/>
            <a:r>
              <a:rPr lang="en-IN" b="1" dirty="0"/>
              <a:t>Test and verify</a:t>
            </a:r>
            <a:r>
              <a:rPr lang="en-IN" dirty="0"/>
              <a:t> the helper function using different input values.</a:t>
            </a:r>
          </a:p>
          <a:p>
            <a:endParaRPr lang="en-IN" dirty="0"/>
          </a:p>
        </p:txBody>
      </p:sp>
    </p:spTree>
    <p:extLst>
      <p:ext uri="{BB962C8B-B14F-4D97-AF65-F5344CB8AC3E}">
        <p14:creationId xmlns:p14="http://schemas.microsoft.com/office/powerpoint/2010/main" val="245060649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5848-C553-D77F-A5F3-3EDEEA73751F}"/>
              </a:ext>
            </a:extLst>
          </p:cNvPr>
          <p:cNvSpPr>
            <a:spLocks noGrp="1"/>
          </p:cNvSpPr>
          <p:nvPr>
            <p:ph type="title"/>
          </p:nvPr>
        </p:nvSpPr>
        <p:spPr/>
        <p:txBody>
          <a:bodyPr/>
          <a:lstStyle/>
          <a:p>
            <a:r>
              <a:rPr lang="en-IN" dirty="0"/>
              <a:t>Guided Practice: Prime Number Using Helper Functions</a:t>
            </a:r>
          </a:p>
        </p:txBody>
      </p:sp>
      <p:sp>
        <p:nvSpPr>
          <p:cNvPr id="3" name="Content Placeholder 2">
            <a:extLst>
              <a:ext uri="{FF2B5EF4-FFF2-40B4-BE49-F238E27FC236}">
                <a16:creationId xmlns:a16="http://schemas.microsoft.com/office/drawing/2014/main" id="{0488572F-7F86-C522-F00B-568FAC7F8AC2}"/>
              </a:ext>
            </a:extLst>
          </p:cNvPr>
          <p:cNvSpPr>
            <a:spLocks noGrp="1"/>
          </p:cNvSpPr>
          <p:nvPr>
            <p:ph idx="1"/>
          </p:nvPr>
        </p:nvSpPr>
        <p:spPr/>
        <p:txBody>
          <a:bodyPr/>
          <a:lstStyle/>
          <a:p>
            <a:pPr marL="0" indent="0">
              <a:buNone/>
            </a:pPr>
            <a:r>
              <a:rPr lang="en-IN" b="1" dirty="0"/>
              <a:t>Problem Statement</a:t>
            </a:r>
          </a:p>
          <a:p>
            <a:r>
              <a:rPr lang="en-IN" b="1" dirty="0"/>
              <a:t>Create a helper function that checks whether a given number is prime.</a:t>
            </a:r>
            <a:endParaRPr lang="en-IN" dirty="0"/>
          </a:p>
          <a:p>
            <a:r>
              <a:rPr lang="en-IN" dirty="0"/>
              <a:t>The function should:</a:t>
            </a:r>
          </a:p>
          <a:p>
            <a:pPr marL="541782" lvl="1" indent="-285750">
              <a:buFont typeface="Arial" panose="020B0604020202020204" pitchFamily="34" charset="0"/>
              <a:buChar char="•"/>
            </a:pPr>
            <a:r>
              <a:rPr lang="en-IN" dirty="0"/>
              <a:t>Receive a number </a:t>
            </a:r>
          </a:p>
          <a:p>
            <a:pPr marL="541782" lvl="1" indent="-285750">
              <a:buFont typeface="Arial" panose="020B0604020202020204" pitchFamily="34" charset="0"/>
              <a:buChar char="•"/>
            </a:pPr>
            <a:r>
              <a:rPr lang="en-IN" dirty="0"/>
              <a:t>Check whether it is divisible by any number other than 1 and itself </a:t>
            </a:r>
          </a:p>
          <a:p>
            <a:pPr marL="541782" lvl="1" indent="-285750">
              <a:buFont typeface="Arial" panose="020B0604020202020204" pitchFamily="34" charset="0"/>
              <a:buChar char="•"/>
            </a:pPr>
            <a:r>
              <a:rPr lang="en-IN" dirty="0"/>
              <a:t>Return 1 if it is prime </a:t>
            </a:r>
          </a:p>
          <a:p>
            <a:pPr marL="541782" lvl="1" indent="-285750">
              <a:buFont typeface="Arial" panose="020B0604020202020204" pitchFamily="34" charset="0"/>
              <a:buChar char="•"/>
            </a:pPr>
            <a:r>
              <a:rPr lang="en-IN" dirty="0"/>
              <a:t>Return 0 if it is not prime</a:t>
            </a:r>
          </a:p>
          <a:p>
            <a:endParaRPr lang="en-IN" dirty="0"/>
          </a:p>
        </p:txBody>
      </p:sp>
    </p:spTree>
    <p:extLst>
      <p:ext uri="{BB962C8B-B14F-4D97-AF65-F5344CB8AC3E}">
        <p14:creationId xmlns:p14="http://schemas.microsoft.com/office/powerpoint/2010/main" val="251062735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5E75-E86A-81A2-E065-EB82B4D419FA}"/>
              </a:ext>
            </a:extLst>
          </p:cNvPr>
          <p:cNvSpPr>
            <a:spLocks noGrp="1"/>
          </p:cNvSpPr>
          <p:nvPr>
            <p:ph type="title"/>
          </p:nvPr>
        </p:nvSpPr>
        <p:spPr/>
        <p:txBody>
          <a:bodyPr/>
          <a:lstStyle/>
          <a:p>
            <a:r>
              <a:rPr lang="en-IN" dirty="0"/>
              <a:t>Approach 1 – Pass by Value</a:t>
            </a:r>
          </a:p>
        </p:txBody>
      </p:sp>
      <p:sp>
        <p:nvSpPr>
          <p:cNvPr id="3" name="Content Placeholder 2">
            <a:extLst>
              <a:ext uri="{FF2B5EF4-FFF2-40B4-BE49-F238E27FC236}">
                <a16:creationId xmlns:a16="http://schemas.microsoft.com/office/drawing/2014/main" id="{975356E6-09B9-CF0E-16D5-0F3BEB360E19}"/>
              </a:ext>
            </a:extLst>
          </p:cNvPr>
          <p:cNvSpPr>
            <a:spLocks noGrp="1"/>
          </p:cNvSpPr>
          <p:nvPr>
            <p:ph idx="1"/>
          </p:nvPr>
        </p:nvSpPr>
        <p:spPr/>
        <p:txBody>
          <a:bodyPr numCol="3">
            <a:normAutofit fontScale="85000" lnSpcReduction="20000"/>
          </a:bodyPr>
          <a:lstStyle/>
          <a:p>
            <a:pPr marL="0" indent="0">
              <a:buNone/>
            </a:pPr>
            <a:r>
              <a:rPr lang="en-IN" sz="2000" dirty="0"/>
              <a:t>Function</a:t>
            </a:r>
          </a:p>
          <a:p>
            <a:pPr marL="0" indent="0">
              <a:buNone/>
            </a:pPr>
            <a:endParaRPr lang="en-US" sz="2000" dirty="0"/>
          </a:p>
          <a:p>
            <a:pPr marL="0" indent="0">
              <a:buNone/>
            </a:pPr>
            <a:r>
              <a:rPr lang="en-US" sz="2000" dirty="0"/>
              <a:t>int </a:t>
            </a:r>
            <a:r>
              <a:rPr lang="en-US" sz="2000" dirty="0" err="1"/>
              <a:t>isPrime</a:t>
            </a:r>
            <a:r>
              <a:rPr lang="en-US" sz="2000" dirty="0"/>
              <a:t>(int n)</a:t>
            </a:r>
          </a:p>
          <a:p>
            <a:pPr marL="0" indent="0">
              <a:buNone/>
            </a:pPr>
            <a:r>
              <a:rPr lang="en-US" sz="2000" dirty="0"/>
              <a:t>{</a:t>
            </a:r>
          </a:p>
          <a:p>
            <a:pPr marL="0" indent="0">
              <a:buNone/>
            </a:pPr>
            <a:r>
              <a:rPr lang="en-US" sz="2000" dirty="0"/>
              <a:t>    int </a:t>
            </a:r>
            <a:r>
              <a:rPr lang="en-US" sz="2000" dirty="0" err="1"/>
              <a:t>i</a:t>
            </a:r>
            <a:r>
              <a:rPr lang="en-US" sz="2000" dirty="0"/>
              <a:t>;</a:t>
            </a:r>
          </a:p>
          <a:p>
            <a:pPr marL="0" indent="0">
              <a:buNone/>
            </a:pPr>
            <a:r>
              <a:rPr lang="en-US" sz="2000" dirty="0"/>
              <a:t>    if (n &lt; 2)</a:t>
            </a:r>
          </a:p>
          <a:p>
            <a:pPr marL="0" indent="0">
              <a:buNone/>
            </a:pPr>
            <a:r>
              <a:rPr lang="en-US" sz="2000" dirty="0"/>
              <a:t>        return 0;</a:t>
            </a:r>
          </a:p>
          <a:p>
            <a:pPr marL="0" indent="0">
              <a:buNone/>
            </a:pPr>
            <a:r>
              <a:rPr lang="en-US" sz="2000" dirty="0"/>
              <a:t>    for (</a:t>
            </a:r>
            <a:r>
              <a:rPr lang="en-US" sz="2000" dirty="0" err="1"/>
              <a:t>i</a:t>
            </a:r>
            <a:r>
              <a:rPr lang="en-US" sz="2000" dirty="0"/>
              <a:t> = 2; </a:t>
            </a:r>
            <a:r>
              <a:rPr lang="en-US" sz="2000" dirty="0" err="1"/>
              <a:t>i</a:t>
            </a:r>
            <a:r>
              <a:rPr lang="en-US" sz="2000" dirty="0"/>
              <a:t> &lt;= n / 2; </a:t>
            </a:r>
            <a:r>
              <a:rPr lang="en-US" sz="2000" dirty="0" err="1"/>
              <a:t>i</a:t>
            </a:r>
            <a:r>
              <a:rPr lang="en-US" sz="2000" dirty="0"/>
              <a:t>++)</a:t>
            </a:r>
          </a:p>
          <a:p>
            <a:pPr marL="0" indent="0">
              <a:buNone/>
            </a:pPr>
            <a:r>
              <a:rPr lang="en-US" sz="2000" dirty="0"/>
              <a:t>    {</a:t>
            </a:r>
          </a:p>
          <a:p>
            <a:pPr marL="0" indent="0">
              <a:buNone/>
            </a:pPr>
            <a:r>
              <a:rPr lang="en-US" sz="2000" dirty="0"/>
              <a:t>        if (n % </a:t>
            </a:r>
            <a:r>
              <a:rPr lang="en-US" sz="2000" dirty="0" err="1"/>
              <a:t>i</a:t>
            </a:r>
            <a:r>
              <a:rPr lang="en-US" sz="2000" dirty="0"/>
              <a:t> == 0)</a:t>
            </a:r>
          </a:p>
          <a:p>
            <a:pPr marL="0" indent="0">
              <a:buNone/>
            </a:pPr>
            <a:r>
              <a:rPr lang="en-US" sz="2000" dirty="0"/>
              <a:t>            return 0;</a:t>
            </a:r>
          </a:p>
          <a:p>
            <a:pPr marL="0" indent="0">
              <a:buNone/>
            </a:pPr>
            <a:r>
              <a:rPr lang="en-US" sz="2000" dirty="0"/>
              <a:t>    }</a:t>
            </a:r>
          </a:p>
          <a:p>
            <a:pPr marL="0" indent="0">
              <a:buNone/>
            </a:pPr>
            <a:r>
              <a:rPr lang="en-US" sz="2000" dirty="0"/>
              <a:t>    return 1;</a:t>
            </a:r>
          </a:p>
          <a:p>
            <a:pPr marL="0" indent="0">
              <a:buNone/>
            </a:pPr>
            <a:r>
              <a:rPr lang="en-US" sz="2000" dirty="0"/>
              <a:t>}</a:t>
            </a:r>
          </a:p>
          <a:p>
            <a:pPr marL="0" indent="0">
              <a:buNone/>
            </a:pPr>
            <a:r>
              <a:rPr lang="en-IN" sz="2000" b="1" dirty="0"/>
              <a:t>Calling the function</a:t>
            </a:r>
          </a:p>
          <a:p>
            <a:pPr marL="0" indent="0">
              <a:buNone/>
            </a:pPr>
            <a:r>
              <a:rPr lang="en-IN" dirty="0"/>
              <a:t>int main()</a:t>
            </a:r>
          </a:p>
          <a:p>
            <a:pPr marL="0" indent="0">
              <a:buNone/>
            </a:pPr>
            <a:r>
              <a:rPr lang="en-IN" dirty="0"/>
              <a:t>{</a:t>
            </a:r>
          </a:p>
          <a:p>
            <a:pPr marL="0" indent="0">
              <a:buNone/>
            </a:pPr>
            <a:r>
              <a:rPr lang="en-IN" dirty="0"/>
              <a:t>    int </a:t>
            </a:r>
            <a:r>
              <a:rPr lang="en-IN" dirty="0" err="1"/>
              <a:t>num</a:t>
            </a:r>
            <a:r>
              <a:rPr lang="en-IN" dirty="0"/>
              <a:t> = 17;</a:t>
            </a:r>
          </a:p>
          <a:p>
            <a:pPr marL="0" indent="0">
              <a:buNone/>
            </a:pPr>
            <a:endParaRPr lang="en-IN" dirty="0"/>
          </a:p>
          <a:p>
            <a:pPr marL="0" indent="0">
              <a:buNone/>
            </a:pPr>
            <a:r>
              <a:rPr lang="en-IN" dirty="0"/>
              <a:t>    if (</a:t>
            </a:r>
            <a:r>
              <a:rPr lang="en-IN" dirty="0" err="1"/>
              <a:t>isPrime</a:t>
            </a:r>
            <a:r>
              <a:rPr lang="en-IN" dirty="0"/>
              <a:t>(</a:t>
            </a:r>
            <a:r>
              <a:rPr lang="en-IN" dirty="0" err="1"/>
              <a:t>num</a:t>
            </a:r>
            <a:r>
              <a:rPr lang="en-IN" dirty="0"/>
              <a:t>))</a:t>
            </a:r>
          </a:p>
          <a:p>
            <a:pPr marL="0" indent="0">
              <a:buNone/>
            </a:pPr>
            <a:r>
              <a:rPr lang="en-IN" dirty="0"/>
              <a:t>        </a:t>
            </a:r>
            <a:r>
              <a:rPr lang="en-IN" dirty="0" err="1"/>
              <a:t>printf</a:t>
            </a:r>
            <a:r>
              <a:rPr lang="en-IN" dirty="0"/>
              <a:t>("%d is a prime number", </a:t>
            </a:r>
            <a:r>
              <a:rPr lang="en-IN" dirty="0" err="1"/>
              <a:t>num</a:t>
            </a:r>
            <a:r>
              <a:rPr lang="en-IN" dirty="0"/>
              <a:t>);</a:t>
            </a:r>
          </a:p>
          <a:p>
            <a:pPr marL="0" indent="0">
              <a:buNone/>
            </a:pPr>
            <a:r>
              <a:rPr lang="en-IN" dirty="0"/>
              <a:t>    else</a:t>
            </a:r>
          </a:p>
          <a:p>
            <a:pPr marL="0" indent="0">
              <a:buNone/>
            </a:pPr>
            <a:r>
              <a:rPr lang="en-IN" dirty="0"/>
              <a:t>        </a:t>
            </a:r>
            <a:r>
              <a:rPr lang="en-IN" dirty="0" err="1"/>
              <a:t>printf</a:t>
            </a:r>
            <a:r>
              <a:rPr lang="en-IN" dirty="0"/>
              <a:t>("%d is not a prime number", </a:t>
            </a:r>
            <a:r>
              <a:rPr lang="en-IN" dirty="0" err="1"/>
              <a:t>num</a:t>
            </a:r>
            <a:r>
              <a:rPr lang="en-IN" dirty="0"/>
              <a:t>);</a:t>
            </a:r>
          </a:p>
          <a:p>
            <a:pPr marL="0" indent="0">
              <a:buNone/>
            </a:pPr>
            <a:r>
              <a:rPr lang="en-IN" dirty="0"/>
              <a:t>    return 0;</a:t>
            </a:r>
          </a:p>
          <a:p>
            <a:pPr marL="0" indent="0">
              <a:buNone/>
            </a:pPr>
            <a:r>
              <a:rPr lang="en-IN" dirty="0"/>
              <a:t>}</a:t>
            </a:r>
          </a:p>
          <a:p>
            <a:pPr marL="0" indent="0">
              <a:buNone/>
            </a:pPr>
            <a:r>
              <a:rPr lang="en-IN" sz="2000" b="1" dirty="0"/>
              <a:t>Output</a:t>
            </a:r>
          </a:p>
          <a:p>
            <a:pPr marL="0" indent="0">
              <a:buNone/>
            </a:pPr>
            <a:r>
              <a:rPr lang="en-IN" dirty="0"/>
              <a:t>17 is a prime number</a:t>
            </a:r>
          </a:p>
          <a:p>
            <a:pPr marL="0" indent="0">
              <a:buNone/>
            </a:pPr>
            <a:endParaRPr lang="en-IN" sz="2000" dirty="0"/>
          </a:p>
        </p:txBody>
      </p:sp>
    </p:spTree>
    <p:extLst>
      <p:ext uri="{BB962C8B-B14F-4D97-AF65-F5344CB8AC3E}">
        <p14:creationId xmlns:p14="http://schemas.microsoft.com/office/powerpoint/2010/main" val="19550162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CDDBC-150D-4A5F-1F1B-8B0AAFFFFADE}"/>
              </a:ext>
            </a:extLst>
          </p:cNvPr>
          <p:cNvSpPr>
            <a:spLocks noGrp="1"/>
          </p:cNvSpPr>
          <p:nvPr>
            <p:ph type="title"/>
          </p:nvPr>
        </p:nvSpPr>
        <p:spPr/>
        <p:txBody>
          <a:bodyPr/>
          <a:lstStyle/>
          <a:p>
            <a:r>
              <a:rPr lang="en-IN" dirty="0"/>
              <a:t>How Pass by Value Works</a:t>
            </a:r>
          </a:p>
        </p:txBody>
      </p:sp>
      <p:sp>
        <p:nvSpPr>
          <p:cNvPr id="3" name="Content Placeholder 2">
            <a:extLst>
              <a:ext uri="{FF2B5EF4-FFF2-40B4-BE49-F238E27FC236}">
                <a16:creationId xmlns:a16="http://schemas.microsoft.com/office/drawing/2014/main" id="{5F9F6958-0E3A-8991-3140-C311746CAC60}"/>
              </a:ext>
            </a:extLst>
          </p:cNvPr>
          <p:cNvSpPr>
            <a:spLocks noGrp="1"/>
          </p:cNvSpPr>
          <p:nvPr>
            <p:ph idx="1"/>
          </p:nvPr>
        </p:nvSpPr>
        <p:spPr>
          <a:xfrm>
            <a:off x="952500" y="2285997"/>
            <a:ext cx="6026437" cy="3890965"/>
          </a:xfrm>
        </p:spPr>
        <p:txBody>
          <a:bodyPr>
            <a:normAutofit fontScale="70000" lnSpcReduction="20000"/>
          </a:bodyPr>
          <a:lstStyle/>
          <a:p>
            <a:pPr marL="0" indent="0">
              <a:buNone/>
            </a:pPr>
            <a:r>
              <a:rPr lang="en-IN" dirty="0"/>
              <a:t>Suppose: </a:t>
            </a:r>
          </a:p>
          <a:p>
            <a:pPr marL="0" indent="0">
              <a:buNone/>
            </a:pPr>
            <a:r>
              <a:rPr lang="en-IN" dirty="0"/>
              <a:t>int </a:t>
            </a:r>
            <a:r>
              <a:rPr lang="en-IN" dirty="0" err="1"/>
              <a:t>num</a:t>
            </a:r>
            <a:r>
              <a:rPr lang="en-IN" dirty="0"/>
              <a:t> = 17;</a:t>
            </a:r>
          </a:p>
          <a:p>
            <a:pPr marL="0" indent="0">
              <a:buNone/>
            </a:pPr>
            <a:r>
              <a:rPr lang="en-IN" dirty="0" err="1"/>
              <a:t>isPrime</a:t>
            </a:r>
            <a:r>
              <a:rPr lang="en-IN" dirty="0"/>
              <a:t>(</a:t>
            </a:r>
            <a:r>
              <a:rPr lang="en-IN" dirty="0" err="1"/>
              <a:t>num</a:t>
            </a:r>
            <a:r>
              <a:rPr lang="en-IN" dirty="0"/>
              <a:t>);</a:t>
            </a:r>
          </a:p>
          <a:p>
            <a:pPr marL="0" indent="0">
              <a:buNone/>
            </a:pPr>
            <a:r>
              <a:rPr lang="en-IN" dirty="0"/>
              <a:t>	The value of </a:t>
            </a:r>
            <a:r>
              <a:rPr lang="en-IN" dirty="0" err="1"/>
              <a:t>num</a:t>
            </a:r>
            <a:r>
              <a:rPr lang="en-IN" dirty="0"/>
              <a:t> is </a:t>
            </a:r>
            <a:r>
              <a:rPr lang="en-IN" b="1" dirty="0"/>
              <a:t>copied</a:t>
            </a:r>
            <a:r>
              <a:rPr lang="en-IN" dirty="0"/>
              <a:t> into the parameter n.</a:t>
            </a:r>
          </a:p>
          <a:p>
            <a:pPr marL="0" indent="0">
              <a:buNone/>
            </a:pPr>
            <a:r>
              <a:rPr lang="en-IN" dirty="0"/>
              <a:t>     main()                        		    </a:t>
            </a:r>
            <a:r>
              <a:rPr lang="en-IN" dirty="0" err="1"/>
              <a:t>isPrime</a:t>
            </a:r>
            <a:r>
              <a:rPr lang="en-IN" dirty="0"/>
              <a:t>()</a:t>
            </a:r>
          </a:p>
          <a:p>
            <a:pPr marL="0" indent="0">
              <a:buNone/>
            </a:pPr>
            <a:endParaRPr lang="en-IN" dirty="0"/>
          </a:p>
          <a:p>
            <a:pPr marL="0" indent="0">
              <a:buNone/>
            </a:pPr>
            <a:r>
              <a:rPr lang="en-IN" dirty="0"/>
              <a:t>                            </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Changing n inside the function </a:t>
            </a:r>
            <a:r>
              <a:rPr lang="en-IN" b="1" dirty="0"/>
              <a:t>does not change </a:t>
            </a:r>
            <a:r>
              <a:rPr lang="en-IN" b="1" dirty="0" err="1"/>
              <a:t>num</a:t>
            </a:r>
            <a:r>
              <a:rPr lang="en-IN" dirty="0"/>
              <a:t> in main().</a:t>
            </a:r>
          </a:p>
        </p:txBody>
      </p:sp>
      <p:sp>
        <p:nvSpPr>
          <p:cNvPr id="5" name="TextBox 4">
            <a:extLst>
              <a:ext uri="{FF2B5EF4-FFF2-40B4-BE49-F238E27FC236}">
                <a16:creationId xmlns:a16="http://schemas.microsoft.com/office/drawing/2014/main" id="{AA01B514-39B4-84A6-5CA6-8D52DF5AAA40}"/>
              </a:ext>
            </a:extLst>
          </p:cNvPr>
          <p:cNvSpPr txBox="1"/>
          <p:nvPr/>
        </p:nvSpPr>
        <p:spPr>
          <a:xfrm>
            <a:off x="7268004" y="2107820"/>
            <a:ext cx="4520135" cy="4247317"/>
          </a:xfrm>
          <a:prstGeom prst="rect">
            <a:avLst/>
          </a:prstGeom>
          <a:noFill/>
        </p:spPr>
        <p:txBody>
          <a:bodyPr wrap="square">
            <a:spAutoFit/>
          </a:bodyPr>
          <a:lstStyle/>
          <a:p>
            <a:r>
              <a:rPr lang="en-IN" dirty="0"/>
              <a:t>For example:</a:t>
            </a:r>
          </a:p>
          <a:p>
            <a:r>
              <a:rPr lang="en-IN" dirty="0"/>
              <a:t>void test(int n)</a:t>
            </a:r>
          </a:p>
          <a:p>
            <a:r>
              <a:rPr lang="en-IN" dirty="0"/>
              <a:t>{</a:t>
            </a:r>
          </a:p>
          <a:p>
            <a:r>
              <a:rPr lang="en-IN" dirty="0"/>
              <a:t>    n = 100;</a:t>
            </a:r>
          </a:p>
          <a:p>
            <a:r>
              <a:rPr lang="en-IN" dirty="0"/>
              <a:t>}</a:t>
            </a:r>
          </a:p>
          <a:p>
            <a:endParaRPr lang="en-IN" dirty="0"/>
          </a:p>
          <a:p>
            <a:r>
              <a:rPr lang="en-IN" dirty="0"/>
              <a:t>If:</a:t>
            </a:r>
          </a:p>
          <a:p>
            <a:r>
              <a:rPr lang="pt-BR" dirty="0"/>
              <a:t>int num = 10;</a:t>
            </a:r>
          </a:p>
          <a:p>
            <a:r>
              <a:rPr lang="pt-BR" dirty="0"/>
              <a:t>test(num);</a:t>
            </a:r>
          </a:p>
          <a:p>
            <a:r>
              <a:rPr lang="pt-BR" dirty="0"/>
              <a:t>printf("%d", num);</a:t>
            </a:r>
          </a:p>
          <a:p>
            <a:endParaRPr lang="en-IN" dirty="0"/>
          </a:p>
          <a:p>
            <a:r>
              <a:rPr lang="en-IN" dirty="0"/>
              <a:t>Output:</a:t>
            </a:r>
          </a:p>
          <a:p>
            <a:r>
              <a:rPr lang="en-IN" dirty="0"/>
              <a:t>10</a:t>
            </a:r>
          </a:p>
          <a:p>
            <a:r>
              <a:rPr lang="en-IN" dirty="0"/>
              <a:t>The original </a:t>
            </a:r>
            <a:r>
              <a:rPr lang="en-IN" dirty="0" err="1"/>
              <a:t>num</a:t>
            </a:r>
            <a:r>
              <a:rPr lang="en-IN" dirty="0"/>
              <a:t> remains unchanged.</a:t>
            </a:r>
          </a:p>
          <a:p>
            <a:endParaRPr lang="en-IN" dirty="0"/>
          </a:p>
        </p:txBody>
      </p:sp>
      <p:sp>
        <p:nvSpPr>
          <p:cNvPr id="4" name="Rectangle 3">
            <a:extLst>
              <a:ext uri="{FF2B5EF4-FFF2-40B4-BE49-F238E27FC236}">
                <a16:creationId xmlns:a16="http://schemas.microsoft.com/office/drawing/2014/main" id="{02A45C1F-17B3-CFE8-464E-37E99ADAE867}"/>
              </a:ext>
            </a:extLst>
          </p:cNvPr>
          <p:cNvSpPr/>
          <p:nvPr/>
        </p:nvSpPr>
        <p:spPr>
          <a:xfrm>
            <a:off x="1067784" y="3978138"/>
            <a:ext cx="890802" cy="348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err="1"/>
              <a:t>num</a:t>
            </a:r>
            <a:r>
              <a:rPr lang="en-IN" sz="1400" dirty="0"/>
              <a:t>=17</a:t>
            </a:r>
          </a:p>
        </p:txBody>
      </p:sp>
      <p:sp>
        <p:nvSpPr>
          <p:cNvPr id="7" name="Rectangle 6">
            <a:extLst>
              <a:ext uri="{FF2B5EF4-FFF2-40B4-BE49-F238E27FC236}">
                <a16:creationId xmlns:a16="http://schemas.microsoft.com/office/drawing/2014/main" id="{30200342-62CF-76BB-AC39-BFAAA6E49FB1}"/>
              </a:ext>
            </a:extLst>
          </p:cNvPr>
          <p:cNvSpPr/>
          <p:nvPr/>
        </p:nvSpPr>
        <p:spPr>
          <a:xfrm>
            <a:off x="3793284" y="3995513"/>
            <a:ext cx="890802" cy="348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n=17</a:t>
            </a:r>
          </a:p>
        </p:txBody>
      </p:sp>
      <p:sp>
        <p:nvSpPr>
          <p:cNvPr id="9" name="Rectangle 8">
            <a:extLst>
              <a:ext uri="{FF2B5EF4-FFF2-40B4-BE49-F238E27FC236}">
                <a16:creationId xmlns:a16="http://schemas.microsoft.com/office/drawing/2014/main" id="{3A588E08-1497-BE73-5F15-E6720DF173C6}"/>
              </a:ext>
            </a:extLst>
          </p:cNvPr>
          <p:cNvSpPr/>
          <p:nvPr/>
        </p:nvSpPr>
        <p:spPr>
          <a:xfrm>
            <a:off x="3793284" y="5349251"/>
            <a:ext cx="890802" cy="348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return 1</a:t>
            </a:r>
          </a:p>
        </p:txBody>
      </p:sp>
      <p:sp>
        <p:nvSpPr>
          <p:cNvPr id="10" name="Diamond 9">
            <a:extLst>
              <a:ext uri="{FF2B5EF4-FFF2-40B4-BE49-F238E27FC236}">
                <a16:creationId xmlns:a16="http://schemas.microsoft.com/office/drawing/2014/main" id="{02565F86-76E1-EA60-AE8A-A316ACA92C5D}"/>
              </a:ext>
            </a:extLst>
          </p:cNvPr>
          <p:cNvSpPr/>
          <p:nvPr/>
        </p:nvSpPr>
        <p:spPr>
          <a:xfrm>
            <a:off x="3641376" y="4522852"/>
            <a:ext cx="1194618" cy="619433"/>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t>Prime?</a:t>
            </a:r>
          </a:p>
        </p:txBody>
      </p:sp>
      <p:cxnSp>
        <p:nvCxnSpPr>
          <p:cNvPr id="12" name="Straight Arrow Connector 11">
            <a:extLst>
              <a:ext uri="{FF2B5EF4-FFF2-40B4-BE49-F238E27FC236}">
                <a16:creationId xmlns:a16="http://schemas.microsoft.com/office/drawing/2014/main" id="{245BC327-85E0-3E91-6F2C-D457770FA244}"/>
              </a:ext>
            </a:extLst>
          </p:cNvPr>
          <p:cNvCxnSpPr>
            <a:endCxn id="10" idx="0"/>
          </p:cNvCxnSpPr>
          <p:nvPr/>
        </p:nvCxnSpPr>
        <p:spPr>
          <a:xfrm>
            <a:off x="4238685" y="4343575"/>
            <a:ext cx="0" cy="179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3076307-F319-1746-C965-F4CE0B728BCB}"/>
              </a:ext>
            </a:extLst>
          </p:cNvPr>
          <p:cNvCxnSpPr>
            <a:stCxn id="10" idx="2"/>
            <a:endCxn id="9" idx="0"/>
          </p:cNvCxnSpPr>
          <p:nvPr/>
        </p:nvCxnSpPr>
        <p:spPr>
          <a:xfrm>
            <a:off x="4238685" y="5142285"/>
            <a:ext cx="0" cy="206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A7CB8E7-51B0-1AD3-1E51-3D84284077B3}"/>
              </a:ext>
            </a:extLst>
          </p:cNvPr>
          <p:cNvSpPr txBox="1"/>
          <p:nvPr/>
        </p:nvSpPr>
        <p:spPr>
          <a:xfrm>
            <a:off x="2566218" y="4018423"/>
            <a:ext cx="619433" cy="307777"/>
          </a:xfrm>
          <a:prstGeom prst="rect">
            <a:avLst/>
          </a:prstGeom>
          <a:noFill/>
        </p:spPr>
        <p:txBody>
          <a:bodyPr wrap="square" rtlCol="0">
            <a:spAutoFit/>
          </a:bodyPr>
          <a:lstStyle/>
          <a:p>
            <a:r>
              <a:rPr lang="en-IN" sz="1400" dirty="0"/>
              <a:t>copy</a:t>
            </a:r>
          </a:p>
        </p:txBody>
      </p:sp>
      <p:cxnSp>
        <p:nvCxnSpPr>
          <p:cNvPr id="17" name="Straight Arrow Connector 16">
            <a:extLst>
              <a:ext uri="{FF2B5EF4-FFF2-40B4-BE49-F238E27FC236}">
                <a16:creationId xmlns:a16="http://schemas.microsoft.com/office/drawing/2014/main" id="{C7B542AA-AEED-976C-85AA-168B61279822}"/>
              </a:ext>
            </a:extLst>
          </p:cNvPr>
          <p:cNvCxnSpPr>
            <a:stCxn id="4" idx="3"/>
          </p:cNvCxnSpPr>
          <p:nvPr/>
        </p:nvCxnSpPr>
        <p:spPr>
          <a:xfrm>
            <a:off x="1958586" y="4152169"/>
            <a:ext cx="595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5D1270-D37D-6D5C-4143-35D03E106339}"/>
              </a:ext>
            </a:extLst>
          </p:cNvPr>
          <p:cNvCxnSpPr>
            <a:stCxn id="15" idx="3"/>
            <a:endCxn id="7" idx="1"/>
          </p:cNvCxnSpPr>
          <p:nvPr/>
        </p:nvCxnSpPr>
        <p:spPr>
          <a:xfrm flipV="1">
            <a:off x="3185651" y="4169544"/>
            <a:ext cx="607633" cy="2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534716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FC21-8CD1-A879-A79A-83C5F5C503C5}"/>
              </a:ext>
            </a:extLst>
          </p:cNvPr>
          <p:cNvSpPr>
            <a:spLocks noGrp="1"/>
          </p:cNvSpPr>
          <p:nvPr>
            <p:ph type="title"/>
          </p:nvPr>
        </p:nvSpPr>
        <p:spPr/>
        <p:txBody>
          <a:bodyPr/>
          <a:lstStyle/>
          <a:p>
            <a:r>
              <a:rPr lang="en-IN" dirty="0"/>
              <a:t>Why Pass by Value is Suitable for Prime Checking</a:t>
            </a:r>
          </a:p>
        </p:txBody>
      </p:sp>
      <p:sp>
        <p:nvSpPr>
          <p:cNvPr id="3" name="Content Placeholder 2">
            <a:extLst>
              <a:ext uri="{FF2B5EF4-FFF2-40B4-BE49-F238E27FC236}">
                <a16:creationId xmlns:a16="http://schemas.microsoft.com/office/drawing/2014/main" id="{569A3F15-5DFF-F6EB-E75B-A9784221DF96}"/>
              </a:ext>
            </a:extLst>
          </p:cNvPr>
          <p:cNvSpPr>
            <a:spLocks noGrp="1"/>
          </p:cNvSpPr>
          <p:nvPr>
            <p:ph idx="1"/>
          </p:nvPr>
        </p:nvSpPr>
        <p:spPr/>
        <p:txBody>
          <a:bodyPr>
            <a:normAutofit fontScale="92500" lnSpcReduction="20000"/>
          </a:bodyPr>
          <a:lstStyle/>
          <a:p>
            <a:pPr marL="0" indent="0">
              <a:buNone/>
            </a:pPr>
            <a:r>
              <a:rPr lang="en-IN" dirty="0"/>
              <a:t>For prime checking, we normally </a:t>
            </a:r>
            <a:r>
              <a:rPr lang="en-IN" b="1" dirty="0"/>
              <a:t>only need to examine the number</a:t>
            </a:r>
            <a:r>
              <a:rPr lang="en-IN" dirty="0"/>
              <a:t>. We don't need to modify the original number. Therefore:</a:t>
            </a:r>
          </a:p>
          <a:p>
            <a:pPr marL="0" indent="0">
              <a:buNone/>
            </a:pPr>
            <a:r>
              <a:rPr lang="en-IN" dirty="0"/>
              <a:t>int </a:t>
            </a:r>
            <a:r>
              <a:rPr lang="en-IN" dirty="0" err="1"/>
              <a:t>isPrime</a:t>
            </a:r>
            <a:r>
              <a:rPr lang="en-IN" dirty="0"/>
              <a:t>(int n)  </a:t>
            </a:r>
            <a:r>
              <a:rPr lang="en-IN" dirty="0">
                <a:sym typeface="Wingdings" panose="05000000000000000000" pitchFamily="2" charset="2"/>
              </a:rPr>
              <a:t> </a:t>
            </a:r>
            <a:r>
              <a:rPr lang="en-IN" dirty="0"/>
              <a:t>is a suitable design.</a:t>
            </a:r>
          </a:p>
          <a:p>
            <a:pPr marL="0" indent="0">
              <a:buNone/>
            </a:pPr>
            <a:r>
              <a:rPr lang="en-IN" b="1" dirty="0"/>
              <a:t>Input</a:t>
            </a:r>
          </a:p>
          <a:p>
            <a:pPr marL="0" indent="0">
              <a:buNone/>
            </a:pPr>
            <a:r>
              <a:rPr lang="en-IN" dirty="0"/>
              <a:t>	number</a:t>
            </a:r>
          </a:p>
          <a:p>
            <a:pPr marL="0" indent="0">
              <a:buNone/>
            </a:pPr>
            <a:r>
              <a:rPr lang="en-IN" b="1" dirty="0"/>
              <a:t>Processing</a:t>
            </a:r>
          </a:p>
          <a:p>
            <a:pPr marL="0" indent="0">
              <a:buNone/>
            </a:pPr>
            <a:r>
              <a:rPr lang="en-IN" dirty="0"/>
              <a:t>	Check divisibility</a:t>
            </a:r>
          </a:p>
          <a:p>
            <a:pPr marL="0" indent="0">
              <a:buNone/>
            </a:pPr>
            <a:r>
              <a:rPr lang="en-IN" b="1" dirty="0"/>
              <a:t>Return value</a:t>
            </a:r>
          </a:p>
          <a:p>
            <a:pPr marL="0" indent="0">
              <a:buNone/>
            </a:pPr>
            <a:r>
              <a:rPr lang="en-IN" dirty="0"/>
              <a:t>	1 → Prime</a:t>
            </a:r>
          </a:p>
          <a:p>
            <a:pPr marL="0" indent="0">
              <a:buNone/>
            </a:pPr>
            <a:r>
              <a:rPr lang="en-IN" dirty="0"/>
              <a:t>	0 → Not Prime</a:t>
            </a:r>
          </a:p>
          <a:p>
            <a:pPr marL="0" indent="0">
              <a:buNone/>
            </a:pPr>
            <a:endParaRPr lang="en-IN" dirty="0"/>
          </a:p>
        </p:txBody>
      </p:sp>
    </p:spTree>
    <p:extLst>
      <p:ext uri="{BB962C8B-B14F-4D97-AF65-F5344CB8AC3E}">
        <p14:creationId xmlns:p14="http://schemas.microsoft.com/office/powerpoint/2010/main" val="359930719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BB80-07E4-D17E-44C3-DC280C086062}"/>
              </a:ext>
            </a:extLst>
          </p:cNvPr>
          <p:cNvSpPr>
            <a:spLocks noGrp="1"/>
          </p:cNvSpPr>
          <p:nvPr>
            <p:ph type="title"/>
          </p:nvPr>
        </p:nvSpPr>
        <p:spPr/>
        <p:txBody>
          <a:bodyPr/>
          <a:lstStyle/>
          <a:p>
            <a:r>
              <a:rPr lang="en-IN" dirty="0"/>
              <a:t>Approach 2 – Pass by Reference Using Pointer</a:t>
            </a:r>
          </a:p>
        </p:txBody>
      </p:sp>
      <p:sp>
        <p:nvSpPr>
          <p:cNvPr id="3" name="Content Placeholder 2">
            <a:extLst>
              <a:ext uri="{FF2B5EF4-FFF2-40B4-BE49-F238E27FC236}">
                <a16:creationId xmlns:a16="http://schemas.microsoft.com/office/drawing/2014/main" id="{29F095A4-6F5A-42A9-FB4B-955385EEDD9D}"/>
              </a:ext>
            </a:extLst>
          </p:cNvPr>
          <p:cNvSpPr>
            <a:spLocks noGrp="1"/>
          </p:cNvSpPr>
          <p:nvPr>
            <p:ph idx="1"/>
          </p:nvPr>
        </p:nvSpPr>
        <p:spPr/>
        <p:txBody>
          <a:bodyPr/>
          <a:lstStyle/>
          <a:p>
            <a:r>
              <a:rPr lang="en-IN" dirty="0"/>
              <a:t>C does </a:t>
            </a:r>
            <a:r>
              <a:rPr lang="en-IN" b="1" dirty="0"/>
              <a:t>not have a true "pass by reference" parameter mechanism</a:t>
            </a:r>
            <a:r>
              <a:rPr lang="en-IN" dirty="0"/>
              <a:t> like C++. In C, reference-like </a:t>
            </a:r>
            <a:r>
              <a:rPr lang="en-IN" dirty="0" err="1"/>
              <a:t>behavior</a:t>
            </a:r>
            <a:r>
              <a:rPr lang="en-IN" dirty="0"/>
              <a:t> is achieved by passing the </a:t>
            </a:r>
            <a:r>
              <a:rPr lang="en-IN" b="1" dirty="0"/>
              <a:t>address of a variable using a pointer</a:t>
            </a:r>
            <a:r>
              <a:rPr lang="en-IN" dirty="0"/>
              <a:t>.</a:t>
            </a:r>
          </a:p>
          <a:p>
            <a:r>
              <a:rPr lang="en-IN" dirty="0"/>
              <a:t> For example:</a:t>
            </a:r>
          </a:p>
          <a:p>
            <a:pPr lvl="1"/>
            <a:r>
              <a:rPr lang="en-IN" dirty="0"/>
              <a:t>	int </a:t>
            </a:r>
            <a:r>
              <a:rPr lang="en-IN" dirty="0" err="1"/>
              <a:t>isPrime</a:t>
            </a:r>
            <a:r>
              <a:rPr lang="en-IN" dirty="0"/>
              <a:t>(int *n)</a:t>
            </a:r>
          </a:p>
          <a:p>
            <a:r>
              <a:rPr lang="en-IN" dirty="0"/>
              <a:t>Here n is a pointer.</a:t>
            </a:r>
          </a:p>
          <a:p>
            <a:r>
              <a:rPr lang="en-IN" dirty="0"/>
              <a:t>To access the actual value:</a:t>
            </a:r>
          </a:p>
          <a:p>
            <a:pPr lvl="1"/>
            <a:r>
              <a:rPr lang="en-IN" dirty="0"/>
              <a:t>	*n</a:t>
            </a:r>
          </a:p>
          <a:p>
            <a:endParaRPr lang="en-IN" dirty="0"/>
          </a:p>
          <a:p>
            <a:endParaRPr lang="en-IN" dirty="0"/>
          </a:p>
        </p:txBody>
      </p:sp>
    </p:spTree>
    <p:extLst>
      <p:ext uri="{BB962C8B-B14F-4D97-AF65-F5344CB8AC3E}">
        <p14:creationId xmlns:p14="http://schemas.microsoft.com/office/powerpoint/2010/main" val="386655191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B3B-0B8A-FD89-5133-2CB81B5492D2}"/>
              </a:ext>
            </a:extLst>
          </p:cNvPr>
          <p:cNvSpPr>
            <a:spLocks noGrp="1"/>
          </p:cNvSpPr>
          <p:nvPr>
            <p:ph type="title"/>
          </p:nvPr>
        </p:nvSpPr>
        <p:spPr/>
        <p:txBody>
          <a:bodyPr/>
          <a:lstStyle/>
          <a:p>
            <a:r>
              <a:rPr lang="en-IN" dirty="0"/>
              <a:t>Prime Checking Using a Pointer</a:t>
            </a:r>
          </a:p>
        </p:txBody>
      </p:sp>
      <p:sp>
        <p:nvSpPr>
          <p:cNvPr id="3" name="Content Placeholder 2">
            <a:extLst>
              <a:ext uri="{FF2B5EF4-FFF2-40B4-BE49-F238E27FC236}">
                <a16:creationId xmlns:a16="http://schemas.microsoft.com/office/drawing/2014/main" id="{E4E72A31-37F4-AAF8-1F33-4B12819FA961}"/>
              </a:ext>
            </a:extLst>
          </p:cNvPr>
          <p:cNvSpPr>
            <a:spLocks noGrp="1"/>
          </p:cNvSpPr>
          <p:nvPr>
            <p:ph idx="1"/>
          </p:nvPr>
        </p:nvSpPr>
        <p:spPr/>
        <p:txBody>
          <a:bodyPr numCol="3">
            <a:normAutofit fontScale="92500" lnSpcReduction="20000"/>
          </a:bodyPr>
          <a:lstStyle/>
          <a:p>
            <a:pPr marL="0" indent="0">
              <a:buNone/>
            </a:pPr>
            <a:r>
              <a:rPr lang="en-IN" dirty="0"/>
              <a:t>#include &lt;</a:t>
            </a:r>
            <a:r>
              <a:rPr lang="en-IN" dirty="0" err="1"/>
              <a:t>stdio.h</a:t>
            </a:r>
            <a:r>
              <a:rPr lang="en-IN" dirty="0"/>
              <a:t>&gt;</a:t>
            </a:r>
          </a:p>
          <a:p>
            <a:pPr marL="0" indent="0">
              <a:buNone/>
            </a:pPr>
            <a:r>
              <a:rPr lang="en-IN" dirty="0"/>
              <a:t>int </a:t>
            </a:r>
            <a:r>
              <a:rPr lang="en-IN" dirty="0" err="1"/>
              <a:t>isPrime</a:t>
            </a:r>
            <a:r>
              <a:rPr lang="en-IN" dirty="0"/>
              <a:t>(int *n)</a:t>
            </a:r>
          </a:p>
          <a:p>
            <a:pPr marL="0" indent="0">
              <a:buNone/>
            </a:pPr>
            <a:r>
              <a:rPr lang="en-IN" dirty="0"/>
              <a:t>{</a:t>
            </a:r>
          </a:p>
          <a:p>
            <a:pPr marL="0" indent="0">
              <a:buNone/>
            </a:pPr>
            <a:r>
              <a:rPr lang="en-IN" dirty="0"/>
              <a:t>    int </a:t>
            </a:r>
            <a:r>
              <a:rPr lang="en-IN" dirty="0" err="1"/>
              <a:t>i</a:t>
            </a:r>
            <a:r>
              <a:rPr lang="en-IN" dirty="0"/>
              <a:t>;</a:t>
            </a:r>
          </a:p>
          <a:p>
            <a:pPr marL="0" indent="0">
              <a:buNone/>
            </a:pPr>
            <a:r>
              <a:rPr lang="en-IN" dirty="0"/>
              <a:t>    if (*n &lt; 2)</a:t>
            </a:r>
          </a:p>
          <a:p>
            <a:pPr marL="0" indent="0">
              <a:buNone/>
            </a:pPr>
            <a:r>
              <a:rPr lang="en-IN" dirty="0"/>
              <a:t>        return 0;</a:t>
            </a:r>
          </a:p>
          <a:p>
            <a:pPr marL="0" indent="0">
              <a:buNone/>
            </a:pPr>
            <a:r>
              <a:rPr lang="en-IN" dirty="0"/>
              <a:t>    for (</a:t>
            </a:r>
            <a:r>
              <a:rPr lang="en-IN" dirty="0" err="1"/>
              <a:t>i</a:t>
            </a:r>
            <a:r>
              <a:rPr lang="en-IN" dirty="0"/>
              <a:t> = 2; </a:t>
            </a:r>
            <a:r>
              <a:rPr lang="en-IN" dirty="0" err="1"/>
              <a:t>i</a:t>
            </a:r>
            <a:r>
              <a:rPr lang="en-IN" dirty="0"/>
              <a:t> &lt;= (*n) / 2; </a:t>
            </a:r>
            <a:r>
              <a:rPr lang="en-IN" dirty="0" err="1"/>
              <a:t>i</a:t>
            </a:r>
            <a:r>
              <a:rPr lang="en-IN" dirty="0"/>
              <a:t>++)</a:t>
            </a:r>
          </a:p>
          <a:p>
            <a:pPr marL="0" indent="0">
              <a:buNone/>
            </a:pPr>
            <a:r>
              <a:rPr lang="en-IN" dirty="0"/>
              <a:t>    {</a:t>
            </a:r>
          </a:p>
          <a:p>
            <a:pPr marL="0" indent="0">
              <a:buNone/>
            </a:pPr>
            <a:r>
              <a:rPr lang="en-IN" dirty="0"/>
              <a:t>        if ((*n) % </a:t>
            </a:r>
            <a:r>
              <a:rPr lang="en-IN" dirty="0" err="1"/>
              <a:t>i</a:t>
            </a:r>
            <a:r>
              <a:rPr lang="en-IN" dirty="0"/>
              <a:t> == 0)</a:t>
            </a:r>
          </a:p>
          <a:p>
            <a:pPr marL="0" indent="0">
              <a:buNone/>
            </a:pPr>
            <a:r>
              <a:rPr lang="en-IN" dirty="0"/>
              <a:t>            return 0;</a:t>
            </a:r>
          </a:p>
          <a:p>
            <a:pPr marL="0" indent="0">
              <a:buNone/>
            </a:pPr>
            <a:r>
              <a:rPr lang="en-IN" dirty="0"/>
              <a:t>    }</a:t>
            </a:r>
          </a:p>
          <a:p>
            <a:pPr marL="0" indent="0">
              <a:buNone/>
            </a:pPr>
            <a:r>
              <a:rPr lang="en-IN" dirty="0"/>
              <a:t>    return 1;</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int </a:t>
            </a:r>
            <a:r>
              <a:rPr lang="en-IN" dirty="0" err="1"/>
              <a:t>num</a:t>
            </a:r>
            <a:r>
              <a:rPr lang="en-IN" dirty="0"/>
              <a:t> = 17;</a:t>
            </a:r>
          </a:p>
          <a:p>
            <a:pPr marL="0" indent="0">
              <a:buNone/>
            </a:pPr>
            <a:r>
              <a:rPr lang="en-IN" dirty="0"/>
              <a:t>    if (</a:t>
            </a:r>
            <a:r>
              <a:rPr lang="en-IN" dirty="0" err="1"/>
              <a:t>isPrime</a:t>
            </a:r>
            <a:r>
              <a:rPr lang="en-IN" dirty="0"/>
              <a:t>(&amp;</a:t>
            </a:r>
            <a:r>
              <a:rPr lang="en-IN" dirty="0" err="1"/>
              <a:t>num</a:t>
            </a:r>
            <a:r>
              <a:rPr lang="en-IN" dirty="0"/>
              <a:t>))</a:t>
            </a:r>
          </a:p>
          <a:p>
            <a:pPr marL="0" indent="0">
              <a:buNone/>
            </a:pPr>
            <a:r>
              <a:rPr lang="en-IN" dirty="0"/>
              <a:t>        </a:t>
            </a:r>
            <a:r>
              <a:rPr lang="en-IN" dirty="0" err="1"/>
              <a:t>printf</a:t>
            </a:r>
            <a:r>
              <a:rPr lang="en-IN" dirty="0"/>
              <a:t>("%d is a prime number", </a:t>
            </a:r>
            <a:r>
              <a:rPr lang="en-IN" dirty="0" err="1"/>
              <a:t>num</a:t>
            </a:r>
            <a:r>
              <a:rPr lang="en-IN" dirty="0"/>
              <a:t>);</a:t>
            </a:r>
          </a:p>
          <a:p>
            <a:pPr marL="0" indent="0">
              <a:buNone/>
            </a:pPr>
            <a:r>
              <a:rPr lang="en-IN" dirty="0"/>
              <a:t>    else</a:t>
            </a:r>
          </a:p>
          <a:p>
            <a:pPr marL="0" indent="0">
              <a:buNone/>
            </a:pPr>
            <a:r>
              <a:rPr lang="en-IN" dirty="0"/>
              <a:t>        </a:t>
            </a:r>
            <a:r>
              <a:rPr lang="en-IN" dirty="0" err="1"/>
              <a:t>printf</a:t>
            </a:r>
            <a:r>
              <a:rPr lang="en-IN" dirty="0"/>
              <a:t>("%d is not a prime number", </a:t>
            </a:r>
            <a:r>
              <a:rPr lang="en-IN" dirty="0" err="1"/>
              <a:t>num</a:t>
            </a:r>
            <a:r>
              <a:rPr lang="en-IN" dirty="0"/>
              <a:t>);</a:t>
            </a:r>
          </a:p>
          <a:p>
            <a:pPr marL="0" indent="0">
              <a:buNone/>
            </a:pPr>
            <a:r>
              <a:rPr lang="en-IN" dirty="0"/>
              <a:t>    return 0;</a:t>
            </a:r>
          </a:p>
          <a:p>
            <a:pPr marL="0" indent="0">
              <a:buNone/>
            </a:pPr>
            <a:r>
              <a:rPr lang="en-IN" dirty="0"/>
              <a:t>}</a:t>
            </a:r>
          </a:p>
          <a:p>
            <a:pPr marL="0" indent="0">
              <a:buNone/>
            </a:pPr>
            <a:endParaRPr lang="en-IN" b="1" dirty="0"/>
          </a:p>
          <a:p>
            <a:pPr marL="0" indent="0">
              <a:buNone/>
            </a:pPr>
            <a:r>
              <a:rPr lang="en-IN" b="1" dirty="0"/>
              <a:t>Output</a:t>
            </a:r>
          </a:p>
          <a:p>
            <a:pPr marL="0" indent="0">
              <a:buNone/>
            </a:pPr>
            <a:r>
              <a:rPr lang="en-IN" dirty="0"/>
              <a:t>17 is a prime number</a:t>
            </a:r>
          </a:p>
          <a:p>
            <a:pPr marL="0" indent="0">
              <a:buNone/>
            </a:pPr>
            <a:endParaRPr lang="en-IN" dirty="0"/>
          </a:p>
        </p:txBody>
      </p:sp>
    </p:spTree>
    <p:extLst>
      <p:ext uri="{BB962C8B-B14F-4D97-AF65-F5344CB8AC3E}">
        <p14:creationId xmlns:p14="http://schemas.microsoft.com/office/powerpoint/2010/main" val="228256205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8496-0715-1968-D4C8-748BB85B7379}"/>
              </a:ext>
            </a:extLst>
          </p:cNvPr>
          <p:cNvSpPr>
            <a:spLocks noGrp="1"/>
          </p:cNvSpPr>
          <p:nvPr>
            <p:ph type="title"/>
          </p:nvPr>
        </p:nvSpPr>
        <p:spPr/>
        <p:txBody>
          <a:bodyPr/>
          <a:lstStyle/>
          <a:p>
            <a:r>
              <a:rPr lang="en-IN" dirty="0"/>
              <a:t>How Pass by Reference Works in C</a:t>
            </a:r>
          </a:p>
        </p:txBody>
      </p:sp>
      <p:sp>
        <p:nvSpPr>
          <p:cNvPr id="3" name="Content Placeholder 2">
            <a:extLst>
              <a:ext uri="{FF2B5EF4-FFF2-40B4-BE49-F238E27FC236}">
                <a16:creationId xmlns:a16="http://schemas.microsoft.com/office/drawing/2014/main" id="{2B5FA901-0E10-1C22-9469-DC9FFA4C541F}"/>
              </a:ext>
            </a:extLst>
          </p:cNvPr>
          <p:cNvSpPr>
            <a:spLocks noGrp="1"/>
          </p:cNvSpPr>
          <p:nvPr>
            <p:ph idx="1"/>
          </p:nvPr>
        </p:nvSpPr>
        <p:spPr>
          <a:xfrm>
            <a:off x="952500" y="2285997"/>
            <a:ext cx="5212326" cy="3890965"/>
          </a:xfrm>
        </p:spPr>
        <p:txBody>
          <a:bodyPr/>
          <a:lstStyle/>
          <a:p>
            <a:r>
              <a:rPr lang="en-IN" dirty="0"/>
              <a:t>Consider:</a:t>
            </a:r>
          </a:p>
          <a:p>
            <a:pPr lvl="1"/>
            <a:r>
              <a:rPr lang="en-IN" dirty="0"/>
              <a:t>int </a:t>
            </a:r>
            <a:r>
              <a:rPr lang="en-IN" dirty="0" err="1"/>
              <a:t>num</a:t>
            </a:r>
            <a:r>
              <a:rPr lang="en-IN" dirty="0"/>
              <a:t> = 17;</a:t>
            </a:r>
          </a:p>
          <a:p>
            <a:pPr lvl="1"/>
            <a:r>
              <a:rPr lang="en-IN" dirty="0" err="1"/>
              <a:t>isPrime</a:t>
            </a:r>
            <a:r>
              <a:rPr lang="en-IN" dirty="0"/>
              <a:t>(&amp;</a:t>
            </a:r>
            <a:r>
              <a:rPr lang="en-IN" dirty="0" err="1"/>
              <a:t>num</a:t>
            </a:r>
            <a:r>
              <a:rPr lang="en-IN" dirty="0"/>
              <a:t>);</a:t>
            </a:r>
          </a:p>
          <a:p>
            <a:pPr marL="0" indent="0">
              <a:buNone/>
            </a:pPr>
            <a:r>
              <a:rPr lang="en-IN" dirty="0"/>
              <a:t>Here:</a:t>
            </a:r>
          </a:p>
          <a:p>
            <a:pPr lvl="0"/>
            <a:r>
              <a:rPr lang="en-IN" dirty="0"/>
              <a:t>&amp;</a:t>
            </a:r>
            <a:r>
              <a:rPr lang="en-IN" dirty="0" err="1"/>
              <a:t>num</a:t>
            </a:r>
            <a:r>
              <a:rPr lang="en-IN" dirty="0"/>
              <a:t> → address of </a:t>
            </a:r>
            <a:r>
              <a:rPr lang="en-IN" dirty="0" err="1"/>
              <a:t>num</a:t>
            </a:r>
            <a:r>
              <a:rPr lang="en-IN" dirty="0"/>
              <a:t> </a:t>
            </a:r>
          </a:p>
          <a:p>
            <a:pPr lvl="0"/>
            <a:r>
              <a:rPr lang="en-IN" dirty="0"/>
              <a:t>n → stores the address </a:t>
            </a:r>
          </a:p>
          <a:p>
            <a:pPr lvl="0"/>
            <a:r>
              <a:rPr lang="en-IN" dirty="0"/>
              <a:t>*n → accesses the value stored at that address</a:t>
            </a:r>
          </a:p>
          <a:p>
            <a:pPr marL="0" indent="0">
              <a:buNone/>
            </a:pPr>
            <a:endParaRPr lang="en-IN" dirty="0"/>
          </a:p>
        </p:txBody>
      </p:sp>
      <p:sp>
        <p:nvSpPr>
          <p:cNvPr id="5" name="TextBox 4">
            <a:extLst>
              <a:ext uri="{FF2B5EF4-FFF2-40B4-BE49-F238E27FC236}">
                <a16:creationId xmlns:a16="http://schemas.microsoft.com/office/drawing/2014/main" id="{FF880B82-DA37-336E-7968-CD0A6B6306CF}"/>
              </a:ext>
            </a:extLst>
          </p:cNvPr>
          <p:cNvSpPr txBox="1"/>
          <p:nvPr/>
        </p:nvSpPr>
        <p:spPr>
          <a:xfrm>
            <a:off x="6918469" y="2206644"/>
            <a:ext cx="4691462" cy="3139321"/>
          </a:xfrm>
          <a:prstGeom prst="rect">
            <a:avLst/>
          </a:prstGeom>
          <a:noFill/>
        </p:spPr>
        <p:txBody>
          <a:bodyPr wrap="square">
            <a:spAutoFit/>
          </a:bodyPr>
          <a:lstStyle/>
          <a:p>
            <a:r>
              <a:rPr lang="en-IN" dirty="0"/>
              <a:t> 		   Memory</a:t>
            </a:r>
          </a:p>
          <a:p>
            <a:r>
              <a:rPr lang="en-IN" dirty="0"/>
              <a:t>         	</a:t>
            </a:r>
          </a:p>
          <a:p>
            <a:r>
              <a:rPr lang="en-IN" dirty="0"/>
              <a:t>                   </a:t>
            </a:r>
            <a:r>
              <a:rPr lang="en-IN" dirty="0" err="1"/>
              <a:t>num</a:t>
            </a:r>
            <a:r>
              <a:rPr lang="en-IN" dirty="0"/>
              <a:t> →	 </a:t>
            </a:r>
          </a:p>
          <a:p>
            <a:r>
              <a:rPr lang="en-IN" dirty="0"/>
              <a:t>         		</a:t>
            </a:r>
          </a:p>
          <a:p>
            <a:r>
              <a:rPr lang="en-IN" dirty="0"/>
              <a:t>              		       ↑</a:t>
            </a:r>
          </a:p>
          <a:p>
            <a:r>
              <a:rPr lang="en-IN" dirty="0"/>
              <a:t>                           	    &amp;</a:t>
            </a:r>
            <a:r>
              <a:rPr lang="en-IN" dirty="0" err="1"/>
              <a:t>num</a:t>
            </a:r>
            <a:endParaRPr lang="en-IN" dirty="0"/>
          </a:p>
          <a:p>
            <a:r>
              <a:rPr lang="en-IN" dirty="0"/>
              <a:t>            		       ↓</a:t>
            </a:r>
          </a:p>
          <a:p>
            <a:r>
              <a:rPr lang="en-IN" dirty="0"/>
              <a:t>      	                </a:t>
            </a:r>
            <a:r>
              <a:rPr lang="en-IN" dirty="0" err="1"/>
              <a:t>isPrime</a:t>
            </a:r>
            <a:r>
              <a:rPr lang="en-IN" dirty="0"/>
              <a:t>(int *n)</a:t>
            </a:r>
          </a:p>
          <a:p>
            <a:r>
              <a:rPr lang="en-IN" dirty="0"/>
              <a:t>              		      *n</a:t>
            </a:r>
          </a:p>
          <a:p>
            <a:r>
              <a:rPr lang="en-IN" dirty="0"/>
              <a:t>              		        ↓</a:t>
            </a:r>
          </a:p>
          <a:p>
            <a:r>
              <a:rPr lang="en-IN" dirty="0"/>
              <a:t>            		       17   </a:t>
            </a:r>
          </a:p>
        </p:txBody>
      </p:sp>
      <p:sp>
        <p:nvSpPr>
          <p:cNvPr id="6" name="Rectangle 5">
            <a:extLst>
              <a:ext uri="{FF2B5EF4-FFF2-40B4-BE49-F238E27FC236}">
                <a16:creationId xmlns:a16="http://schemas.microsoft.com/office/drawing/2014/main" id="{E078953A-37E7-7774-ED80-7F46E2F4FE3E}"/>
              </a:ext>
            </a:extLst>
          </p:cNvPr>
          <p:cNvSpPr/>
          <p:nvPr/>
        </p:nvSpPr>
        <p:spPr>
          <a:xfrm>
            <a:off x="8808475" y="2637012"/>
            <a:ext cx="985192" cy="5958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17</a:t>
            </a:r>
          </a:p>
        </p:txBody>
      </p:sp>
      <p:sp>
        <p:nvSpPr>
          <p:cNvPr id="8" name="TextBox 7">
            <a:extLst>
              <a:ext uri="{FF2B5EF4-FFF2-40B4-BE49-F238E27FC236}">
                <a16:creationId xmlns:a16="http://schemas.microsoft.com/office/drawing/2014/main" id="{971CD6C8-B5CC-907F-DF2B-01217F7B9DEC}"/>
              </a:ext>
            </a:extLst>
          </p:cNvPr>
          <p:cNvSpPr txBox="1"/>
          <p:nvPr/>
        </p:nvSpPr>
        <p:spPr>
          <a:xfrm>
            <a:off x="7739955" y="5639097"/>
            <a:ext cx="3781486" cy="923330"/>
          </a:xfrm>
          <a:prstGeom prst="rect">
            <a:avLst/>
          </a:prstGeom>
          <a:noFill/>
        </p:spPr>
        <p:txBody>
          <a:bodyPr wrap="square">
            <a:spAutoFit/>
          </a:bodyPr>
          <a:lstStyle/>
          <a:p>
            <a:pPr>
              <a:buNone/>
            </a:pPr>
            <a:r>
              <a:rPr lang="en-IN" b="1" dirty="0"/>
              <a:t>Key idea</a:t>
            </a:r>
          </a:p>
          <a:p>
            <a:pPr rtl="0">
              <a:buNone/>
            </a:pPr>
            <a:r>
              <a:rPr lang="en-IN" dirty="0">
                <a:latin typeface="+mn-lt"/>
              </a:rPr>
              <a:t>&amp;</a:t>
            </a:r>
            <a:r>
              <a:rPr lang="en-IN" dirty="0" err="1">
                <a:latin typeface="+mn-lt"/>
              </a:rPr>
              <a:t>num</a:t>
            </a:r>
            <a:r>
              <a:rPr lang="en-IN" dirty="0">
                <a:latin typeface="+mn-lt"/>
              </a:rPr>
              <a:t> → address of </a:t>
            </a:r>
            <a:r>
              <a:rPr lang="en-IN" dirty="0" err="1">
                <a:latin typeface="+mn-lt"/>
              </a:rPr>
              <a:t>num</a:t>
            </a:r>
            <a:endParaRPr lang="en-IN" dirty="0">
              <a:latin typeface="+mn-lt"/>
            </a:endParaRPr>
          </a:p>
          <a:p>
            <a:pPr rtl="0">
              <a:buNone/>
            </a:pPr>
            <a:r>
              <a:rPr lang="en-IN" dirty="0">
                <a:latin typeface="+mn-lt"/>
              </a:rPr>
              <a:t>*n   → value stored at that address</a:t>
            </a:r>
            <a:endParaRPr lang="en-IN" dirty="0">
              <a:latin typeface="Courier New" panose="02070309020205020404" pitchFamily="49" charset="0"/>
            </a:endParaRPr>
          </a:p>
        </p:txBody>
      </p:sp>
    </p:spTree>
    <p:extLst>
      <p:ext uri="{BB962C8B-B14F-4D97-AF65-F5344CB8AC3E}">
        <p14:creationId xmlns:p14="http://schemas.microsoft.com/office/powerpoint/2010/main" val="399597116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FFA7-F2FD-8B2C-D9B4-7AABE06DCFF7}"/>
              </a:ext>
            </a:extLst>
          </p:cNvPr>
          <p:cNvSpPr>
            <a:spLocks noGrp="1"/>
          </p:cNvSpPr>
          <p:nvPr>
            <p:ph type="title"/>
          </p:nvPr>
        </p:nvSpPr>
        <p:spPr/>
        <p:txBody>
          <a:bodyPr/>
          <a:lstStyle/>
          <a:p>
            <a:r>
              <a:rPr lang="en-IN" dirty="0"/>
              <a:t>Pass by Value vs Pass by Reference</a:t>
            </a:r>
          </a:p>
        </p:txBody>
      </p:sp>
      <p:graphicFrame>
        <p:nvGraphicFramePr>
          <p:cNvPr id="4" name="Content Placeholder 3">
            <a:extLst>
              <a:ext uri="{FF2B5EF4-FFF2-40B4-BE49-F238E27FC236}">
                <a16:creationId xmlns:a16="http://schemas.microsoft.com/office/drawing/2014/main" id="{1D9A0E1C-EC06-B5D7-F73F-233EF729FCF1}"/>
              </a:ext>
            </a:extLst>
          </p:cNvPr>
          <p:cNvGraphicFramePr>
            <a:graphicFrameLocks noGrp="1"/>
          </p:cNvGraphicFramePr>
          <p:nvPr>
            <p:ph idx="1"/>
          </p:nvPr>
        </p:nvGraphicFramePr>
        <p:xfrm>
          <a:off x="952500" y="2286000"/>
          <a:ext cx="10287000" cy="296672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73281241"/>
                    </a:ext>
                  </a:extLst>
                </a:gridCol>
                <a:gridCol w="3429000">
                  <a:extLst>
                    <a:ext uri="{9D8B030D-6E8A-4147-A177-3AD203B41FA5}">
                      <a16:colId xmlns:a16="http://schemas.microsoft.com/office/drawing/2014/main" val="3167491515"/>
                    </a:ext>
                  </a:extLst>
                </a:gridCol>
                <a:gridCol w="3429000">
                  <a:extLst>
                    <a:ext uri="{9D8B030D-6E8A-4147-A177-3AD203B41FA5}">
                      <a16:colId xmlns:a16="http://schemas.microsoft.com/office/drawing/2014/main" val="3864027773"/>
                    </a:ext>
                  </a:extLst>
                </a:gridCol>
              </a:tblGrid>
              <a:tr h="370840">
                <a:tc>
                  <a:txBody>
                    <a:bodyPr/>
                    <a:lstStyle/>
                    <a:p>
                      <a:pPr>
                        <a:buNone/>
                      </a:pPr>
                      <a:r>
                        <a:rPr lang="en-IN"/>
                        <a:t>Feature</a:t>
                      </a:r>
                    </a:p>
                  </a:txBody>
                  <a:tcPr anchor="ctr"/>
                </a:tc>
                <a:tc>
                  <a:txBody>
                    <a:bodyPr/>
                    <a:lstStyle/>
                    <a:p>
                      <a:pPr>
                        <a:buNone/>
                      </a:pPr>
                      <a:r>
                        <a:rPr lang="en-IN"/>
                        <a:t>Pass by Value</a:t>
                      </a:r>
                    </a:p>
                  </a:txBody>
                  <a:tcPr anchor="ctr"/>
                </a:tc>
                <a:tc>
                  <a:txBody>
                    <a:bodyPr/>
                    <a:lstStyle/>
                    <a:p>
                      <a:pPr>
                        <a:buNone/>
                      </a:pPr>
                      <a:r>
                        <a:rPr lang="en-IN"/>
                        <a:t>Pass by Reference using Pointer</a:t>
                      </a:r>
                    </a:p>
                  </a:txBody>
                  <a:tcPr anchor="ctr"/>
                </a:tc>
                <a:extLst>
                  <a:ext uri="{0D108BD9-81ED-4DB2-BD59-A6C34878D82A}">
                    <a16:rowId xmlns:a16="http://schemas.microsoft.com/office/drawing/2014/main" val="147902868"/>
                  </a:ext>
                </a:extLst>
              </a:tr>
              <a:tr h="370840">
                <a:tc>
                  <a:txBody>
                    <a:bodyPr/>
                    <a:lstStyle/>
                    <a:p>
                      <a:pPr>
                        <a:buNone/>
                      </a:pPr>
                      <a:r>
                        <a:rPr lang="en-IN"/>
                        <a:t>Function parameter</a:t>
                      </a:r>
                    </a:p>
                  </a:txBody>
                  <a:tcPr anchor="ctr"/>
                </a:tc>
                <a:tc>
                  <a:txBody>
                    <a:bodyPr/>
                    <a:lstStyle/>
                    <a:p>
                      <a:pPr>
                        <a:buNone/>
                      </a:pPr>
                      <a:r>
                        <a:rPr lang="en-IN">
                          <a:latin typeface="Courier New" panose="02070309020205020404" pitchFamily="49" charset="0"/>
                        </a:rPr>
                        <a:t>int n</a:t>
                      </a:r>
                      <a:endParaRPr lang="en-IN"/>
                    </a:p>
                  </a:txBody>
                  <a:tcPr anchor="ctr"/>
                </a:tc>
                <a:tc>
                  <a:txBody>
                    <a:bodyPr/>
                    <a:lstStyle/>
                    <a:p>
                      <a:pPr>
                        <a:buNone/>
                      </a:pPr>
                      <a:r>
                        <a:rPr lang="en-IN">
                          <a:latin typeface="Courier New" panose="02070309020205020404" pitchFamily="49" charset="0"/>
                        </a:rPr>
                        <a:t>int *n</a:t>
                      </a:r>
                      <a:endParaRPr lang="en-IN"/>
                    </a:p>
                  </a:txBody>
                  <a:tcPr anchor="ctr"/>
                </a:tc>
                <a:extLst>
                  <a:ext uri="{0D108BD9-81ED-4DB2-BD59-A6C34878D82A}">
                    <a16:rowId xmlns:a16="http://schemas.microsoft.com/office/drawing/2014/main" val="3098778128"/>
                  </a:ext>
                </a:extLst>
              </a:tr>
              <a:tr h="370840">
                <a:tc>
                  <a:txBody>
                    <a:bodyPr/>
                    <a:lstStyle/>
                    <a:p>
                      <a:pPr>
                        <a:buNone/>
                      </a:pPr>
                      <a:r>
                        <a:rPr lang="en-IN"/>
                        <a:t>Function call</a:t>
                      </a:r>
                    </a:p>
                  </a:txBody>
                  <a:tcPr anchor="ctr"/>
                </a:tc>
                <a:tc>
                  <a:txBody>
                    <a:bodyPr/>
                    <a:lstStyle/>
                    <a:p>
                      <a:pPr>
                        <a:buNone/>
                      </a:pPr>
                      <a:r>
                        <a:rPr lang="en-IN">
                          <a:latin typeface="Courier New" panose="02070309020205020404" pitchFamily="49" charset="0"/>
                        </a:rPr>
                        <a:t>isPrime(num)</a:t>
                      </a:r>
                      <a:endParaRPr lang="en-IN"/>
                    </a:p>
                  </a:txBody>
                  <a:tcPr anchor="ctr"/>
                </a:tc>
                <a:tc>
                  <a:txBody>
                    <a:bodyPr/>
                    <a:lstStyle/>
                    <a:p>
                      <a:pPr>
                        <a:buNone/>
                      </a:pPr>
                      <a:r>
                        <a:rPr lang="en-IN">
                          <a:latin typeface="Courier New" panose="02070309020205020404" pitchFamily="49" charset="0"/>
                        </a:rPr>
                        <a:t>isPrime(&amp;num)</a:t>
                      </a:r>
                      <a:endParaRPr lang="en-IN"/>
                    </a:p>
                  </a:txBody>
                  <a:tcPr anchor="ctr"/>
                </a:tc>
                <a:extLst>
                  <a:ext uri="{0D108BD9-81ED-4DB2-BD59-A6C34878D82A}">
                    <a16:rowId xmlns:a16="http://schemas.microsoft.com/office/drawing/2014/main" val="2577082038"/>
                  </a:ext>
                </a:extLst>
              </a:tr>
              <a:tr h="370840">
                <a:tc>
                  <a:txBody>
                    <a:bodyPr/>
                    <a:lstStyle/>
                    <a:p>
                      <a:pPr>
                        <a:buNone/>
                      </a:pPr>
                      <a:r>
                        <a:rPr lang="en-IN"/>
                        <a:t>Access value</a:t>
                      </a:r>
                    </a:p>
                  </a:txBody>
                  <a:tcPr anchor="ctr"/>
                </a:tc>
                <a:tc>
                  <a:txBody>
                    <a:bodyPr/>
                    <a:lstStyle/>
                    <a:p>
                      <a:pPr>
                        <a:buNone/>
                      </a:pPr>
                      <a:r>
                        <a:rPr lang="en-IN">
                          <a:latin typeface="Courier New" panose="02070309020205020404" pitchFamily="49" charset="0"/>
                        </a:rPr>
                        <a:t>n</a:t>
                      </a:r>
                      <a:endParaRPr lang="en-IN"/>
                    </a:p>
                  </a:txBody>
                  <a:tcPr anchor="ctr"/>
                </a:tc>
                <a:tc>
                  <a:txBody>
                    <a:bodyPr/>
                    <a:lstStyle/>
                    <a:p>
                      <a:pPr>
                        <a:buNone/>
                      </a:pPr>
                      <a:r>
                        <a:rPr lang="en-IN">
                          <a:latin typeface="Courier New" panose="02070309020205020404" pitchFamily="49" charset="0"/>
                        </a:rPr>
                        <a:t>*n</a:t>
                      </a:r>
                      <a:endParaRPr lang="en-IN"/>
                    </a:p>
                  </a:txBody>
                  <a:tcPr anchor="ctr"/>
                </a:tc>
                <a:extLst>
                  <a:ext uri="{0D108BD9-81ED-4DB2-BD59-A6C34878D82A}">
                    <a16:rowId xmlns:a16="http://schemas.microsoft.com/office/drawing/2014/main" val="1622665123"/>
                  </a:ext>
                </a:extLst>
              </a:tr>
              <a:tr h="370840">
                <a:tc>
                  <a:txBody>
                    <a:bodyPr/>
                    <a:lstStyle/>
                    <a:p>
                      <a:pPr>
                        <a:buNone/>
                      </a:pPr>
                      <a:r>
                        <a:rPr lang="en-IN"/>
                        <a:t>Receives</a:t>
                      </a:r>
                    </a:p>
                  </a:txBody>
                  <a:tcPr anchor="ctr"/>
                </a:tc>
                <a:tc>
                  <a:txBody>
                    <a:bodyPr/>
                    <a:lstStyle/>
                    <a:p>
                      <a:pPr>
                        <a:buNone/>
                      </a:pPr>
                      <a:r>
                        <a:rPr lang="en-IN"/>
                        <a:t>Copy of value</a:t>
                      </a:r>
                    </a:p>
                  </a:txBody>
                  <a:tcPr anchor="ctr"/>
                </a:tc>
                <a:tc>
                  <a:txBody>
                    <a:bodyPr/>
                    <a:lstStyle/>
                    <a:p>
                      <a:pPr>
                        <a:buNone/>
                      </a:pPr>
                      <a:r>
                        <a:rPr lang="en-IN"/>
                        <a:t>Address of variable</a:t>
                      </a:r>
                    </a:p>
                  </a:txBody>
                  <a:tcPr anchor="ctr"/>
                </a:tc>
                <a:extLst>
                  <a:ext uri="{0D108BD9-81ED-4DB2-BD59-A6C34878D82A}">
                    <a16:rowId xmlns:a16="http://schemas.microsoft.com/office/drawing/2014/main" val="4073063127"/>
                  </a:ext>
                </a:extLst>
              </a:tr>
              <a:tr h="370840">
                <a:tc>
                  <a:txBody>
                    <a:bodyPr/>
                    <a:lstStyle/>
                    <a:p>
                      <a:pPr>
                        <a:buNone/>
                      </a:pPr>
                      <a:r>
                        <a:rPr lang="en-IN"/>
                        <a:t>Can modify original variable?</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2136878244"/>
                  </a:ext>
                </a:extLst>
              </a:tr>
              <a:tr h="370840">
                <a:tc>
                  <a:txBody>
                    <a:bodyPr/>
                    <a:lstStyle/>
                    <a:p>
                      <a:pPr>
                        <a:buNone/>
                      </a:pPr>
                      <a:r>
                        <a:rPr lang="en-IN"/>
                        <a:t>Uses pointers?</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869167601"/>
                  </a:ext>
                </a:extLst>
              </a:tr>
              <a:tr h="370840">
                <a:tc>
                  <a:txBody>
                    <a:bodyPr/>
                    <a:lstStyle/>
                    <a:p>
                      <a:pPr>
                        <a:buNone/>
                      </a:pPr>
                      <a:r>
                        <a:rPr lang="en-IN"/>
                        <a:t>Suitable for prime checking?</a:t>
                      </a:r>
                    </a:p>
                  </a:txBody>
                  <a:tcPr anchor="ctr"/>
                </a:tc>
                <a:tc>
                  <a:txBody>
                    <a:bodyPr/>
                    <a:lstStyle/>
                    <a:p>
                      <a:pPr>
                        <a:buNone/>
                      </a:pPr>
                      <a:r>
                        <a:rPr lang="en-IN" b="1"/>
                        <a:t>Yes</a:t>
                      </a:r>
                      <a:endParaRPr lang="en-IN"/>
                    </a:p>
                  </a:txBody>
                  <a:tcPr anchor="ctr"/>
                </a:tc>
                <a:tc>
                  <a:txBody>
                    <a:bodyPr/>
                    <a:lstStyle/>
                    <a:p>
                      <a:pPr>
                        <a:buNone/>
                      </a:pPr>
                      <a:r>
                        <a:rPr lang="en-IN" dirty="0"/>
                        <a:t>Possible, but unnecessary</a:t>
                      </a:r>
                    </a:p>
                  </a:txBody>
                  <a:tcPr anchor="ctr"/>
                </a:tc>
                <a:extLst>
                  <a:ext uri="{0D108BD9-81ED-4DB2-BD59-A6C34878D82A}">
                    <a16:rowId xmlns:a16="http://schemas.microsoft.com/office/drawing/2014/main" val="2220884344"/>
                  </a:ext>
                </a:extLst>
              </a:tr>
            </a:tbl>
          </a:graphicData>
        </a:graphic>
      </p:graphicFrame>
    </p:spTree>
    <p:extLst>
      <p:ext uri="{BB962C8B-B14F-4D97-AF65-F5344CB8AC3E}">
        <p14:creationId xmlns:p14="http://schemas.microsoft.com/office/powerpoint/2010/main" val="1688964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9479-9E79-F8DD-6535-B2CE2833B814}"/>
              </a:ext>
            </a:extLst>
          </p:cNvPr>
          <p:cNvSpPr>
            <a:spLocks noGrp="1"/>
          </p:cNvSpPr>
          <p:nvPr>
            <p:ph type="title"/>
          </p:nvPr>
        </p:nvSpPr>
        <p:spPr/>
        <p:txBody>
          <a:bodyPr/>
          <a:lstStyle/>
          <a:p>
            <a:r>
              <a:rPr lang="en-IN" dirty="0"/>
              <a:t>Guided Question:</a:t>
            </a:r>
          </a:p>
        </p:txBody>
      </p:sp>
      <p:sp>
        <p:nvSpPr>
          <p:cNvPr id="3" name="Content Placeholder 2">
            <a:extLst>
              <a:ext uri="{FF2B5EF4-FFF2-40B4-BE49-F238E27FC236}">
                <a16:creationId xmlns:a16="http://schemas.microsoft.com/office/drawing/2014/main" id="{BD431650-E3CE-690A-D4AD-9B8838C4757D}"/>
              </a:ext>
            </a:extLst>
          </p:cNvPr>
          <p:cNvSpPr>
            <a:spLocks noGrp="1"/>
          </p:cNvSpPr>
          <p:nvPr>
            <p:ph idx="1"/>
          </p:nvPr>
        </p:nvSpPr>
        <p:spPr/>
        <p:txBody>
          <a:bodyPr numCol="2">
            <a:normAutofit lnSpcReduction="10000"/>
          </a:bodyPr>
          <a:lstStyle/>
          <a:p>
            <a:pPr marL="0" indent="0">
              <a:buNone/>
            </a:pPr>
            <a:r>
              <a:rPr lang="en-IN" b="1" dirty="0"/>
              <a:t>Question</a:t>
            </a:r>
          </a:p>
          <a:p>
            <a:pPr marL="0" indent="0">
              <a:buNone/>
            </a:pPr>
            <a:r>
              <a:rPr lang="en-IN" dirty="0"/>
              <a:t>Complete the following helper function:</a:t>
            </a:r>
          </a:p>
          <a:p>
            <a:pPr marL="0" indent="0">
              <a:buNone/>
            </a:pPr>
            <a:r>
              <a:rPr lang="en-IN" dirty="0"/>
              <a:t>int </a:t>
            </a:r>
            <a:r>
              <a:rPr lang="en-IN" dirty="0" err="1"/>
              <a:t>isPrime</a:t>
            </a:r>
            <a:r>
              <a:rPr lang="en-IN" dirty="0"/>
              <a:t>(int n)</a:t>
            </a:r>
          </a:p>
          <a:p>
            <a:pPr marL="0" indent="0">
              <a:buNone/>
            </a:pPr>
            <a:r>
              <a:rPr lang="en-IN" dirty="0"/>
              <a:t>{</a:t>
            </a:r>
          </a:p>
          <a:p>
            <a:pPr marL="0" indent="0">
              <a:buNone/>
            </a:pPr>
            <a:r>
              <a:rPr lang="en-IN" dirty="0"/>
              <a:t>    int </a:t>
            </a:r>
            <a:r>
              <a:rPr lang="en-IN" dirty="0" err="1"/>
              <a:t>i</a:t>
            </a:r>
            <a:r>
              <a:rPr lang="en-IN" dirty="0"/>
              <a:t>;</a:t>
            </a:r>
          </a:p>
          <a:p>
            <a:pPr marL="0" indent="0">
              <a:buNone/>
            </a:pPr>
            <a:endParaRPr lang="en-IN" dirty="0"/>
          </a:p>
          <a:p>
            <a:pPr marL="0" indent="0">
              <a:buNone/>
            </a:pPr>
            <a:r>
              <a:rPr lang="en-IN" dirty="0"/>
              <a:t>    if (________________)</a:t>
            </a:r>
          </a:p>
          <a:p>
            <a:pPr marL="0" indent="0">
              <a:buNone/>
            </a:pPr>
            <a:r>
              <a:rPr lang="en-IN" dirty="0"/>
              <a:t>        return 0;</a:t>
            </a:r>
          </a:p>
          <a:p>
            <a:pPr marL="0" indent="0">
              <a:buNone/>
            </a:pPr>
            <a:endParaRPr lang="en-IN" dirty="0"/>
          </a:p>
          <a:p>
            <a:pPr marL="0" indent="0">
              <a:buNone/>
            </a:pPr>
            <a:r>
              <a:rPr lang="en-IN" dirty="0"/>
              <a:t>    for (</a:t>
            </a:r>
            <a:r>
              <a:rPr lang="en-IN" dirty="0" err="1"/>
              <a:t>i</a:t>
            </a:r>
            <a:r>
              <a:rPr lang="en-IN" dirty="0"/>
              <a:t> = 2; </a:t>
            </a:r>
            <a:r>
              <a:rPr lang="en-IN" dirty="0" err="1"/>
              <a:t>i</a:t>
            </a:r>
            <a:r>
              <a:rPr lang="en-IN" dirty="0"/>
              <a:t> &lt;= ____________; </a:t>
            </a:r>
            <a:r>
              <a:rPr lang="en-IN" dirty="0" err="1"/>
              <a:t>i</a:t>
            </a:r>
            <a:r>
              <a:rPr lang="en-IN" dirty="0"/>
              <a:t>++)</a:t>
            </a:r>
          </a:p>
          <a:p>
            <a:pPr marL="0" indent="0">
              <a:buNone/>
            </a:pPr>
            <a:r>
              <a:rPr lang="en-IN" dirty="0"/>
              <a:t>    {</a:t>
            </a:r>
          </a:p>
          <a:p>
            <a:pPr marL="0" indent="0">
              <a:buNone/>
            </a:pPr>
            <a:r>
              <a:rPr lang="en-IN" dirty="0"/>
              <a:t>        if (________________)</a:t>
            </a:r>
          </a:p>
          <a:p>
            <a:pPr marL="0" indent="0">
              <a:buNone/>
            </a:pPr>
            <a:r>
              <a:rPr lang="en-IN" dirty="0"/>
              <a:t>            return 0;</a:t>
            </a:r>
          </a:p>
          <a:p>
            <a:pPr marL="0" indent="0">
              <a:buNone/>
            </a:pPr>
            <a:r>
              <a:rPr lang="en-IN" dirty="0"/>
              <a:t>    }</a:t>
            </a:r>
          </a:p>
          <a:p>
            <a:pPr marL="0" indent="0">
              <a:buNone/>
            </a:pPr>
            <a:endParaRPr lang="en-IN" dirty="0"/>
          </a:p>
          <a:p>
            <a:pPr marL="0" indent="0">
              <a:buNone/>
            </a:pPr>
            <a:r>
              <a:rPr lang="en-IN" dirty="0"/>
              <a:t>    return ______;</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90837366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DD009-D497-527A-1C11-D6F61C5F0F39}"/>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A703633B-E420-62F6-195B-F883B724D2EF}"/>
              </a:ext>
            </a:extLst>
          </p:cNvPr>
          <p:cNvSpPr>
            <a:spLocks noGrp="1"/>
          </p:cNvSpPr>
          <p:nvPr>
            <p:ph idx="1"/>
          </p:nvPr>
        </p:nvSpPr>
        <p:spPr/>
        <p:txBody>
          <a:bodyPr numCol="2">
            <a:normAutofit/>
          </a:bodyPr>
          <a:lstStyle/>
          <a:p>
            <a:pPr marL="0" indent="0">
              <a:buNone/>
            </a:pPr>
            <a:r>
              <a:rPr lang="en-US" dirty="0"/>
              <a:t>int </a:t>
            </a:r>
            <a:r>
              <a:rPr lang="en-US" dirty="0" err="1"/>
              <a:t>isPrime</a:t>
            </a:r>
            <a:r>
              <a:rPr lang="en-US" dirty="0"/>
              <a:t>(int n)</a:t>
            </a:r>
          </a:p>
          <a:p>
            <a:pPr marL="0" indent="0">
              <a:buNone/>
            </a:pPr>
            <a:r>
              <a:rPr lang="en-US" dirty="0"/>
              <a:t>{</a:t>
            </a:r>
          </a:p>
          <a:p>
            <a:pPr marL="0" indent="0">
              <a:buNone/>
            </a:pPr>
            <a:r>
              <a:rPr lang="en-US" dirty="0"/>
              <a:t>    int </a:t>
            </a:r>
            <a:r>
              <a:rPr lang="en-US" dirty="0" err="1"/>
              <a:t>i</a:t>
            </a:r>
            <a:r>
              <a:rPr lang="en-US" dirty="0"/>
              <a:t>;</a:t>
            </a:r>
          </a:p>
          <a:p>
            <a:pPr marL="0" indent="0">
              <a:buNone/>
            </a:pPr>
            <a:endParaRPr lang="en-US" dirty="0"/>
          </a:p>
          <a:p>
            <a:pPr marL="0" indent="0">
              <a:buNone/>
            </a:pPr>
            <a:r>
              <a:rPr lang="en-US" dirty="0"/>
              <a:t>    if (n &lt; 2)</a:t>
            </a:r>
          </a:p>
          <a:p>
            <a:pPr marL="0" indent="0">
              <a:buNone/>
            </a:pPr>
            <a:r>
              <a:rPr lang="en-US" dirty="0"/>
              <a:t>        return 0;</a:t>
            </a:r>
          </a:p>
          <a:p>
            <a:pPr marL="0" indent="0">
              <a:buNone/>
            </a:pPr>
            <a:endParaRPr lang="en-US" dirty="0"/>
          </a:p>
          <a:p>
            <a:pPr marL="0" indent="0">
              <a:buNone/>
            </a:pPr>
            <a:endParaRPr lang="en-US" dirty="0"/>
          </a:p>
          <a:p>
            <a:pPr marL="0" indent="0">
              <a:buNone/>
            </a:pPr>
            <a:r>
              <a:rPr lang="en-US" dirty="0"/>
              <a:t>    for (</a:t>
            </a:r>
            <a:r>
              <a:rPr lang="en-US" dirty="0" err="1"/>
              <a:t>i</a:t>
            </a:r>
            <a:r>
              <a:rPr lang="en-US" dirty="0"/>
              <a:t> = 2; </a:t>
            </a:r>
            <a:r>
              <a:rPr lang="en-US" dirty="0" err="1"/>
              <a:t>i</a:t>
            </a:r>
            <a:r>
              <a:rPr lang="en-US" dirty="0"/>
              <a:t> &lt;= n / 2; </a:t>
            </a:r>
            <a:r>
              <a:rPr lang="en-US" dirty="0" err="1"/>
              <a:t>i</a:t>
            </a:r>
            <a:r>
              <a:rPr lang="en-US" dirty="0"/>
              <a:t>++)</a:t>
            </a:r>
          </a:p>
          <a:p>
            <a:pPr marL="0" indent="0">
              <a:buNone/>
            </a:pPr>
            <a:r>
              <a:rPr lang="en-US" dirty="0"/>
              <a:t>    {</a:t>
            </a:r>
          </a:p>
          <a:p>
            <a:pPr marL="0" indent="0">
              <a:buNone/>
            </a:pPr>
            <a:r>
              <a:rPr lang="en-US" dirty="0"/>
              <a:t>        if (n % </a:t>
            </a:r>
            <a:r>
              <a:rPr lang="en-US" dirty="0" err="1"/>
              <a:t>i</a:t>
            </a:r>
            <a:r>
              <a:rPr lang="en-US" dirty="0"/>
              <a:t> == 0)</a:t>
            </a:r>
          </a:p>
          <a:p>
            <a:pPr marL="0" indent="0">
              <a:buNone/>
            </a:pPr>
            <a:r>
              <a:rPr lang="en-US" dirty="0"/>
              <a:t>            return 0;</a:t>
            </a:r>
          </a:p>
          <a:p>
            <a:pPr marL="0" indent="0">
              <a:buNone/>
            </a:pPr>
            <a:r>
              <a:rPr lang="en-US" dirty="0"/>
              <a:t>    }</a:t>
            </a:r>
          </a:p>
          <a:p>
            <a:pPr marL="0" indent="0">
              <a:buNone/>
            </a:pPr>
            <a:endParaRPr lang="en-US" dirty="0"/>
          </a:p>
          <a:p>
            <a:pPr marL="0" indent="0">
              <a:buNone/>
            </a:pPr>
            <a:r>
              <a:rPr lang="en-US" dirty="0"/>
              <a:t>    return 1;</a:t>
            </a:r>
          </a:p>
          <a:p>
            <a:pPr marL="0" indent="0">
              <a:buNone/>
            </a:pPr>
            <a:r>
              <a:rPr lang="en-US" dirty="0"/>
              <a:t>}</a:t>
            </a:r>
            <a:endParaRPr lang="en-IN" dirty="0"/>
          </a:p>
        </p:txBody>
      </p:sp>
    </p:spTree>
    <p:extLst>
      <p:ext uri="{BB962C8B-B14F-4D97-AF65-F5344CB8AC3E}">
        <p14:creationId xmlns:p14="http://schemas.microsoft.com/office/powerpoint/2010/main" val="151438785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ADE1-D03A-14D3-E3FF-A1B3F37B3BB7}"/>
              </a:ext>
            </a:extLst>
          </p:cNvPr>
          <p:cNvSpPr>
            <a:spLocks noGrp="1"/>
          </p:cNvSpPr>
          <p:nvPr>
            <p:ph type="title"/>
          </p:nvPr>
        </p:nvSpPr>
        <p:spPr/>
        <p:txBody>
          <a:bodyPr>
            <a:normAutofit fontScale="90000"/>
          </a:bodyPr>
          <a:lstStyle/>
          <a:p>
            <a:r>
              <a:rPr lang="en-IN" dirty="0"/>
              <a:t>Modify the program so that the helper function receives the address of the number using a pointer.</a:t>
            </a:r>
          </a:p>
        </p:txBody>
      </p:sp>
      <p:sp>
        <p:nvSpPr>
          <p:cNvPr id="3" name="Content Placeholder 2">
            <a:extLst>
              <a:ext uri="{FF2B5EF4-FFF2-40B4-BE49-F238E27FC236}">
                <a16:creationId xmlns:a16="http://schemas.microsoft.com/office/drawing/2014/main" id="{D3A64650-9059-F11F-5746-54352AD5ED6B}"/>
              </a:ext>
            </a:extLst>
          </p:cNvPr>
          <p:cNvSpPr>
            <a:spLocks noGrp="1"/>
          </p:cNvSpPr>
          <p:nvPr>
            <p:ph idx="1"/>
          </p:nvPr>
        </p:nvSpPr>
        <p:spPr/>
        <p:txBody>
          <a:bodyPr numCol="2">
            <a:normAutofit/>
          </a:bodyPr>
          <a:lstStyle/>
          <a:p>
            <a:pPr marL="0" indent="0">
              <a:buNone/>
            </a:pPr>
            <a:r>
              <a:rPr lang="en-US" sz="1600" dirty="0"/>
              <a:t>int </a:t>
            </a:r>
            <a:r>
              <a:rPr lang="en-US" sz="1600" dirty="0" err="1"/>
              <a:t>isPrime</a:t>
            </a:r>
            <a:r>
              <a:rPr lang="en-US" sz="1600" dirty="0"/>
              <a:t>(int *n)</a:t>
            </a:r>
          </a:p>
          <a:p>
            <a:pPr marL="0" indent="0">
              <a:buNone/>
            </a:pPr>
            <a:r>
              <a:rPr lang="en-US" sz="1600" dirty="0"/>
              <a:t>{</a:t>
            </a:r>
          </a:p>
          <a:p>
            <a:pPr marL="0" indent="0">
              <a:buNone/>
            </a:pPr>
            <a:r>
              <a:rPr lang="en-US" sz="1600" dirty="0"/>
              <a:t>    int </a:t>
            </a:r>
            <a:r>
              <a:rPr lang="en-US" sz="1600" dirty="0" err="1"/>
              <a:t>i</a:t>
            </a:r>
            <a:r>
              <a:rPr lang="en-US" sz="1600" dirty="0"/>
              <a:t>;</a:t>
            </a:r>
          </a:p>
          <a:p>
            <a:pPr marL="0" indent="0">
              <a:buNone/>
            </a:pPr>
            <a:r>
              <a:rPr lang="en-US" sz="1600" dirty="0"/>
              <a:t>    if (*n &lt; 2)</a:t>
            </a:r>
          </a:p>
          <a:p>
            <a:pPr marL="0" indent="0">
              <a:buNone/>
            </a:pPr>
            <a:r>
              <a:rPr lang="en-US" sz="1600" dirty="0"/>
              <a:t>        return 0;</a:t>
            </a:r>
          </a:p>
          <a:p>
            <a:pPr marL="0" indent="0">
              <a:buNone/>
            </a:pPr>
            <a:r>
              <a:rPr lang="en-US" sz="1600" dirty="0"/>
              <a:t>    for (</a:t>
            </a:r>
            <a:r>
              <a:rPr lang="en-US" sz="1600" dirty="0" err="1"/>
              <a:t>i</a:t>
            </a:r>
            <a:r>
              <a:rPr lang="en-US" sz="1600" dirty="0"/>
              <a:t> = 2; </a:t>
            </a:r>
            <a:r>
              <a:rPr lang="en-US" sz="1600" dirty="0" err="1"/>
              <a:t>i</a:t>
            </a:r>
            <a:r>
              <a:rPr lang="en-US" sz="1600" dirty="0"/>
              <a:t> &lt;= (*n) / 2; </a:t>
            </a:r>
            <a:r>
              <a:rPr lang="en-US" sz="1600" dirty="0" err="1"/>
              <a:t>i</a:t>
            </a:r>
            <a:r>
              <a:rPr lang="en-US" sz="1600" dirty="0"/>
              <a:t>++)</a:t>
            </a:r>
          </a:p>
          <a:p>
            <a:pPr marL="0" indent="0">
              <a:buNone/>
            </a:pPr>
            <a:r>
              <a:rPr lang="en-US" sz="1600" dirty="0"/>
              <a:t>    {</a:t>
            </a:r>
          </a:p>
          <a:p>
            <a:pPr marL="0" indent="0">
              <a:buNone/>
            </a:pPr>
            <a:r>
              <a:rPr lang="en-US" sz="1600" dirty="0"/>
              <a:t>        if ((*n) % </a:t>
            </a:r>
            <a:r>
              <a:rPr lang="en-US" sz="1600" dirty="0" err="1"/>
              <a:t>i</a:t>
            </a:r>
            <a:r>
              <a:rPr lang="en-US" sz="1600" dirty="0"/>
              <a:t> == 0)</a:t>
            </a:r>
          </a:p>
          <a:p>
            <a:pPr marL="0" indent="0">
              <a:buNone/>
            </a:pPr>
            <a:r>
              <a:rPr lang="en-US" sz="1600" dirty="0"/>
              <a:t>            return 0;</a:t>
            </a:r>
          </a:p>
          <a:p>
            <a:pPr marL="0" indent="0">
              <a:buNone/>
            </a:pPr>
            <a:r>
              <a:rPr lang="en-US" sz="1600" dirty="0"/>
              <a:t>    }</a:t>
            </a:r>
          </a:p>
          <a:p>
            <a:pPr marL="0" indent="0">
              <a:buNone/>
            </a:pPr>
            <a:r>
              <a:rPr lang="en-US" sz="1600" dirty="0"/>
              <a:t>    return 1;</a:t>
            </a:r>
          </a:p>
          <a:p>
            <a:pPr marL="0" indent="0">
              <a:buNone/>
            </a:pPr>
            <a:r>
              <a:rPr lang="en-US" sz="1600" dirty="0"/>
              <a:t>}</a:t>
            </a:r>
          </a:p>
          <a:p>
            <a:pPr marL="0" indent="0">
              <a:buNone/>
            </a:pPr>
            <a:r>
              <a:rPr lang="en-IN" sz="1600" b="1" dirty="0"/>
              <a:t>Function call:</a:t>
            </a:r>
          </a:p>
          <a:p>
            <a:pPr marL="0" indent="0">
              <a:buNone/>
            </a:pPr>
            <a:r>
              <a:rPr lang="en-IN" sz="1600" dirty="0"/>
              <a:t>if (</a:t>
            </a:r>
            <a:r>
              <a:rPr lang="en-IN" sz="1600" dirty="0" err="1"/>
              <a:t>isPrime</a:t>
            </a:r>
            <a:r>
              <a:rPr lang="en-IN" sz="1600" dirty="0"/>
              <a:t>(&amp;</a:t>
            </a:r>
            <a:r>
              <a:rPr lang="en-IN" sz="1600" dirty="0" err="1"/>
              <a:t>num</a:t>
            </a:r>
            <a:r>
              <a:rPr lang="en-IN" sz="1600" dirty="0"/>
              <a:t>))</a:t>
            </a:r>
          </a:p>
          <a:p>
            <a:pPr marL="0" indent="0">
              <a:buNone/>
            </a:pPr>
            <a:r>
              <a:rPr lang="en-IN" sz="1600" dirty="0"/>
              <a:t>    </a:t>
            </a:r>
            <a:r>
              <a:rPr lang="en-IN" sz="1600" dirty="0" err="1"/>
              <a:t>printf</a:t>
            </a:r>
            <a:r>
              <a:rPr lang="en-IN" sz="1600" dirty="0"/>
              <a:t>("Prime");</a:t>
            </a:r>
          </a:p>
          <a:p>
            <a:pPr marL="0" indent="0">
              <a:buNone/>
            </a:pPr>
            <a:r>
              <a:rPr lang="en-IN" sz="1600" dirty="0"/>
              <a:t>else</a:t>
            </a:r>
          </a:p>
          <a:p>
            <a:pPr marL="0" indent="0">
              <a:buNone/>
            </a:pPr>
            <a:r>
              <a:rPr lang="en-IN" sz="1600" dirty="0"/>
              <a:t>    </a:t>
            </a:r>
            <a:r>
              <a:rPr lang="en-IN" sz="1600" dirty="0" err="1"/>
              <a:t>printf</a:t>
            </a:r>
            <a:r>
              <a:rPr lang="en-IN" sz="1600" dirty="0"/>
              <a:t>("Not Prime");</a:t>
            </a:r>
          </a:p>
          <a:p>
            <a:pPr marL="0" indent="0">
              <a:buNone/>
            </a:pPr>
            <a:endParaRPr lang="en-IN" sz="1600" dirty="0"/>
          </a:p>
        </p:txBody>
      </p:sp>
    </p:spTree>
    <p:extLst>
      <p:ext uri="{BB962C8B-B14F-4D97-AF65-F5344CB8AC3E}">
        <p14:creationId xmlns:p14="http://schemas.microsoft.com/office/powerpoint/2010/main" val="34271115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7CE0-9387-2D6A-4F77-D4E6759E9857}"/>
              </a:ext>
            </a:extLst>
          </p:cNvPr>
          <p:cNvSpPr>
            <a:spLocks noGrp="1"/>
          </p:cNvSpPr>
          <p:nvPr>
            <p:ph type="title"/>
          </p:nvPr>
        </p:nvSpPr>
        <p:spPr/>
        <p:txBody>
          <a:bodyPr/>
          <a:lstStyle/>
          <a:p>
            <a:r>
              <a:rPr lang="en-IN" dirty="0"/>
              <a:t>where pass by reference is useful</a:t>
            </a:r>
          </a:p>
        </p:txBody>
      </p:sp>
      <p:sp>
        <p:nvSpPr>
          <p:cNvPr id="3" name="Content Placeholder 2">
            <a:extLst>
              <a:ext uri="{FF2B5EF4-FFF2-40B4-BE49-F238E27FC236}">
                <a16:creationId xmlns:a16="http://schemas.microsoft.com/office/drawing/2014/main" id="{1C9CC668-4261-1563-420C-2C12ECCE1918}"/>
              </a:ext>
            </a:extLst>
          </p:cNvPr>
          <p:cNvSpPr>
            <a:spLocks noGrp="1"/>
          </p:cNvSpPr>
          <p:nvPr>
            <p:ph idx="1"/>
          </p:nvPr>
        </p:nvSpPr>
        <p:spPr>
          <a:xfrm>
            <a:off x="952500" y="2285997"/>
            <a:ext cx="5035345" cy="3890965"/>
          </a:xfrm>
        </p:spPr>
        <p:txBody>
          <a:bodyPr>
            <a:normAutofit fontScale="92500" lnSpcReduction="20000"/>
          </a:bodyPr>
          <a:lstStyle/>
          <a:p>
            <a:pPr marL="0" indent="0">
              <a:buNone/>
            </a:pPr>
            <a:r>
              <a:rPr lang="en-US" dirty="0"/>
              <a:t>void swap(int *a, int *b)</a:t>
            </a:r>
          </a:p>
          <a:p>
            <a:pPr marL="0" indent="0">
              <a:buNone/>
            </a:pPr>
            <a:r>
              <a:rPr lang="en-US" dirty="0"/>
              <a:t>{</a:t>
            </a:r>
          </a:p>
          <a:p>
            <a:pPr marL="0" indent="0">
              <a:buNone/>
            </a:pPr>
            <a:r>
              <a:rPr lang="en-US" dirty="0"/>
              <a:t>    int temp;</a:t>
            </a:r>
          </a:p>
          <a:p>
            <a:pPr marL="0" indent="0">
              <a:buNone/>
            </a:pPr>
            <a:endParaRPr lang="en-US" dirty="0"/>
          </a:p>
          <a:p>
            <a:pPr marL="0" indent="0">
              <a:buNone/>
            </a:pPr>
            <a:r>
              <a:rPr lang="en-US" dirty="0"/>
              <a:t>    temp = *a;</a:t>
            </a:r>
          </a:p>
          <a:p>
            <a:pPr marL="0" indent="0">
              <a:buNone/>
            </a:pPr>
            <a:r>
              <a:rPr lang="en-US" dirty="0"/>
              <a:t>    *a = *b;</a:t>
            </a:r>
          </a:p>
          <a:p>
            <a:pPr marL="0" indent="0">
              <a:buNone/>
            </a:pPr>
            <a:r>
              <a:rPr lang="en-US" dirty="0"/>
              <a:t>    *b = temp;</a:t>
            </a:r>
          </a:p>
          <a:p>
            <a:pPr marL="0" indent="0">
              <a:buNone/>
            </a:pPr>
            <a:r>
              <a:rPr lang="en-US" dirty="0"/>
              <a:t>}</a:t>
            </a:r>
          </a:p>
          <a:p>
            <a:pPr marL="0" indent="0">
              <a:buNone/>
            </a:pPr>
            <a:r>
              <a:rPr lang="en-IN" dirty="0"/>
              <a:t>Here pointers are necessary because the function must modify the original variables.</a:t>
            </a:r>
          </a:p>
        </p:txBody>
      </p:sp>
      <p:sp>
        <p:nvSpPr>
          <p:cNvPr id="5" name="TextBox 4">
            <a:extLst>
              <a:ext uri="{FF2B5EF4-FFF2-40B4-BE49-F238E27FC236}">
                <a16:creationId xmlns:a16="http://schemas.microsoft.com/office/drawing/2014/main" id="{7E58ACF5-BC39-3045-D286-69025CE6D797}"/>
              </a:ext>
            </a:extLst>
          </p:cNvPr>
          <p:cNvSpPr txBox="1"/>
          <p:nvPr/>
        </p:nvSpPr>
        <p:spPr>
          <a:xfrm>
            <a:off x="6908146" y="2736463"/>
            <a:ext cx="4560200" cy="2585323"/>
          </a:xfrm>
          <a:prstGeom prst="rect">
            <a:avLst/>
          </a:prstGeom>
          <a:noFill/>
        </p:spPr>
        <p:txBody>
          <a:bodyPr wrap="square">
            <a:spAutoFit/>
          </a:bodyPr>
          <a:lstStyle/>
          <a:p>
            <a:pPr>
              <a:buNone/>
            </a:pPr>
            <a:r>
              <a:rPr lang="en-IN" b="1" dirty="0"/>
              <a:t>Simple rule for students</a:t>
            </a:r>
          </a:p>
          <a:p>
            <a:pPr rtl="0">
              <a:buNone/>
            </a:pPr>
            <a:endParaRPr lang="en-IN" dirty="0">
              <a:latin typeface="+mn-lt"/>
            </a:endParaRPr>
          </a:p>
          <a:p>
            <a:pPr rtl="0">
              <a:buNone/>
            </a:pPr>
            <a:r>
              <a:rPr lang="en-IN" dirty="0">
                <a:latin typeface="+mn-lt"/>
              </a:rPr>
              <a:t>Need only the value?</a:t>
            </a:r>
          </a:p>
          <a:p>
            <a:pPr rtl="0">
              <a:buNone/>
            </a:pPr>
            <a:r>
              <a:rPr lang="en-IN" dirty="0">
                <a:latin typeface="+mn-lt"/>
              </a:rPr>
              <a:t>        	↓</a:t>
            </a:r>
          </a:p>
          <a:p>
            <a:pPr rtl="0">
              <a:buNone/>
            </a:pPr>
            <a:r>
              <a:rPr lang="en-IN" dirty="0">
                <a:latin typeface="+mn-lt"/>
              </a:rPr>
              <a:t>   </a:t>
            </a:r>
            <a:r>
              <a:rPr lang="en-IN" dirty="0">
                <a:solidFill>
                  <a:schemeClr val="accent4">
                    <a:lumMod val="75000"/>
                  </a:schemeClr>
                </a:solidFill>
                <a:latin typeface="+mn-lt"/>
              </a:rPr>
              <a:t>Pass by Value</a:t>
            </a:r>
          </a:p>
          <a:p>
            <a:pPr rtl="0">
              <a:buNone/>
            </a:pPr>
            <a:endParaRPr lang="en-IN" dirty="0">
              <a:latin typeface="+mn-lt"/>
            </a:endParaRPr>
          </a:p>
          <a:p>
            <a:pPr rtl="0">
              <a:buNone/>
            </a:pPr>
            <a:r>
              <a:rPr lang="en-IN" dirty="0">
                <a:latin typeface="+mn-lt"/>
              </a:rPr>
              <a:t>Need to modify original?</a:t>
            </a:r>
          </a:p>
          <a:p>
            <a:pPr rtl="0">
              <a:buNone/>
            </a:pPr>
            <a:r>
              <a:rPr lang="en-IN" dirty="0">
                <a:latin typeface="+mn-lt"/>
              </a:rPr>
              <a:t>        	↓</a:t>
            </a:r>
          </a:p>
          <a:p>
            <a:pPr rtl="0">
              <a:buNone/>
            </a:pPr>
            <a:r>
              <a:rPr lang="en-IN" dirty="0">
                <a:solidFill>
                  <a:schemeClr val="accent4">
                    <a:lumMod val="75000"/>
                  </a:schemeClr>
                </a:solidFill>
                <a:latin typeface="+mn-lt"/>
              </a:rPr>
              <a:t>Use Pointer / Reference-like Passing</a:t>
            </a:r>
            <a:endParaRPr lang="en-IN" dirty="0">
              <a:solidFill>
                <a:schemeClr val="accent4">
                  <a:lumMod val="75000"/>
                </a:schemeClr>
              </a:solidFill>
              <a:latin typeface="Courier New" panose="02070309020205020404" pitchFamily="49" charset="0"/>
            </a:endParaRPr>
          </a:p>
        </p:txBody>
      </p:sp>
    </p:spTree>
    <p:extLst>
      <p:ext uri="{BB962C8B-B14F-4D97-AF65-F5344CB8AC3E}">
        <p14:creationId xmlns:p14="http://schemas.microsoft.com/office/powerpoint/2010/main" val="30341140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201431638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925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8</a:t>
            </a:r>
          </a:p>
          <a:p>
            <a:r>
              <a:rPr lang="en-IN" b="1" dirty="0">
                <a:latin typeface="Times New Roman" panose="02020603050405020304" pitchFamily="18" charset="0"/>
                <a:cs typeface="Times New Roman" panose="02020603050405020304" pitchFamily="18" charset="0"/>
              </a:rPr>
              <a:t>SLO  :At the end of this session the learners will be able to Implement a modular programs </a:t>
            </a:r>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938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pPr lvl="0"/>
            <a:r>
              <a:rPr lang="en-IN" b="1" dirty="0"/>
              <a:t>Design</a:t>
            </a:r>
            <a:r>
              <a:rPr lang="en-IN" dirty="0"/>
              <a:t> appropriate helper functions for solving different subtasks of a programming problem. </a:t>
            </a:r>
          </a:p>
          <a:p>
            <a:pPr lvl="0"/>
            <a:r>
              <a:rPr lang="en-IN" b="1" dirty="0"/>
              <a:t>Implement</a:t>
            </a:r>
            <a:r>
              <a:rPr lang="en-IN" dirty="0"/>
              <a:t> functions with parameters and return values in C. </a:t>
            </a:r>
          </a:p>
          <a:p>
            <a:pPr lvl="0"/>
            <a:r>
              <a:rPr lang="en-IN" b="1" dirty="0"/>
              <a:t>Apply</a:t>
            </a:r>
            <a:r>
              <a:rPr lang="en-IN" dirty="0"/>
              <a:t> modular programming to calculate student marks, average, and grade. </a:t>
            </a:r>
          </a:p>
          <a:p>
            <a:pPr lvl="0"/>
            <a:r>
              <a:rPr lang="en-IN" b="1" dirty="0"/>
              <a:t>Apply</a:t>
            </a:r>
            <a:r>
              <a:rPr lang="en-IN" dirty="0"/>
              <a:t> helper functions to perform different temperature conversions. </a:t>
            </a:r>
          </a:p>
          <a:p>
            <a:pPr lvl="0"/>
            <a:r>
              <a:rPr lang="en-IN" b="1" dirty="0"/>
              <a:t>Select</a:t>
            </a:r>
            <a:r>
              <a:rPr lang="en-IN" dirty="0"/>
              <a:t> suitable return types such as int, float, and char based on the required output. </a:t>
            </a:r>
          </a:p>
          <a:p>
            <a:pPr lvl="0"/>
            <a:r>
              <a:rPr lang="en-IN" b="1" dirty="0"/>
              <a:t>Combine</a:t>
            </a:r>
            <a:r>
              <a:rPr lang="en-IN" dirty="0"/>
              <a:t> multiple helper functions to develop a clear and reusable C program.</a:t>
            </a:r>
          </a:p>
          <a:p>
            <a:endParaRPr lang="en-IN" dirty="0"/>
          </a:p>
        </p:txBody>
      </p:sp>
    </p:spTree>
    <p:extLst>
      <p:ext uri="{BB962C8B-B14F-4D97-AF65-F5344CB8AC3E}">
        <p14:creationId xmlns:p14="http://schemas.microsoft.com/office/powerpoint/2010/main" val="140176704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E480-9AEF-D3CF-FD31-FCDFC4A20FFF}"/>
              </a:ext>
            </a:extLst>
          </p:cNvPr>
          <p:cNvSpPr>
            <a:spLocks noGrp="1"/>
          </p:cNvSpPr>
          <p:nvPr>
            <p:ph type="title"/>
          </p:nvPr>
        </p:nvSpPr>
        <p:spPr/>
        <p:txBody>
          <a:bodyPr/>
          <a:lstStyle/>
          <a:p>
            <a:r>
              <a:rPr lang="en-IN" dirty="0"/>
              <a:t>Practice 1: Student Marks Analysis</a:t>
            </a:r>
          </a:p>
        </p:txBody>
      </p:sp>
      <p:sp>
        <p:nvSpPr>
          <p:cNvPr id="3" name="Content Placeholder 2">
            <a:extLst>
              <a:ext uri="{FF2B5EF4-FFF2-40B4-BE49-F238E27FC236}">
                <a16:creationId xmlns:a16="http://schemas.microsoft.com/office/drawing/2014/main" id="{DD459200-8D4F-59B1-0752-B3F34A6421AB}"/>
              </a:ext>
            </a:extLst>
          </p:cNvPr>
          <p:cNvSpPr>
            <a:spLocks noGrp="1"/>
          </p:cNvSpPr>
          <p:nvPr>
            <p:ph idx="1"/>
          </p:nvPr>
        </p:nvSpPr>
        <p:spPr/>
        <p:txBody>
          <a:bodyPr/>
          <a:lstStyle/>
          <a:p>
            <a:pPr marL="0" indent="0">
              <a:buNone/>
            </a:pPr>
            <a:r>
              <a:rPr lang="en-IN" b="1" dirty="0"/>
              <a:t>Problem Statement</a:t>
            </a:r>
          </a:p>
          <a:p>
            <a:pPr marL="0" indent="0">
              <a:buNone/>
            </a:pPr>
            <a:r>
              <a:rPr lang="en-IN" dirty="0"/>
              <a:t>Implement a modular C program to calculate the </a:t>
            </a:r>
            <a:r>
              <a:rPr lang="en-IN" b="1" dirty="0"/>
              <a:t>total marks, average marks, and grade</a:t>
            </a:r>
            <a:r>
              <a:rPr lang="en-IN" dirty="0"/>
              <a:t> of a student.</a:t>
            </a:r>
          </a:p>
          <a:p>
            <a:pPr marL="0" indent="0">
              <a:buNone/>
            </a:pPr>
            <a:r>
              <a:rPr lang="en-IN" dirty="0"/>
              <a:t>Use separate helper functions:</a:t>
            </a:r>
          </a:p>
          <a:p>
            <a:pPr marL="0" indent="0">
              <a:buNone/>
            </a:pPr>
            <a:r>
              <a:rPr lang="en-IN" dirty="0"/>
              <a:t>	</a:t>
            </a:r>
            <a:r>
              <a:rPr lang="en-IN" dirty="0" err="1"/>
              <a:t>calculateTotal</a:t>
            </a:r>
            <a:r>
              <a:rPr lang="en-IN" dirty="0"/>
              <a:t>() </a:t>
            </a:r>
          </a:p>
          <a:p>
            <a:pPr marL="0" indent="0">
              <a:buNone/>
            </a:pPr>
            <a:r>
              <a:rPr lang="en-IN" dirty="0"/>
              <a:t>	</a:t>
            </a:r>
            <a:r>
              <a:rPr lang="en-IN" dirty="0" err="1"/>
              <a:t>calculateAverage</a:t>
            </a:r>
            <a:r>
              <a:rPr lang="en-IN" dirty="0"/>
              <a:t>() </a:t>
            </a:r>
          </a:p>
          <a:p>
            <a:pPr marL="0" indent="0">
              <a:buNone/>
            </a:pPr>
            <a:r>
              <a:rPr lang="en-IN" dirty="0"/>
              <a:t>	</a:t>
            </a:r>
            <a:r>
              <a:rPr lang="en-IN" dirty="0" err="1"/>
              <a:t>findGrade</a:t>
            </a:r>
            <a:r>
              <a:rPr lang="en-IN" dirty="0"/>
              <a:t>()</a:t>
            </a:r>
          </a:p>
          <a:p>
            <a:pPr marL="0" indent="0">
              <a:buNone/>
            </a:pPr>
            <a:endParaRPr lang="en-IN" dirty="0"/>
          </a:p>
        </p:txBody>
      </p:sp>
    </p:spTree>
    <p:extLst>
      <p:ext uri="{BB962C8B-B14F-4D97-AF65-F5344CB8AC3E}">
        <p14:creationId xmlns:p14="http://schemas.microsoft.com/office/powerpoint/2010/main" val="31559718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C6DC-B22D-C9D0-C203-CDA875B0DE3F}"/>
              </a:ext>
            </a:extLst>
          </p:cNvPr>
          <p:cNvSpPr>
            <a:spLocks noGrp="1"/>
          </p:cNvSpPr>
          <p:nvPr>
            <p:ph type="title"/>
          </p:nvPr>
        </p:nvSpPr>
        <p:spPr/>
        <p:txBody>
          <a:bodyPr/>
          <a:lstStyle/>
          <a:p>
            <a:r>
              <a:rPr lang="en-IN" dirty="0"/>
              <a:t>Function Design</a:t>
            </a:r>
            <a:br>
              <a:rPr lang="en-IN" dirty="0"/>
            </a:br>
            <a:endParaRPr lang="en-IN" dirty="0"/>
          </a:p>
        </p:txBody>
      </p:sp>
      <p:sp>
        <p:nvSpPr>
          <p:cNvPr id="4" name="Rectangle 3">
            <a:extLst>
              <a:ext uri="{FF2B5EF4-FFF2-40B4-BE49-F238E27FC236}">
                <a16:creationId xmlns:a16="http://schemas.microsoft.com/office/drawing/2014/main" id="{EA7E544B-2B5B-2959-FB2E-C1909DEE5A56}"/>
              </a:ext>
            </a:extLst>
          </p:cNvPr>
          <p:cNvSpPr/>
          <p:nvPr/>
        </p:nvSpPr>
        <p:spPr>
          <a:xfrm>
            <a:off x="4026307" y="1957356"/>
            <a:ext cx="2719602" cy="483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calculate(m1.m2,m3)</a:t>
            </a:r>
          </a:p>
        </p:txBody>
      </p:sp>
      <p:sp>
        <p:nvSpPr>
          <p:cNvPr id="5" name="Rectangle 4">
            <a:extLst>
              <a:ext uri="{FF2B5EF4-FFF2-40B4-BE49-F238E27FC236}">
                <a16:creationId xmlns:a16="http://schemas.microsoft.com/office/drawing/2014/main" id="{1B435BB0-98D5-BDC7-5144-8EE320B646A8}"/>
              </a:ext>
            </a:extLst>
          </p:cNvPr>
          <p:cNvSpPr/>
          <p:nvPr/>
        </p:nvSpPr>
        <p:spPr>
          <a:xfrm>
            <a:off x="4465810" y="2767044"/>
            <a:ext cx="1840599"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total</a:t>
            </a:r>
          </a:p>
        </p:txBody>
      </p:sp>
      <p:sp>
        <p:nvSpPr>
          <p:cNvPr id="6" name="Rectangle 5">
            <a:extLst>
              <a:ext uri="{FF2B5EF4-FFF2-40B4-BE49-F238E27FC236}">
                <a16:creationId xmlns:a16="http://schemas.microsoft.com/office/drawing/2014/main" id="{60C267F2-EABC-C82D-99D1-8EA0521E78D2}"/>
              </a:ext>
            </a:extLst>
          </p:cNvPr>
          <p:cNvSpPr/>
          <p:nvPr/>
        </p:nvSpPr>
        <p:spPr>
          <a:xfrm>
            <a:off x="4046955" y="3550920"/>
            <a:ext cx="2678307" cy="483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calculateAverage</a:t>
            </a:r>
            <a:r>
              <a:rPr lang="en-IN" dirty="0"/>
              <a:t>(total)</a:t>
            </a:r>
          </a:p>
        </p:txBody>
      </p:sp>
      <p:sp>
        <p:nvSpPr>
          <p:cNvPr id="8" name="Rectangle 7">
            <a:extLst>
              <a:ext uri="{FF2B5EF4-FFF2-40B4-BE49-F238E27FC236}">
                <a16:creationId xmlns:a16="http://schemas.microsoft.com/office/drawing/2014/main" id="{50059FB0-7A4C-A87C-AA41-BB292F325102}"/>
              </a:ext>
            </a:extLst>
          </p:cNvPr>
          <p:cNvSpPr/>
          <p:nvPr/>
        </p:nvSpPr>
        <p:spPr>
          <a:xfrm>
            <a:off x="4465811" y="4359623"/>
            <a:ext cx="1840599"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average</a:t>
            </a:r>
          </a:p>
        </p:txBody>
      </p:sp>
      <p:sp>
        <p:nvSpPr>
          <p:cNvPr id="10" name="Rectangle 9">
            <a:extLst>
              <a:ext uri="{FF2B5EF4-FFF2-40B4-BE49-F238E27FC236}">
                <a16:creationId xmlns:a16="http://schemas.microsoft.com/office/drawing/2014/main" id="{5724CBCF-8339-BC4B-FA59-50C5E0B4BA75}"/>
              </a:ext>
            </a:extLst>
          </p:cNvPr>
          <p:cNvSpPr/>
          <p:nvPr/>
        </p:nvSpPr>
        <p:spPr>
          <a:xfrm>
            <a:off x="4046957" y="5118427"/>
            <a:ext cx="2678307" cy="483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findGrade</a:t>
            </a:r>
            <a:r>
              <a:rPr lang="en-IN" dirty="0"/>
              <a:t>(average)</a:t>
            </a:r>
          </a:p>
        </p:txBody>
      </p:sp>
      <p:sp>
        <p:nvSpPr>
          <p:cNvPr id="12" name="Rectangle 11">
            <a:extLst>
              <a:ext uri="{FF2B5EF4-FFF2-40B4-BE49-F238E27FC236}">
                <a16:creationId xmlns:a16="http://schemas.microsoft.com/office/drawing/2014/main" id="{B4811874-546D-DE12-9DA3-935DE6A48A41}"/>
              </a:ext>
            </a:extLst>
          </p:cNvPr>
          <p:cNvSpPr/>
          <p:nvPr/>
        </p:nvSpPr>
        <p:spPr>
          <a:xfrm>
            <a:off x="4465810" y="5881285"/>
            <a:ext cx="1840599"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Grade </a:t>
            </a:r>
          </a:p>
        </p:txBody>
      </p:sp>
      <p:cxnSp>
        <p:nvCxnSpPr>
          <p:cNvPr id="14" name="Straight Arrow Connector 13">
            <a:extLst>
              <a:ext uri="{FF2B5EF4-FFF2-40B4-BE49-F238E27FC236}">
                <a16:creationId xmlns:a16="http://schemas.microsoft.com/office/drawing/2014/main" id="{988F54CA-4ACC-DC37-BE5E-18ECF96FCBEB}"/>
              </a:ext>
            </a:extLst>
          </p:cNvPr>
          <p:cNvCxnSpPr>
            <a:stCxn id="4" idx="2"/>
            <a:endCxn id="5" idx="0"/>
          </p:cNvCxnSpPr>
          <p:nvPr/>
        </p:nvCxnSpPr>
        <p:spPr>
          <a:xfrm>
            <a:off x="5386108" y="2441103"/>
            <a:ext cx="2" cy="325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F5A5732-5183-302F-EE37-855E5CEB9D97}"/>
              </a:ext>
            </a:extLst>
          </p:cNvPr>
          <p:cNvCxnSpPr>
            <a:stCxn id="5" idx="2"/>
            <a:endCxn id="6" idx="0"/>
          </p:cNvCxnSpPr>
          <p:nvPr/>
        </p:nvCxnSpPr>
        <p:spPr>
          <a:xfrm flipH="1">
            <a:off x="5386109" y="3209495"/>
            <a:ext cx="1" cy="341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24E03C2-ED3D-F77E-57FF-F4BD2C9E7435}"/>
              </a:ext>
            </a:extLst>
          </p:cNvPr>
          <p:cNvCxnSpPr>
            <a:stCxn id="6" idx="2"/>
            <a:endCxn id="8" idx="0"/>
          </p:cNvCxnSpPr>
          <p:nvPr/>
        </p:nvCxnSpPr>
        <p:spPr>
          <a:xfrm>
            <a:off x="5386109" y="4034667"/>
            <a:ext cx="2" cy="324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5725996-9466-94BA-9F55-FC551D6D06F7}"/>
              </a:ext>
            </a:extLst>
          </p:cNvPr>
          <p:cNvCxnSpPr>
            <a:stCxn id="8" idx="2"/>
            <a:endCxn id="10" idx="0"/>
          </p:cNvCxnSpPr>
          <p:nvPr/>
        </p:nvCxnSpPr>
        <p:spPr>
          <a:xfrm>
            <a:off x="5386111" y="4802074"/>
            <a:ext cx="0" cy="316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B359D22-5C3E-3D36-FA5D-07F373CD485C}"/>
              </a:ext>
            </a:extLst>
          </p:cNvPr>
          <p:cNvCxnSpPr>
            <a:cxnSpLocks/>
            <a:stCxn id="10" idx="2"/>
            <a:endCxn id="12" idx="0"/>
          </p:cNvCxnSpPr>
          <p:nvPr/>
        </p:nvCxnSpPr>
        <p:spPr>
          <a:xfrm flipH="1">
            <a:off x="5386110" y="5602174"/>
            <a:ext cx="1" cy="279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92906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9FF33-F3BF-2D5E-7960-C8E7132CC68E}"/>
              </a:ext>
            </a:extLst>
          </p:cNvPr>
          <p:cNvSpPr>
            <a:spLocks noGrp="1"/>
          </p:cNvSpPr>
          <p:nvPr>
            <p:ph type="title"/>
          </p:nvPr>
        </p:nvSpPr>
        <p:spPr>
          <a:xfrm>
            <a:off x="498250" y="267592"/>
            <a:ext cx="10287000" cy="493425"/>
          </a:xfrm>
        </p:spPr>
        <p:txBody>
          <a:bodyPr>
            <a:normAutofit fontScale="90000"/>
          </a:bodyPr>
          <a:lstStyle/>
          <a:p>
            <a:r>
              <a:rPr lang="en-IN" dirty="0"/>
              <a:t>Answer:</a:t>
            </a:r>
          </a:p>
        </p:txBody>
      </p:sp>
      <p:sp>
        <p:nvSpPr>
          <p:cNvPr id="3" name="Content Placeholder 2">
            <a:extLst>
              <a:ext uri="{FF2B5EF4-FFF2-40B4-BE49-F238E27FC236}">
                <a16:creationId xmlns:a16="http://schemas.microsoft.com/office/drawing/2014/main" id="{AB89D733-8D05-091E-6857-18BD21CCFFF7}"/>
              </a:ext>
            </a:extLst>
          </p:cNvPr>
          <p:cNvSpPr>
            <a:spLocks noGrp="1"/>
          </p:cNvSpPr>
          <p:nvPr>
            <p:ph idx="1"/>
          </p:nvPr>
        </p:nvSpPr>
        <p:spPr>
          <a:xfrm>
            <a:off x="498249" y="843609"/>
            <a:ext cx="11359453" cy="5492300"/>
          </a:xfrm>
        </p:spPr>
        <p:txBody>
          <a:bodyPr numCol="3">
            <a:noAutofit/>
          </a:bodyPr>
          <a:lstStyle/>
          <a:p>
            <a:pPr marL="0" indent="0">
              <a:buNone/>
            </a:pPr>
            <a:r>
              <a:rPr lang="en-IN" sz="1400" dirty="0"/>
              <a:t>#include &lt;</a:t>
            </a:r>
            <a:r>
              <a:rPr lang="en-IN" sz="1400" dirty="0" err="1"/>
              <a:t>stdio.h</a:t>
            </a:r>
            <a:r>
              <a:rPr lang="en-IN" sz="1400" dirty="0"/>
              <a:t>&gt;</a:t>
            </a:r>
          </a:p>
          <a:p>
            <a:pPr marL="0" indent="0">
              <a:buNone/>
            </a:pPr>
            <a:r>
              <a:rPr lang="en-IN" sz="1400" dirty="0"/>
              <a:t>int </a:t>
            </a:r>
            <a:r>
              <a:rPr lang="en-IN" sz="1400" dirty="0" err="1"/>
              <a:t>calculateTotal</a:t>
            </a:r>
            <a:r>
              <a:rPr lang="en-IN" sz="1400" dirty="0"/>
              <a:t>(int m1, int m2, int m3)</a:t>
            </a:r>
          </a:p>
          <a:p>
            <a:pPr marL="0" indent="0">
              <a:buNone/>
            </a:pPr>
            <a:r>
              <a:rPr lang="en-IN" sz="1400" dirty="0"/>
              <a:t>{</a:t>
            </a:r>
          </a:p>
          <a:p>
            <a:pPr marL="0" indent="0">
              <a:buNone/>
            </a:pPr>
            <a:r>
              <a:rPr lang="en-IN" sz="1400" dirty="0"/>
              <a:t>    return m1 + m2 + m3;</a:t>
            </a:r>
          </a:p>
          <a:p>
            <a:pPr marL="0" indent="0">
              <a:buNone/>
            </a:pPr>
            <a:r>
              <a:rPr lang="en-IN" sz="1400" dirty="0"/>
              <a:t>}</a:t>
            </a:r>
          </a:p>
          <a:p>
            <a:pPr marL="0" indent="0">
              <a:buNone/>
            </a:pPr>
            <a:r>
              <a:rPr lang="en-IN" sz="1400" dirty="0"/>
              <a:t>float </a:t>
            </a:r>
            <a:r>
              <a:rPr lang="en-IN" sz="1400" dirty="0" err="1"/>
              <a:t>calculateAverage</a:t>
            </a:r>
            <a:r>
              <a:rPr lang="en-IN" sz="1400" dirty="0"/>
              <a:t>(int total)</a:t>
            </a:r>
          </a:p>
          <a:p>
            <a:pPr marL="0" indent="0">
              <a:buNone/>
            </a:pPr>
            <a:r>
              <a:rPr lang="en-IN" sz="1400" dirty="0"/>
              <a:t>{</a:t>
            </a:r>
          </a:p>
          <a:p>
            <a:pPr marL="0" indent="0">
              <a:buNone/>
            </a:pPr>
            <a:r>
              <a:rPr lang="en-IN" sz="1400" dirty="0"/>
              <a:t>    return total / 3.0;</a:t>
            </a:r>
          </a:p>
          <a:p>
            <a:pPr marL="0" indent="0">
              <a:buNone/>
            </a:pPr>
            <a:r>
              <a:rPr lang="en-IN" sz="1400" dirty="0"/>
              <a:t>}</a:t>
            </a:r>
          </a:p>
          <a:p>
            <a:pPr marL="0" indent="0">
              <a:buNone/>
            </a:pPr>
            <a:r>
              <a:rPr lang="en-IN" sz="1400" dirty="0"/>
              <a:t>char </a:t>
            </a:r>
            <a:r>
              <a:rPr lang="en-IN" sz="1400" dirty="0" err="1"/>
              <a:t>findGrade</a:t>
            </a:r>
            <a:r>
              <a:rPr lang="en-IN" sz="1400" dirty="0"/>
              <a:t>(float average)</a:t>
            </a:r>
          </a:p>
          <a:p>
            <a:pPr marL="0" indent="0">
              <a:buNone/>
            </a:pPr>
            <a:r>
              <a:rPr lang="en-IN" sz="1400" dirty="0"/>
              <a:t>{</a:t>
            </a:r>
          </a:p>
          <a:p>
            <a:pPr marL="0" indent="0">
              <a:buNone/>
            </a:pPr>
            <a:r>
              <a:rPr lang="en-IN" sz="1400" dirty="0"/>
              <a:t>    if (average &gt;= 90)</a:t>
            </a:r>
          </a:p>
          <a:p>
            <a:pPr marL="0" indent="0">
              <a:buNone/>
            </a:pPr>
            <a:r>
              <a:rPr lang="en-IN" sz="1400" dirty="0"/>
              <a:t>        return 'A';</a:t>
            </a:r>
          </a:p>
          <a:p>
            <a:pPr marL="0" indent="0">
              <a:buNone/>
            </a:pPr>
            <a:r>
              <a:rPr lang="en-IN" sz="1400" dirty="0"/>
              <a:t>    else if (average &gt;= 75)</a:t>
            </a:r>
          </a:p>
          <a:p>
            <a:pPr marL="0" indent="0">
              <a:buNone/>
            </a:pPr>
            <a:r>
              <a:rPr lang="en-IN" sz="1400" dirty="0"/>
              <a:t>        return 'B';</a:t>
            </a:r>
          </a:p>
          <a:p>
            <a:pPr marL="0" indent="0">
              <a:buNone/>
            </a:pPr>
            <a:r>
              <a:rPr lang="en-IN" sz="1400" dirty="0"/>
              <a:t>    else if (average &gt;= 60)</a:t>
            </a:r>
          </a:p>
          <a:p>
            <a:pPr marL="0" indent="0">
              <a:buNone/>
            </a:pPr>
            <a:r>
              <a:rPr lang="en-IN" sz="1400" dirty="0"/>
              <a:t>        return 'C';</a:t>
            </a:r>
          </a:p>
          <a:p>
            <a:pPr marL="0" indent="0">
              <a:buNone/>
            </a:pPr>
            <a:r>
              <a:rPr lang="en-IN" sz="1400" dirty="0"/>
              <a:t>    else if (average &gt;= 50)</a:t>
            </a:r>
          </a:p>
          <a:p>
            <a:pPr marL="0" indent="0">
              <a:buNone/>
            </a:pPr>
            <a:r>
              <a:rPr lang="en-IN" sz="1400" dirty="0"/>
              <a:t>        return 'D';</a:t>
            </a:r>
          </a:p>
          <a:p>
            <a:pPr marL="0" indent="0">
              <a:buNone/>
            </a:pPr>
            <a:r>
              <a:rPr lang="en-IN" sz="1400" dirty="0"/>
              <a:t>    else</a:t>
            </a:r>
          </a:p>
          <a:p>
            <a:pPr marL="0" indent="0">
              <a:buNone/>
            </a:pPr>
            <a:r>
              <a:rPr lang="en-IN" sz="1400" dirty="0"/>
              <a:t>        return 'F';</a:t>
            </a:r>
          </a:p>
          <a:p>
            <a:pPr marL="0" indent="0">
              <a:buNone/>
            </a:pPr>
            <a:r>
              <a:rPr lang="en-IN" sz="1400" dirty="0"/>
              <a:t>}</a:t>
            </a:r>
          </a:p>
          <a:p>
            <a:pPr marL="0" indent="0">
              <a:buNone/>
            </a:pPr>
            <a:r>
              <a:rPr lang="en-IN" sz="1400" dirty="0"/>
              <a:t>int main()</a:t>
            </a:r>
          </a:p>
          <a:p>
            <a:pPr marL="0" indent="0">
              <a:buNone/>
            </a:pPr>
            <a:r>
              <a:rPr lang="en-IN" sz="1400" dirty="0"/>
              <a:t>{</a:t>
            </a:r>
          </a:p>
          <a:p>
            <a:pPr marL="0" indent="0">
              <a:buNone/>
            </a:pPr>
            <a:r>
              <a:rPr lang="en-IN" sz="1400" dirty="0"/>
              <a:t>    int mark1, mark2, mark3;</a:t>
            </a:r>
          </a:p>
          <a:p>
            <a:pPr marL="0" indent="0">
              <a:buNone/>
            </a:pPr>
            <a:r>
              <a:rPr lang="en-IN" sz="1400" dirty="0"/>
              <a:t>    int total;</a:t>
            </a:r>
          </a:p>
          <a:p>
            <a:pPr marL="0" indent="0">
              <a:buNone/>
            </a:pPr>
            <a:r>
              <a:rPr lang="en-IN" sz="1400" dirty="0"/>
              <a:t>    float average;</a:t>
            </a:r>
          </a:p>
          <a:p>
            <a:pPr marL="0" indent="0">
              <a:buNone/>
            </a:pPr>
            <a:r>
              <a:rPr lang="en-IN" sz="1400" dirty="0"/>
              <a:t>    char grade;</a:t>
            </a:r>
          </a:p>
          <a:p>
            <a:pPr marL="0" indent="0">
              <a:buNone/>
            </a:pPr>
            <a:r>
              <a:rPr lang="en-IN" sz="1400" dirty="0"/>
              <a:t>    </a:t>
            </a:r>
            <a:r>
              <a:rPr lang="en-IN" sz="1400" dirty="0" err="1"/>
              <a:t>printf</a:t>
            </a:r>
            <a:r>
              <a:rPr lang="en-IN" sz="1400" dirty="0"/>
              <a:t>("Enter marks of three subjects: ");</a:t>
            </a:r>
          </a:p>
          <a:p>
            <a:pPr marL="0" indent="0">
              <a:buNone/>
            </a:pPr>
            <a:r>
              <a:rPr lang="en-IN" sz="1400" dirty="0"/>
              <a:t>    </a:t>
            </a:r>
            <a:r>
              <a:rPr lang="en-IN" sz="1400" dirty="0" err="1"/>
              <a:t>scanf</a:t>
            </a:r>
            <a:r>
              <a:rPr lang="en-IN" sz="1400" dirty="0"/>
              <a:t>("%d %d %d", &amp;mark1, &amp;mark2, &amp;mark3);</a:t>
            </a:r>
          </a:p>
          <a:p>
            <a:pPr marL="0" indent="0">
              <a:buNone/>
            </a:pPr>
            <a:r>
              <a:rPr lang="en-IN" sz="1400" dirty="0"/>
              <a:t>    total = </a:t>
            </a:r>
            <a:r>
              <a:rPr lang="en-IN" sz="1400" dirty="0" err="1"/>
              <a:t>calculateTotal</a:t>
            </a:r>
            <a:r>
              <a:rPr lang="en-IN" sz="1400" dirty="0"/>
              <a:t>(mark1, mark2, mark3);</a:t>
            </a:r>
          </a:p>
          <a:p>
            <a:pPr marL="0" indent="0">
              <a:buNone/>
            </a:pPr>
            <a:r>
              <a:rPr lang="en-IN" sz="1400" dirty="0"/>
              <a:t>    average = </a:t>
            </a:r>
            <a:r>
              <a:rPr lang="en-IN" sz="1400" dirty="0" err="1"/>
              <a:t>calculateAverage</a:t>
            </a:r>
            <a:r>
              <a:rPr lang="en-IN" sz="1400" dirty="0"/>
              <a:t>(total);</a:t>
            </a:r>
          </a:p>
          <a:p>
            <a:pPr marL="0" indent="0">
              <a:buNone/>
            </a:pPr>
            <a:r>
              <a:rPr lang="en-IN" sz="1400" dirty="0"/>
              <a:t>    grade = </a:t>
            </a:r>
            <a:r>
              <a:rPr lang="en-IN" sz="1400" dirty="0" err="1"/>
              <a:t>findGrade</a:t>
            </a:r>
            <a:r>
              <a:rPr lang="en-IN" sz="1400" dirty="0"/>
              <a:t>(average);</a:t>
            </a:r>
          </a:p>
          <a:p>
            <a:pPr marL="0" indent="0">
              <a:buNone/>
            </a:pPr>
            <a:r>
              <a:rPr lang="en-IN" sz="1400" dirty="0"/>
              <a:t>    </a:t>
            </a:r>
            <a:r>
              <a:rPr lang="en-IN" sz="1400" dirty="0" err="1"/>
              <a:t>printf</a:t>
            </a:r>
            <a:r>
              <a:rPr lang="en-IN" sz="1400" dirty="0"/>
              <a:t>("\</a:t>
            </a:r>
            <a:r>
              <a:rPr lang="en-IN" sz="1400" dirty="0" err="1"/>
              <a:t>nTotal</a:t>
            </a:r>
            <a:r>
              <a:rPr lang="en-IN" sz="1400" dirty="0"/>
              <a:t> = %d", total);</a:t>
            </a:r>
          </a:p>
          <a:p>
            <a:pPr marL="0" indent="0">
              <a:buNone/>
            </a:pPr>
            <a:r>
              <a:rPr lang="en-IN" sz="1400" dirty="0"/>
              <a:t>    </a:t>
            </a:r>
            <a:r>
              <a:rPr lang="en-IN" sz="1400" dirty="0" err="1"/>
              <a:t>printf</a:t>
            </a:r>
            <a:r>
              <a:rPr lang="en-IN" sz="1400" dirty="0"/>
              <a:t>("\</a:t>
            </a:r>
            <a:r>
              <a:rPr lang="en-IN" sz="1400" dirty="0" err="1"/>
              <a:t>nAverage</a:t>
            </a:r>
            <a:r>
              <a:rPr lang="en-IN" sz="1400" dirty="0"/>
              <a:t> = %.2f", average);</a:t>
            </a:r>
          </a:p>
          <a:p>
            <a:pPr marL="0" indent="0">
              <a:buNone/>
            </a:pPr>
            <a:r>
              <a:rPr lang="en-IN" sz="1400" dirty="0"/>
              <a:t>    </a:t>
            </a:r>
            <a:r>
              <a:rPr lang="en-IN" sz="1400" dirty="0" err="1"/>
              <a:t>printf</a:t>
            </a:r>
            <a:r>
              <a:rPr lang="en-IN" sz="1400" dirty="0"/>
              <a:t>("\</a:t>
            </a:r>
            <a:r>
              <a:rPr lang="en-IN" sz="1400" dirty="0" err="1"/>
              <a:t>nGrade</a:t>
            </a:r>
            <a:r>
              <a:rPr lang="en-IN" sz="1400" dirty="0"/>
              <a:t> = %c", grade);</a:t>
            </a:r>
          </a:p>
          <a:p>
            <a:pPr marL="0" indent="0">
              <a:buNone/>
            </a:pPr>
            <a:r>
              <a:rPr lang="en-IN" sz="1400" dirty="0"/>
              <a:t>    return 0;</a:t>
            </a:r>
          </a:p>
          <a:p>
            <a:pPr marL="0" indent="0">
              <a:buNone/>
            </a:pPr>
            <a:r>
              <a:rPr lang="en-IN" sz="1400" dirty="0"/>
              <a:t>}</a:t>
            </a:r>
          </a:p>
          <a:p>
            <a:pPr marL="0" indent="0">
              <a:buNone/>
            </a:pPr>
            <a:r>
              <a:rPr lang="en-IN" sz="1400" b="1" dirty="0"/>
              <a:t>Sample Input</a:t>
            </a:r>
          </a:p>
          <a:p>
            <a:pPr marL="0" indent="0">
              <a:buNone/>
            </a:pPr>
            <a:r>
              <a:rPr lang="en-IN" sz="1400" dirty="0"/>
              <a:t>Enter marks of three subjects: 85 78 92</a:t>
            </a:r>
          </a:p>
          <a:p>
            <a:pPr marL="0" indent="0">
              <a:buNone/>
            </a:pPr>
            <a:r>
              <a:rPr lang="en-IN" sz="1400" b="1" dirty="0"/>
              <a:t>Sample Output</a:t>
            </a:r>
          </a:p>
          <a:p>
            <a:pPr marL="0" indent="0">
              <a:buNone/>
            </a:pPr>
            <a:r>
              <a:rPr lang="en-IN" sz="1400" dirty="0"/>
              <a:t>Total = 255</a:t>
            </a:r>
          </a:p>
          <a:p>
            <a:pPr marL="0" indent="0">
              <a:buNone/>
            </a:pPr>
            <a:r>
              <a:rPr lang="en-IN" sz="1400" dirty="0"/>
              <a:t>Average = 85.00</a:t>
            </a:r>
          </a:p>
          <a:p>
            <a:pPr marL="0" indent="0">
              <a:buNone/>
            </a:pPr>
            <a:r>
              <a:rPr lang="en-IN" sz="1400" dirty="0"/>
              <a:t>Grade = B</a:t>
            </a:r>
          </a:p>
          <a:p>
            <a:pPr marL="0" indent="0">
              <a:buNone/>
            </a:pPr>
            <a:endParaRPr lang="en-IN" sz="1400" dirty="0"/>
          </a:p>
        </p:txBody>
      </p:sp>
    </p:spTree>
    <p:extLst>
      <p:ext uri="{BB962C8B-B14F-4D97-AF65-F5344CB8AC3E}">
        <p14:creationId xmlns:p14="http://schemas.microsoft.com/office/powerpoint/2010/main" val="350035387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5C779-D96C-B5B7-F7AC-18ECC9AE0D9B}"/>
              </a:ext>
            </a:extLst>
          </p:cNvPr>
          <p:cNvSpPr>
            <a:spLocks noGrp="1"/>
          </p:cNvSpPr>
          <p:nvPr>
            <p:ph type="title"/>
          </p:nvPr>
        </p:nvSpPr>
        <p:spPr/>
        <p:txBody>
          <a:bodyPr/>
          <a:lstStyle/>
          <a:p>
            <a:r>
              <a:rPr lang="en-IN" dirty="0"/>
              <a:t>Practice 2: Temperature Conversion</a:t>
            </a:r>
          </a:p>
        </p:txBody>
      </p:sp>
      <p:sp>
        <p:nvSpPr>
          <p:cNvPr id="3" name="Content Placeholder 2">
            <a:extLst>
              <a:ext uri="{FF2B5EF4-FFF2-40B4-BE49-F238E27FC236}">
                <a16:creationId xmlns:a16="http://schemas.microsoft.com/office/drawing/2014/main" id="{12FA611D-EC6A-7446-7EAE-3EE0310F2F03}"/>
              </a:ext>
            </a:extLst>
          </p:cNvPr>
          <p:cNvSpPr>
            <a:spLocks noGrp="1"/>
          </p:cNvSpPr>
          <p:nvPr>
            <p:ph idx="1"/>
          </p:nvPr>
        </p:nvSpPr>
        <p:spPr/>
        <p:txBody>
          <a:bodyPr/>
          <a:lstStyle/>
          <a:p>
            <a:pPr marL="0" indent="0">
              <a:buNone/>
            </a:pPr>
            <a:r>
              <a:rPr lang="en-IN" b="1" dirty="0"/>
              <a:t>Problem Statement</a:t>
            </a:r>
          </a:p>
          <a:p>
            <a:pPr marL="0" indent="0">
              <a:buNone/>
            </a:pPr>
            <a:r>
              <a:rPr lang="en-IN" dirty="0"/>
              <a:t>Implement a C program using separate helper functions to convert:</a:t>
            </a:r>
          </a:p>
          <a:p>
            <a:pPr marL="0" lvl="0" indent="0">
              <a:buNone/>
            </a:pPr>
            <a:r>
              <a:rPr lang="en-IN" dirty="0"/>
              <a:t>Celsius → Fahrenheit </a:t>
            </a:r>
          </a:p>
          <a:p>
            <a:pPr marL="0" lvl="0" indent="0">
              <a:buNone/>
            </a:pPr>
            <a:r>
              <a:rPr lang="en-IN" dirty="0"/>
              <a:t>Fahrenheit → Celsius </a:t>
            </a:r>
          </a:p>
          <a:p>
            <a:pPr marL="0" lvl="0" indent="0">
              <a:buNone/>
            </a:pPr>
            <a:r>
              <a:rPr lang="en-IN" dirty="0"/>
              <a:t>Celsius → Kelvin</a:t>
            </a:r>
          </a:p>
          <a:p>
            <a:pPr marL="0" indent="0">
              <a:buNone/>
            </a:pPr>
            <a:endParaRPr lang="en-IN" dirty="0"/>
          </a:p>
        </p:txBody>
      </p:sp>
    </p:spTree>
    <p:extLst>
      <p:ext uri="{BB962C8B-B14F-4D97-AF65-F5344CB8AC3E}">
        <p14:creationId xmlns:p14="http://schemas.microsoft.com/office/powerpoint/2010/main" val="37949297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833C3-8AC3-7214-2F4B-172954117D18}"/>
              </a:ext>
            </a:extLst>
          </p:cNvPr>
          <p:cNvSpPr>
            <a:spLocks noGrp="1"/>
          </p:cNvSpPr>
          <p:nvPr>
            <p:ph type="title"/>
          </p:nvPr>
        </p:nvSpPr>
        <p:spPr/>
        <p:txBody>
          <a:bodyPr/>
          <a:lstStyle/>
          <a:p>
            <a:r>
              <a:rPr lang="en-IN" dirty="0"/>
              <a:t>Function Design</a:t>
            </a:r>
          </a:p>
        </p:txBody>
      </p:sp>
      <p:sp>
        <p:nvSpPr>
          <p:cNvPr id="4" name="Rectangle 3">
            <a:extLst>
              <a:ext uri="{FF2B5EF4-FFF2-40B4-BE49-F238E27FC236}">
                <a16:creationId xmlns:a16="http://schemas.microsoft.com/office/drawing/2014/main" id="{2BFE52AB-8B88-9218-0CDD-0ECF682EFEAE}"/>
              </a:ext>
            </a:extLst>
          </p:cNvPr>
          <p:cNvSpPr/>
          <p:nvPr/>
        </p:nvSpPr>
        <p:spPr>
          <a:xfrm>
            <a:off x="3439324" y="2238802"/>
            <a:ext cx="3563210" cy="2604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39C55A8-1EC9-CA9A-F361-FD7608F958D8}"/>
              </a:ext>
            </a:extLst>
          </p:cNvPr>
          <p:cNvSpPr/>
          <p:nvPr/>
        </p:nvSpPr>
        <p:spPr>
          <a:xfrm>
            <a:off x="4353724" y="3120759"/>
            <a:ext cx="2513125" cy="5427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celsiusToFahrenheit</a:t>
            </a:r>
            <a:r>
              <a:rPr lang="en-IN" dirty="0"/>
              <a:t>()</a:t>
            </a:r>
          </a:p>
        </p:txBody>
      </p:sp>
      <p:sp>
        <p:nvSpPr>
          <p:cNvPr id="7" name="Rectangle 6">
            <a:extLst>
              <a:ext uri="{FF2B5EF4-FFF2-40B4-BE49-F238E27FC236}">
                <a16:creationId xmlns:a16="http://schemas.microsoft.com/office/drawing/2014/main" id="{08A7B550-5BC4-AB8F-8296-F19BCC3716E8}"/>
              </a:ext>
            </a:extLst>
          </p:cNvPr>
          <p:cNvSpPr/>
          <p:nvPr/>
        </p:nvSpPr>
        <p:spPr>
          <a:xfrm>
            <a:off x="4353724" y="3912914"/>
            <a:ext cx="2513125" cy="5427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celsiusToKelvin</a:t>
            </a:r>
            <a:r>
              <a:rPr lang="en-IN" dirty="0"/>
              <a:t>()</a:t>
            </a:r>
          </a:p>
        </p:txBody>
      </p:sp>
      <p:sp>
        <p:nvSpPr>
          <p:cNvPr id="8" name="Rectangle 7">
            <a:extLst>
              <a:ext uri="{FF2B5EF4-FFF2-40B4-BE49-F238E27FC236}">
                <a16:creationId xmlns:a16="http://schemas.microsoft.com/office/drawing/2014/main" id="{02A0D60A-38EA-22FB-94F2-5D2BEF22EBC6}"/>
              </a:ext>
            </a:extLst>
          </p:cNvPr>
          <p:cNvSpPr/>
          <p:nvPr/>
        </p:nvSpPr>
        <p:spPr>
          <a:xfrm>
            <a:off x="3439324" y="5181961"/>
            <a:ext cx="3622204" cy="1222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3F9A1D0-55F8-E58A-6C0E-B29F57D942BA}"/>
              </a:ext>
            </a:extLst>
          </p:cNvPr>
          <p:cNvSpPr/>
          <p:nvPr/>
        </p:nvSpPr>
        <p:spPr>
          <a:xfrm>
            <a:off x="4353724" y="5582602"/>
            <a:ext cx="2513125" cy="5427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fahrenheitToCelsius</a:t>
            </a:r>
            <a:r>
              <a:rPr lang="en-IN" dirty="0"/>
              <a:t>()</a:t>
            </a:r>
          </a:p>
        </p:txBody>
      </p:sp>
      <p:sp>
        <p:nvSpPr>
          <p:cNvPr id="11" name="TextBox 10">
            <a:extLst>
              <a:ext uri="{FF2B5EF4-FFF2-40B4-BE49-F238E27FC236}">
                <a16:creationId xmlns:a16="http://schemas.microsoft.com/office/drawing/2014/main" id="{D32D0EDE-68E1-CEA7-BA0B-B039B955F968}"/>
              </a:ext>
            </a:extLst>
          </p:cNvPr>
          <p:cNvSpPr txBox="1"/>
          <p:nvPr/>
        </p:nvSpPr>
        <p:spPr>
          <a:xfrm>
            <a:off x="3527814" y="2412836"/>
            <a:ext cx="1734411" cy="369332"/>
          </a:xfrm>
          <a:prstGeom prst="rect">
            <a:avLst/>
          </a:prstGeom>
          <a:noFill/>
        </p:spPr>
        <p:txBody>
          <a:bodyPr wrap="square" rtlCol="0">
            <a:spAutoFit/>
          </a:bodyPr>
          <a:lstStyle/>
          <a:p>
            <a:r>
              <a:rPr lang="en-IN" dirty="0"/>
              <a:t>Celsius</a:t>
            </a:r>
          </a:p>
        </p:txBody>
      </p:sp>
      <p:sp>
        <p:nvSpPr>
          <p:cNvPr id="13" name="TextBox 12">
            <a:extLst>
              <a:ext uri="{FF2B5EF4-FFF2-40B4-BE49-F238E27FC236}">
                <a16:creationId xmlns:a16="http://schemas.microsoft.com/office/drawing/2014/main" id="{FCC25E0C-E9D1-D455-4037-D975EA538383}"/>
              </a:ext>
            </a:extLst>
          </p:cNvPr>
          <p:cNvSpPr txBox="1"/>
          <p:nvPr/>
        </p:nvSpPr>
        <p:spPr>
          <a:xfrm>
            <a:off x="3439324" y="5181961"/>
            <a:ext cx="1734411" cy="369332"/>
          </a:xfrm>
          <a:prstGeom prst="rect">
            <a:avLst/>
          </a:prstGeom>
          <a:noFill/>
        </p:spPr>
        <p:txBody>
          <a:bodyPr wrap="square" rtlCol="0">
            <a:spAutoFit/>
          </a:bodyPr>
          <a:lstStyle/>
          <a:p>
            <a:r>
              <a:rPr lang="en-IN" dirty="0"/>
              <a:t>Fahrenheit</a:t>
            </a:r>
          </a:p>
        </p:txBody>
      </p:sp>
    </p:spTree>
    <p:extLst>
      <p:ext uri="{BB962C8B-B14F-4D97-AF65-F5344CB8AC3E}">
        <p14:creationId xmlns:p14="http://schemas.microsoft.com/office/powerpoint/2010/main" val="35927558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20428-FA59-5903-9B2A-EC883A22434B}"/>
              </a:ext>
            </a:extLst>
          </p:cNvPr>
          <p:cNvSpPr>
            <a:spLocks noGrp="1"/>
          </p:cNvSpPr>
          <p:nvPr>
            <p:ph type="title"/>
          </p:nvPr>
        </p:nvSpPr>
        <p:spPr>
          <a:xfrm>
            <a:off x="415658" y="249893"/>
            <a:ext cx="10287000" cy="605513"/>
          </a:xfrm>
        </p:spPr>
        <p:txBody>
          <a:bodyPr/>
          <a:lstStyle/>
          <a:p>
            <a:r>
              <a:rPr lang="en-IN" dirty="0"/>
              <a:t>Answer:</a:t>
            </a:r>
          </a:p>
        </p:txBody>
      </p:sp>
      <p:sp>
        <p:nvSpPr>
          <p:cNvPr id="3" name="Content Placeholder 2">
            <a:extLst>
              <a:ext uri="{FF2B5EF4-FFF2-40B4-BE49-F238E27FC236}">
                <a16:creationId xmlns:a16="http://schemas.microsoft.com/office/drawing/2014/main" id="{AA20D340-122E-19B1-76F8-77B9AF0A6D70}"/>
              </a:ext>
            </a:extLst>
          </p:cNvPr>
          <p:cNvSpPr>
            <a:spLocks noGrp="1"/>
          </p:cNvSpPr>
          <p:nvPr>
            <p:ph idx="1"/>
          </p:nvPr>
        </p:nvSpPr>
        <p:spPr>
          <a:xfrm>
            <a:off x="365761" y="1067783"/>
            <a:ext cx="11639426" cy="5486400"/>
          </a:xfrm>
        </p:spPr>
        <p:txBody>
          <a:bodyPr numCol="3">
            <a:normAutofit fontScale="92500" lnSpcReduction="20000"/>
          </a:bodyPr>
          <a:lstStyle/>
          <a:p>
            <a:pPr marL="0" indent="0">
              <a:buNone/>
            </a:pPr>
            <a:r>
              <a:rPr lang="en-IN" dirty="0"/>
              <a:t>#include &lt;</a:t>
            </a:r>
            <a:r>
              <a:rPr lang="en-IN" dirty="0" err="1"/>
              <a:t>stdio.h</a:t>
            </a:r>
            <a:r>
              <a:rPr lang="en-IN" dirty="0"/>
              <a:t>&gt;</a:t>
            </a:r>
          </a:p>
          <a:p>
            <a:pPr marL="0" indent="0">
              <a:buNone/>
            </a:pPr>
            <a:r>
              <a:rPr lang="en-IN" dirty="0"/>
              <a:t>float </a:t>
            </a:r>
            <a:r>
              <a:rPr lang="en-IN" dirty="0" err="1"/>
              <a:t>celsiusToFahrenheit</a:t>
            </a:r>
            <a:r>
              <a:rPr lang="en-IN" dirty="0"/>
              <a:t>(float </a:t>
            </a:r>
            <a:r>
              <a:rPr lang="en-IN" dirty="0" err="1"/>
              <a:t>celsius</a:t>
            </a:r>
            <a:r>
              <a:rPr lang="en-IN" dirty="0"/>
              <a:t>)</a:t>
            </a:r>
          </a:p>
          <a:p>
            <a:pPr marL="0" indent="0">
              <a:buNone/>
            </a:pPr>
            <a:r>
              <a:rPr lang="en-IN" dirty="0"/>
              <a:t>{</a:t>
            </a:r>
          </a:p>
          <a:p>
            <a:pPr marL="0" indent="0">
              <a:buNone/>
            </a:pPr>
            <a:r>
              <a:rPr lang="en-IN" dirty="0"/>
              <a:t>    return (</a:t>
            </a:r>
            <a:r>
              <a:rPr lang="en-IN" dirty="0" err="1"/>
              <a:t>celsius</a:t>
            </a:r>
            <a:r>
              <a:rPr lang="en-IN" dirty="0"/>
              <a:t> * 9 / 5) + 32;</a:t>
            </a:r>
          </a:p>
          <a:p>
            <a:pPr marL="0" indent="0">
              <a:buNone/>
            </a:pPr>
            <a:r>
              <a:rPr lang="en-IN" dirty="0"/>
              <a:t>}</a:t>
            </a:r>
          </a:p>
          <a:p>
            <a:pPr marL="0" indent="0">
              <a:buNone/>
            </a:pPr>
            <a:r>
              <a:rPr lang="en-IN" dirty="0"/>
              <a:t>float </a:t>
            </a:r>
            <a:r>
              <a:rPr lang="en-IN" dirty="0" err="1"/>
              <a:t>fahrenheitToCelsius</a:t>
            </a:r>
            <a:r>
              <a:rPr lang="en-IN" dirty="0"/>
              <a:t>(float </a:t>
            </a:r>
            <a:r>
              <a:rPr lang="en-IN" dirty="0" err="1"/>
              <a:t>fahrenheit</a:t>
            </a:r>
            <a:r>
              <a:rPr lang="en-IN" dirty="0"/>
              <a:t>)</a:t>
            </a:r>
          </a:p>
          <a:p>
            <a:pPr marL="0" indent="0">
              <a:buNone/>
            </a:pPr>
            <a:r>
              <a:rPr lang="en-IN" dirty="0"/>
              <a:t>{</a:t>
            </a:r>
          </a:p>
          <a:p>
            <a:pPr marL="0" indent="0">
              <a:buNone/>
            </a:pPr>
            <a:r>
              <a:rPr lang="en-IN" dirty="0"/>
              <a:t>    return (</a:t>
            </a:r>
            <a:r>
              <a:rPr lang="en-IN" dirty="0" err="1"/>
              <a:t>fahrenheit</a:t>
            </a:r>
            <a:r>
              <a:rPr lang="en-IN" dirty="0"/>
              <a:t> - 32) * 5 / 9;</a:t>
            </a:r>
          </a:p>
          <a:p>
            <a:pPr marL="0" indent="0">
              <a:buNone/>
            </a:pPr>
            <a:r>
              <a:rPr lang="en-IN" dirty="0"/>
              <a:t>}</a:t>
            </a:r>
          </a:p>
          <a:p>
            <a:pPr marL="0" indent="0">
              <a:buNone/>
            </a:pPr>
            <a:r>
              <a:rPr lang="en-IN" dirty="0"/>
              <a:t>float </a:t>
            </a:r>
            <a:r>
              <a:rPr lang="en-IN" dirty="0" err="1"/>
              <a:t>celsiusToKelvin</a:t>
            </a:r>
            <a:r>
              <a:rPr lang="en-IN" dirty="0"/>
              <a:t>(float </a:t>
            </a:r>
            <a:r>
              <a:rPr lang="en-IN" dirty="0" err="1"/>
              <a:t>celsius</a:t>
            </a:r>
            <a:r>
              <a:rPr lang="en-IN" dirty="0"/>
              <a:t>)</a:t>
            </a:r>
          </a:p>
          <a:p>
            <a:pPr marL="0" indent="0">
              <a:buNone/>
            </a:pPr>
            <a:r>
              <a:rPr lang="en-IN" dirty="0"/>
              <a:t>{</a:t>
            </a:r>
          </a:p>
          <a:p>
            <a:pPr marL="0" indent="0">
              <a:buNone/>
            </a:pPr>
            <a:r>
              <a:rPr lang="en-IN" dirty="0"/>
              <a:t>    return </a:t>
            </a:r>
            <a:r>
              <a:rPr lang="en-IN" dirty="0" err="1"/>
              <a:t>celsius</a:t>
            </a:r>
            <a:r>
              <a:rPr lang="en-IN" dirty="0"/>
              <a:t> + 273.15;</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float </a:t>
            </a:r>
            <a:r>
              <a:rPr lang="en-IN" dirty="0" err="1"/>
              <a:t>celsius</a:t>
            </a:r>
            <a:r>
              <a:rPr lang="en-IN" dirty="0"/>
              <a:t>, </a:t>
            </a:r>
            <a:r>
              <a:rPr lang="en-IN" dirty="0" err="1"/>
              <a:t>fahrenheit</a:t>
            </a:r>
            <a:r>
              <a:rPr lang="en-IN" dirty="0"/>
              <a:t>;</a:t>
            </a:r>
          </a:p>
          <a:p>
            <a:pPr marL="0" indent="0">
              <a:buNone/>
            </a:pPr>
            <a:r>
              <a:rPr lang="en-IN" dirty="0"/>
              <a:t>    </a:t>
            </a:r>
            <a:r>
              <a:rPr lang="en-IN" dirty="0" err="1"/>
              <a:t>printf</a:t>
            </a:r>
            <a:r>
              <a:rPr lang="en-IN" dirty="0"/>
              <a:t>("Enter temperature in Celsius: ");</a:t>
            </a:r>
          </a:p>
          <a:p>
            <a:pPr marL="0" indent="0">
              <a:buNone/>
            </a:pPr>
            <a:r>
              <a:rPr lang="en-IN" dirty="0"/>
              <a:t>    </a:t>
            </a:r>
            <a:r>
              <a:rPr lang="en-IN" dirty="0" err="1"/>
              <a:t>scanf</a:t>
            </a:r>
            <a:r>
              <a:rPr lang="en-IN" dirty="0"/>
              <a:t>("%f", &amp;</a:t>
            </a:r>
            <a:r>
              <a:rPr lang="en-IN" dirty="0" err="1"/>
              <a:t>celsius</a:t>
            </a:r>
            <a:r>
              <a:rPr lang="en-IN" dirty="0"/>
              <a:t>);</a:t>
            </a:r>
          </a:p>
          <a:p>
            <a:pPr marL="0" indent="0">
              <a:buNone/>
            </a:pPr>
            <a:r>
              <a:rPr lang="en-IN" dirty="0"/>
              <a:t>    </a:t>
            </a:r>
            <a:r>
              <a:rPr lang="en-IN" dirty="0" err="1"/>
              <a:t>printf</a:t>
            </a:r>
            <a:r>
              <a:rPr lang="en-IN" dirty="0"/>
              <a:t>("\</a:t>
            </a:r>
            <a:r>
              <a:rPr lang="en-IN" dirty="0" err="1"/>
              <a:t>nCelsius</a:t>
            </a:r>
            <a:r>
              <a:rPr lang="en-IN" dirty="0"/>
              <a:t> to Fahrenheit = %.2f F",</a:t>
            </a:r>
          </a:p>
          <a:p>
            <a:pPr marL="0" indent="0">
              <a:buNone/>
            </a:pPr>
            <a:r>
              <a:rPr lang="en-IN" dirty="0"/>
              <a:t>           </a:t>
            </a:r>
            <a:r>
              <a:rPr lang="en-IN" dirty="0" err="1"/>
              <a:t>celsiusToFahrenheit</a:t>
            </a:r>
            <a:r>
              <a:rPr lang="en-IN" dirty="0"/>
              <a:t>(</a:t>
            </a:r>
            <a:r>
              <a:rPr lang="en-IN" dirty="0" err="1"/>
              <a:t>celsius</a:t>
            </a:r>
            <a:r>
              <a:rPr lang="en-IN" dirty="0"/>
              <a:t>));</a:t>
            </a:r>
          </a:p>
          <a:p>
            <a:pPr marL="0" indent="0">
              <a:buNone/>
            </a:pPr>
            <a:r>
              <a:rPr lang="en-IN" dirty="0"/>
              <a:t>    </a:t>
            </a:r>
            <a:r>
              <a:rPr lang="en-IN" dirty="0" err="1"/>
              <a:t>printf</a:t>
            </a:r>
            <a:r>
              <a:rPr lang="en-IN" dirty="0"/>
              <a:t>("\</a:t>
            </a:r>
            <a:r>
              <a:rPr lang="en-IN" dirty="0" err="1"/>
              <a:t>nCelsius</a:t>
            </a:r>
            <a:r>
              <a:rPr lang="en-IN" dirty="0"/>
              <a:t> to Kelvin = %.2f K",</a:t>
            </a:r>
          </a:p>
          <a:p>
            <a:pPr marL="0" indent="0">
              <a:buNone/>
            </a:pPr>
            <a:r>
              <a:rPr lang="en-IN" dirty="0"/>
              <a:t>           </a:t>
            </a:r>
            <a:r>
              <a:rPr lang="en-IN" dirty="0" err="1"/>
              <a:t>celsiusToKelvin</a:t>
            </a:r>
            <a:r>
              <a:rPr lang="en-IN" dirty="0"/>
              <a:t>(</a:t>
            </a:r>
            <a:r>
              <a:rPr lang="en-IN" dirty="0" err="1"/>
              <a:t>celsius</a:t>
            </a:r>
            <a:r>
              <a:rPr lang="en-IN" dirty="0"/>
              <a:t>));</a:t>
            </a:r>
          </a:p>
          <a:p>
            <a:pPr marL="0" indent="0">
              <a:buNone/>
            </a:pPr>
            <a:r>
              <a:rPr lang="en-IN" dirty="0"/>
              <a:t>    </a:t>
            </a:r>
            <a:r>
              <a:rPr lang="en-IN" dirty="0" err="1"/>
              <a:t>printf</a:t>
            </a:r>
            <a:r>
              <a:rPr lang="en-IN" dirty="0"/>
              <a:t>("\n\</a:t>
            </a:r>
            <a:r>
              <a:rPr lang="en-IN" dirty="0" err="1"/>
              <a:t>nEnter</a:t>
            </a:r>
            <a:r>
              <a:rPr lang="en-IN" dirty="0"/>
              <a:t> temperature in Fahrenheit: ");</a:t>
            </a:r>
          </a:p>
          <a:p>
            <a:pPr marL="0" indent="0">
              <a:buNone/>
            </a:pPr>
            <a:r>
              <a:rPr lang="en-IN" dirty="0"/>
              <a:t>    </a:t>
            </a:r>
            <a:r>
              <a:rPr lang="en-IN" dirty="0" err="1"/>
              <a:t>scanf</a:t>
            </a:r>
            <a:r>
              <a:rPr lang="en-IN" dirty="0"/>
              <a:t>("%f", &amp;</a:t>
            </a:r>
            <a:r>
              <a:rPr lang="en-IN" dirty="0" err="1"/>
              <a:t>fahrenheit</a:t>
            </a:r>
            <a:r>
              <a:rPr lang="en-IN" dirty="0"/>
              <a:t>);</a:t>
            </a:r>
          </a:p>
          <a:p>
            <a:pPr marL="0" indent="0">
              <a:buNone/>
            </a:pPr>
            <a:r>
              <a:rPr lang="en-IN" dirty="0"/>
              <a:t>    </a:t>
            </a:r>
            <a:r>
              <a:rPr lang="en-IN" dirty="0" err="1"/>
              <a:t>printf</a:t>
            </a:r>
            <a:r>
              <a:rPr lang="en-IN" dirty="0"/>
              <a:t>("\</a:t>
            </a:r>
            <a:r>
              <a:rPr lang="en-IN" dirty="0" err="1"/>
              <a:t>nFahrenheit</a:t>
            </a:r>
            <a:r>
              <a:rPr lang="en-IN" dirty="0"/>
              <a:t> to Celsius = %.2f C",</a:t>
            </a:r>
          </a:p>
          <a:p>
            <a:pPr marL="0" indent="0">
              <a:buNone/>
            </a:pPr>
            <a:r>
              <a:rPr lang="en-IN" dirty="0"/>
              <a:t>           </a:t>
            </a:r>
            <a:r>
              <a:rPr lang="en-IN" dirty="0" err="1"/>
              <a:t>fahrenheitToCelsius</a:t>
            </a:r>
            <a:r>
              <a:rPr lang="en-IN" dirty="0"/>
              <a:t>(</a:t>
            </a:r>
            <a:r>
              <a:rPr lang="en-IN" dirty="0" err="1"/>
              <a:t>fahrenheit</a:t>
            </a:r>
            <a:r>
              <a:rPr lang="en-IN" dirty="0"/>
              <a:t>));</a:t>
            </a:r>
          </a:p>
          <a:p>
            <a:pPr marL="0" indent="0">
              <a:buNone/>
            </a:pPr>
            <a:r>
              <a:rPr lang="en-IN" dirty="0"/>
              <a:t>    return 0;</a:t>
            </a:r>
          </a:p>
          <a:p>
            <a:pPr marL="0" indent="0">
              <a:buNone/>
            </a:pPr>
            <a:r>
              <a:rPr lang="en-IN" dirty="0"/>
              <a:t>}</a:t>
            </a:r>
          </a:p>
          <a:p>
            <a:pPr marL="0" indent="0">
              <a:buNone/>
            </a:pPr>
            <a:r>
              <a:rPr lang="en-IN" b="1" dirty="0"/>
              <a:t>Sample Input</a:t>
            </a:r>
          </a:p>
          <a:p>
            <a:pPr marL="0" indent="0">
              <a:buNone/>
            </a:pPr>
            <a:r>
              <a:rPr lang="en-IN" dirty="0"/>
              <a:t>Enter temperature in Celsius: 25</a:t>
            </a:r>
          </a:p>
          <a:p>
            <a:pPr marL="0" indent="0">
              <a:buNone/>
            </a:pPr>
            <a:endParaRPr lang="en-IN" dirty="0"/>
          </a:p>
          <a:p>
            <a:pPr marL="0" indent="0">
              <a:buNone/>
            </a:pPr>
            <a:r>
              <a:rPr lang="en-IN" dirty="0"/>
              <a:t>Enter temperature in Fahrenheit: 98.6</a:t>
            </a:r>
          </a:p>
          <a:p>
            <a:pPr marL="0" indent="0">
              <a:buNone/>
            </a:pPr>
            <a:r>
              <a:rPr lang="en-IN" b="1" dirty="0"/>
              <a:t>Sample Output</a:t>
            </a:r>
          </a:p>
          <a:p>
            <a:pPr marL="0" indent="0">
              <a:buNone/>
            </a:pPr>
            <a:r>
              <a:rPr lang="en-IN" dirty="0"/>
              <a:t>Celsius to Fahrenheit = 77.00 F</a:t>
            </a:r>
          </a:p>
          <a:p>
            <a:pPr marL="0" indent="0">
              <a:buNone/>
            </a:pPr>
            <a:r>
              <a:rPr lang="en-IN" dirty="0"/>
              <a:t>Celsius to Kelvin = 298.15 K</a:t>
            </a:r>
          </a:p>
          <a:p>
            <a:pPr marL="0" indent="0">
              <a:buNone/>
            </a:pPr>
            <a:endParaRPr lang="en-IN" dirty="0"/>
          </a:p>
          <a:p>
            <a:pPr marL="0" indent="0">
              <a:buNone/>
            </a:pPr>
            <a:r>
              <a:rPr lang="en-IN" dirty="0"/>
              <a:t>Fahrenheit to Celsius = 37.00 C</a:t>
            </a:r>
          </a:p>
          <a:p>
            <a:pPr marL="0" indent="0">
              <a:buNone/>
            </a:pPr>
            <a:endParaRPr lang="en-IN" dirty="0"/>
          </a:p>
        </p:txBody>
      </p:sp>
    </p:spTree>
    <p:extLst>
      <p:ext uri="{BB962C8B-B14F-4D97-AF65-F5344CB8AC3E}">
        <p14:creationId xmlns:p14="http://schemas.microsoft.com/office/powerpoint/2010/main" val="16623028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marL="0" lvl="0" indent="0">
              <a:buNone/>
            </a:pPr>
            <a:r>
              <a:rPr lang="en-IN" dirty="0"/>
              <a:t>[1] B. W. Kernighan and D. M. Ritchie, </a:t>
            </a:r>
            <a:r>
              <a:rPr lang="en-IN" i="1" dirty="0"/>
              <a:t>The C Programming Language</a:t>
            </a:r>
            <a:r>
              <a:rPr lang="en-IN" dirty="0"/>
              <a:t>, 2nd Ed., Prentice Hall, 1988.</a:t>
            </a:r>
            <a:br>
              <a:rPr lang="en-IN" dirty="0"/>
            </a:br>
            <a:r>
              <a:rPr lang="en-IN" dirty="0"/>
              <a:t>[2] Y. Kanetkar, </a:t>
            </a:r>
            <a:r>
              <a:rPr lang="en-IN" i="1" dirty="0"/>
              <a:t>Let Us C</a:t>
            </a:r>
            <a:r>
              <a:rPr lang="en-IN" dirty="0"/>
              <a:t>, BPB Publications.</a:t>
            </a:r>
            <a:br>
              <a:rPr lang="en-IN" dirty="0"/>
            </a:br>
            <a:r>
              <a:rPr lang="en-IN" dirty="0"/>
              <a:t>[3] H. Schildt, </a:t>
            </a:r>
            <a:r>
              <a:rPr lang="en-IN" i="1" dirty="0"/>
              <a:t>C: The Complete Reference</a:t>
            </a:r>
            <a:r>
              <a:rPr lang="en-IN" dirty="0"/>
              <a:t>, McGraw-Hill Education.</a:t>
            </a:r>
            <a:br>
              <a:rPr lang="en-IN" dirty="0"/>
            </a:br>
            <a:r>
              <a:rPr lang="en-IN" dirty="0"/>
              <a:t>[4] GNU Project, </a:t>
            </a:r>
            <a:r>
              <a:rPr lang="en-IN" i="1" dirty="0"/>
              <a:t>GNU C Language Manual</a:t>
            </a:r>
            <a:r>
              <a:rPr lang="en-IN" dirty="0"/>
              <a:t>.</a:t>
            </a:r>
            <a:br>
              <a:rPr lang="en-IN" dirty="0"/>
            </a:br>
            <a:r>
              <a:rPr lang="en-IN" dirty="0"/>
              <a:t>[5] </a:t>
            </a:r>
            <a:r>
              <a:rPr lang="en-IN" dirty="0" err="1"/>
              <a:t>cppreference</a:t>
            </a:r>
            <a:r>
              <a:rPr lang="en-IN" dirty="0"/>
              <a:t>, </a:t>
            </a:r>
            <a:r>
              <a:rPr lang="en-IN" i="1" dirty="0"/>
              <a:t>C Language – Functions</a:t>
            </a:r>
            <a:r>
              <a:rPr lang="en-IN" dirty="0"/>
              <a:t>.</a:t>
            </a:r>
          </a:p>
        </p:txBody>
      </p:sp>
    </p:spTree>
    <p:extLst>
      <p:ext uri="{BB962C8B-B14F-4D97-AF65-F5344CB8AC3E}">
        <p14:creationId xmlns:p14="http://schemas.microsoft.com/office/powerpoint/2010/main" val="36281174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vert="horz" lIns="91440" tIns="45720" rIns="91440" bIns="45720" rtlCol="0" anchor="t">
            <a:normAutofit fontScale="92500" lnSpcReduction="20000"/>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 SLO 9</a:t>
            </a:r>
          </a:p>
          <a:p>
            <a:pPr>
              <a:lnSpc>
                <a:spcPct val="110000"/>
              </a:lnSpc>
            </a:pPr>
            <a:r>
              <a:rPr lang="en-IN" b="1" dirty="0">
                <a:latin typeface="Times New Roman"/>
                <a:cs typeface="Times New Roman"/>
              </a:rPr>
              <a:t>SLO 9:</a:t>
            </a:r>
            <a:r>
              <a:rPr lang="en-US" i="1" dirty="0"/>
              <a:t>Develop recursive thinking to solve problems whose solutions depend on smaller </a:t>
            </a:r>
            <a:r>
              <a:rPr lang="en-IN" i="1" dirty="0"/>
              <a:t>subproblems.</a:t>
            </a: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189612439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A3C46B-FE01-24AA-1A24-DB6894185902}"/>
              </a:ext>
            </a:extLst>
          </p:cNvPr>
          <p:cNvSpPr>
            <a:spLocks noGrp="1"/>
          </p:cNvSpPr>
          <p:nvPr>
            <p:ph type="title"/>
          </p:nvPr>
        </p:nvSpPr>
        <p:spPr>
          <a:xfrm>
            <a:off x="397328" y="107156"/>
            <a:ext cx="10287000" cy="818130"/>
          </a:xfrm>
        </p:spPr>
        <p:txBody>
          <a:bodyPr/>
          <a:lstStyle/>
          <a:p>
            <a:r>
              <a:rPr lang="en-IN" i="1" dirty="0"/>
              <a:t>Recursive thinking</a:t>
            </a:r>
            <a:endParaRPr lang="en-IN" dirty="0"/>
          </a:p>
        </p:txBody>
      </p:sp>
      <p:sp>
        <p:nvSpPr>
          <p:cNvPr id="5" name="Content Placeholder 4">
            <a:extLst>
              <a:ext uri="{FF2B5EF4-FFF2-40B4-BE49-F238E27FC236}">
                <a16:creationId xmlns:a16="http://schemas.microsoft.com/office/drawing/2014/main" id="{8D42C949-2589-21F0-31D8-103CECC108A2}"/>
              </a:ext>
            </a:extLst>
          </p:cNvPr>
          <p:cNvSpPr>
            <a:spLocks noGrp="1"/>
          </p:cNvSpPr>
          <p:nvPr>
            <p:ph sz="half" idx="1"/>
          </p:nvPr>
        </p:nvSpPr>
        <p:spPr>
          <a:xfrm>
            <a:off x="402770" y="1328059"/>
            <a:ext cx="5067300" cy="5422785"/>
          </a:xfrm>
        </p:spPr>
        <p:txBody>
          <a:bodyPr>
            <a:normAutofit fontScale="92500" lnSpcReduction="20000"/>
          </a:bodyPr>
          <a:lstStyle/>
          <a:p>
            <a:pPr algn="just"/>
            <a:r>
              <a:rPr lang="en-IN" b="1" dirty="0"/>
              <a:t>Recursive thinking</a:t>
            </a:r>
            <a:r>
              <a:rPr lang="en-IN" dirty="0"/>
              <a:t> is a problem-solving approach in which we </a:t>
            </a:r>
            <a:r>
              <a:rPr lang="en-IN" b="1" dirty="0"/>
              <a:t>break a large problem into smaller problems of the same type</a:t>
            </a:r>
            <a:r>
              <a:rPr lang="en-IN" dirty="0"/>
              <a:t>, solve the smaller problem, and use its solution to solve the original problem.</a:t>
            </a:r>
          </a:p>
          <a:p>
            <a:pPr algn="just"/>
            <a:r>
              <a:rPr lang="en-IN" dirty="0"/>
              <a:t>In simple words: </a:t>
            </a:r>
            <a:r>
              <a:rPr lang="en-IN" b="1" dirty="0"/>
              <a:t>“Solve a problem by solving a smaller version of the same problem.”</a:t>
            </a:r>
            <a:endParaRPr lang="en-IN" dirty="0"/>
          </a:p>
          <a:p>
            <a:pPr marL="0" indent="0">
              <a:buNone/>
            </a:pPr>
            <a:endParaRPr lang="en-IN" b="1" dirty="0"/>
          </a:p>
          <a:p>
            <a:pPr marL="0" indent="0">
              <a:buNone/>
            </a:pPr>
            <a:r>
              <a:rPr lang="en-IN" b="1" dirty="0"/>
              <a:t>Simple Example</a:t>
            </a:r>
          </a:p>
          <a:p>
            <a:r>
              <a:rPr lang="en-IN" dirty="0"/>
              <a:t>Suppose we want to calculate:</a:t>
            </a:r>
          </a:p>
          <a:p>
            <a:pPr marL="0" indent="0">
              <a:buNone/>
            </a:pPr>
            <a:r>
              <a:rPr lang="en-IN" b="1" dirty="0"/>
              <a:t>    5! = 5 × 4 × 3 × 2 × 1</a:t>
            </a:r>
            <a:endParaRPr lang="en-IN" dirty="0"/>
          </a:p>
          <a:p>
            <a:r>
              <a:rPr lang="en-IN" dirty="0"/>
              <a:t>Instead of solving everything at once, think:</a:t>
            </a:r>
          </a:p>
          <a:p>
            <a:endParaRPr lang="en-IN" dirty="0"/>
          </a:p>
        </p:txBody>
      </p:sp>
      <p:sp>
        <p:nvSpPr>
          <p:cNvPr id="6" name="Content Placeholder 5">
            <a:extLst>
              <a:ext uri="{FF2B5EF4-FFF2-40B4-BE49-F238E27FC236}">
                <a16:creationId xmlns:a16="http://schemas.microsoft.com/office/drawing/2014/main" id="{29865512-96A5-F3D6-D0EA-CE3253D6AF54}"/>
              </a:ext>
            </a:extLst>
          </p:cNvPr>
          <p:cNvSpPr>
            <a:spLocks noGrp="1"/>
          </p:cNvSpPr>
          <p:nvPr>
            <p:ph sz="half" idx="2"/>
          </p:nvPr>
        </p:nvSpPr>
        <p:spPr>
          <a:xfrm>
            <a:off x="7032171" y="1328059"/>
            <a:ext cx="5067300" cy="4952999"/>
          </a:xfrm>
        </p:spPr>
        <p:txBody>
          <a:bodyPr>
            <a:normAutofit fontScale="92500" lnSpcReduction="20000"/>
          </a:bodyPr>
          <a:lstStyle/>
          <a:p>
            <a:pPr marL="0" indent="0">
              <a:buNone/>
            </a:pPr>
            <a:r>
              <a:rPr lang="en-IN" dirty="0"/>
              <a:t>5! = 5 × 4! </a:t>
            </a:r>
          </a:p>
          <a:p>
            <a:pPr marL="0" indent="0">
              <a:buNone/>
            </a:pPr>
            <a:r>
              <a:rPr lang="en-IN" dirty="0"/>
              <a:t>4! = 4 × 3!</a:t>
            </a:r>
          </a:p>
          <a:p>
            <a:pPr marL="0" indent="0">
              <a:buNone/>
            </a:pPr>
            <a:r>
              <a:rPr lang="en-IN" dirty="0"/>
              <a:t> 3! = 3 × 2! </a:t>
            </a:r>
          </a:p>
          <a:p>
            <a:pPr marL="0" indent="0">
              <a:buNone/>
            </a:pPr>
            <a:r>
              <a:rPr lang="en-IN" dirty="0"/>
              <a:t>2! = 2 × 1! </a:t>
            </a:r>
          </a:p>
          <a:p>
            <a:pPr marL="0" indent="0">
              <a:buNone/>
            </a:pPr>
            <a:r>
              <a:rPr lang="en-IN" dirty="0"/>
              <a:t>1! = 1</a:t>
            </a:r>
          </a:p>
          <a:p>
            <a:pPr marL="0" indent="0">
              <a:buNone/>
            </a:pPr>
            <a:r>
              <a:rPr lang="en-IN" dirty="0"/>
              <a:t>Here, </a:t>
            </a:r>
            <a:r>
              <a:rPr lang="en-IN" b="1" dirty="0"/>
              <a:t>5! is reduced to 4!, then 4! to 3!, and so on</a:t>
            </a:r>
            <a:r>
              <a:rPr lang="en-IN" dirty="0"/>
              <a:t>.</a:t>
            </a:r>
          </a:p>
          <a:p>
            <a:pPr marL="0" indent="0">
              <a:buNone/>
            </a:pPr>
            <a:r>
              <a:rPr lang="en-IN" dirty="0"/>
              <a:t>The smallest problem, 1! = 1, is the </a:t>
            </a:r>
            <a:r>
              <a:rPr lang="en-IN" b="1" dirty="0"/>
              <a:t>base case</a:t>
            </a:r>
            <a:r>
              <a:rPr lang="en-IN" dirty="0"/>
              <a:t>.</a:t>
            </a:r>
          </a:p>
          <a:p>
            <a:pPr marL="0" indent="0">
              <a:buNone/>
            </a:pPr>
            <a:r>
              <a:rPr lang="en-IN" b="1" dirty="0"/>
              <a:t>Two Important Parts</a:t>
            </a:r>
          </a:p>
          <a:p>
            <a:pPr marL="0" indent="0">
              <a:buNone/>
            </a:pPr>
            <a:r>
              <a:rPr lang="en-IN" dirty="0"/>
              <a:t>Every recursive way of thinking usually identifies:</a:t>
            </a:r>
          </a:p>
          <a:p>
            <a:pPr lvl="0"/>
            <a:r>
              <a:rPr lang="en-IN" b="1" dirty="0"/>
              <a:t>Base Case</a:t>
            </a:r>
            <a:r>
              <a:rPr lang="en-IN" dirty="0"/>
              <a:t> – the simplest problem that can be solved directly. </a:t>
            </a:r>
          </a:p>
          <a:p>
            <a:pPr lvl="0"/>
            <a:r>
              <a:rPr lang="en-IN" b="1" dirty="0"/>
              <a:t>Recursive Case</a:t>
            </a:r>
            <a:r>
              <a:rPr lang="en-IN" dirty="0"/>
              <a:t> – reducing the current problem into a smaller version of itself.</a:t>
            </a:r>
          </a:p>
          <a:p>
            <a:endParaRPr lang="en-IN" dirty="0"/>
          </a:p>
        </p:txBody>
      </p:sp>
    </p:spTree>
    <p:extLst>
      <p:ext uri="{BB962C8B-B14F-4D97-AF65-F5344CB8AC3E}">
        <p14:creationId xmlns:p14="http://schemas.microsoft.com/office/powerpoint/2010/main" val="51223906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1B69A-7428-286E-AA8C-02215B192D45}"/>
              </a:ext>
            </a:extLst>
          </p:cNvPr>
          <p:cNvSpPr>
            <a:spLocks noGrp="1"/>
          </p:cNvSpPr>
          <p:nvPr>
            <p:ph sz="half" idx="1"/>
          </p:nvPr>
        </p:nvSpPr>
        <p:spPr>
          <a:xfrm>
            <a:off x="375557" y="457199"/>
            <a:ext cx="5067300" cy="6128658"/>
          </a:xfrm>
        </p:spPr>
        <p:txBody>
          <a:bodyPr>
            <a:normAutofit lnSpcReduction="10000"/>
          </a:bodyPr>
          <a:lstStyle/>
          <a:p>
            <a:pPr marL="0" indent="0">
              <a:buNone/>
            </a:pPr>
            <a:r>
              <a:rPr lang="en-IN" dirty="0"/>
              <a:t>Real-life analogy</a:t>
            </a:r>
          </a:p>
          <a:p>
            <a:pPr marL="0" indent="0">
              <a:buNone/>
            </a:pPr>
            <a:r>
              <a:rPr lang="en-IN" dirty="0"/>
              <a:t>Imagine climbing down stairs:</a:t>
            </a:r>
          </a:p>
          <a:p>
            <a:pPr marL="0" indent="0">
              <a:buNone/>
            </a:pPr>
            <a:r>
              <a:rPr lang="en-IN" dirty="0"/>
              <a:t>5th floor </a:t>
            </a:r>
          </a:p>
          <a:p>
            <a:pPr marL="0" indent="0">
              <a:buNone/>
            </a:pPr>
            <a:r>
              <a:rPr lang="en-IN" dirty="0"/>
              <a:t>↓ </a:t>
            </a:r>
          </a:p>
          <a:p>
            <a:pPr marL="0" indent="0">
              <a:buNone/>
            </a:pPr>
            <a:r>
              <a:rPr lang="en-IN" dirty="0"/>
              <a:t>4th floor </a:t>
            </a:r>
          </a:p>
          <a:p>
            <a:pPr marL="0" indent="0">
              <a:buNone/>
            </a:pPr>
            <a:r>
              <a:rPr lang="en-IN" dirty="0"/>
              <a:t>↓ </a:t>
            </a:r>
          </a:p>
          <a:p>
            <a:pPr marL="0" indent="0">
              <a:buNone/>
            </a:pPr>
            <a:r>
              <a:rPr lang="en-IN" dirty="0"/>
              <a:t>3</a:t>
            </a:r>
            <a:r>
              <a:rPr lang="en-IN" baseline="30000" dirty="0"/>
              <a:t>rd</a:t>
            </a:r>
            <a:r>
              <a:rPr lang="en-IN" dirty="0"/>
              <a:t> floor </a:t>
            </a:r>
          </a:p>
          <a:p>
            <a:pPr marL="0" indent="0">
              <a:buNone/>
            </a:pPr>
            <a:r>
              <a:rPr lang="en-IN" dirty="0"/>
              <a:t>↓ </a:t>
            </a:r>
          </a:p>
          <a:p>
            <a:pPr marL="0" indent="0">
              <a:buNone/>
            </a:pPr>
            <a:r>
              <a:rPr lang="en-IN" dirty="0"/>
              <a:t>2nd floor </a:t>
            </a:r>
          </a:p>
          <a:p>
            <a:pPr marL="0" indent="0">
              <a:buNone/>
            </a:pPr>
            <a:r>
              <a:rPr lang="en-IN" dirty="0"/>
              <a:t>↓ </a:t>
            </a:r>
          </a:p>
          <a:p>
            <a:pPr marL="0" indent="0">
              <a:buNone/>
            </a:pPr>
            <a:r>
              <a:rPr lang="en-IN" dirty="0"/>
              <a:t>1st floor</a:t>
            </a:r>
          </a:p>
          <a:p>
            <a:pPr marL="0" indent="0">
              <a:buNone/>
            </a:pPr>
            <a:endParaRPr lang="en-IN" dirty="0"/>
          </a:p>
          <a:p>
            <a:pPr marL="0" indent="0">
              <a:buNone/>
            </a:pPr>
            <a:r>
              <a:rPr lang="en-IN" dirty="0"/>
              <a:t>At the ground floor, you stop. Each step is a </a:t>
            </a:r>
            <a:r>
              <a:rPr lang="en-IN" b="1" dirty="0"/>
              <a:t>smaller version of the original task</a:t>
            </a:r>
            <a:r>
              <a:rPr lang="en-IN" dirty="0"/>
              <a:t>.</a:t>
            </a:r>
          </a:p>
        </p:txBody>
      </p:sp>
      <p:sp>
        <p:nvSpPr>
          <p:cNvPr id="4" name="Content Placeholder 3">
            <a:extLst>
              <a:ext uri="{FF2B5EF4-FFF2-40B4-BE49-F238E27FC236}">
                <a16:creationId xmlns:a16="http://schemas.microsoft.com/office/drawing/2014/main" id="{558CE944-56B1-8E55-04F4-C104CD7DDE86}"/>
              </a:ext>
            </a:extLst>
          </p:cNvPr>
          <p:cNvSpPr>
            <a:spLocks noGrp="1"/>
          </p:cNvSpPr>
          <p:nvPr>
            <p:ph sz="half" idx="2"/>
          </p:nvPr>
        </p:nvSpPr>
        <p:spPr>
          <a:xfrm>
            <a:off x="6172200" y="457200"/>
            <a:ext cx="5067300" cy="5719763"/>
          </a:xfrm>
        </p:spPr>
        <p:txBody>
          <a:bodyPr>
            <a:normAutofit lnSpcReduction="10000"/>
          </a:bodyPr>
          <a:lstStyle/>
          <a:p>
            <a:pPr marL="0" indent="0">
              <a:buNone/>
            </a:pPr>
            <a:r>
              <a:rPr lang="en-IN" b="1" dirty="0"/>
              <a:t>Key idea for students</a:t>
            </a:r>
          </a:p>
          <a:p>
            <a:pPr marL="0" indent="0">
              <a:buNone/>
            </a:pPr>
            <a:r>
              <a:rPr lang="en-IN" b="1" dirty="0"/>
              <a:t>Recursive thinking = Identify → Reduce → Repeat → Stop at the base case</a:t>
            </a:r>
            <a:endParaRPr lang="en-IN" dirty="0"/>
          </a:p>
          <a:p>
            <a:pPr marL="0" indent="0">
              <a:buNone/>
            </a:pPr>
            <a:endParaRPr lang="en-IN" dirty="0"/>
          </a:p>
          <a:p>
            <a:pPr marL="0" indent="0">
              <a:buNone/>
            </a:pPr>
            <a:r>
              <a:rPr lang="en-IN" dirty="0"/>
              <a:t>It is useful for problems such as </a:t>
            </a:r>
            <a:r>
              <a:rPr lang="en-IN" b="1" dirty="0"/>
              <a:t>factorial, Fibonacci series, GCD, binary search, tree traversal, and Tower of Hanoi</a:t>
            </a:r>
            <a:r>
              <a:rPr lang="en-IN" dirty="0"/>
              <a:t>.</a:t>
            </a:r>
          </a:p>
          <a:p>
            <a:endParaRPr lang="en-IN" dirty="0"/>
          </a:p>
        </p:txBody>
      </p:sp>
    </p:spTree>
    <p:extLst>
      <p:ext uri="{BB962C8B-B14F-4D97-AF65-F5344CB8AC3E}">
        <p14:creationId xmlns:p14="http://schemas.microsoft.com/office/powerpoint/2010/main" val="371995009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A944-80F1-C196-E565-2C5966C66E92}"/>
              </a:ext>
            </a:extLst>
          </p:cNvPr>
          <p:cNvSpPr>
            <a:spLocks noGrp="1"/>
          </p:cNvSpPr>
          <p:nvPr>
            <p:ph type="title"/>
          </p:nvPr>
        </p:nvSpPr>
        <p:spPr>
          <a:xfrm>
            <a:off x="876299" y="107156"/>
            <a:ext cx="10455729" cy="573881"/>
          </a:xfrm>
        </p:spPr>
        <p:txBody>
          <a:bodyPr>
            <a:normAutofit/>
          </a:bodyPr>
          <a:lstStyle/>
          <a:p>
            <a:r>
              <a:rPr lang="en-IN" dirty="0"/>
              <a:t>Recursive Thinking for Problem Solving in C</a:t>
            </a:r>
          </a:p>
        </p:txBody>
      </p:sp>
      <p:sp>
        <p:nvSpPr>
          <p:cNvPr id="3" name="Content Placeholder 2">
            <a:extLst>
              <a:ext uri="{FF2B5EF4-FFF2-40B4-BE49-F238E27FC236}">
                <a16:creationId xmlns:a16="http://schemas.microsoft.com/office/drawing/2014/main" id="{2C1BC3E2-55A4-4F4A-080B-D537D0463CC6}"/>
              </a:ext>
            </a:extLst>
          </p:cNvPr>
          <p:cNvSpPr>
            <a:spLocks noGrp="1"/>
          </p:cNvSpPr>
          <p:nvPr>
            <p:ph sz="half" idx="1"/>
          </p:nvPr>
        </p:nvSpPr>
        <p:spPr>
          <a:xfrm>
            <a:off x="952500" y="903514"/>
            <a:ext cx="5067300" cy="5273449"/>
          </a:xfrm>
        </p:spPr>
        <p:txBody>
          <a:bodyPr/>
          <a:lstStyle/>
          <a:p>
            <a:pPr marL="0" indent="0">
              <a:buNone/>
            </a:pPr>
            <a:r>
              <a:rPr lang="en-IN" b="1" dirty="0"/>
              <a:t>Recursive thinking</a:t>
            </a:r>
            <a:r>
              <a:rPr lang="en-IN" dirty="0"/>
              <a:t> is a problem-solving technique where a problem is solved by </a:t>
            </a:r>
            <a:r>
              <a:rPr lang="en-IN" b="1" dirty="0"/>
              <a:t>breaking it into smaller versions of the same problem</a:t>
            </a:r>
            <a:r>
              <a:rPr lang="en-IN" dirty="0"/>
              <a:t> until reaching a simple case that can be solved directly.</a:t>
            </a:r>
          </a:p>
          <a:p>
            <a:r>
              <a:rPr lang="en-IN" dirty="0"/>
              <a:t>In C, recursion is implemented using a </a:t>
            </a:r>
            <a:r>
              <a:rPr lang="en-IN" b="1" dirty="0"/>
              <a:t>function that calls itself</a:t>
            </a:r>
            <a:r>
              <a:rPr lang="en-IN" dirty="0"/>
              <a:t>.</a:t>
            </a:r>
          </a:p>
          <a:p>
            <a:pPr marL="0" indent="0">
              <a:buNone/>
            </a:pPr>
            <a:endParaRPr lang="en-IN" b="1" dirty="0"/>
          </a:p>
          <a:p>
            <a:pPr marL="0" indent="0">
              <a:buNone/>
            </a:pPr>
            <a:r>
              <a:rPr lang="en-IN" b="1" dirty="0"/>
              <a:t>1)  Basic idea</a:t>
            </a:r>
          </a:p>
          <a:p>
            <a:pPr marL="0" indent="0">
              <a:buNone/>
            </a:pPr>
            <a:r>
              <a:rPr lang="en-IN" dirty="0"/>
              <a:t>A recursive solution generally has two parts:</a:t>
            </a:r>
          </a:p>
          <a:p>
            <a:pPr lvl="0"/>
            <a:r>
              <a:rPr lang="en-IN" b="1" dirty="0"/>
              <a:t>Base Case</a:t>
            </a:r>
            <a:r>
              <a:rPr lang="en-IN" dirty="0"/>
              <a:t> – the condition that stops recursion. </a:t>
            </a:r>
          </a:p>
          <a:p>
            <a:pPr lvl="0"/>
            <a:r>
              <a:rPr lang="en-IN" b="1" dirty="0"/>
              <a:t>Recursive Case</a:t>
            </a:r>
            <a:r>
              <a:rPr lang="en-IN" dirty="0"/>
              <a:t> – the function calls itself with a smaller/simpler input.</a:t>
            </a:r>
          </a:p>
          <a:p>
            <a:pPr marL="0" indent="0">
              <a:buNone/>
            </a:pPr>
            <a:endParaRPr lang="en-IN" dirty="0"/>
          </a:p>
        </p:txBody>
      </p:sp>
      <p:sp>
        <p:nvSpPr>
          <p:cNvPr id="4" name="Content Placeholder 3">
            <a:extLst>
              <a:ext uri="{FF2B5EF4-FFF2-40B4-BE49-F238E27FC236}">
                <a16:creationId xmlns:a16="http://schemas.microsoft.com/office/drawing/2014/main" id="{53F82007-A79E-BD86-BEBC-1EBA9F95159A}"/>
              </a:ext>
            </a:extLst>
          </p:cNvPr>
          <p:cNvSpPr>
            <a:spLocks noGrp="1"/>
          </p:cNvSpPr>
          <p:nvPr>
            <p:ph sz="half" idx="2"/>
          </p:nvPr>
        </p:nvSpPr>
        <p:spPr>
          <a:xfrm>
            <a:off x="6912428" y="1045028"/>
            <a:ext cx="5067300" cy="5273449"/>
          </a:xfrm>
        </p:spPr>
        <p:txBody>
          <a:bodyPr/>
          <a:lstStyle/>
          <a:p>
            <a:r>
              <a:rPr lang="en-IN" dirty="0"/>
              <a:t>General structure of Recursion </a:t>
            </a:r>
          </a:p>
          <a:p>
            <a:endParaRPr lang="en-IN" dirty="0"/>
          </a:p>
        </p:txBody>
      </p:sp>
      <p:pic>
        <p:nvPicPr>
          <p:cNvPr id="8" name="Picture 7">
            <a:extLst>
              <a:ext uri="{FF2B5EF4-FFF2-40B4-BE49-F238E27FC236}">
                <a16:creationId xmlns:a16="http://schemas.microsoft.com/office/drawing/2014/main" id="{4EC1D7BB-7E59-07A0-2B28-25318DC29489}"/>
              </a:ext>
            </a:extLst>
          </p:cNvPr>
          <p:cNvPicPr>
            <a:picLocks noChangeAspect="1"/>
          </p:cNvPicPr>
          <p:nvPr/>
        </p:nvPicPr>
        <p:blipFill>
          <a:blip r:embed="rId2"/>
          <a:stretch>
            <a:fillRect/>
          </a:stretch>
        </p:blipFill>
        <p:spPr>
          <a:xfrm>
            <a:off x="7328760" y="1888190"/>
            <a:ext cx="4166554" cy="3924781"/>
          </a:xfrm>
          <a:prstGeom prst="rect">
            <a:avLst/>
          </a:prstGeom>
        </p:spPr>
      </p:pic>
    </p:spTree>
    <p:extLst>
      <p:ext uri="{BB962C8B-B14F-4D97-AF65-F5344CB8AC3E}">
        <p14:creationId xmlns:p14="http://schemas.microsoft.com/office/powerpoint/2010/main" val="148801894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61C1AB-B879-2CDA-464E-3FFA56ED6E5D}"/>
                  </a:ext>
                </a:extLst>
              </p:cNvPr>
              <p:cNvSpPr>
                <a:spLocks noGrp="1"/>
              </p:cNvSpPr>
              <p:nvPr>
                <p:ph sz="half" idx="1"/>
              </p:nvPr>
            </p:nvSpPr>
            <p:spPr>
              <a:xfrm>
                <a:off x="952500" y="0"/>
                <a:ext cx="5067300" cy="6176964"/>
              </a:xfrm>
            </p:spPr>
            <p:txBody>
              <a:bodyPr>
                <a:normAutofit fontScale="77500" lnSpcReduction="20000"/>
              </a:bodyPr>
              <a:lstStyle/>
              <a:p>
                <a:pPr marL="0" indent="0">
                  <a:buNone/>
                </a:pPr>
                <a:r>
                  <a:rPr lang="en-IN" sz="1900" b="1" dirty="0"/>
                  <a:t>2) Example: Factorial</a:t>
                </a:r>
              </a:p>
              <a:p>
                <a:pPr marL="0" indent="0">
                  <a:buNone/>
                </a:pPr>
                <a:r>
                  <a:rPr lang="en-IN" sz="1900" dirty="0"/>
                  <a:t>Mathematically:</a:t>
                </a:r>
              </a:p>
              <a:p>
                <a:pPr marL="0" indent="0">
                  <a:buNone/>
                </a:pPr>
                <a14:m>
                  <m:oMathPara xmlns:m="http://schemas.openxmlformats.org/officeDocument/2006/math">
                    <m:oMath>
                      <m:r>
                        <a:rPr lang="en-IN" sz="1900" i="1">
                          <a:latin typeface="Cambria Math" panose="02040503050406030204" pitchFamily="18" charset="0"/>
                        </a:rPr>
                        <m:t>𝑛</m:t>
                      </m:r>
                      <m:r>
                        <a:rPr lang="en-IN" sz="1900">
                          <a:latin typeface="Cambria Math" panose="02040503050406030204" pitchFamily="18" charset="0"/>
                        </a:rPr>
                        <m:t>!=</m:t>
                      </m:r>
                      <m:r>
                        <a:rPr lang="en-IN" sz="1900" i="1">
                          <a:latin typeface="Cambria Math" panose="02040503050406030204" pitchFamily="18" charset="0"/>
                        </a:rPr>
                        <m:t>𝑛</m:t>
                      </m:r>
                      <m:r>
                        <a:rPr lang="en-IN" sz="1900">
                          <a:latin typeface="Cambria Math" panose="02040503050406030204" pitchFamily="18" charset="0"/>
                        </a:rPr>
                        <m:t>×</m:t>
                      </m:r>
                      <m:d>
                        <m:dPr>
                          <m:ctrlPr>
                            <a:rPr lang="en-IN" sz="1900" i="1">
                              <a:latin typeface="Cambria Math" panose="02040503050406030204" pitchFamily="18" charset="0"/>
                            </a:rPr>
                          </m:ctrlPr>
                        </m:dPr>
                        <m:e>
                          <m:r>
                            <a:rPr lang="en-IN" sz="1900" i="1">
                              <a:latin typeface="Cambria Math" panose="02040503050406030204" pitchFamily="18" charset="0"/>
                            </a:rPr>
                            <m:t>𝑛</m:t>
                          </m:r>
                          <m:r>
                            <a:rPr lang="en-IN" sz="1900">
                              <a:latin typeface="Cambria Math" panose="02040503050406030204" pitchFamily="18" charset="0"/>
                            </a:rPr>
                            <m:t>−1</m:t>
                          </m:r>
                        </m:e>
                      </m:d>
                      <m:r>
                        <a:rPr lang="en-IN" sz="1900">
                          <a:latin typeface="Cambria Math" panose="02040503050406030204" pitchFamily="18" charset="0"/>
                        </a:rPr>
                        <m:t>!</m:t>
                      </m:r>
                    </m:oMath>
                  </m:oMathPara>
                </a14:m>
                <a:endParaRPr lang="en-IN" sz="1900" dirty="0"/>
              </a:p>
              <a:p>
                <a:pPr marL="0" indent="0">
                  <a:buNone/>
                </a:pPr>
                <a:r>
                  <a:rPr lang="en-IN" sz="1900" dirty="0"/>
                  <a:t>                                      &amp;</a:t>
                </a:r>
              </a:p>
              <a:p>
                <a:pPr marL="0" indent="0">
                  <a:buNone/>
                </a:pPr>
                <a:r>
                  <a:rPr lang="en-IN" sz="1900" dirty="0"/>
                  <a:t>                                      0!=1</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1761C1AB-B879-2CDA-464E-3FFA56ED6E5D}"/>
                  </a:ext>
                </a:extLst>
              </p:cNvPr>
              <p:cNvSpPr>
                <a:spLocks noGrp="1" noRot="1" noChangeAspect="1" noMove="1" noResize="1" noEditPoints="1" noAdjustHandles="1" noChangeArrowheads="1" noChangeShapeType="1" noTextEdit="1"/>
              </p:cNvSpPr>
              <p:nvPr>
                <p:ph sz="half" idx="1"/>
              </p:nvPr>
            </p:nvSpPr>
            <p:spPr>
              <a:xfrm>
                <a:off x="952500" y="0"/>
                <a:ext cx="5067300" cy="6176964"/>
              </a:xfrm>
              <a:blipFill>
                <a:blip r:embed="rId2"/>
                <a:stretch>
                  <a:fillRect l="-481" t="-197"/>
                </a:stretch>
              </a:blipFill>
            </p:spPr>
            <p:txBody>
              <a:bodyPr/>
              <a:lstStyle/>
              <a:p>
                <a:r>
                  <a:rPr lang="en-IN">
                    <a:noFill/>
                  </a:rPr>
                  <a:t> </a:t>
                </a:r>
              </a:p>
            </p:txBody>
          </p:sp>
        </mc:Fallback>
      </mc:AlternateContent>
      <p:sp>
        <p:nvSpPr>
          <p:cNvPr id="4" name="Content Placeholder 3">
            <a:extLst>
              <a:ext uri="{FF2B5EF4-FFF2-40B4-BE49-F238E27FC236}">
                <a16:creationId xmlns:a16="http://schemas.microsoft.com/office/drawing/2014/main" id="{38881BEC-5136-0014-B57B-FED0C85902AC}"/>
              </a:ext>
            </a:extLst>
          </p:cNvPr>
          <p:cNvSpPr>
            <a:spLocks noGrp="1"/>
          </p:cNvSpPr>
          <p:nvPr>
            <p:ph sz="half" idx="2"/>
          </p:nvPr>
        </p:nvSpPr>
        <p:spPr>
          <a:xfrm>
            <a:off x="6172200" y="206829"/>
            <a:ext cx="5067300" cy="5970134"/>
          </a:xfrm>
        </p:spPr>
        <p:txBody>
          <a:bodyPr>
            <a:normAutofit fontScale="77500" lnSpcReduction="20000"/>
          </a:bodyPr>
          <a:lstStyle/>
          <a:p>
            <a:pPr marL="0" indent="0">
              <a:buNone/>
            </a:pPr>
            <a:r>
              <a:rPr lang="en-IN" dirty="0"/>
              <a:t>How the recursion works:</a:t>
            </a:r>
          </a:p>
          <a:p>
            <a:pPr marL="0" indent="0">
              <a:buNone/>
            </a:pPr>
            <a:r>
              <a:rPr lang="en-IN" dirty="0"/>
              <a:t>For factorial(5):</a:t>
            </a:r>
          </a:p>
          <a:p>
            <a:pPr marL="0" indent="0">
              <a:buNone/>
            </a:pPr>
            <a:r>
              <a:rPr lang="en-IN" dirty="0"/>
              <a:t>1</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Then the results return upward:</a:t>
            </a:r>
          </a:p>
          <a:p>
            <a:pPr marL="0" indent="0">
              <a:buNone/>
            </a:pPr>
            <a:r>
              <a:rPr lang="en-IN" dirty="0"/>
              <a:t>factorial(0) = 1 </a:t>
            </a:r>
          </a:p>
          <a:p>
            <a:pPr marL="0" indent="0">
              <a:buNone/>
            </a:pPr>
            <a:r>
              <a:rPr lang="en-IN" dirty="0"/>
              <a:t>factorial(1) = 1 × 1 = 1</a:t>
            </a:r>
          </a:p>
          <a:p>
            <a:pPr marL="0" indent="0">
              <a:buNone/>
            </a:pPr>
            <a:r>
              <a:rPr lang="en-IN" dirty="0"/>
              <a:t> factorial(2) = 2 × 1 = 2 </a:t>
            </a:r>
          </a:p>
          <a:p>
            <a:pPr marL="0" indent="0">
              <a:buNone/>
            </a:pPr>
            <a:r>
              <a:rPr lang="en-IN" dirty="0"/>
              <a:t>factorial(3) = 3 × 2 = 6</a:t>
            </a:r>
          </a:p>
          <a:p>
            <a:pPr marL="0" indent="0">
              <a:buNone/>
            </a:pPr>
            <a:r>
              <a:rPr lang="en-IN" dirty="0"/>
              <a:t> factorial(4) = 4 × 6 = 24</a:t>
            </a:r>
          </a:p>
          <a:p>
            <a:pPr marL="0" indent="0">
              <a:buNone/>
            </a:pPr>
            <a:r>
              <a:rPr lang="en-IN" dirty="0"/>
              <a:t> factorial(5) = 5 × 24 = 120</a:t>
            </a:r>
          </a:p>
        </p:txBody>
      </p:sp>
      <p:pic>
        <p:nvPicPr>
          <p:cNvPr id="9" name="Picture 8">
            <a:extLst>
              <a:ext uri="{FF2B5EF4-FFF2-40B4-BE49-F238E27FC236}">
                <a16:creationId xmlns:a16="http://schemas.microsoft.com/office/drawing/2014/main" id="{D75FD5D9-E2DF-C689-2B8F-0D2197D47444}"/>
              </a:ext>
            </a:extLst>
          </p:cNvPr>
          <p:cNvPicPr>
            <a:picLocks noChangeAspect="1"/>
          </p:cNvPicPr>
          <p:nvPr/>
        </p:nvPicPr>
        <p:blipFill>
          <a:blip r:embed="rId3"/>
          <a:stretch>
            <a:fillRect/>
          </a:stretch>
        </p:blipFill>
        <p:spPr>
          <a:xfrm>
            <a:off x="936170" y="1758043"/>
            <a:ext cx="4762500" cy="4735286"/>
          </a:xfrm>
          <a:prstGeom prst="rect">
            <a:avLst/>
          </a:prstGeom>
        </p:spPr>
      </p:pic>
      <p:pic>
        <p:nvPicPr>
          <p:cNvPr id="11" name="Picture 10">
            <a:extLst>
              <a:ext uri="{FF2B5EF4-FFF2-40B4-BE49-F238E27FC236}">
                <a16:creationId xmlns:a16="http://schemas.microsoft.com/office/drawing/2014/main" id="{92788DD7-1E11-5DE6-F8B3-AF0452AD15B8}"/>
              </a:ext>
            </a:extLst>
          </p:cNvPr>
          <p:cNvPicPr>
            <a:picLocks noChangeAspect="1"/>
          </p:cNvPicPr>
          <p:nvPr/>
        </p:nvPicPr>
        <p:blipFill>
          <a:blip r:embed="rId4"/>
          <a:stretch>
            <a:fillRect/>
          </a:stretch>
        </p:blipFill>
        <p:spPr>
          <a:xfrm>
            <a:off x="6314545" y="1220580"/>
            <a:ext cx="4451425" cy="2034250"/>
          </a:xfrm>
          <a:prstGeom prst="rect">
            <a:avLst/>
          </a:prstGeom>
        </p:spPr>
      </p:pic>
      <p:pic>
        <p:nvPicPr>
          <p:cNvPr id="13" name="Picture 12">
            <a:extLst>
              <a:ext uri="{FF2B5EF4-FFF2-40B4-BE49-F238E27FC236}">
                <a16:creationId xmlns:a16="http://schemas.microsoft.com/office/drawing/2014/main" id="{B2313D17-CB88-16E6-C1D1-73843FED2D54}"/>
              </a:ext>
            </a:extLst>
          </p:cNvPr>
          <p:cNvPicPr>
            <a:picLocks noChangeAspect="1"/>
          </p:cNvPicPr>
          <p:nvPr/>
        </p:nvPicPr>
        <p:blipFill>
          <a:blip r:embed="rId5"/>
          <a:stretch>
            <a:fillRect/>
          </a:stretch>
        </p:blipFill>
        <p:spPr>
          <a:xfrm>
            <a:off x="9494577" y="3942008"/>
            <a:ext cx="2185796" cy="1805647"/>
          </a:xfrm>
          <a:prstGeom prst="rect">
            <a:avLst/>
          </a:prstGeom>
        </p:spPr>
      </p:pic>
    </p:spTree>
    <p:extLst>
      <p:ext uri="{BB962C8B-B14F-4D97-AF65-F5344CB8AC3E}">
        <p14:creationId xmlns:p14="http://schemas.microsoft.com/office/powerpoint/2010/main" val="274602408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45D3-0E24-58F9-EC17-51052DD61666}"/>
              </a:ext>
            </a:extLst>
          </p:cNvPr>
          <p:cNvSpPr>
            <a:spLocks noGrp="1"/>
          </p:cNvSpPr>
          <p:nvPr>
            <p:ph sz="half" idx="1"/>
          </p:nvPr>
        </p:nvSpPr>
        <p:spPr>
          <a:xfrm>
            <a:off x="800100" y="130629"/>
            <a:ext cx="5067300" cy="6046334"/>
          </a:xfrm>
        </p:spPr>
        <p:txBody>
          <a:bodyPr>
            <a:normAutofit fontScale="92500" lnSpcReduction="10000"/>
          </a:bodyPr>
          <a:lstStyle/>
          <a:p>
            <a:pPr marL="0" indent="0">
              <a:buNone/>
            </a:pPr>
            <a:r>
              <a:rPr lang="en-IN" dirty="0"/>
              <a:t>3. How to Think Recursively</a:t>
            </a:r>
          </a:p>
          <a:p>
            <a:pPr marL="0" indent="0">
              <a:buNone/>
            </a:pPr>
            <a:r>
              <a:rPr lang="en-IN" dirty="0"/>
              <a:t>When solving a programming problem, ask these questions:</a:t>
            </a:r>
          </a:p>
          <a:p>
            <a:pPr marL="0" indent="0">
              <a:buNone/>
            </a:pPr>
            <a:r>
              <a:rPr lang="en-IN" b="1" dirty="0"/>
              <a:t>Step 1: Can the problem be divided into a smaller version of itself?</a:t>
            </a:r>
          </a:p>
          <a:p>
            <a:pPr marL="0" indent="0">
              <a:buNone/>
            </a:pPr>
            <a:r>
              <a:rPr lang="en-IN" dirty="0"/>
              <a:t>For example:</a:t>
            </a:r>
          </a:p>
          <a:p>
            <a:pPr marL="0" indent="0">
              <a:buNone/>
            </a:pPr>
            <a:r>
              <a:rPr lang="en-IN" b="1" dirty="0"/>
              <a:t>Find factorial of 5</a:t>
            </a:r>
            <a:endParaRPr lang="en-IN" dirty="0"/>
          </a:p>
          <a:p>
            <a:pPr marL="0" indent="0">
              <a:buNone/>
            </a:pPr>
            <a:r>
              <a:rPr lang="en-IN" dirty="0"/>
              <a:t>Instead of solving 5! directly:</a:t>
            </a:r>
          </a:p>
          <a:p>
            <a:pPr marL="0" indent="0">
              <a:buNone/>
            </a:pPr>
            <a:r>
              <a:rPr lang="en-IN" dirty="0"/>
              <a:t>           5! = 5 × 4!</a:t>
            </a:r>
          </a:p>
          <a:p>
            <a:pPr marL="0" indent="0">
              <a:buNone/>
            </a:pPr>
            <a:r>
              <a:rPr lang="en-IN" dirty="0"/>
              <a:t>Now the same problem exists again:</a:t>
            </a:r>
          </a:p>
          <a:p>
            <a:pPr marL="0" indent="0">
              <a:buNone/>
            </a:pPr>
            <a:r>
              <a:rPr lang="en-IN" dirty="0"/>
              <a:t>           4! = 4 × 3!</a:t>
            </a:r>
          </a:p>
          <a:p>
            <a:pPr marL="0" indent="0">
              <a:buNone/>
            </a:pPr>
            <a:r>
              <a:rPr lang="en-IN" b="1" dirty="0"/>
              <a:t>Step 2: What is the smallest possible problem?</a:t>
            </a:r>
          </a:p>
          <a:p>
            <a:pPr marL="0" indent="0">
              <a:buNone/>
            </a:pPr>
            <a:r>
              <a:rPr lang="en-IN" dirty="0"/>
              <a:t>For factorial:</a:t>
            </a:r>
          </a:p>
          <a:p>
            <a:pPr marL="0" indent="0">
              <a:buNone/>
            </a:pPr>
            <a:r>
              <a:rPr lang="en-IN" dirty="0"/>
              <a:t>                0! = 1</a:t>
            </a:r>
          </a:p>
          <a:p>
            <a:pPr marL="0" indent="0">
              <a:buNone/>
            </a:pPr>
            <a:r>
              <a:rPr lang="en-IN" dirty="0"/>
              <a:t>This becomes the </a:t>
            </a:r>
            <a:r>
              <a:rPr lang="en-IN" b="1" dirty="0"/>
              <a:t>base case</a:t>
            </a:r>
            <a:r>
              <a:rPr lang="en-IN" dirty="0"/>
              <a:t>.</a:t>
            </a:r>
          </a:p>
          <a:p>
            <a:pPr marL="0" indent="0">
              <a:buNone/>
            </a:pPr>
            <a:endParaRPr lang="en-IN" dirty="0"/>
          </a:p>
          <a:p>
            <a:pPr marL="0" indent="0">
              <a:buNone/>
            </a:pPr>
            <a:endParaRPr lang="en-IN" dirty="0"/>
          </a:p>
        </p:txBody>
      </p:sp>
      <p:sp>
        <p:nvSpPr>
          <p:cNvPr id="4" name="Content Placeholder 3">
            <a:extLst>
              <a:ext uri="{FF2B5EF4-FFF2-40B4-BE49-F238E27FC236}">
                <a16:creationId xmlns:a16="http://schemas.microsoft.com/office/drawing/2014/main" id="{18E8A3E5-F527-9711-4499-6D7B36BC1256}"/>
              </a:ext>
            </a:extLst>
          </p:cNvPr>
          <p:cNvSpPr>
            <a:spLocks noGrp="1"/>
          </p:cNvSpPr>
          <p:nvPr>
            <p:ph sz="half" idx="2"/>
          </p:nvPr>
        </p:nvSpPr>
        <p:spPr>
          <a:xfrm>
            <a:off x="6172200" y="130629"/>
            <a:ext cx="5067300" cy="6046334"/>
          </a:xfrm>
        </p:spPr>
        <p:txBody>
          <a:bodyPr>
            <a:normAutofit fontScale="92500" lnSpcReduction="10000"/>
          </a:bodyPr>
          <a:lstStyle/>
          <a:p>
            <a:pPr marL="0" indent="0">
              <a:buNone/>
            </a:pPr>
            <a:r>
              <a:rPr lang="en-IN" b="1" dirty="0"/>
              <a:t>Step 3: How can I reduce the problem?</a:t>
            </a:r>
          </a:p>
          <a:p>
            <a:pPr marL="0" indent="0">
              <a:buNone/>
            </a:pPr>
            <a:r>
              <a:rPr lang="en-IN" dirty="0"/>
              <a:t>For factorial:</a:t>
            </a:r>
          </a:p>
          <a:p>
            <a:pPr marL="0" indent="0">
              <a:buNone/>
            </a:pPr>
            <a:r>
              <a:rPr lang="en-IN" dirty="0"/>
              <a:t>          n → n - 1</a:t>
            </a:r>
          </a:p>
          <a:p>
            <a:r>
              <a:rPr lang="en-IN" dirty="0"/>
              <a:t>So each recursive call works with a smaller value.</a:t>
            </a:r>
          </a:p>
          <a:p>
            <a:pPr marL="0" indent="0">
              <a:buNone/>
            </a:pPr>
            <a:endParaRPr lang="en-IN" b="1" dirty="0"/>
          </a:p>
          <a:p>
            <a:pPr marL="0" indent="0">
              <a:buNone/>
            </a:pPr>
            <a:r>
              <a:rPr lang="en-IN" b="1" dirty="0"/>
              <a:t>4. Another Example: Sum of Natural Numbers</a:t>
            </a:r>
          </a:p>
          <a:p>
            <a:pPr marL="0" indent="0">
              <a:buNone/>
            </a:pPr>
            <a:r>
              <a:rPr lang="en-IN" dirty="0"/>
              <a:t>Problem:</a:t>
            </a:r>
          </a:p>
          <a:p>
            <a:pPr marL="0" indent="0">
              <a:buNone/>
            </a:pPr>
            <a:r>
              <a:rPr lang="en-IN" dirty="0"/>
              <a:t>            1 + 2 + 3 + 4 + 5</a:t>
            </a:r>
          </a:p>
          <a:p>
            <a:pPr marL="0" indent="0">
              <a:buNone/>
            </a:pPr>
            <a:r>
              <a:rPr lang="en-IN" dirty="0"/>
              <a:t>Think:</a:t>
            </a:r>
          </a:p>
          <a:p>
            <a:pPr marL="0" indent="0">
              <a:buNone/>
            </a:pPr>
            <a:r>
              <a:rPr lang="en-IN" dirty="0"/>
              <a:t>                        sum(5) = 5 + sum(4)</a:t>
            </a:r>
          </a:p>
          <a:p>
            <a:pPr marL="0" indent="0">
              <a:buNone/>
            </a:pPr>
            <a:r>
              <a:rPr lang="en-IN" dirty="0"/>
              <a:t>                        sum(4) = 4 + sum(3)</a:t>
            </a:r>
          </a:p>
          <a:p>
            <a:pPr marL="0" indent="0">
              <a:buNone/>
            </a:pPr>
            <a:r>
              <a:rPr lang="en-IN" dirty="0"/>
              <a:t>                         sum(3) = 3 + sum(2)</a:t>
            </a:r>
          </a:p>
          <a:p>
            <a:pPr marL="0" indent="0">
              <a:buNone/>
            </a:pPr>
            <a:r>
              <a:rPr lang="en-IN" dirty="0"/>
              <a:t>                          ...</a:t>
            </a:r>
          </a:p>
          <a:p>
            <a:endParaRPr lang="en-IN" dirty="0"/>
          </a:p>
          <a:p>
            <a:endParaRPr lang="en-IN" dirty="0"/>
          </a:p>
        </p:txBody>
      </p:sp>
    </p:spTree>
    <p:extLst>
      <p:ext uri="{BB962C8B-B14F-4D97-AF65-F5344CB8AC3E}">
        <p14:creationId xmlns:p14="http://schemas.microsoft.com/office/powerpoint/2010/main" val="315682517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29CC0D9-B0FE-570D-7D89-AA361D7F8DF3}"/>
              </a:ext>
            </a:extLst>
          </p:cNvPr>
          <p:cNvPicPr>
            <a:picLocks noGrp="1" noChangeAspect="1"/>
          </p:cNvPicPr>
          <p:nvPr>
            <p:ph sz="half" idx="1"/>
          </p:nvPr>
        </p:nvPicPr>
        <p:blipFill>
          <a:blip r:embed="rId2"/>
          <a:stretch>
            <a:fillRect/>
          </a:stretch>
        </p:blipFill>
        <p:spPr>
          <a:xfrm>
            <a:off x="174172" y="179614"/>
            <a:ext cx="4691743" cy="6498772"/>
          </a:xfrm>
          <a:prstGeom prst="rect">
            <a:avLst/>
          </a:prstGeom>
        </p:spPr>
      </p:pic>
      <p:sp>
        <p:nvSpPr>
          <p:cNvPr id="4" name="Content Placeholder 3">
            <a:extLst>
              <a:ext uri="{FF2B5EF4-FFF2-40B4-BE49-F238E27FC236}">
                <a16:creationId xmlns:a16="http://schemas.microsoft.com/office/drawing/2014/main" id="{9224D559-EDC4-8C84-47CD-548B3335B65F}"/>
              </a:ext>
            </a:extLst>
          </p:cNvPr>
          <p:cNvSpPr>
            <a:spLocks noGrp="1"/>
          </p:cNvSpPr>
          <p:nvPr>
            <p:ph sz="half" idx="2"/>
          </p:nvPr>
        </p:nvSpPr>
        <p:spPr>
          <a:xfrm>
            <a:off x="6172200" y="217714"/>
            <a:ext cx="5067300" cy="6498772"/>
          </a:xfrm>
        </p:spPr>
        <p:txBody>
          <a:bodyPr>
            <a:normAutofit fontScale="85000" lnSpcReduction="20000"/>
          </a:bodyPr>
          <a:lstStyle/>
          <a:p>
            <a:pPr marL="0" indent="0">
              <a:buNone/>
            </a:pPr>
            <a:r>
              <a:rPr lang="en-IN" b="1" dirty="0"/>
              <a:t>5. Recursion and the Call Stack</a:t>
            </a:r>
          </a:p>
          <a:p>
            <a:pPr marL="0" indent="0">
              <a:buNone/>
            </a:pPr>
            <a:r>
              <a:rPr lang="en-IN" dirty="0"/>
              <a:t>Each recursive function call is stored in the </a:t>
            </a:r>
            <a:r>
              <a:rPr lang="en-IN" b="1" dirty="0"/>
              <a:t>stack memory</a:t>
            </a:r>
            <a:r>
              <a:rPr lang="en-IN" dirty="0"/>
              <a:t>.</a:t>
            </a:r>
          </a:p>
          <a:p>
            <a:pPr marL="0" indent="0">
              <a:buNone/>
            </a:pPr>
            <a:r>
              <a:rPr lang="en-IN" dirty="0"/>
              <a:t>For factorial(3):</a:t>
            </a:r>
          </a:p>
          <a:p>
            <a:pPr marL="0" indent="0">
              <a:buNone/>
            </a:pPr>
            <a:r>
              <a:rPr lang="en-IN" dirty="0"/>
              <a:t>                         factorial(3)</a:t>
            </a:r>
          </a:p>
          <a:p>
            <a:pPr marL="0" indent="0">
              <a:buNone/>
            </a:pPr>
            <a:r>
              <a:rPr lang="en-IN" dirty="0"/>
              <a:t>                                    ↓</a:t>
            </a:r>
          </a:p>
          <a:p>
            <a:pPr marL="0" indent="0">
              <a:buNone/>
            </a:pPr>
            <a:r>
              <a:rPr lang="en-IN" dirty="0"/>
              <a:t>                          factorial(2)</a:t>
            </a:r>
          </a:p>
          <a:p>
            <a:pPr marL="0" indent="0">
              <a:buNone/>
            </a:pPr>
            <a:r>
              <a:rPr lang="en-IN" dirty="0"/>
              <a:t>                                    ↓</a:t>
            </a:r>
          </a:p>
          <a:p>
            <a:pPr marL="0" indent="0">
              <a:buNone/>
            </a:pPr>
            <a:r>
              <a:rPr lang="en-IN" dirty="0"/>
              <a:t>                           factorial(1)</a:t>
            </a:r>
          </a:p>
          <a:p>
            <a:pPr marL="0" indent="0">
              <a:buNone/>
            </a:pPr>
            <a:r>
              <a:rPr lang="en-IN" dirty="0"/>
              <a:t>                                    ↓</a:t>
            </a:r>
          </a:p>
          <a:p>
            <a:pPr marL="0" indent="0">
              <a:buNone/>
            </a:pPr>
            <a:r>
              <a:rPr lang="en-IN" dirty="0"/>
              <a:t>                           factorial(0)</a:t>
            </a:r>
          </a:p>
          <a:p>
            <a:pPr marL="0" indent="0">
              <a:buNone/>
            </a:pPr>
            <a:r>
              <a:rPr lang="en-IN" dirty="0"/>
              <a:t>When the base case is reached, the functions return in reverse order:</a:t>
            </a:r>
          </a:p>
          <a:p>
            <a:pPr marL="0" indent="0">
              <a:buNone/>
            </a:pPr>
            <a:r>
              <a:rPr lang="en-IN" dirty="0"/>
              <a:t>      factorial(0) → 1</a:t>
            </a:r>
          </a:p>
          <a:p>
            <a:pPr marL="0" indent="0">
              <a:buNone/>
            </a:pPr>
            <a:r>
              <a:rPr lang="en-IN" dirty="0"/>
              <a:t>      factorial(1) → 1</a:t>
            </a:r>
          </a:p>
          <a:p>
            <a:pPr marL="0" indent="0">
              <a:buNone/>
            </a:pPr>
            <a:r>
              <a:rPr lang="en-IN" dirty="0"/>
              <a:t>      factorial(2) → 2</a:t>
            </a:r>
          </a:p>
          <a:p>
            <a:pPr marL="0" indent="0">
              <a:buNone/>
            </a:pPr>
            <a:r>
              <a:rPr lang="en-IN" dirty="0"/>
              <a:t>       factorial(3) → 6</a:t>
            </a:r>
          </a:p>
          <a:p>
            <a:r>
              <a:rPr lang="en-IN" dirty="0"/>
              <a:t>This is why it is important to have a </a:t>
            </a:r>
            <a:r>
              <a:rPr lang="en-IN" b="1" dirty="0"/>
              <a:t>base case</a:t>
            </a:r>
            <a:r>
              <a:rPr lang="en-IN" dirty="0"/>
              <a:t>. Without one, recursion can continue indefinitely and eventually cause a </a:t>
            </a:r>
            <a:r>
              <a:rPr lang="en-IN" b="1" dirty="0"/>
              <a:t>stack overflow</a:t>
            </a:r>
            <a:r>
              <a:rPr lang="en-IN" dirty="0"/>
              <a:t>.</a:t>
            </a:r>
          </a:p>
          <a:p>
            <a:endParaRPr lang="en-IN" dirty="0"/>
          </a:p>
        </p:txBody>
      </p:sp>
    </p:spTree>
    <p:extLst>
      <p:ext uri="{BB962C8B-B14F-4D97-AF65-F5344CB8AC3E}">
        <p14:creationId xmlns:p14="http://schemas.microsoft.com/office/powerpoint/2010/main" val="303990677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7A2036-4583-8C6D-BD3A-67FC381813C5}"/>
              </a:ext>
            </a:extLst>
          </p:cNvPr>
          <p:cNvSpPr>
            <a:spLocks noGrp="1"/>
          </p:cNvSpPr>
          <p:nvPr>
            <p:ph sz="half" idx="1"/>
          </p:nvPr>
        </p:nvSpPr>
        <p:spPr>
          <a:xfrm>
            <a:off x="952499" y="185057"/>
            <a:ext cx="9367157" cy="6553199"/>
          </a:xfrm>
        </p:spPr>
        <p:txBody>
          <a:bodyPr/>
          <a:lstStyle/>
          <a:p>
            <a:pPr marL="0" indent="0">
              <a:buNone/>
            </a:pPr>
            <a:r>
              <a:rPr lang="en-IN" dirty="0"/>
              <a:t>6. Problems Suitable for Recursive Thinking:</a:t>
            </a:r>
          </a:p>
          <a:p>
            <a:pPr marL="0" indent="0">
              <a:buNone/>
            </a:pPr>
            <a:r>
              <a:rPr lang="en-IN" dirty="0"/>
              <a:t>               Recursion is particularly useful for problems involving:</a:t>
            </a:r>
          </a:p>
          <a:p>
            <a:pPr marL="0" indent="0">
              <a:buNone/>
            </a:pPr>
            <a:endParaRPr lang="en-IN" dirty="0"/>
          </a:p>
        </p:txBody>
      </p:sp>
      <p:pic>
        <p:nvPicPr>
          <p:cNvPr id="19" name="Picture 18">
            <a:extLst>
              <a:ext uri="{FF2B5EF4-FFF2-40B4-BE49-F238E27FC236}">
                <a16:creationId xmlns:a16="http://schemas.microsoft.com/office/drawing/2014/main" id="{9636E556-1B5D-DB63-D6CF-B271F1665E2E}"/>
              </a:ext>
            </a:extLst>
          </p:cNvPr>
          <p:cNvPicPr>
            <a:picLocks noChangeAspect="1"/>
          </p:cNvPicPr>
          <p:nvPr/>
        </p:nvPicPr>
        <p:blipFill>
          <a:blip r:embed="rId2"/>
          <a:stretch>
            <a:fillRect/>
          </a:stretch>
        </p:blipFill>
        <p:spPr>
          <a:xfrm>
            <a:off x="1061356" y="1240218"/>
            <a:ext cx="5491844" cy="5312981"/>
          </a:xfrm>
          <a:prstGeom prst="rect">
            <a:avLst/>
          </a:prstGeom>
        </p:spPr>
      </p:pic>
    </p:spTree>
    <p:extLst>
      <p:ext uri="{BB962C8B-B14F-4D97-AF65-F5344CB8AC3E}">
        <p14:creationId xmlns:p14="http://schemas.microsoft.com/office/powerpoint/2010/main" val="99338049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0B61-09AF-F5AA-1BB4-ECD93275A06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9C3597-9232-EA3A-A64B-141113A5C5C2}"/>
              </a:ext>
            </a:extLst>
          </p:cNvPr>
          <p:cNvPicPr>
            <a:picLocks noChangeAspect="1"/>
          </p:cNvPicPr>
          <p:nvPr/>
        </p:nvPicPr>
        <p:blipFill>
          <a:blip r:embed="rId2">
            <a:alphaModFix amt="35000"/>
          </a:blip>
          <a:srcRect b="16045"/>
          <a:stretch>
            <a:fillRect/>
          </a:stretch>
        </p:blipFill>
        <p:spPr>
          <a:xfrm>
            <a:off x="-164930" y="-1084954"/>
            <a:ext cx="12192001" cy="6857990"/>
          </a:xfrm>
          <a:prstGeom prst="rect">
            <a:avLst/>
          </a:prstGeom>
        </p:spPr>
      </p:pic>
      <p:sp>
        <p:nvSpPr>
          <p:cNvPr id="2" name="Title 1">
            <a:extLst>
              <a:ext uri="{FF2B5EF4-FFF2-40B4-BE49-F238E27FC236}">
                <a16:creationId xmlns:a16="http://schemas.microsoft.com/office/drawing/2014/main" id="{498E78A1-BF06-C598-3640-9D1BE589A074}"/>
              </a:ext>
            </a:extLst>
          </p:cNvPr>
          <p:cNvSpPr>
            <a:spLocks noGrp="1"/>
          </p:cNvSpPr>
          <p:nvPr>
            <p:ph type="ctrTitle"/>
          </p:nvPr>
        </p:nvSpPr>
        <p:spPr>
          <a:xfrm>
            <a:off x="2068286" y="899906"/>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2F7A5F74-93E5-5F04-74CA-9C85AD5A0A84}"/>
              </a:ext>
            </a:extLst>
          </p:cNvPr>
          <p:cNvSpPr>
            <a:spLocks noGrp="1"/>
          </p:cNvSpPr>
          <p:nvPr>
            <p:ph type="subTitle" idx="1"/>
          </p:nvPr>
        </p:nvSpPr>
        <p:spPr>
          <a:xfrm>
            <a:off x="849086" y="2758961"/>
            <a:ext cx="10714809" cy="3772468"/>
          </a:xfrm>
        </p:spPr>
        <p:txBody>
          <a:bodyPr vert="horz" lIns="91440" tIns="45720" rIns="91440" bIns="45720" rtlCol="0" anchor="t">
            <a:normAutofit/>
          </a:bodyPr>
          <a:lstStyle/>
          <a:p>
            <a:pPr>
              <a:lnSpc>
                <a:spcPct val="110000"/>
              </a:lnSpc>
            </a:pPr>
            <a:r>
              <a:rPr lang="en-IN" b="1" dirty="0">
                <a:latin typeface="Times New Roman"/>
                <a:cs typeface="Times New Roman"/>
              </a:rPr>
              <a:t>Unit 2 (Modularity)</a:t>
            </a:r>
            <a:endParaRPr lang="en-US" dirty="0"/>
          </a:p>
          <a:p>
            <a:r>
              <a:rPr lang="en-IN" b="1" dirty="0">
                <a:latin typeface="Times New Roman"/>
                <a:cs typeface="Times New Roman"/>
              </a:rPr>
              <a:t>SLO 10 : </a:t>
            </a:r>
            <a:r>
              <a:rPr lang="en-US" i="1" dirty="0"/>
              <a:t>Design and implement recursive solutions for  mathematical and logical problems (such as factorial, Fibonacci, digit counting, and GCD) by breaking them into smaller subproblems and </a:t>
            </a:r>
            <a:r>
              <a:rPr lang="en-IN" i="1" dirty="0"/>
              <a:t>establishing valid recurrence relations.</a:t>
            </a:r>
          </a:p>
          <a:p>
            <a:pPr>
              <a:lnSpc>
                <a:spcPct val="110000"/>
              </a:lnSpc>
            </a:pPr>
            <a:endParaRPr lang="en-IN" b="1" dirty="0">
              <a:highlight>
                <a:srgbClr val="FFFF00"/>
              </a:highlight>
              <a:latin typeface="Times New Roman"/>
              <a:ea typeface="+mn-lt"/>
              <a:cs typeface="Times New Roman"/>
            </a:endParaRPr>
          </a:p>
          <a:p>
            <a:pPr>
              <a:lnSpc>
                <a:spcPct val="110000"/>
              </a:lnSpc>
            </a:pPr>
            <a:endParaRPr lang="en-IN" b="1" dirty="0">
              <a:highlight>
                <a:srgbClr val="FFFF00"/>
              </a:highlight>
              <a:latin typeface="Times New Roman"/>
              <a:ea typeface="+mn-lt"/>
              <a:cs typeface="Times New Roman"/>
            </a:endParaRPr>
          </a:p>
          <a:p>
            <a:pPr>
              <a:lnSpc>
                <a:spcPct val="110000"/>
              </a:lnSpc>
            </a:pP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22556568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58FF0C-1B20-B5B6-EB41-3331CC3F4082}"/>
              </a:ext>
            </a:extLst>
          </p:cNvPr>
          <p:cNvSpPr>
            <a:spLocks noGrp="1"/>
          </p:cNvSpPr>
          <p:nvPr>
            <p:ph type="title"/>
          </p:nvPr>
        </p:nvSpPr>
        <p:spPr>
          <a:xfrm>
            <a:off x="713014" y="83609"/>
            <a:ext cx="10287000" cy="573882"/>
          </a:xfrm>
        </p:spPr>
        <p:txBody>
          <a:bodyPr/>
          <a:lstStyle/>
          <a:p>
            <a:r>
              <a:rPr lang="en-IN" dirty="0"/>
              <a:t>Implementation of Fibonacci Series</a:t>
            </a:r>
          </a:p>
        </p:txBody>
      </p:sp>
      <p:sp>
        <p:nvSpPr>
          <p:cNvPr id="5" name="Content Placeholder 4">
            <a:extLst>
              <a:ext uri="{FF2B5EF4-FFF2-40B4-BE49-F238E27FC236}">
                <a16:creationId xmlns:a16="http://schemas.microsoft.com/office/drawing/2014/main" id="{2B605C4F-3FB5-B12F-5851-B137AAD5CE5B}"/>
              </a:ext>
            </a:extLst>
          </p:cNvPr>
          <p:cNvSpPr>
            <a:spLocks noGrp="1"/>
          </p:cNvSpPr>
          <p:nvPr>
            <p:ph sz="half" idx="1"/>
          </p:nvPr>
        </p:nvSpPr>
        <p:spPr>
          <a:xfrm>
            <a:off x="631371" y="892629"/>
            <a:ext cx="5388429" cy="5715000"/>
          </a:xfrm>
        </p:spPr>
        <p:txBody>
          <a:bodyPr/>
          <a:lstStyle/>
          <a:p>
            <a:pPr marL="0" indent="0">
              <a:buNone/>
            </a:pPr>
            <a:r>
              <a:rPr lang="en-IN" dirty="0"/>
              <a:t>The Fibonacci sequence is:0 1 1 2 3 5 8 13 ...</a:t>
            </a:r>
          </a:p>
          <a:p>
            <a:pPr marL="0" indent="0">
              <a:buNone/>
            </a:pPr>
            <a:endParaRPr lang="en-IN" dirty="0"/>
          </a:p>
          <a:p>
            <a:pPr marL="0" indent="0">
              <a:buNone/>
            </a:pPr>
            <a:r>
              <a:rPr lang="en-IN" dirty="0"/>
              <a:t>Each number is the sum of the previous two numbers.</a:t>
            </a:r>
          </a:p>
          <a:p>
            <a:pPr marL="0" indent="0">
              <a:buNone/>
            </a:pPr>
            <a:r>
              <a:rPr lang="en-IN" dirty="0"/>
              <a:t>                            F(n)=F(n−1)+F(n−2)</a:t>
            </a:r>
          </a:p>
          <a:p>
            <a:pPr marL="0" indent="0">
              <a:buNone/>
            </a:pPr>
            <a:r>
              <a:rPr lang="en-IN" dirty="0"/>
              <a:t>Base cases:</a:t>
            </a:r>
          </a:p>
          <a:p>
            <a:pPr marL="0" indent="0">
              <a:buNone/>
            </a:pPr>
            <a:r>
              <a:rPr lang="en-IN" dirty="0"/>
              <a:t>     F(0) = 0</a:t>
            </a:r>
          </a:p>
          <a:p>
            <a:pPr marL="0" indent="0">
              <a:buNone/>
            </a:pPr>
            <a:r>
              <a:rPr lang="en-IN" dirty="0"/>
              <a:t>     F(1) = 1</a:t>
            </a:r>
          </a:p>
          <a:p>
            <a:pPr marL="0" indent="0">
              <a:buNone/>
            </a:pPr>
            <a:endParaRPr lang="en-IN" dirty="0"/>
          </a:p>
        </p:txBody>
      </p:sp>
      <p:pic>
        <p:nvPicPr>
          <p:cNvPr id="8" name="Content Placeholder 7">
            <a:extLst>
              <a:ext uri="{FF2B5EF4-FFF2-40B4-BE49-F238E27FC236}">
                <a16:creationId xmlns:a16="http://schemas.microsoft.com/office/drawing/2014/main" id="{74EA4B61-8281-F056-AABB-29621AFC6014}"/>
              </a:ext>
            </a:extLst>
          </p:cNvPr>
          <p:cNvPicPr>
            <a:picLocks noGrp="1" noChangeAspect="1"/>
          </p:cNvPicPr>
          <p:nvPr>
            <p:ph sz="half" idx="2"/>
          </p:nvPr>
        </p:nvPicPr>
        <p:blipFill>
          <a:blip r:embed="rId2"/>
          <a:stretch>
            <a:fillRect/>
          </a:stretch>
        </p:blipFill>
        <p:spPr>
          <a:xfrm>
            <a:off x="7696200" y="657491"/>
            <a:ext cx="4060372" cy="5351008"/>
          </a:xfrm>
          <a:prstGeom prst="rect">
            <a:avLst/>
          </a:prstGeom>
        </p:spPr>
      </p:pic>
      <p:pic>
        <p:nvPicPr>
          <p:cNvPr id="10" name="Picture 9">
            <a:extLst>
              <a:ext uri="{FF2B5EF4-FFF2-40B4-BE49-F238E27FC236}">
                <a16:creationId xmlns:a16="http://schemas.microsoft.com/office/drawing/2014/main" id="{B39AE0B5-2A45-091C-2C44-75B7D5F0AB29}"/>
              </a:ext>
            </a:extLst>
          </p:cNvPr>
          <p:cNvPicPr>
            <a:picLocks noChangeAspect="1"/>
          </p:cNvPicPr>
          <p:nvPr/>
        </p:nvPicPr>
        <p:blipFill>
          <a:blip r:embed="rId3"/>
          <a:stretch>
            <a:fillRect/>
          </a:stretch>
        </p:blipFill>
        <p:spPr>
          <a:xfrm>
            <a:off x="7620000" y="6125877"/>
            <a:ext cx="4060372" cy="749339"/>
          </a:xfrm>
          <a:prstGeom prst="rect">
            <a:avLst/>
          </a:prstGeom>
        </p:spPr>
      </p:pic>
    </p:spTree>
    <p:extLst>
      <p:ext uri="{BB962C8B-B14F-4D97-AF65-F5344CB8AC3E}">
        <p14:creationId xmlns:p14="http://schemas.microsoft.com/office/powerpoint/2010/main" val="346875206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0E5E95-2492-1ECB-BDEF-F345A040B402}"/>
              </a:ext>
            </a:extLst>
          </p:cNvPr>
          <p:cNvSpPr>
            <a:spLocks noGrp="1"/>
          </p:cNvSpPr>
          <p:nvPr>
            <p:ph type="title"/>
          </p:nvPr>
        </p:nvSpPr>
        <p:spPr>
          <a:xfrm>
            <a:off x="1028700" y="107156"/>
            <a:ext cx="10287000" cy="573881"/>
          </a:xfrm>
        </p:spPr>
        <p:txBody>
          <a:bodyPr/>
          <a:lstStyle/>
          <a:p>
            <a:r>
              <a:rPr lang="en-US" dirty="0"/>
              <a:t>Implementation of Digit counting </a:t>
            </a:r>
            <a:endParaRPr lang="en-IN"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C4A0767-D58F-39AF-B8AD-0F62A1191888}"/>
                  </a:ext>
                </a:extLst>
              </p:cNvPr>
              <p:cNvSpPr>
                <a:spLocks noGrp="1"/>
              </p:cNvSpPr>
              <p:nvPr>
                <p:ph sz="half" idx="1"/>
              </p:nvPr>
            </p:nvSpPr>
            <p:spPr>
              <a:xfrm>
                <a:off x="952500" y="681037"/>
                <a:ext cx="5067300" cy="5970133"/>
              </a:xfrm>
            </p:spPr>
            <p:txBody>
              <a:bodyPr>
                <a:normAutofit fontScale="92500" lnSpcReduction="20000"/>
              </a:bodyPr>
              <a:lstStyle/>
              <a:p>
                <a:pPr marL="0" indent="0">
                  <a:buNone/>
                </a:pPr>
                <a:r>
                  <a:rPr lang="en-IN" dirty="0"/>
                  <a:t>To count the number of digits in a number, we can repeatedly </a:t>
                </a:r>
                <a:r>
                  <a:rPr lang="en-IN" b="1" dirty="0"/>
                  <a:t>divide the number by 10</a:t>
                </a:r>
                <a:r>
                  <a:rPr lang="en-IN" dirty="0"/>
                  <a:t>.</a:t>
                </a:r>
              </a:p>
              <a:p>
                <a:pPr marL="0" indent="0">
                  <a:buNone/>
                </a:pPr>
                <a:r>
                  <a:rPr lang="en-IN" dirty="0"/>
                  <a:t>There are </a:t>
                </a:r>
                <a:r>
                  <a:rPr lang="en-IN" b="1" dirty="0"/>
                  <a:t>5 digits</a:t>
                </a:r>
                <a:r>
                  <a:rPr lang="en-IN" dirty="0"/>
                  <a:t>.</a:t>
                </a:r>
              </a:p>
              <a:p>
                <a:pPr marL="0" indent="0">
                  <a:buNone/>
                </a:pPr>
                <a:r>
                  <a:rPr lang="en-IN" b="1" dirty="0"/>
                  <a:t>Recursive Logic</a:t>
                </a:r>
              </a:p>
              <a:p>
                <a:pPr marL="0" indent="0">
                  <a:buNone/>
                </a:pPr>
                <a:r>
                  <a:rPr lang="en-IN" dirty="0"/>
                  <a:t>The relationship is:</a:t>
                </a:r>
              </a:p>
              <a:p>
                <a:pPr marL="0" indent="0">
                  <a:buNone/>
                </a:pPr>
                <a14:m>
                  <m:oMathPara xmlns:m="http://schemas.openxmlformats.org/officeDocument/2006/math">
                    <m:oMath>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e>
                      </m:d>
                      <m:r>
                        <a:rPr lang="en-IN">
                          <a:latin typeface="Cambria Math" panose="02040503050406030204" pitchFamily="18" charset="0"/>
                        </a:rPr>
                        <m:t>=1+</m:t>
                      </m:r>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r>
                            <a:rPr lang="en-IN">
                              <a:latin typeface="Cambria Math" panose="02040503050406030204" pitchFamily="18" charset="0"/>
                            </a:rPr>
                            <m:t>/10</m:t>
                          </m:r>
                        </m:e>
                      </m:d>
                    </m:oMath>
                  </m:oMathPara>
                </a14:m>
                <a:endParaRPr lang="en-IN" dirty="0"/>
              </a:p>
              <a:p>
                <a:pPr marL="0" indent="0">
                  <a:buNone/>
                </a:pPr>
                <a:r>
                  <a:rPr lang="en-IN" dirty="0"/>
                  <a:t>The </a:t>
                </a:r>
                <a:r>
                  <a:rPr lang="en-IN" b="1" dirty="0"/>
                  <a:t>base case</a:t>
                </a:r>
                <a:r>
                  <a:rPr lang="en-IN" dirty="0"/>
                  <a:t> is:</a:t>
                </a:r>
              </a:p>
              <a:p>
                <a:pPr marL="0" indent="0">
                  <a:buNone/>
                </a:pPr>
                <a:r>
                  <a:rPr lang="en-IN" dirty="0"/>
                  <a:t>                 If n == 0, return 0</a:t>
                </a:r>
              </a:p>
              <a:p>
                <a:pPr marL="0" indent="0">
                  <a:buNone/>
                </a:pPr>
                <a:r>
                  <a:rPr lang="en-IN" dirty="0"/>
                  <a:t>How it works: For 12345:</a:t>
                </a:r>
              </a:p>
              <a:p>
                <a:pPr marL="0" indent="0">
                  <a:buNone/>
                </a:pPr>
                <a:r>
                  <a:rPr lang="en-IN" dirty="0"/>
                  <a:t> </a:t>
                </a:r>
                <a:r>
                  <a:rPr lang="en-IN" dirty="0" err="1"/>
                  <a:t>countDigits</a:t>
                </a:r>
                <a:r>
                  <a:rPr lang="en-IN" dirty="0"/>
                  <a:t>(12345) </a:t>
                </a:r>
              </a:p>
              <a:p>
                <a:pPr marL="0" indent="0">
                  <a:buNone/>
                </a:pPr>
                <a:r>
                  <a:rPr lang="en-IN" dirty="0"/>
                  <a:t>= 1 + </a:t>
                </a:r>
                <a:r>
                  <a:rPr lang="en-IN" dirty="0" err="1"/>
                  <a:t>countDigits</a:t>
                </a:r>
                <a:r>
                  <a:rPr lang="en-IN" dirty="0"/>
                  <a:t>(1234)</a:t>
                </a:r>
              </a:p>
              <a:p>
                <a:pPr marL="0" indent="0">
                  <a:buNone/>
                </a:pPr>
                <a:r>
                  <a:rPr lang="en-IN" dirty="0"/>
                  <a:t> = 1 + 1 + </a:t>
                </a:r>
                <a:r>
                  <a:rPr lang="en-IN" dirty="0" err="1"/>
                  <a:t>countDigits</a:t>
                </a:r>
                <a:r>
                  <a:rPr lang="en-IN" dirty="0"/>
                  <a:t>(123)</a:t>
                </a:r>
              </a:p>
              <a:p>
                <a:pPr marL="0" indent="0">
                  <a:buNone/>
                </a:pPr>
                <a:r>
                  <a:rPr lang="en-IN" dirty="0"/>
                  <a:t> = 1 + 1 + 1 + </a:t>
                </a:r>
                <a:r>
                  <a:rPr lang="en-IN" dirty="0" err="1"/>
                  <a:t>countDigits</a:t>
                </a:r>
                <a:r>
                  <a:rPr lang="en-IN" dirty="0"/>
                  <a:t>(12) </a:t>
                </a:r>
              </a:p>
              <a:p>
                <a:pPr marL="0" indent="0">
                  <a:buNone/>
                </a:pPr>
                <a:r>
                  <a:rPr lang="en-IN" dirty="0"/>
                  <a:t>= 1 + 1 + 1 + 1 + </a:t>
                </a:r>
                <a:r>
                  <a:rPr lang="en-IN" dirty="0" err="1"/>
                  <a:t>countDigits</a:t>
                </a:r>
                <a:r>
                  <a:rPr lang="en-IN" dirty="0"/>
                  <a:t>(1) </a:t>
                </a:r>
              </a:p>
              <a:p>
                <a:pPr marL="0" indent="0">
                  <a:buNone/>
                </a:pPr>
                <a:r>
                  <a:rPr lang="en-IN" dirty="0"/>
                  <a:t>= 1 + 1 + 1 + 1 + 1 + </a:t>
                </a:r>
                <a:r>
                  <a:rPr lang="en-IN" dirty="0" err="1"/>
                  <a:t>countDigits</a:t>
                </a:r>
                <a:r>
                  <a:rPr lang="en-IN" dirty="0"/>
                  <a:t>(0) </a:t>
                </a:r>
              </a:p>
              <a:p>
                <a:pPr marL="0" indent="0">
                  <a:buNone/>
                </a:pPr>
                <a:r>
                  <a:rPr lang="en-IN" dirty="0"/>
                  <a:t>= 5</a:t>
                </a:r>
              </a:p>
            </p:txBody>
          </p:sp>
        </mc:Choice>
        <mc:Fallback xmlns="">
          <p:sp>
            <p:nvSpPr>
              <p:cNvPr id="6" name="Content Placeholder 5">
                <a:extLst>
                  <a:ext uri="{FF2B5EF4-FFF2-40B4-BE49-F238E27FC236}">
                    <a16:creationId xmlns:a16="http://schemas.microsoft.com/office/drawing/2014/main" id="{0C4A0767-D58F-39AF-B8AD-0F62A1191888}"/>
                  </a:ext>
                </a:extLst>
              </p:cNvPr>
              <p:cNvSpPr>
                <a:spLocks noGrp="1" noRot="1" noChangeAspect="1" noMove="1" noResize="1" noEditPoints="1" noAdjustHandles="1" noChangeArrowheads="1" noChangeShapeType="1" noTextEdit="1"/>
              </p:cNvSpPr>
              <p:nvPr>
                <p:ph sz="half" idx="1"/>
              </p:nvPr>
            </p:nvSpPr>
            <p:spPr>
              <a:xfrm>
                <a:off x="952500" y="681037"/>
                <a:ext cx="5067300" cy="5970133"/>
              </a:xfrm>
              <a:blipFill>
                <a:blip r:embed="rId2"/>
                <a:stretch>
                  <a:fillRect l="-721" t="-409" b="-919"/>
                </a:stretch>
              </a:blipFill>
            </p:spPr>
            <p:txBody>
              <a:bodyPr/>
              <a:lstStyle/>
              <a:p>
                <a:r>
                  <a:rPr lang="en-IN">
                    <a:noFill/>
                  </a:rPr>
                  <a:t> </a:t>
                </a:r>
              </a:p>
            </p:txBody>
          </p:sp>
        </mc:Fallback>
      </mc:AlternateContent>
      <p:pic>
        <p:nvPicPr>
          <p:cNvPr id="10" name="Content Placeholder 9">
            <a:extLst>
              <a:ext uri="{FF2B5EF4-FFF2-40B4-BE49-F238E27FC236}">
                <a16:creationId xmlns:a16="http://schemas.microsoft.com/office/drawing/2014/main" id="{790795DC-3393-B326-00EC-F614591AF384}"/>
              </a:ext>
            </a:extLst>
          </p:cNvPr>
          <p:cNvPicPr>
            <a:picLocks noGrp="1" noChangeAspect="1"/>
          </p:cNvPicPr>
          <p:nvPr>
            <p:ph sz="half" idx="2"/>
          </p:nvPr>
        </p:nvPicPr>
        <p:blipFill>
          <a:blip r:embed="rId3"/>
          <a:stretch>
            <a:fillRect/>
          </a:stretch>
        </p:blipFill>
        <p:spPr>
          <a:xfrm>
            <a:off x="6672944" y="681037"/>
            <a:ext cx="4822370" cy="5572126"/>
          </a:xfrm>
          <a:prstGeom prst="rect">
            <a:avLst/>
          </a:prstGeom>
        </p:spPr>
      </p:pic>
      <p:pic>
        <p:nvPicPr>
          <p:cNvPr id="12" name="Picture 11">
            <a:extLst>
              <a:ext uri="{FF2B5EF4-FFF2-40B4-BE49-F238E27FC236}">
                <a16:creationId xmlns:a16="http://schemas.microsoft.com/office/drawing/2014/main" id="{6C5A2F23-5453-5B4D-83CC-E08EFF0E5B6A}"/>
              </a:ext>
            </a:extLst>
          </p:cNvPr>
          <p:cNvPicPr>
            <a:picLocks noChangeAspect="1"/>
          </p:cNvPicPr>
          <p:nvPr/>
        </p:nvPicPr>
        <p:blipFill>
          <a:blip r:embed="rId4"/>
          <a:stretch>
            <a:fillRect/>
          </a:stretch>
        </p:blipFill>
        <p:spPr>
          <a:xfrm>
            <a:off x="7596832" y="6253163"/>
            <a:ext cx="2145881" cy="457200"/>
          </a:xfrm>
          <a:prstGeom prst="rect">
            <a:avLst/>
          </a:prstGeom>
        </p:spPr>
      </p:pic>
      <p:pic>
        <p:nvPicPr>
          <p:cNvPr id="14" name="Picture 13">
            <a:extLst>
              <a:ext uri="{FF2B5EF4-FFF2-40B4-BE49-F238E27FC236}">
                <a16:creationId xmlns:a16="http://schemas.microsoft.com/office/drawing/2014/main" id="{8C38947D-6AE8-0813-FF71-7A3CD313AC2B}"/>
              </a:ext>
            </a:extLst>
          </p:cNvPr>
          <p:cNvPicPr>
            <a:picLocks noChangeAspect="1"/>
          </p:cNvPicPr>
          <p:nvPr/>
        </p:nvPicPr>
        <p:blipFill>
          <a:blip r:embed="rId5"/>
          <a:stretch>
            <a:fillRect/>
          </a:stretch>
        </p:blipFill>
        <p:spPr>
          <a:xfrm>
            <a:off x="6868887" y="6298064"/>
            <a:ext cx="463574" cy="367398"/>
          </a:xfrm>
          <a:prstGeom prst="rect">
            <a:avLst/>
          </a:prstGeom>
        </p:spPr>
      </p:pic>
    </p:spTree>
    <p:extLst>
      <p:ext uri="{BB962C8B-B14F-4D97-AF65-F5344CB8AC3E}">
        <p14:creationId xmlns:p14="http://schemas.microsoft.com/office/powerpoint/2010/main" val="107378427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70E6-FAB6-4C37-1087-98A83FBD275E}"/>
              </a:ext>
            </a:extLst>
          </p:cNvPr>
          <p:cNvSpPr>
            <a:spLocks noGrp="1"/>
          </p:cNvSpPr>
          <p:nvPr>
            <p:ph type="title"/>
          </p:nvPr>
        </p:nvSpPr>
        <p:spPr>
          <a:xfrm>
            <a:off x="174172" y="0"/>
            <a:ext cx="12202885" cy="544286"/>
          </a:xfrm>
        </p:spPr>
        <p:txBody>
          <a:bodyPr>
            <a:normAutofit fontScale="90000"/>
          </a:bodyPr>
          <a:lstStyle/>
          <a:p>
            <a:r>
              <a:rPr lang="en-IN" dirty="0"/>
              <a:t>Implementation of Greatest Common Divisor (GCD)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7AB3DF-2973-C103-422E-5A765147D8A1}"/>
                  </a:ext>
                </a:extLst>
              </p:cNvPr>
              <p:cNvSpPr>
                <a:spLocks noGrp="1"/>
              </p:cNvSpPr>
              <p:nvPr>
                <p:ph sz="half" idx="1"/>
              </p:nvPr>
            </p:nvSpPr>
            <p:spPr>
              <a:xfrm>
                <a:off x="174172" y="664029"/>
                <a:ext cx="5845628" cy="6008913"/>
              </a:xfrm>
            </p:spPr>
            <p:txBody>
              <a:bodyPr/>
              <a:lstStyle/>
              <a:p>
                <a:pPr marL="0" indent="0">
                  <a:buNone/>
                </a:pPr>
                <a:r>
                  <a:rPr lang="en-IN" dirty="0"/>
                  <a:t>The </a:t>
                </a:r>
                <a:r>
                  <a:rPr lang="en-IN" b="1" dirty="0"/>
                  <a:t>GCD</a:t>
                </a:r>
                <a:r>
                  <a:rPr lang="en-IN" dirty="0"/>
                  <a:t> is the largest number that divides two numbers exactly.</a:t>
                </a:r>
              </a:p>
              <a:p>
                <a:pPr marL="0" indent="0">
                  <a:buNone/>
                </a:pPr>
                <a:r>
                  <a:rPr lang="en-IN" dirty="0"/>
                  <a:t>For example:</a:t>
                </a:r>
              </a:p>
              <a:p>
                <a:pPr marL="0" indent="0">
                  <a:buNone/>
                </a:pPr>
                <a:r>
                  <a:rPr lang="en-IN" dirty="0"/>
                  <a:t>GCD(24, 18) = 6</a:t>
                </a:r>
              </a:p>
              <a:p>
                <a:pPr marL="0" indent="0">
                  <a:buNone/>
                </a:pPr>
                <a:r>
                  <a:rPr lang="en-IN" dirty="0"/>
                  <a:t>We can use Euclid's algorithm:</a:t>
                </a:r>
              </a:p>
              <a:p>
                <a:pPr marL="0" indent="0">
                  <a:buNone/>
                </a:pPr>
                <a14:m>
                  <m:oMathPara xmlns:m="http://schemas.openxmlformats.org/officeDocument/2006/math">
                    <m:oMath>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𝑏</m:t>
                          </m:r>
                        </m:e>
                      </m:d>
                      <m:r>
                        <a:rPr lang="en-IN">
                          <a:latin typeface="Cambria Math" panose="02040503050406030204" pitchFamily="18" charset="0"/>
                        </a:rPr>
                        <m:t>=</m:t>
                      </m:r>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𝑏</m:t>
                          </m:r>
                        </m:e>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m:oMathPara>
                </a14:m>
                <a:endParaRPr lang="en-IN" dirty="0"/>
              </a:p>
              <a:p>
                <a:pPr marL="0" indent="0">
                  <a:buNone/>
                </a:pPr>
                <a:r>
                  <a:rPr lang="en-IN" dirty="0"/>
                  <a:t>Base case:</a:t>
                </a:r>
              </a:p>
              <a:p>
                <a:pPr marL="0" indent="0">
                  <a:buNone/>
                </a:pPr>
                <a:r>
                  <a:rPr lang="en-IN" dirty="0"/>
                  <a:t>                              If b = 0, GCD = a</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57AB3DF-2973-C103-422E-5A765147D8A1}"/>
                  </a:ext>
                </a:extLst>
              </p:cNvPr>
              <p:cNvSpPr>
                <a:spLocks noGrp="1" noRot="1" noChangeAspect="1" noMove="1" noResize="1" noEditPoints="1" noAdjustHandles="1" noChangeArrowheads="1" noChangeShapeType="1" noTextEdit="1"/>
              </p:cNvSpPr>
              <p:nvPr>
                <p:ph sz="half" idx="1"/>
              </p:nvPr>
            </p:nvSpPr>
            <p:spPr>
              <a:xfrm>
                <a:off x="174172" y="664029"/>
                <a:ext cx="5845628" cy="6008913"/>
              </a:xfrm>
              <a:blipFill>
                <a:blip r:embed="rId2"/>
                <a:stretch>
                  <a:fillRect l="-938" t="-10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CD7B7974-98BC-BFD7-138B-5208E82E0BE7}"/>
              </a:ext>
            </a:extLst>
          </p:cNvPr>
          <p:cNvPicPr>
            <a:picLocks noGrp="1" noChangeAspect="1"/>
          </p:cNvPicPr>
          <p:nvPr>
            <p:ph sz="half" idx="2"/>
          </p:nvPr>
        </p:nvPicPr>
        <p:blipFill>
          <a:blip r:embed="rId3"/>
          <a:stretch>
            <a:fillRect/>
          </a:stretch>
        </p:blipFill>
        <p:spPr>
          <a:xfrm>
            <a:off x="7280672" y="664028"/>
            <a:ext cx="3909842" cy="5279571"/>
          </a:xfrm>
          <a:prstGeom prst="rect">
            <a:avLst/>
          </a:prstGeom>
        </p:spPr>
      </p:pic>
      <p:pic>
        <p:nvPicPr>
          <p:cNvPr id="8" name="Picture 7">
            <a:extLst>
              <a:ext uri="{FF2B5EF4-FFF2-40B4-BE49-F238E27FC236}">
                <a16:creationId xmlns:a16="http://schemas.microsoft.com/office/drawing/2014/main" id="{823DEE94-B213-ED70-F806-E13942772841}"/>
              </a:ext>
            </a:extLst>
          </p:cNvPr>
          <p:cNvPicPr>
            <a:picLocks noChangeAspect="1"/>
          </p:cNvPicPr>
          <p:nvPr/>
        </p:nvPicPr>
        <p:blipFill>
          <a:blip r:embed="rId4"/>
          <a:stretch>
            <a:fillRect/>
          </a:stretch>
        </p:blipFill>
        <p:spPr>
          <a:xfrm>
            <a:off x="7280672" y="6193972"/>
            <a:ext cx="1329928" cy="628682"/>
          </a:xfrm>
          <a:prstGeom prst="rect">
            <a:avLst/>
          </a:prstGeom>
        </p:spPr>
      </p:pic>
    </p:spTree>
    <p:extLst>
      <p:ext uri="{BB962C8B-B14F-4D97-AF65-F5344CB8AC3E}">
        <p14:creationId xmlns:p14="http://schemas.microsoft.com/office/powerpoint/2010/main" val="418101549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97B2-3BD7-F231-418F-081E35E816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683C49-2D8A-1FD5-75ED-CE658DA9D722}"/>
              </a:ext>
            </a:extLst>
          </p:cNvPr>
          <p:cNvPicPr>
            <a:picLocks noChangeAspect="1"/>
          </p:cNvPicPr>
          <p:nvPr/>
        </p:nvPicPr>
        <p:blipFill>
          <a:blip r:embed="rId2">
            <a:alphaModFix amt="35000"/>
          </a:blip>
          <a:srcRect b="16045"/>
          <a:stretch>
            <a:fillRect/>
          </a:stretch>
        </p:blipFill>
        <p:spPr>
          <a:xfrm>
            <a:off x="0" y="-1077675"/>
            <a:ext cx="12192001" cy="6857990"/>
          </a:xfrm>
          <a:prstGeom prst="rect">
            <a:avLst/>
          </a:prstGeom>
        </p:spPr>
      </p:pic>
      <p:sp>
        <p:nvSpPr>
          <p:cNvPr id="2" name="Title 1">
            <a:extLst>
              <a:ext uri="{FF2B5EF4-FFF2-40B4-BE49-F238E27FC236}">
                <a16:creationId xmlns:a16="http://schemas.microsoft.com/office/drawing/2014/main" id="{6798BEC1-E8BC-203B-D573-B94CA8D7596A}"/>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EA75A44-0245-288B-8F11-3D2D8E01AD43}"/>
              </a:ext>
            </a:extLst>
          </p:cNvPr>
          <p:cNvSpPr>
            <a:spLocks noGrp="1"/>
          </p:cNvSpPr>
          <p:nvPr>
            <p:ph type="subTitle" idx="1"/>
          </p:nvPr>
        </p:nvSpPr>
        <p:spPr>
          <a:xfrm>
            <a:off x="1524000" y="4920137"/>
            <a:ext cx="9974580" cy="1122363"/>
          </a:xfrm>
        </p:spPr>
        <p:txBody>
          <a:bodyPr vert="horz" lIns="91440" tIns="45720" rIns="91440" bIns="45720" rtlCol="0" anchor="t">
            <a:normAutofit/>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SLO 11 &amp; 12: Guided Practice and Practice Problems </a:t>
            </a:r>
          </a:p>
          <a:p>
            <a:pPr>
              <a:lnSpc>
                <a:spcPct val="110000"/>
              </a:lnSpc>
            </a:pP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277963185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A1AA-5C85-C44C-BEF8-659338F5B1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ADDD28-98CB-4651-FBAE-43979ED1E691}"/>
              </a:ext>
            </a:extLst>
          </p:cNvPr>
          <p:cNvSpPr>
            <a:spLocks noGrp="1"/>
          </p:cNvSpPr>
          <p:nvPr>
            <p:ph type="title"/>
          </p:nvPr>
        </p:nvSpPr>
        <p:spPr>
          <a:xfrm>
            <a:off x="1028700" y="107156"/>
            <a:ext cx="10287000" cy="573881"/>
          </a:xfrm>
        </p:spPr>
        <p:txBody>
          <a:bodyPr/>
          <a:lstStyle/>
          <a:p>
            <a:r>
              <a:rPr lang="en-US" dirty="0"/>
              <a:t>Implementation of Digit counting </a:t>
            </a:r>
            <a:endParaRPr lang="en-IN"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B097568-F098-50C1-0E83-14B0BCBD25D6}"/>
                  </a:ext>
                </a:extLst>
              </p:cNvPr>
              <p:cNvSpPr>
                <a:spLocks noGrp="1"/>
              </p:cNvSpPr>
              <p:nvPr>
                <p:ph sz="half" idx="1"/>
              </p:nvPr>
            </p:nvSpPr>
            <p:spPr>
              <a:xfrm>
                <a:off x="952500" y="681037"/>
                <a:ext cx="5067300" cy="5970133"/>
              </a:xfrm>
            </p:spPr>
            <p:txBody>
              <a:bodyPr>
                <a:normAutofit fontScale="92500" lnSpcReduction="20000"/>
              </a:bodyPr>
              <a:lstStyle/>
              <a:p>
                <a:pPr marL="0" indent="0">
                  <a:buNone/>
                </a:pPr>
                <a:r>
                  <a:rPr lang="en-IN" dirty="0"/>
                  <a:t>To count the number of digits in a number, we can repeatedly </a:t>
                </a:r>
                <a:r>
                  <a:rPr lang="en-IN" b="1" dirty="0"/>
                  <a:t>divide the number by 10</a:t>
                </a:r>
                <a:r>
                  <a:rPr lang="en-IN" dirty="0"/>
                  <a:t>.</a:t>
                </a:r>
              </a:p>
              <a:p>
                <a:pPr marL="0" indent="0">
                  <a:buNone/>
                </a:pPr>
                <a:r>
                  <a:rPr lang="en-IN" dirty="0"/>
                  <a:t>There are </a:t>
                </a:r>
                <a:r>
                  <a:rPr lang="en-IN" b="1" dirty="0"/>
                  <a:t>5 digits</a:t>
                </a:r>
                <a:r>
                  <a:rPr lang="en-IN" dirty="0"/>
                  <a:t>.</a:t>
                </a:r>
              </a:p>
              <a:p>
                <a:pPr marL="0" indent="0">
                  <a:buNone/>
                </a:pPr>
                <a:r>
                  <a:rPr lang="en-IN" b="1" dirty="0"/>
                  <a:t>Recursive Logic</a:t>
                </a:r>
              </a:p>
              <a:p>
                <a:pPr marL="0" indent="0">
                  <a:buNone/>
                </a:pPr>
                <a:r>
                  <a:rPr lang="en-IN" dirty="0"/>
                  <a:t>The relationship is:</a:t>
                </a:r>
              </a:p>
              <a:p>
                <a:pPr marL="0" indent="0">
                  <a:buNone/>
                </a:pPr>
                <a14:m>
                  <m:oMathPara xmlns:m="http://schemas.openxmlformats.org/officeDocument/2006/math">
                    <m:oMath>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e>
                      </m:d>
                      <m:r>
                        <a:rPr lang="en-IN">
                          <a:latin typeface="Cambria Math" panose="02040503050406030204" pitchFamily="18" charset="0"/>
                        </a:rPr>
                        <m:t>=1+</m:t>
                      </m:r>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r>
                            <a:rPr lang="en-IN">
                              <a:latin typeface="Cambria Math" panose="02040503050406030204" pitchFamily="18" charset="0"/>
                            </a:rPr>
                            <m:t>/10</m:t>
                          </m:r>
                        </m:e>
                      </m:d>
                    </m:oMath>
                  </m:oMathPara>
                </a14:m>
                <a:endParaRPr lang="en-IN" dirty="0"/>
              </a:p>
              <a:p>
                <a:pPr marL="0" indent="0">
                  <a:buNone/>
                </a:pPr>
                <a:r>
                  <a:rPr lang="en-IN" dirty="0"/>
                  <a:t>The </a:t>
                </a:r>
                <a:r>
                  <a:rPr lang="en-IN" b="1" dirty="0"/>
                  <a:t>base case</a:t>
                </a:r>
                <a:r>
                  <a:rPr lang="en-IN" dirty="0"/>
                  <a:t> is:</a:t>
                </a:r>
              </a:p>
              <a:p>
                <a:pPr marL="0" indent="0">
                  <a:buNone/>
                </a:pPr>
                <a:r>
                  <a:rPr lang="en-IN" dirty="0"/>
                  <a:t>                 If n == 0, return 0</a:t>
                </a:r>
              </a:p>
              <a:p>
                <a:pPr marL="0" indent="0">
                  <a:buNone/>
                </a:pPr>
                <a:r>
                  <a:rPr lang="en-IN" dirty="0"/>
                  <a:t>How it works: For 12345:</a:t>
                </a:r>
              </a:p>
              <a:p>
                <a:pPr marL="0" indent="0">
                  <a:buNone/>
                </a:pPr>
                <a:r>
                  <a:rPr lang="en-IN" dirty="0"/>
                  <a:t> </a:t>
                </a:r>
                <a:r>
                  <a:rPr lang="en-IN" dirty="0" err="1"/>
                  <a:t>countDigits</a:t>
                </a:r>
                <a:r>
                  <a:rPr lang="en-IN" dirty="0"/>
                  <a:t>(12345) </a:t>
                </a:r>
              </a:p>
              <a:p>
                <a:pPr marL="0" indent="0">
                  <a:buNone/>
                </a:pPr>
                <a:r>
                  <a:rPr lang="en-IN" dirty="0"/>
                  <a:t>= 1 + </a:t>
                </a:r>
                <a:r>
                  <a:rPr lang="en-IN" dirty="0" err="1"/>
                  <a:t>countDigits</a:t>
                </a:r>
                <a:r>
                  <a:rPr lang="en-IN" dirty="0"/>
                  <a:t>(1234)</a:t>
                </a:r>
              </a:p>
              <a:p>
                <a:pPr marL="0" indent="0">
                  <a:buNone/>
                </a:pPr>
                <a:r>
                  <a:rPr lang="en-IN" dirty="0"/>
                  <a:t> = 1 + 1 + </a:t>
                </a:r>
                <a:r>
                  <a:rPr lang="en-IN" dirty="0" err="1"/>
                  <a:t>countDigits</a:t>
                </a:r>
                <a:r>
                  <a:rPr lang="en-IN" dirty="0"/>
                  <a:t>(123)</a:t>
                </a:r>
              </a:p>
              <a:p>
                <a:pPr marL="0" indent="0">
                  <a:buNone/>
                </a:pPr>
                <a:r>
                  <a:rPr lang="en-IN" dirty="0"/>
                  <a:t> = 1 + 1 + 1 + </a:t>
                </a:r>
                <a:r>
                  <a:rPr lang="en-IN" dirty="0" err="1"/>
                  <a:t>countDigits</a:t>
                </a:r>
                <a:r>
                  <a:rPr lang="en-IN" dirty="0"/>
                  <a:t>(12) </a:t>
                </a:r>
              </a:p>
              <a:p>
                <a:pPr marL="0" indent="0">
                  <a:buNone/>
                </a:pPr>
                <a:r>
                  <a:rPr lang="en-IN" dirty="0"/>
                  <a:t>= 1 + 1 + 1 + 1 + </a:t>
                </a:r>
                <a:r>
                  <a:rPr lang="en-IN" dirty="0" err="1"/>
                  <a:t>countDigits</a:t>
                </a:r>
                <a:r>
                  <a:rPr lang="en-IN" dirty="0"/>
                  <a:t>(1) </a:t>
                </a:r>
              </a:p>
              <a:p>
                <a:pPr marL="0" indent="0">
                  <a:buNone/>
                </a:pPr>
                <a:r>
                  <a:rPr lang="en-IN" dirty="0"/>
                  <a:t>= 1 + 1 + 1 + 1 + 1 + </a:t>
                </a:r>
                <a:r>
                  <a:rPr lang="en-IN" dirty="0" err="1"/>
                  <a:t>countDigits</a:t>
                </a:r>
                <a:r>
                  <a:rPr lang="en-IN" dirty="0"/>
                  <a:t>(0) </a:t>
                </a:r>
              </a:p>
              <a:p>
                <a:pPr marL="0" indent="0">
                  <a:buNone/>
                </a:pPr>
                <a:r>
                  <a:rPr lang="en-IN" dirty="0"/>
                  <a:t>= 5</a:t>
                </a:r>
              </a:p>
            </p:txBody>
          </p:sp>
        </mc:Choice>
        <mc:Fallback xmlns="">
          <p:sp>
            <p:nvSpPr>
              <p:cNvPr id="6" name="Content Placeholder 5">
                <a:extLst>
                  <a:ext uri="{FF2B5EF4-FFF2-40B4-BE49-F238E27FC236}">
                    <a16:creationId xmlns:a16="http://schemas.microsoft.com/office/drawing/2014/main" id="{3B097568-F098-50C1-0E83-14B0BCBD25D6}"/>
                  </a:ext>
                </a:extLst>
              </p:cNvPr>
              <p:cNvSpPr>
                <a:spLocks noGrp="1" noRot="1" noChangeAspect="1" noMove="1" noResize="1" noEditPoints="1" noAdjustHandles="1" noChangeArrowheads="1" noChangeShapeType="1" noTextEdit="1"/>
              </p:cNvSpPr>
              <p:nvPr>
                <p:ph sz="half" idx="1"/>
              </p:nvPr>
            </p:nvSpPr>
            <p:spPr>
              <a:xfrm>
                <a:off x="952500" y="681037"/>
                <a:ext cx="5067300" cy="5970133"/>
              </a:xfrm>
              <a:blipFill>
                <a:blip r:embed="rId2"/>
                <a:stretch>
                  <a:fillRect l="-721" t="-409" b="-919"/>
                </a:stretch>
              </a:blipFill>
            </p:spPr>
            <p:txBody>
              <a:bodyPr/>
              <a:lstStyle/>
              <a:p>
                <a:r>
                  <a:rPr lang="en-IN">
                    <a:noFill/>
                  </a:rPr>
                  <a:t> </a:t>
                </a:r>
              </a:p>
            </p:txBody>
          </p:sp>
        </mc:Fallback>
      </mc:AlternateContent>
      <p:pic>
        <p:nvPicPr>
          <p:cNvPr id="10" name="Content Placeholder 9">
            <a:extLst>
              <a:ext uri="{FF2B5EF4-FFF2-40B4-BE49-F238E27FC236}">
                <a16:creationId xmlns:a16="http://schemas.microsoft.com/office/drawing/2014/main" id="{03A86330-DF65-2533-4EAC-0B11293F97F0}"/>
              </a:ext>
            </a:extLst>
          </p:cNvPr>
          <p:cNvPicPr>
            <a:picLocks noGrp="1" noChangeAspect="1"/>
          </p:cNvPicPr>
          <p:nvPr>
            <p:ph sz="half" idx="2"/>
          </p:nvPr>
        </p:nvPicPr>
        <p:blipFill>
          <a:blip r:embed="rId3"/>
          <a:stretch>
            <a:fillRect/>
          </a:stretch>
        </p:blipFill>
        <p:spPr>
          <a:xfrm>
            <a:off x="6672944" y="681037"/>
            <a:ext cx="4822370" cy="5572126"/>
          </a:xfrm>
          <a:prstGeom prst="rect">
            <a:avLst/>
          </a:prstGeom>
        </p:spPr>
      </p:pic>
      <p:pic>
        <p:nvPicPr>
          <p:cNvPr id="12" name="Picture 11">
            <a:extLst>
              <a:ext uri="{FF2B5EF4-FFF2-40B4-BE49-F238E27FC236}">
                <a16:creationId xmlns:a16="http://schemas.microsoft.com/office/drawing/2014/main" id="{8D890B35-3701-11A4-DEE8-5B54963A18B8}"/>
              </a:ext>
            </a:extLst>
          </p:cNvPr>
          <p:cNvPicPr>
            <a:picLocks noChangeAspect="1"/>
          </p:cNvPicPr>
          <p:nvPr/>
        </p:nvPicPr>
        <p:blipFill>
          <a:blip r:embed="rId4"/>
          <a:stretch>
            <a:fillRect/>
          </a:stretch>
        </p:blipFill>
        <p:spPr>
          <a:xfrm>
            <a:off x="7596832" y="6253163"/>
            <a:ext cx="2145881" cy="457200"/>
          </a:xfrm>
          <a:prstGeom prst="rect">
            <a:avLst/>
          </a:prstGeom>
        </p:spPr>
      </p:pic>
      <p:pic>
        <p:nvPicPr>
          <p:cNvPr id="14" name="Picture 13">
            <a:extLst>
              <a:ext uri="{FF2B5EF4-FFF2-40B4-BE49-F238E27FC236}">
                <a16:creationId xmlns:a16="http://schemas.microsoft.com/office/drawing/2014/main" id="{E882F8BD-6310-806F-B244-46A04C9F28CC}"/>
              </a:ext>
            </a:extLst>
          </p:cNvPr>
          <p:cNvPicPr>
            <a:picLocks noChangeAspect="1"/>
          </p:cNvPicPr>
          <p:nvPr/>
        </p:nvPicPr>
        <p:blipFill>
          <a:blip r:embed="rId5"/>
          <a:stretch>
            <a:fillRect/>
          </a:stretch>
        </p:blipFill>
        <p:spPr>
          <a:xfrm>
            <a:off x="6868887" y="6298064"/>
            <a:ext cx="463574" cy="367398"/>
          </a:xfrm>
          <a:prstGeom prst="rect">
            <a:avLst/>
          </a:prstGeom>
        </p:spPr>
      </p:pic>
    </p:spTree>
    <p:extLst>
      <p:ext uri="{BB962C8B-B14F-4D97-AF65-F5344CB8AC3E}">
        <p14:creationId xmlns:p14="http://schemas.microsoft.com/office/powerpoint/2010/main" val="7600935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1CDC-7C4E-5602-B780-0282BC647E27}"/>
              </a:ext>
            </a:extLst>
          </p:cNvPr>
          <p:cNvSpPr>
            <a:spLocks noGrp="1"/>
          </p:cNvSpPr>
          <p:nvPr>
            <p:ph type="title"/>
          </p:nvPr>
        </p:nvSpPr>
        <p:spPr>
          <a:xfrm>
            <a:off x="876300" y="0"/>
            <a:ext cx="10287000" cy="573881"/>
          </a:xfrm>
        </p:spPr>
        <p:txBody>
          <a:bodyPr/>
          <a:lstStyle/>
          <a:p>
            <a:r>
              <a:rPr lang="en-IN" dirty="0"/>
              <a:t>Reverse a Number</a:t>
            </a:r>
          </a:p>
        </p:txBody>
      </p:sp>
      <p:sp>
        <p:nvSpPr>
          <p:cNvPr id="3" name="Content Placeholder 2">
            <a:extLst>
              <a:ext uri="{FF2B5EF4-FFF2-40B4-BE49-F238E27FC236}">
                <a16:creationId xmlns:a16="http://schemas.microsoft.com/office/drawing/2014/main" id="{0FE48DCF-323C-42F5-D6A9-44756D8EE810}"/>
              </a:ext>
            </a:extLst>
          </p:cNvPr>
          <p:cNvSpPr>
            <a:spLocks noGrp="1"/>
          </p:cNvSpPr>
          <p:nvPr>
            <p:ph sz="half" idx="1"/>
          </p:nvPr>
        </p:nvSpPr>
        <p:spPr>
          <a:xfrm>
            <a:off x="952500" y="914400"/>
            <a:ext cx="5067300" cy="5262563"/>
          </a:xfrm>
        </p:spPr>
        <p:txBody>
          <a:bodyPr/>
          <a:lstStyle/>
          <a:p>
            <a:pPr marL="0" indent="0">
              <a:buNone/>
            </a:pPr>
            <a:r>
              <a:rPr lang="en-IN" dirty="0"/>
              <a:t>This is a simple </a:t>
            </a:r>
            <a:r>
              <a:rPr lang="en-IN" b="1" dirty="0"/>
              <a:t>logical problem</a:t>
            </a:r>
            <a:r>
              <a:rPr lang="en-IN" dirty="0"/>
              <a:t> that can also be solved recursively.</a:t>
            </a:r>
          </a:p>
          <a:p>
            <a:pPr marL="0" indent="0">
              <a:buNone/>
            </a:pPr>
            <a:r>
              <a:rPr lang="en-IN" dirty="0"/>
              <a:t>For example:</a:t>
            </a:r>
          </a:p>
          <a:p>
            <a:pPr marL="0" indent="0">
              <a:buNone/>
            </a:pPr>
            <a:r>
              <a:rPr lang="en-IN" dirty="0"/>
              <a:t>1234 → 4321</a:t>
            </a:r>
          </a:p>
          <a:p>
            <a:pPr marL="0" indent="0">
              <a:buNone/>
            </a:pPr>
            <a:r>
              <a:rPr lang="en-IN" dirty="0"/>
              <a:t>One approach is to recursively process the digits.</a:t>
            </a:r>
          </a:p>
          <a:p>
            <a:endParaRPr lang="en-IN" dirty="0"/>
          </a:p>
        </p:txBody>
      </p:sp>
      <p:pic>
        <p:nvPicPr>
          <p:cNvPr id="6" name="Content Placeholder 5">
            <a:extLst>
              <a:ext uri="{FF2B5EF4-FFF2-40B4-BE49-F238E27FC236}">
                <a16:creationId xmlns:a16="http://schemas.microsoft.com/office/drawing/2014/main" id="{1546BCA4-4BF5-EF79-D364-F88D87FE0DAB}"/>
              </a:ext>
            </a:extLst>
          </p:cNvPr>
          <p:cNvPicPr>
            <a:picLocks noGrp="1" noChangeAspect="1"/>
          </p:cNvPicPr>
          <p:nvPr>
            <p:ph sz="half" idx="2"/>
          </p:nvPr>
        </p:nvPicPr>
        <p:blipFill>
          <a:blip r:embed="rId2"/>
          <a:stretch>
            <a:fillRect/>
          </a:stretch>
        </p:blipFill>
        <p:spPr>
          <a:xfrm>
            <a:off x="6760029" y="488473"/>
            <a:ext cx="4212772" cy="5052355"/>
          </a:xfrm>
          <a:prstGeom prst="rect">
            <a:avLst/>
          </a:prstGeom>
        </p:spPr>
      </p:pic>
      <p:pic>
        <p:nvPicPr>
          <p:cNvPr id="8" name="Picture 7">
            <a:extLst>
              <a:ext uri="{FF2B5EF4-FFF2-40B4-BE49-F238E27FC236}">
                <a16:creationId xmlns:a16="http://schemas.microsoft.com/office/drawing/2014/main" id="{70EF0B52-22A6-4129-F2A6-82D368072A13}"/>
              </a:ext>
            </a:extLst>
          </p:cNvPr>
          <p:cNvPicPr>
            <a:picLocks noChangeAspect="1"/>
          </p:cNvPicPr>
          <p:nvPr/>
        </p:nvPicPr>
        <p:blipFill>
          <a:blip r:embed="rId3"/>
          <a:stretch>
            <a:fillRect/>
          </a:stretch>
        </p:blipFill>
        <p:spPr>
          <a:xfrm>
            <a:off x="6760029" y="5871465"/>
            <a:ext cx="1894114" cy="986535"/>
          </a:xfrm>
          <a:prstGeom prst="rect">
            <a:avLst/>
          </a:prstGeom>
        </p:spPr>
      </p:pic>
    </p:spTree>
    <p:extLst>
      <p:ext uri="{BB962C8B-B14F-4D97-AF65-F5344CB8AC3E}">
        <p14:creationId xmlns:p14="http://schemas.microsoft.com/office/powerpoint/2010/main" val="10921329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300F-345E-99F1-9B97-7C1C649D7B69}"/>
              </a:ext>
            </a:extLst>
          </p:cNvPr>
          <p:cNvSpPr>
            <a:spLocks noGrp="1"/>
          </p:cNvSpPr>
          <p:nvPr>
            <p:ph type="title"/>
          </p:nvPr>
        </p:nvSpPr>
        <p:spPr>
          <a:xfrm>
            <a:off x="876300" y="0"/>
            <a:ext cx="10287000" cy="533400"/>
          </a:xfrm>
        </p:spPr>
        <p:txBody>
          <a:bodyPr>
            <a:normAutofit fontScale="90000"/>
          </a:bodyPr>
          <a:lstStyle/>
          <a:p>
            <a:r>
              <a:rPr lang="en-IN" dirty="0"/>
              <a:t>Check Whether a Number is Palindrome</a:t>
            </a:r>
          </a:p>
        </p:txBody>
      </p:sp>
      <p:sp>
        <p:nvSpPr>
          <p:cNvPr id="3" name="Content Placeholder 2">
            <a:extLst>
              <a:ext uri="{FF2B5EF4-FFF2-40B4-BE49-F238E27FC236}">
                <a16:creationId xmlns:a16="http://schemas.microsoft.com/office/drawing/2014/main" id="{A0BE1284-C185-D81D-E36C-14BED71A1F89}"/>
              </a:ext>
            </a:extLst>
          </p:cNvPr>
          <p:cNvSpPr>
            <a:spLocks noGrp="1"/>
          </p:cNvSpPr>
          <p:nvPr>
            <p:ph sz="half" idx="1"/>
          </p:nvPr>
        </p:nvSpPr>
        <p:spPr>
          <a:xfrm>
            <a:off x="800100" y="1164774"/>
            <a:ext cx="5067300" cy="4909455"/>
          </a:xfrm>
        </p:spPr>
        <p:txBody>
          <a:bodyPr/>
          <a:lstStyle/>
          <a:p>
            <a:pPr marL="0" indent="0">
              <a:buNone/>
            </a:pPr>
            <a:r>
              <a:rPr lang="en-IN" dirty="0"/>
              <a:t>A </a:t>
            </a:r>
            <a:r>
              <a:rPr lang="en-IN" b="1" dirty="0"/>
              <a:t>palindrome</a:t>
            </a:r>
            <a:r>
              <a:rPr lang="en-IN" dirty="0"/>
              <a:t> reads the same forward and backward.</a:t>
            </a:r>
          </a:p>
          <a:p>
            <a:pPr marL="0" indent="0">
              <a:buNone/>
            </a:pPr>
            <a:r>
              <a:rPr lang="en-IN" dirty="0"/>
              <a:t>Examples:</a:t>
            </a:r>
          </a:p>
          <a:p>
            <a:r>
              <a:rPr lang="en-IN" dirty="0"/>
              <a:t>121 → Palindrome</a:t>
            </a:r>
          </a:p>
          <a:p>
            <a:r>
              <a:rPr lang="en-IN" dirty="0"/>
              <a:t>1331 → Palindrome</a:t>
            </a:r>
          </a:p>
          <a:p>
            <a:r>
              <a:rPr lang="en-IN" dirty="0"/>
              <a:t>123 → Not Palindrome</a:t>
            </a:r>
          </a:p>
          <a:p>
            <a:pPr marL="0" indent="0">
              <a:buNone/>
            </a:pPr>
            <a:r>
              <a:rPr lang="en-IN" dirty="0"/>
              <a:t>We can recursively reverse the number and compare it with the original.</a:t>
            </a:r>
          </a:p>
          <a:p>
            <a:endParaRPr lang="en-IN" dirty="0"/>
          </a:p>
        </p:txBody>
      </p:sp>
      <p:pic>
        <p:nvPicPr>
          <p:cNvPr id="6" name="Content Placeholder 5">
            <a:extLst>
              <a:ext uri="{FF2B5EF4-FFF2-40B4-BE49-F238E27FC236}">
                <a16:creationId xmlns:a16="http://schemas.microsoft.com/office/drawing/2014/main" id="{11D75D0E-E794-E5FB-282B-584369BBC11E}"/>
              </a:ext>
            </a:extLst>
          </p:cNvPr>
          <p:cNvPicPr>
            <a:picLocks noGrp="1" noChangeAspect="1"/>
          </p:cNvPicPr>
          <p:nvPr>
            <p:ph sz="half" idx="2"/>
          </p:nvPr>
        </p:nvPicPr>
        <p:blipFill>
          <a:blip r:embed="rId2"/>
          <a:stretch>
            <a:fillRect/>
          </a:stretch>
        </p:blipFill>
        <p:spPr>
          <a:xfrm>
            <a:off x="6955971" y="783771"/>
            <a:ext cx="4435929" cy="5290457"/>
          </a:xfrm>
          <a:prstGeom prst="rect">
            <a:avLst/>
          </a:prstGeom>
        </p:spPr>
      </p:pic>
      <p:pic>
        <p:nvPicPr>
          <p:cNvPr id="8" name="Picture 7">
            <a:extLst>
              <a:ext uri="{FF2B5EF4-FFF2-40B4-BE49-F238E27FC236}">
                <a16:creationId xmlns:a16="http://schemas.microsoft.com/office/drawing/2014/main" id="{B6327E08-7134-74B7-419F-14EED5ED3369}"/>
              </a:ext>
            </a:extLst>
          </p:cNvPr>
          <p:cNvPicPr>
            <a:picLocks noChangeAspect="1"/>
          </p:cNvPicPr>
          <p:nvPr/>
        </p:nvPicPr>
        <p:blipFill>
          <a:blip r:embed="rId3"/>
          <a:stretch>
            <a:fillRect/>
          </a:stretch>
        </p:blipFill>
        <p:spPr>
          <a:xfrm>
            <a:off x="6955970" y="6210267"/>
            <a:ext cx="2198915" cy="647733"/>
          </a:xfrm>
          <a:prstGeom prst="rect">
            <a:avLst/>
          </a:prstGeom>
        </p:spPr>
      </p:pic>
    </p:spTree>
    <p:extLst>
      <p:ext uri="{BB962C8B-B14F-4D97-AF65-F5344CB8AC3E}">
        <p14:creationId xmlns:p14="http://schemas.microsoft.com/office/powerpoint/2010/main" val="384098723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44705-9D52-C52B-F731-0308F74D1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42546-26F1-2A2C-163F-F429C124F12F}"/>
              </a:ext>
            </a:extLst>
          </p:cNvPr>
          <p:cNvSpPr>
            <a:spLocks noGrp="1"/>
          </p:cNvSpPr>
          <p:nvPr>
            <p:ph type="title"/>
          </p:nvPr>
        </p:nvSpPr>
        <p:spPr>
          <a:xfrm>
            <a:off x="174172" y="0"/>
            <a:ext cx="12202885" cy="544286"/>
          </a:xfrm>
        </p:spPr>
        <p:txBody>
          <a:bodyPr>
            <a:normAutofit fontScale="90000"/>
          </a:bodyPr>
          <a:lstStyle/>
          <a:p>
            <a:r>
              <a:rPr lang="en-IN" dirty="0"/>
              <a:t>Implementation of Greatest Common Divisor (GCD)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39F96A-FDCC-1EFD-BF26-7B9B8199AC22}"/>
                  </a:ext>
                </a:extLst>
              </p:cNvPr>
              <p:cNvSpPr>
                <a:spLocks noGrp="1"/>
              </p:cNvSpPr>
              <p:nvPr>
                <p:ph sz="half" idx="1"/>
              </p:nvPr>
            </p:nvSpPr>
            <p:spPr>
              <a:xfrm>
                <a:off x="174172" y="664029"/>
                <a:ext cx="5845628" cy="6008913"/>
              </a:xfrm>
            </p:spPr>
            <p:txBody>
              <a:bodyPr/>
              <a:lstStyle/>
              <a:p>
                <a:pPr marL="0" indent="0">
                  <a:buNone/>
                </a:pPr>
                <a:r>
                  <a:rPr lang="en-IN" dirty="0"/>
                  <a:t>The </a:t>
                </a:r>
                <a:r>
                  <a:rPr lang="en-IN" b="1" dirty="0"/>
                  <a:t>GCD</a:t>
                </a:r>
                <a:r>
                  <a:rPr lang="en-IN" dirty="0"/>
                  <a:t> is the largest number that divides two numbers exactly.</a:t>
                </a:r>
              </a:p>
              <a:p>
                <a:pPr marL="0" indent="0">
                  <a:buNone/>
                </a:pPr>
                <a:r>
                  <a:rPr lang="en-IN" dirty="0"/>
                  <a:t>For example:</a:t>
                </a:r>
              </a:p>
              <a:p>
                <a:pPr marL="0" indent="0">
                  <a:buNone/>
                </a:pPr>
                <a:r>
                  <a:rPr lang="en-IN" dirty="0"/>
                  <a:t>GCD(24, 18) = 6</a:t>
                </a:r>
              </a:p>
              <a:p>
                <a:pPr marL="0" indent="0">
                  <a:buNone/>
                </a:pPr>
                <a:r>
                  <a:rPr lang="en-IN" dirty="0"/>
                  <a:t>We can use Euclid's algorithm:</a:t>
                </a:r>
              </a:p>
              <a:p>
                <a:pPr marL="0" indent="0">
                  <a:buNone/>
                </a:pPr>
                <a14:m>
                  <m:oMathPara xmlns:m="http://schemas.openxmlformats.org/officeDocument/2006/math">
                    <m:oMath>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𝑏</m:t>
                          </m:r>
                        </m:e>
                      </m:d>
                      <m:r>
                        <a:rPr lang="en-IN">
                          <a:latin typeface="Cambria Math" panose="02040503050406030204" pitchFamily="18" charset="0"/>
                        </a:rPr>
                        <m:t>=</m:t>
                      </m:r>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𝑏</m:t>
                          </m:r>
                        </m:e>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m:oMathPara>
                </a14:m>
                <a:endParaRPr lang="en-IN" dirty="0"/>
              </a:p>
              <a:p>
                <a:pPr marL="0" indent="0">
                  <a:buNone/>
                </a:pPr>
                <a:r>
                  <a:rPr lang="en-IN" dirty="0"/>
                  <a:t>Base case:</a:t>
                </a:r>
              </a:p>
              <a:p>
                <a:pPr marL="0" indent="0">
                  <a:buNone/>
                </a:pPr>
                <a:r>
                  <a:rPr lang="en-IN" dirty="0"/>
                  <a:t>                              If b = 0, GCD = a</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1139F96A-FDCC-1EFD-BF26-7B9B8199AC22}"/>
                  </a:ext>
                </a:extLst>
              </p:cNvPr>
              <p:cNvSpPr>
                <a:spLocks noGrp="1" noRot="1" noChangeAspect="1" noMove="1" noResize="1" noEditPoints="1" noAdjustHandles="1" noChangeArrowheads="1" noChangeShapeType="1" noTextEdit="1"/>
              </p:cNvSpPr>
              <p:nvPr>
                <p:ph sz="half" idx="1"/>
              </p:nvPr>
            </p:nvSpPr>
            <p:spPr>
              <a:xfrm>
                <a:off x="174172" y="664029"/>
                <a:ext cx="5845628" cy="6008913"/>
              </a:xfrm>
              <a:blipFill>
                <a:blip r:embed="rId2"/>
                <a:stretch>
                  <a:fillRect l="-938" t="-10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DA31CE76-2259-C466-D4B9-BF34F9A159A5}"/>
              </a:ext>
            </a:extLst>
          </p:cNvPr>
          <p:cNvPicPr>
            <a:picLocks noGrp="1" noChangeAspect="1"/>
          </p:cNvPicPr>
          <p:nvPr>
            <p:ph sz="half" idx="2"/>
          </p:nvPr>
        </p:nvPicPr>
        <p:blipFill>
          <a:blip r:embed="rId3"/>
          <a:stretch>
            <a:fillRect/>
          </a:stretch>
        </p:blipFill>
        <p:spPr>
          <a:xfrm>
            <a:off x="7280672" y="664028"/>
            <a:ext cx="3909842" cy="5279571"/>
          </a:xfrm>
          <a:prstGeom prst="rect">
            <a:avLst/>
          </a:prstGeom>
        </p:spPr>
      </p:pic>
      <p:pic>
        <p:nvPicPr>
          <p:cNvPr id="8" name="Picture 7">
            <a:extLst>
              <a:ext uri="{FF2B5EF4-FFF2-40B4-BE49-F238E27FC236}">
                <a16:creationId xmlns:a16="http://schemas.microsoft.com/office/drawing/2014/main" id="{96E50C85-B1D0-A287-B3DF-DE199935F43D}"/>
              </a:ext>
            </a:extLst>
          </p:cNvPr>
          <p:cNvPicPr>
            <a:picLocks noChangeAspect="1"/>
          </p:cNvPicPr>
          <p:nvPr/>
        </p:nvPicPr>
        <p:blipFill>
          <a:blip r:embed="rId4"/>
          <a:stretch>
            <a:fillRect/>
          </a:stretch>
        </p:blipFill>
        <p:spPr>
          <a:xfrm>
            <a:off x="7280672" y="6193972"/>
            <a:ext cx="1329928" cy="628682"/>
          </a:xfrm>
          <a:prstGeom prst="rect">
            <a:avLst/>
          </a:prstGeom>
        </p:spPr>
      </p:pic>
    </p:spTree>
    <p:extLst>
      <p:ext uri="{BB962C8B-B14F-4D97-AF65-F5344CB8AC3E}">
        <p14:creationId xmlns:p14="http://schemas.microsoft.com/office/powerpoint/2010/main" val="275886317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DDA1-403D-EAF8-C7C9-6466539C0250}"/>
              </a:ext>
            </a:extLst>
          </p:cNvPr>
          <p:cNvSpPr>
            <a:spLocks noGrp="1"/>
          </p:cNvSpPr>
          <p:nvPr>
            <p:ph type="title"/>
          </p:nvPr>
        </p:nvSpPr>
        <p:spPr>
          <a:xfrm>
            <a:off x="876300" y="107156"/>
            <a:ext cx="10287000" cy="573881"/>
          </a:xfrm>
        </p:spPr>
        <p:txBody>
          <a:bodyPr/>
          <a:lstStyle/>
          <a:p>
            <a:r>
              <a:rPr lang="en-IN" dirty="0"/>
              <a:t>Power of a Number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A28256-8F35-E9CA-3F23-0B7E404D8B20}"/>
                  </a:ext>
                </a:extLst>
              </p:cNvPr>
              <p:cNvSpPr>
                <a:spLocks noGrp="1"/>
              </p:cNvSpPr>
              <p:nvPr>
                <p:ph sz="half" idx="1"/>
              </p:nvPr>
            </p:nvSpPr>
            <p:spPr/>
            <p:txBody>
              <a:bodyPr/>
              <a:lstStyle/>
              <a:p>
                <a:pPr marL="0" indent="0">
                  <a:buNone/>
                </a:pPr>
                <a:r>
                  <a:rPr lang="en-IN" dirty="0"/>
                  <a:t>Calculate:</a:t>
                </a:r>
              </a:p>
              <a:p>
                <a:pPr marL="0" indent="0">
                  <a:buNone/>
                </a:pPr>
                <a14:m>
                  <m:oMathPara xmlns:m="http://schemas.openxmlformats.org/officeDocument/2006/math">
                    <m:oMath>
                      <m:sSup>
                        <m:sSupPr>
                          <m:ctrlPr>
                            <a:rPr lang="en-IN">
                              <a:latin typeface="Cambria Math" panose="02040503050406030204" pitchFamily="18" charset="0"/>
                            </a:rPr>
                          </m:ctrlPr>
                        </m:sSupPr>
                        <m:e>
                          <m:r>
                            <a:rPr lang="en-IN">
                              <a:latin typeface="Cambria Math" panose="02040503050406030204" pitchFamily="18" charset="0"/>
                            </a:rPr>
                            <m:t>2</m:t>
                          </m:r>
                        </m:e>
                        <m:sup>
                          <m:r>
                            <a:rPr lang="en-IN">
                              <a:latin typeface="Cambria Math" panose="02040503050406030204" pitchFamily="18" charset="0"/>
                            </a:rPr>
                            <m:t>5</m:t>
                          </m:r>
                        </m:sup>
                      </m:sSup>
                      <m:r>
                        <a:rPr lang="en-IN">
                          <a:latin typeface="Cambria Math" panose="02040503050406030204" pitchFamily="18" charset="0"/>
                        </a:rPr>
                        <m:t>=32</m:t>
                      </m:r>
                    </m:oMath>
                  </m:oMathPara>
                </a14:m>
                <a:endParaRPr lang="en-IN" dirty="0"/>
              </a:p>
              <a:p>
                <a:pPr marL="0" indent="0">
                  <a:buNone/>
                </a:pPr>
                <a:r>
                  <a:rPr lang="en-IN" dirty="0"/>
                  <a:t>Recursive relationship:</a:t>
                </a:r>
              </a:p>
              <a:p>
                <a:pPr marL="0" indent="0">
                  <a:buNone/>
                </a:pPr>
                <a14:m>
                  <m:oMathPara xmlns:m="http://schemas.openxmlformats.org/officeDocument/2006/math">
                    <m:oMath>
                      <m:r>
                        <a:rPr lang="en-IN" i="1">
                          <a:latin typeface="Cambria Math" panose="02040503050406030204" pitchFamily="18" charset="0"/>
                        </a:rPr>
                        <m:t>𝑝𝑜𝑤𝑒𝑟</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𝑛</m:t>
                          </m:r>
                        </m:e>
                      </m:d>
                      <m:r>
                        <a:rPr lang="en-IN">
                          <a:latin typeface="Cambria Math" panose="02040503050406030204" pitchFamily="18" charset="0"/>
                        </a:rPr>
                        <m:t>=</m:t>
                      </m:r>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𝑝𝑜𝑤𝑒𝑟</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𝑛</m:t>
                          </m:r>
                          <m:r>
                            <a:rPr lang="en-IN">
                              <a:latin typeface="Cambria Math" panose="02040503050406030204" pitchFamily="18" charset="0"/>
                            </a:rPr>
                            <m:t>−1</m:t>
                          </m:r>
                        </m:e>
                      </m:d>
                    </m:oMath>
                  </m:oMathPara>
                </a14:m>
                <a:endParaRPr lang="en-IN" dirty="0"/>
              </a:p>
              <a:p>
                <a:pPr marL="0" indent="0">
                  <a:buNone/>
                </a:pPr>
                <a:r>
                  <a:rPr lang="en-IN" dirty="0"/>
                  <a:t>Base case:</a:t>
                </a:r>
              </a:p>
              <a:p>
                <a:pPr marL="0" indent="0">
                  <a:buNone/>
                </a:pPr>
                <a:r>
                  <a:rPr lang="en-IN"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0</m:t>
                        </m:r>
                      </m:sup>
                    </m:sSup>
                  </m:oMath>
                </a14:m>
                <a:r>
                  <a:rPr lang="en-IN" dirty="0"/>
                  <a:t>=1</a:t>
                </a:r>
              </a:p>
            </p:txBody>
          </p:sp>
        </mc:Choice>
        <mc:Fallback xmlns="">
          <p:sp>
            <p:nvSpPr>
              <p:cNvPr id="3" name="Content Placeholder 2">
                <a:extLst>
                  <a:ext uri="{FF2B5EF4-FFF2-40B4-BE49-F238E27FC236}">
                    <a16:creationId xmlns:a16="http://schemas.microsoft.com/office/drawing/2014/main" id="{55A28256-8F35-E9CA-3F23-0B7E404D8B20}"/>
                  </a:ext>
                </a:extLst>
              </p:cNvPr>
              <p:cNvSpPr>
                <a:spLocks noGrp="1" noRot="1" noChangeAspect="1" noMove="1" noResize="1" noEditPoints="1" noAdjustHandles="1" noChangeArrowheads="1" noChangeShapeType="1" noTextEdit="1"/>
              </p:cNvSpPr>
              <p:nvPr>
                <p:ph sz="half" idx="1"/>
              </p:nvPr>
            </p:nvSpPr>
            <p:spPr>
              <a:blipFill>
                <a:blip r:embed="rId2"/>
                <a:stretch>
                  <a:fillRect l="-962"/>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6C403C45-5D9F-D9A6-E2A0-9F3D7DE1BC25}"/>
              </a:ext>
            </a:extLst>
          </p:cNvPr>
          <p:cNvPicPr>
            <a:picLocks noGrp="1" noChangeAspect="1"/>
          </p:cNvPicPr>
          <p:nvPr>
            <p:ph sz="half" idx="2"/>
          </p:nvPr>
        </p:nvPicPr>
        <p:blipFill>
          <a:blip r:embed="rId3"/>
          <a:stretch>
            <a:fillRect/>
          </a:stretch>
        </p:blipFill>
        <p:spPr>
          <a:xfrm>
            <a:off x="6792686" y="256493"/>
            <a:ext cx="3810000" cy="5447620"/>
          </a:xfrm>
          <a:prstGeom prst="rect">
            <a:avLst/>
          </a:prstGeom>
        </p:spPr>
      </p:pic>
      <p:pic>
        <p:nvPicPr>
          <p:cNvPr id="8" name="Picture 7">
            <a:extLst>
              <a:ext uri="{FF2B5EF4-FFF2-40B4-BE49-F238E27FC236}">
                <a16:creationId xmlns:a16="http://schemas.microsoft.com/office/drawing/2014/main" id="{65D8E5CC-2A69-6BF1-4ED6-4CD1B3B3405F}"/>
              </a:ext>
            </a:extLst>
          </p:cNvPr>
          <p:cNvPicPr>
            <a:picLocks noChangeAspect="1"/>
          </p:cNvPicPr>
          <p:nvPr/>
        </p:nvPicPr>
        <p:blipFill>
          <a:blip r:embed="rId4"/>
          <a:stretch>
            <a:fillRect/>
          </a:stretch>
        </p:blipFill>
        <p:spPr>
          <a:xfrm>
            <a:off x="6792686" y="6065009"/>
            <a:ext cx="1404257" cy="685835"/>
          </a:xfrm>
          <a:prstGeom prst="rect">
            <a:avLst/>
          </a:prstGeom>
        </p:spPr>
      </p:pic>
    </p:spTree>
    <p:extLst>
      <p:ext uri="{BB962C8B-B14F-4D97-AF65-F5344CB8AC3E}">
        <p14:creationId xmlns:p14="http://schemas.microsoft.com/office/powerpoint/2010/main" val="311832461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normAutofit/>
          </a:bodyPr>
          <a:lstStyle/>
          <a:p>
            <a:pPr lvl="0"/>
            <a:r>
              <a:rPr lang="en-IN" dirty="0"/>
              <a:t>[1] B. W. Kernighan and D. M. Ritchie, </a:t>
            </a:r>
            <a:r>
              <a:rPr lang="en-IN" i="1" dirty="0"/>
              <a:t>The C Programming Language</a:t>
            </a:r>
            <a:r>
              <a:rPr lang="en-IN" dirty="0"/>
              <a:t>, 2nd ed., Prentice Hall, 1988.</a:t>
            </a:r>
            <a:br>
              <a:rPr lang="en-IN" dirty="0"/>
            </a:br>
            <a:r>
              <a:rPr lang="en-IN" dirty="0"/>
              <a:t>[2] E. </a:t>
            </a:r>
            <a:r>
              <a:rPr lang="en-IN" dirty="0" err="1"/>
              <a:t>Balagurusamy</a:t>
            </a:r>
            <a:r>
              <a:rPr lang="en-IN" dirty="0"/>
              <a:t>, </a:t>
            </a:r>
            <a:r>
              <a:rPr lang="en-IN" i="1" dirty="0"/>
              <a:t>Programming in ANSI C</a:t>
            </a:r>
            <a:r>
              <a:rPr lang="en-IN" dirty="0"/>
              <a:t>, 8th ed., McGraw Hill Education, 2019.</a:t>
            </a:r>
            <a:br>
              <a:rPr lang="en-IN" dirty="0"/>
            </a:br>
            <a:r>
              <a:rPr lang="en-IN" dirty="0"/>
              <a:t>[3] K. N. King, </a:t>
            </a:r>
            <a:r>
              <a:rPr lang="en-IN" i="1" dirty="0"/>
              <a:t>C Programming: A Modern Approach</a:t>
            </a:r>
            <a:r>
              <a:rPr lang="en-IN" dirty="0"/>
              <a:t>, 2nd ed., W. W. Norton &amp; Company, 2008.</a:t>
            </a:r>
            <a:br>
              <a:rPr lang="en-IN" dirty="0"/>
            </a:br>
            <a:r>
              <a:rPr lang="en-IN" dirty="0"/>
              <a:t>[4] H. Schildt, </a:t>
            </a:r>
            <a:r>
              <a:rPr lang="en-IN" i="1" dirty="0"/>
              <a:t>C: The Complete Reference</a:t>
            </a:r>
            <a:r>
              <a:rPr lang="en-IN" dirty="0"/>
              <a:t>, 4th ed., McGraw-Hill Education, 2017.</a:t>
            </a:r>
            <a:br>
              <a:rPr lang="en-IN" dirty="0"/>
            </a:br>
            <a:r>
              <a:rPr lang="en-IN" dirty="0"/>
              <a:t>[5] ISO/IEC 9899:2018, </a:t>
            </a:r>
            <a:r>
              <a:rPr lang="en-IN" i="1" dirty="0"/>
              <a:t>Programming Languages — C</a:t>
            </a:r>
            <a:r>
              <a:rPr lang="en-IN" dirty="0"/>
              <a:t>, ISO, 2018.</a:t>
            </a:r>
          </a:p>
        </p:txBody>
      </p:sp>
    </p:spTree>
    <p:extLst>
      <p:ext uri="{BB962C8B-B14F-4D97-AF65-F5344CB8AC3E}">
        <p14:creationId xmlns:p14="http://schemas.microsoft.com/office/powerpoint/2010/main" val="453612438"/>
      </p:ext>
    </p:extLst>
  </p:cSld>
  <p:clrMapOvr>
    <a:masterClrMapping/>
  </p:clrMapOvr>
</p:sld>
</file>

<file path=ppt/theme/theme1.xml><?xml version="1.0" encoding="utf-8"?>
<a:theme xmlns:a="http://schemas.openxmlformats.org/drawingml/2006/main" name="AfterglowVTI">
  <a:themeElements>
    <a:clrScheme name="Custom 7">
      <a:dk1>
        <a:sysClr val="windowText" lastClr="000000"/>
      </a:dk1>
      <a:lt1>
        <a:sysClr val="window" lastClr="FFFFFF"/>
      </a:lt1>
      <a:dk2>
        <a:srgbClr val="0A2E36"/>
      </a:dk2>
      <a:lt2>
        <a:srgbClr val="E7E6E6"/>
      </a:lt2>
      <a:accent1>
        <a:srgbClr val="188659"/>
      </a:accent1>
      <a:accent2>
        <a:srgbClr val="A3A300"/>
      </a:accent2>
      <a:accent3>
        <a:srgbClr val="00ADA8"/>
      </a:accent3>
      <a:accent4>
        <a:srgbClr val="EA0440"/>
      </a:accent4>
      <a:accent5>
        <a:srgbClr val="92278F"/>
      </a:accent5>
      <a:accent6>
        <a:srgbClr val="E15BC1"/>
      </a:accent6>
      <a:hlink>
        <a:srgbClr val="188659"/>
      </a:hlink>
      <a:folHlink>
        <a:srgbClr val="EA0440"/>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{F94390C2-D6CE-024A-B2CF-353B12B8552D}TF1f715688-e716-4160-8f29-0fc5bb3f0dea625ba167-bda5d2ed6357</Template>
  <TotalTime>6946</TotalTime>
  <Words>13978</Words>
  <Application>Microsoft Office PowerPoint</Application>
  <PresentationFormat>Widescreen</PresentationFormat>
  <Paragraphs>2385</Paragraphs>
  <Slides>163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163</vt:i4>
      </vt:variant>
    </vt:vector>
  </HeadingPairs>
  <TitlesOfParts>
    <vt:vector size="172" baseType="lpstr">
      <vt:lpstr>Aptos</vt:lpstr>
      <vt:lpstr>Arial</vt:lpstr>
      <vt:lpstr>Cambria Math</vt:lpstr>
      <vt:lpstr>Courier New</vt:lpstr>
      <vt:lpstr>Times New Roman</vt:lpstr>
      <vt:lpstr>Trade Gothic Next Cond</vt:lpstr>
      <vt:lpstr>Trade Gothic Next Light</vt:lpstr>
      <vt:lpstr>Wingdings</vt:lpstr>
      <vt:lpstr>AfterglowVTI</vt:lpstr>
      <vt:lpstr>26CSE1002J - Programming for Problem Solving</vt:lpstr>
      <vt:lpstr>Learning Outcomes</vt:lpstr>
      <vt:lpstr>DECOMPOSITION </vt:lpstr>
      <vt:lpstr>DECOMPOSITION </vt:lpstr>
      <vt:lpstr>Categories or types of functions</vt:lpstr>
      <vt:lpstr>PowerPoint Presentation</vt:lpstr>
      <vt:lpstr>Elements of user- defined functions </vt:lpstr>
      <vt:lpstr>1. Function Declaration, Function call and function definition</vt:lpstr>
      <vt:lpstr>PowerPoint Presentation</vt:lpstr>
      <vt:lpstr>PowerPoint Presentation</vt:lpstr>
      <vt:lpstr>PowerPoint Presentation</vt:lpstr>
      <vt:lpstr>Categories of user defined functions</vt:lpstr>
      <vt:lpstr>Functions in C </vt:lpstr>
      <vt:lpstr>  1. FUNCTION WITH NO ARGUMENTS AND NO RETURN VALUES </vt:lpstr>
      <vt:lpstr>        Example code for FUNCTION WITH NO ARGUMENTS AND NO RETURN VALUES </vt:lpstr>
      <vt:lpstr>       2. FUNCTION WITH  ARGUMENTS AND NO RETURN VALUES </vt:lpstr>
      <vt:lpstr>Example: FUNCTION WITH  ARGUMENTS AND NO RETURN VALUES </vt:lpstr>
      <vt:lpstr>FUNCTION WITH  ARGUMENTS AND WITH RETURN VALUES </vt:lpstr>
      <vt:lpstr>FUNCTION WITH  ARGUMENTS AND WITH RETURN VALUES </vt:lpstr>
      <vt:lpstr> FUNCTION WITH NO ARGUMENTS AND WITH RETURN VALUES</vt:lpstr>
      <vt:lpstr> FUNCTION WITH NO ARGUMENTS AND WITH RETURN VALUES</vt:lpstr>
      <vt:lpstr>Practice Questions</vt:lpstr>
      <vt:lpstr>Practice Answers</vt:lpstr>
      <vt:lpstr>REFERENCE</vt:lpstr>
      <vt:lpstr>26CSE1002J - Programming for Problem Solving</vt:lpstr>
      <vt:lpstr>Learning Outcomes</vt:lpstr>
      <vt:lpstr>Pass-by-Value and Pass-by-Reference in C</vt:lpstr>
      <vt:lpstr>PowerPoint Presentation</vt:lpstr>
      <vt:lpstr>PowerPoint Presentation</vt:lpstr>
      <vt:lpstr>PowerPoint Presentation</vt:lpstr>
      <vt:lpstr>Pass by value: Example 3</vt:lpstr>
      <vt:lpstr>PASS by reference</vt:lpstr>
      <vt:lpstr>PowerPoint Presentation</vt:lpstr>
      <vt:lpstr>PowerPoint Presentation</vt:lpstr>
      <vt:lpstr>PowerPoint Presentation</vt:lpstr>
      <vt:lpstr>PowerPoint Presentation</vt:lpstr>
      <vt:lpstr>Pass By reference: Example 1 </vt:lpstr>
      <vt:lpstr>pass by reference : Example 2</vt:lpstr>
      <vt:lpstr>Practice Questions with Answers</vt:lpstr>
      <vt:lpstr>Practice Questions with Answers</vt:lpstr>
      <vt:lpstr>Practice Questions with Answers</vt:lpstr>
      <vt:lpstr>Practice Questions with Answers</vt:lpstr>
      <vt:lpstr>Practice Questions with Answers</vt:lpstr>
      <vt:lpstr>REFERENCE</vt:lpstr>
      <vt:lpstr>26CSE1002J - Programming for Problem Solving</vt:lpstr>
      <vt:lpstr>Learning Outcomes</vt:lpstr>
      <vt:lpstr>Guided Practice: Prime Number Using Helper Functions</vt:lpstr>
      <vt:lpstr>Create functions for each task </vt:lpstr>
      <vt:lpstr>complete c program </vt:lpstr>
      <vt:lpstr>Understand the decomposition</vt:lpstr>
      <vt:lpstr>Understand the decomposition</vt:lpstr>
      <vt:lpstr>PrOGRAM FLOW  - The main() function now becomes very simple: </vt:lpstr>
      <vt:lpstr>Why is this called decomposition? </vt:lpstr>
      <vt:lpstr>PowerPoint Presentation</vt:lpstr>
      <vt:lpstr>REFERENCE</vt:lpstr>
      <vt:lpstr>26CSE1002J - Programming for Problem Solving</vt:lpstr>
      <vt:lpstr>Learning Outcomes</vt:lpstr>
      <vt:lpstr>Using pass-by-value, design a function to compute the sum of the first n even numbers by breaking the problem into sub-tasks.</vt:lpstr>
      <vt:lpstr>PowerPoint Presentation</vt:lpstr>
      <vt:lpstr>PowerPoint Presentation</vt:lpstr>
      <vt:lpstr>PowerPoint Presentation</vt:lpstr>
      <vt:lpstr>PowerPoint Presentation</vt:lpstr>
      <vt:lpstr>PowerPoint Presentation</vt:lpstr>
      <vt:lpstr>Practice 1: Employee Salary Analysis</vt:lpstr>
      <vt:lpstr>readSalary()      ↓ calculateHRA()      ↓ calculateDA()      ↓ calculateGrossSalary()      ↓ displaySalary()</vt:lpstr>
      <vt:lpstr>Example values Suppose: Basic Salary = ₹30,000 HRA = 20% of Basic = ₹6,000 DA = 10% of Basic = ₹3,000 Therefore: Gross Salary = 30,000 + 6,000 + 3,000 = ₹39,000 </vt:lpstr>
      <vt:lpstr>PowerPoint Presentation</vt:lpstr>
      <vt:lpstr>      </vt:lpstr>
      <vt:lpstr>PowerPoint Presentation</vt:lpstr>
      <vt:lpstr>PowerPoint Presentation</vt:lpstr>
      <vt:lpstr>PowerPoint Presentation</vt:lpstr>
      <vt:lpstr>PowerPoint Presentation</vt:lpstr>
      <vt:lpstr>REFERENCE</vt:lpstr>
      <vt:lpstr>26CSE1002J - Programming for Problem Solving</vt:lpstr>
      <vt:lpstr>POINTERS IN C</vt:lpstr>
      <vt:lpstr>Why Do We Need Pointers?</vt:lpstr>
      <vt:lpstr>Understanding Memory &amp; Addresses</vt:lpstr>
      <vt:lpstr>What Is a Pointer?</vt:lpstr>
      <vt:lpstr>The &amp; and * Operators</vt:lpstr>
      <vt:lpstr>Basic Pointer Program</vt:lpstr>
      <vt:lpstr>Solved examples:  1. changing a value through a pointer</vt:lpstr>
      <vt:lpstr>Solved examples:  2. Displaying value through a pointer</vt:lpstr>
      <vt:lpstr>Solved example:  3. calculation through a pointer</vt:lpstr>
      <vt:lpstr>Solved example:  3. changing where a pointer points</vt:lpstr>
      <vt:lpstr>Solved example:  4. pointer to pointer</vt:lpstr>
      <vt:lpstr>Connect pointers to their previous lesson on functions</vt:lpstr>
      <vt:lpstr>Pointer Arithmetic</vt:lpstr>
      <vt:lpstr>Pointers and Arrays</vt:lpstr>
      <vt:lpstr>Pointers and Functions</vt:lpstr>
      <vt:lpstr>Application: Swapping Two Numbers</vt:lpstr>
      <vt:lpstr>Pointer to Pointer</vt:lpstr>
      <vt:lpstr>NULL Pointer &amp; Common Errors</vt:lpstr>
      <vt:lpstr>Practice Questions</vt:lpstr>
      <vt:lpstr>Practice Answers</vt:lpstr>
      <vt:lpstr>REFERENCE</vt:lpstr>
      <vt:lpstr>26CSE1002J - Programming for Problem Solving</vt:lpstr>
      <vt:lpstr>Learning Outcomes</vt:lpstr>
      <vt:lpstr>Why Do We Need Functions?</vt:lpstr>
      <vt:lpstr>What is Modular Programming?</vt:lpstr>
      <vt:lpstr>Anatomy of a Function</vt:lpstr>
      <vt:lpstr>Function Declaration, Definition and Call</vt:lpstr>
      <vt:lpstr>Parameters, Arguments and Return Value</vt:lpstr>
      <vt:lpstr>Function with Return Value: Example</vt:lpstr>
      <vt:lpstr>Designing Helper Functions</vt:lpstr>
      <vt:lpstr>Example: Largest of Three Numbers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vt:lpstr>
      <vt:lpstr>Answer:</vt:lpstr>
      <vt:lpstr>Practice Questions</vt:lpstr>
      <vt:lpstr>Answer:</vt:lpstr>
      <vt:lpstr>REFERENCE</vt:lpstr>
      <vt:lpstr>26CSE1002J - Programming for Problem Solving</vt:lpstr>
      <vt:lpstr>Learning Outcomes</vt:lpstr>
      <vt:lpstr>Guided Practice: Prime Number Using Helper Functions</vt:lpstr>
      <vt:lpstr>Approach 1 – Pass by Value</vt:lpstr>
      <vt:lpstr>How Pass by Value Works</vt:lpstr>
      <vt:lpstr>Why Pass by Value is Suitable for Prime Checking</vt:lpstr>
      <vt:lpstr>Approach 2 – Pass by Reference Using Pointer</vt:lpstr>
      <vt:lpstr>Prime Checking Using a Pointer</vt:lpstr>
      <vt:lpstr>How Pass by Reference Works in C</vt:lpstr>
      <vt:lpstr>Pass by Value vs Pass by Reference</vt:lpstr>
      <vt:lpstr>Guided Question:</vt:lpstr>
      <vt:lpstr>Answer:</vt:lpstr>
      <vt:lpstr>Modify the program so that the helper function receives the address of the number using a pointer.</vt:lpstr>
      <vt:lpstr>where pass by reference is useful</vt:lpstr>
      <vt:lpstr>REFERENCE</vt:lpstr>
      <vt:lpstr>26CSE1002J - Programming for Problem Solving</vt:lpstr>
      <vt:lpstr>Learning Outcomes</vt:lpstr>
      <vt:lpstr>Practice 1: Student Marks Analysis</vt:lpstr>
      <vt:lpstr>Function Design </vt:lpstr>
      <vt:lpstr>Answer:</vt:lpstr>
      <vt:lpstr>Practice 2: Temperature Conversion</vt:lpstr>
      <vt:lpstr>Function Design</vt:lpstr>
      <vt:lpstr>Answer:</vt:lpstr>
      <vt:lpstr>REFERENCE</vt:lpstr>
      <vt:lpstr>26CSE1002J - Programming for Problem Solving</vt:lpstr>
      <vt:lpstr>Recursive thinking</vt:lpstr>
      <vt:lpstr>PowerPoint Presentation</vt:lpstr>
      <vt:lpstr>Recursive Thinking for Problem Solving in C</vt:lpstr>
      <vt:lpstr>PowerPoint Presentation</vt:lpstr>
      <vt:lpstr>PowerPoint Presentation</vt:lpstr>
      <vt:lpstr>PowerPoint Presentation</vt:lpstr>
      <vt:lpstr>PowerPoint Presentation</vt:lpstr>
      <vt:lpstr>26CSE1002J - Programming for Problem Solving</vt:lpstr>
      <vt:lpstr>Implementation of Fibonacci Series</vt:lpstr>
      <vt:lpstr>Implementation of Digit counting </vt:lpstr>
      <vt:lpstr>Implementation of Greatest Common Divisor (GCD)</vt:lpstr>
      <vt:lpstr>26CSE1002J - Programming for Problem Solving</vt:lpstr>
      <vt:lpstr>Implementation of Digit counting </vt:lpstr>
      <vt:lpstr>Reverse a Number</vt:lpstr>
      <vt:lpstr>Check Whether a Number is Palindrome</vt:lpstr>
      <vt:lpstr>Implementation of Greatest Common Divisor (GCD)</vt:lpstr>
      <vt:lpstr>Power of a Number</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26CSE1002J - Programming for Problem Solving</dc:title>
  <dc:creator>Jackulin A 101370</dc:creator>
  <cp:lastModifiedBy>Praveena srinivasan</cp:lastModifiedBy>
  <cp:revision>33</cp:revision>
  <dcterms:created xsi:type="dcterms:W3CDTF">2026-07-23T04:06:50Z</dcterms:created>
  <dcterms:modified xsi:type="dcterms:W3CDTF">2026-10-05T02:17:25Z</dcterms:modified>
</cp:coreProperties>
</file>